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66e3e76-42a1-2933-09d8-bd859e8751bf}">
          <p14:sldIdLst>
            <p14:sldId id="256"/>
            <p14:sldId id="257"/>
            <p14:sldId id="258"/>
          </p14:sldIdLst>
        </p14:section>
        <p14:section name="Files" id="{c422345e-c20b-cd7f-10a9-db3b1e45a98f}">
          <p14:sldIdLst>
            <p14:sldId id="259"/>
            <p14:sldId id="260"/>
          </p14:sldIdLst>
        </p14:section>
        <p14:section name="Look back" id="{be0aa1d2-07a9-2c42-211d-f4cdd41163a6}">
          <p14:sldIdLst>
            <p14:sldId id="261"/>
            <p14:sldId id="262"/>
            <p14:sldId id="263"/>
            <p14:sldId id="264"/>
            <p14:sldId id="265"/>
            <p14:sldId id="266"/>
            <p14:sldId id="267"/>
            <p14:sldId id="268"/>
          </p14:sldIdLst>
        </p14:section>
        <p14:section name="Recap" id="{cfbd4805-885f-7ebb-db28-11b90224e8d1}">
          <p14:sldIdLst>
            <p14:sldId id="269"/>
            <p14:sldId id="270"/>
            <p14:sldId id="271"/>
          </p14:sldIdLst>
        </p14:section>
        <p14:section name="Servo" id="{a7181b29-aaca-5ab9-33b8-dda8bc0b60a3}">
          <p14:sldIdLst>
            <p14:sldId id="272"/>
            <p14:sldId id="273"/>
            <p14:sldId id="274"/>
            <p14:sldId id="275"/>
            <p14:sldId id="276"/>
            <p14:sldId id="277"/>
            <p14:sldId id="278"/>
          </p14:sldIdLst>
        </p14:section>
        <p14:section name="Gate" id="{0aaf7c47-1404-f425-32ee-16f5f2e29015}">
          <p14:sldIdLst>
            <p14:sldId id="279"/>
            <p14:sldId id="280"/>
            <p14:sldId id="281"/>
          </p14:sldIdLst>
        </p14:section>
        <p14:section name="Phone" id="{17a56239-1098-d879-7959-d6f28062163a}">
          <p14:sldIdLst>
            <p14:sldId id="282"/>
            <p14:sldId id="283"/>
          </p14:sldIdLst>
        </p14:section>
        <p14:section name="Wrap-up" id="{9c365f7e-602b-9a1e-a5ef-a20369df23cb}">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minutes today. The new part is the servo: the first output that MOVES something. Open by telling the class the finished thing: a door that opens when somebody comes near, and that you can also open from your phone. Show your own working one if you have it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three minutes here, not thirty seconds. Ask the class to name a door in school that is heavy. Ask who has pushed a trolley or carried a box through it. This is the service-learning hook: the same circuit they build today is the one a real accessible door uses. Do not decide the class project yet; we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 clock. If Step 1 has not happened by minute 35, stop the whole class and wire the servo together. Step 4 is expendable; the closing discussion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one command as Lesson 4. Anyone whose JA05 folder is broken: rename it to JA05_old and clone again (Lesson 4 slide 4). Do not spend more than five minutes on git problems; pair that student with a neighbour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rule as Lesson 4 and it worked: far fewer broken programs. If Thonny does not connect: Run &gt; Configure interpreter &gt; MicroPython (ESP32), choose the usbserial port. Click Stop to interrupt a running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before any new code. Take three or four answers out loud. Expect wiring to win; say that is normal and that today's wiring is only three wires. The point of the chain picture is that the sensor and the LEDs are bought parts, and the only thing that was theirs was the function in the middle. That is the thing we are about to do a third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Aimed at the students who think they have never seen a function. They have used three or four every lesson. Ask: who wrote print? Nobody in this room. Somebody wrote it once and everyone uses it. That is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boxes at the bottom are the misconception that costs most time: students write a function, press Run, see nothing happen, and think it is broken. Defining and calling are different moments. Also say: distance is a nickname that only exists inside the function, which is why leds_for(12) and leds_for(40) do not fight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This file needs no hardware, so Track A groups and groups with a broken board can do it too. The Shell order is the lesson: message 2 prints before any hello, which proves that def does not run anything. Walk round and ask two or three students to read their Shell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go slowly on. Put your finger on the Shell output from Step 0 and match it line by line against the numbers here. Step 2 is the one that surprises them: Python walks past the def without running the body. Ask: how many times does line 15 run? Twice, once per call, and the name is different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bird's-eye slide. Three things they must leave with: (1) something has to start the program, either power-on through main.py or the Run button; (2) the work happens inside one loop that repeats about ten times a second, and their function is one box inside it; (3) the program is stored on the ESP32 itself, which is why it keeps running on a power bank. Lesson 4's main.py trick is the same idea: main.py contains one import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leds_for(40) is 0, because 5 - 8 is negative and max(0, ...) pulls it up to 0. leds_for(2) is 5. Line 28 runs five times, once per call: a function body runs once per call, not once in the program. The Lesson 3 question is the important one: the deciding line was in the main loop, not inside leds_for, because the function only answers a question. gap_for(10) is 0.2 s. Two minutes on paper, then take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each line, lowest first. Do not move on if more than about a third cannot tick line 2: go back to the Shell output in Step 0 and read it together. Line 4 is deliberately not ticked yet for most of the class; it is what Step 3 is for, and saying so lowers the 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pattern explicit: this is the third time, so students should recognise the job before they see the file. Ask one student to say in words what leds_for did. The new part today is only that the answer drives a motor instead of an 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is shorter today than last lesson: they only need the sensor, not the buzzer, to join. Aim to have everyone on Step 1 by minute 25. Seat a finished group next to each Track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published solution so these groups are not still debugging at minute 60. Lesson 3 PDF page 25 is the sensor wiring, page 30 the troubleshooting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a servo round if you have a spare. Turn the horn gently by hand with the power off so students feel the gears. Key idea for today: an LED has two states, a servo has 181. That is why we need a function that chooses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the class and show this on a real board before anyone runs code. The 3V3 mistake is the one that eats twenty minutes: the board resets, Thonny disconnects, and students think their code is wrong. Also tell them to tape the servo down or hold it; a loose servo walks off the desk. If a group's board still resets on 5V over USB, give them a power bank or a powered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horn must be loose or off for Step 1: if it is screwed on and jammed against the servo body the gears grind. Expect a buzz at 180 degrees on some servos, which is why the file stops at 8100 and not 8192. Ask what duty_u16 numbers mean before explaining: nobody can guess, which is exactly the point of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about 3276, halfway between 1638 and 4915. Most groups will guess by halving, which is the right instinct and leads straight into set_angle(). PWM has now meant three things: brightness in project 4, pitch in Lesson 4, position today. Same tool, different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software idea, not a hardware one: give the ugly number a name and hide it in a function. The for loop over a list is also new-ish; point out that the servo visits each item in order. Try it: students put their own angles in the list on line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1638 + 3276 = 4914, which is the 4915 from the Step 1 table, one off from rounding. set_angle(500) is cut down to 180 by lines 24-25, so the servo goes to its end stop instead of being asked for something impossible. Ask why guard rails matter when a sensor is the thing calling the function: a bad reading must not break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answers before showing the code. The waiting time is called hold-open time and real accessible doors are required to have one; a door that shuts the moment you pass the sensor hits people with walking frames. In our file it is HOLD_LOOPS = 20, about 2 seconds. It also quietly fixes a jitter problem: without it the servo flickers open and shut at exactly 15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on this. Do not give the answer: give the table. Common wrong answers, all worth letting them hit: (1) forgetting None, which crashes with TypeError the first time the sensor misses; (2) writing 90 and 0 instead of OPEN_ANGLE and CLOSED_ANGLE, which works but breaks when you change the constant; (3) testing distance &gt; NEAR_CM and swapping the two answers, which is also correct. Full version in teacher_solutions/20261023_L5.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out loud with a volunteer's hand in front of the sensor. Key question: what happens the moment the hand goes away? angle_for returns CLOSED_ANGLE, so hold stops being reset, counts down from 20, and only then the door shuts. Students who delete the hold see the twitch straight away: that is a good thing to let happen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leave it up while groups work. The servo's red wire shares the 5V rail with the sensor, shown dashed. Everything from Lessons 3 and 4 stays exactly where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IoT idea in one slide: the board is a tiny web server on the school network, and the phone is just a browser. Nothing goes to the internet; the page never leaves the school. If the network blocks device-to-device traffic the page will not load, in which case skip Step 4 and go to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Wi-Fi name and password are on Lesson 1 slide 14 (SSID css_STEAM). Put that slide up, or read it out. The file ships with the two lines empty, so each student types them into their own copy on the ESP32. Remind them it is the copy under MicroPython device, the one whose tab name is in square brackets, not the file in JA05. Line 111 is where the program waits for the phone: nothing else happens until a page is requested, which is why the distance only updates when the page refreshes. Fast groups get the Try it on line 126: open the door when the page asks OR when the sensor sees somebody. Answer is in teacher_solutions.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in pairs, then take three answers. Write the doors on the board: this list is the start of choosing the class service-learning project. Push on the third question: a door that opens for everyone walking past in a corridor is useless, which is a design problem, not a coding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for each step. Unplug USB before pulling any wires. Ask them to leave the servo wired if the kit stays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743200"/>
            <a:ext cx="8046720" cy="91440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00600"/>
            <a:ext cx="2743200" cy="228600"/>
          </a:xfrm>
          <a:prstGeom prst="rect">
            <a:avLst/>
          </a:prstGeom>
          <a:noFill/>
          <a:ln/>
        </p:spPr>
        <p:txBody>
          <a:bodyPr wrap="square" lIns="0" tIns="0" rIns="0" bIns="0" rtlCol="0" anchor="ctr"/>
          <a:lstStyle/>
          <a:p>
            <a:pPr indent="0" marL="0">
              <a:buNone/>
            </a:pPr>
            <a:r>
              <a:rPr lang="en-US" sz="1000" dirty="0">
                <a:solidFill>
                  <a:schemeClr val="accent5"/>
                </a:solidFill>
              </a:rPr>
              <a:t>JA05 · Lesson 5</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4000" b="1" dirty="0">
                <a:solidFill>
                  <a:schemeClr val="bg1"/>
                </a:solidFill>
              </a:rPr>
              <a:t>The door that opens by itself</a:t>
            </a:r>
            <a:endParaRPr lang="en-US" sz="4000" dirty="0"/>
          </a:p>
        </p:txBody>
      </p:sp>
      <p:sp>
        <p:nvSpPr>
          <p:cNvPr id="3" name="Text 0"/>
          <p:cNvSpPr/>
          <p:nvPr>
            <p:ph idx="101" type="body" hasCustomPrompt="1"/>
          </p:nvPr>
        </p:nvSpPr>
        <p:spPr>
          <a:xfrm>
            <a:off x="548640" y="2788920"/>
            <a:ext cx="8046720" cy="1097280"/>
          </a:xfrm>
          <a:prstGeom prst="rect">
            <a:avLst/>
          </a:prstGeom>
          <a:noFill/>
          <a:ln/>
        </p:spPr>
        <p:txBody>
          <a:bodyPr wrap="square" lIns="0" tIns="0" rIns="0" bIns="0" rtlCol="0" anchor="t"/>
          <a:lstStyle/>
          <a:p>
            <a:pPr algn="l" indent="0" marL="0">
              <a:buNone/>
            </a:pPr>
            <a:r>
              <a:rPr lang="en-US" sz="2000" dirty="0">
                <a:solidFill>
                  <a:schemeClr val="accent1"/>
                </a:solidFill>
              </a:rPr>
              <a:t>Lesson 5 · A motor that listens to your sensor</a:t>
            </a:r>
            <a:endParaRPr lang="en-US" sz="2000" dirty="0"/>
          </a:p>
        </p:txBody>
      </p:sp>
      <p:sp>
        <p:nvSpPr>
          <p:cNvPr id="4" name="Shape 2"/>
          <p:cNvSpPr/>
          <p:nvPr/>
        </p:nvSpPr>
        <p:spPr>
          <a:xfrm>
            <a:off x="6035040" y="3977640"/>
            <a:ext cx="2194560" cy="0"/>
          </a:xfrm>
          <a:prstGeom prst="line">
            <a:avLst/>
          </a:prstGeom>
          <a:noFill/>
          <a:ln w="38100">
            <a:solidFill>
              <a:srgbClr val="1F5A47"/>
            </a:solidFill>
            <a:prstDash val="solid"/>
          </a:ln>
        </p:spPr>
      </p:sp>
      <p:sp>
        <p:nvSpPr>
          <p:cNvPr id="5" name="Shape 3"/>
          <p:cNvSpPr/>
          <p:nvPr/>
        </p:nvSpPr>
        <p:spPr>
          <a:xfrm flipV="1">
            <a:off x="6126480" y="3063240"/>
            <a:ext cx="502920" cy="914400"/>
          </a:xfrm>
          <a:prstGeom prst="line">
            <a:avLst/>
          </a:prstGeom>
          <a:noFill/>
          <a:ln w="88900">
            <a:solidFill>
              <a:srgbClr val="F2A900"/>
            </a:solidFill>
            <a:prstDash val="solid"/>
          </a:ln>
        </p:spPr>
      </p:sp>
      <p:sp>
        <p:nvSpPr>
          <p:cNvPr id="6" name="Shape 4"/>
          <p:cNvSpPr/>
          <p:nvPr/>
        </p:nvSpPr>
        <p:spPr>
          <a:xfrm>
            <a:off x="6053328" y="3904488"/>
            <a:ext cx="146304" cy="146304"/>
          </a:xfrm>
          <a:prstGeom prst="ellipse">
            <a:avLst/>
          </a:prstGeom>
          <a:solidFill>
            <a:srgbClr val="F2A900"/>
          </a:solidFill>
          <a:ln w="12700">
            <a:solidFill>
              <a:srgbClr val="F2A900"/>
            </a:solidFill>
            <a:prstDash val="solid"/>
          </a:ln>
        </p:spPr>
      </p:sp>
      <p:sp>
        <p:nvSpPr>
          <p:cNvPr id="7" name="Text 5"/>
          <p:cNvSpPr txBox="1"/>
          <p:nvPr/>
        </p:nvSpPr>
        <p:spPr>
          <a:xfrm>
            <a:off x="548640" y="4069080"/>
            <a:ext cx="4937760" cy="274320"/>
          </a:xfrm>
          <a:prstGeom prst="rect">
            <a:avLst/>
          </a:prstGeom>
          <a:noFill/>
          <a:ln/>
        </p:spPr>
        <p:txBody>
          <a:bodyPr wrap="square" lIns="0" tIns="0" rIns="0" bIns="0" rtlCol="0" anchor="ctr"/>
          <a:lstStyle/>
          <a:p>
            <a:pPr indent="0" marL="0">
              <a:buNone/>
            </a:pPr>
            <a:r>
              <a:rPr lang="en-US" sz="1200" dirty="0">
                <a:solidFill>
                  <a:srgbClr val="A7C4B8"/>
                </a:solidFill>
              </a:rPr>
              <a:t>JA05 STEAM and Service Learning · 23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Who cannot open a door?</a:t>
            </a:r>
            <a:endParaRPr lang="en-US" sz="3000" dirty="0"/>
          </a:p>
        </p:txBody>
      </p:sp>
      <p:sp>
        <p:nvSpPr>
          <p:cNvPr id="3" name="Shape 1"/>
          <p:cNvSpPr/>
          <p:nvPr/>
        </p:nvSpPr>
        <p:spPr>
          <a:xfrm>
            <a:off x="457200" y="1051560"/>
            <a:ext cx="1920240" cy="2286000"/>
          </a:xfrm>
          <a:prstGeom prst="roundRect">
            <a:avLst>
              <a:gd name="adj" fmla="val 4762"/>
            </a:avLst>
          </a:prstGeom>
          <a:solidFill>
            <a:srgbClr val="EEF5F1"/>
          </a:solidFill>
          <a:ln w="12700">
            <a:solidFill>
              <a:srgbClr val="D3E4DB"/>
            </a:solidFill>
            <a:prstDash val="solid"/>
          </a:ln>
        </p:spPr>
      </p:sp>
      <p:sp>
        <p:nvSpPr>
          <p:cNvPr id="4" name="Text 2"/>
          <p:cNvSpPr txBox="1"/>
          <p:nvPr/>
        </p:nvSpPr>
        <p:spPr>
          <a:xfrm>
            <a:off x="640080" y="1188720"/>
            <a:ext cx="1645920" cy="365760"/>
          </a:xfrm>
          <a:prstGeom prst="rect">
            <a:avLst/>
          </a:prstGeom>
          <a:noFill/>
          <a:ln/>
        </p:spPr>
        <p:txBody>
          <a:bodyPr wrap="square" lIns="0" tIns="0" rIns="0" bIns="0" rtlCol="0" anchor="ctr"/>
          <a:lstStyle/>
          <a:p>
            <a:pPr indent="0" marL="0">
              <a:buNone/>
            </a:pPr>
            <a:r>
              <a:rPr lang="en-US" sz="1700" b="1" dirty="0">
                <a:solidFill>
                  <a:srgbClr val="0B3D2E"/>
                </a:solidFill>
              </a:rPr>
              <a:t>Hands full</a:t>
            </a:r>
            <a:endParaRPr lang="en-US" sz="1700" dirty="0"/>
          </a:p>
        </p:txBody>
      </p:sp>
      <p:sp>
        <p:nvSpPr>
          <p:cNvPr id="5" name="Text 3"/>
          <p:cNvSpPr txBox="1"/>
          <p:nvPr/>
        </p:nvSpPr>
        <p:spPr>
          <a:xfrm>
            <a:off x="640080" y="1600200"/>
            <a:ext cx="1600200" cy="1554480"/>
          </a:xfrm>
          <a:prstGeom prst="rect">
            <a:avLst/>
          </a:prstGeom>
          <a:noFill/>
          <a:ln/>
        </p:spPr>
        <p:txBody>
          <a:bodyPr wrap="square" lIns="0" tIns="0" rIns="0" bIns="0" rtlCol="0" anchor="t"/>
          <a:lstStyle/>
          <a:p>
            <a:pPr indent="0" marL="0">
              <a:buNone/>
            </a:pPr>
            <a:r>
              <a:rPr lang="en-US" sz="1400" dirty="0">
                <a:solidFill>
                  <a:srgbClr val="1B1B1B"/>
                </a:solidFill>
              </a:rPr>
              <a:t>Shopping in both hands. No hand left for the handle.</a:t>
            </a:r>
            <a:endParaRPr lang="en-US" sz="1400" dirty="0"/>
          </a:p>
        </p:txBody>
      </p:sp>
      <p:sp>
        <p:nvSpPr>
          <p:cNvPr id="6" name="Shape 4"/>
          <p:cNvSpPr/>
          <p:nvPr/>
        </p:nvSpPr>
        <p:spPr>
          <a:xfrm>
            <a:off x="2560320" y="1051560"/>
            <a:ext cx="1920240" cy="2286000"/>
          </a:xfrm>
          <a:prstGeom prst="roundRect">
            <a:avLst>
              <a:gd name="adj" fmla="val 4762"/>
            </a:avLst>
          </a:prstGeom>
          <a:solidFill>
            <a:srgbClr val="EEF5F1"/>
          </a:solidFill>
          <a:ln w="12700">
            <a:solidFill>
              <a:srgbClr val="D3E4DB"/>
            </a:solidFill>
            <a:prstDash val="solid"/>
          </a:ln>
        </p:spPr>
      </p:sp>
      <p:sp>
        <p:nvSpPr>
          <p:cNvPr id="7" name="Text 5"/>
          <p:cNvSpPr txBox="1"/>
          <p:nvPr/>
        </p:nvSpPr>
        <p:spPr>
          <a:xfrm>
            <a:off x="2743200" y="1188720"/>
            <a:ext cx="1645920" cy="365760"/>
          </a:xfrm>
          <a:prstGeom prst="rect">
            <a:avLst/>
          </a:prstGeom>
          <a:noFill/>
          <a:ln/>
        </p:spPr>
        <p:txBody>
          <a:bodyPr wrap="square" lIns="0" tIns="0" rIns="0" bIns="0" rtlCol="0" anchor="ctr"/>
          <a:lstStyle/>
          <a:p>
            <a:pPr indent="0" marL="0">
              <a:buNone/>
            </a:pPr>
            <a:r>
              <a:rPr lang="en-US" sz="1700" b="1" dirty="0">
                <a:solidFill>
                  <a:srgbClr val="0B3D2E"/>
                </a:solidFill>
              </a:rPr>
              <a:t>Wheelchair</a:t>
            </a:r>
            <a:endParaRPr lang="en-US" sz="1700" dirty="0"/>
          </a:p>
        </p:txBody>
      </p:sp>
      <p:sp>
        <p:nvSpPr>
          <p:cNvPr id="8" name="Text 6"/>
          <p:cNvSpPr txBox="1"/>
          <p:nvPr/>
        </p:nvSpPr>
        <p:spPr>
          <a:xfrm>
            <a:off x="2743200" y="1600200"/>
            <a:ext cx="1600200" cy="1554480"/>
          </a:xfrm>
          <a:prstGeom prst="rect">
            <a:avLst/>
          </a:prstGeom>
          <a:noFill/>
          <a:ln/>
        </p:spPr>
        <p:txBody>
          <a:bodyPr wrap="square" lIns="0" tIns="0" rIns="0" bIns="0" rtlCol="0" anchor="t"/>
          <a:lstStyle/>
          <a:p>
            <a:pPr indent="0" marL="0">
              <a:buNone/>
            </a:pPr>
            <a:r>
              <a:rPr lang="en-US" sz="1400" dirty="0">
                <a:solidFill>
                  <a:srgbClr val="1B1B1B"/>
                </a:solidFill>
              </a:rPr>
              <a:t>Pull the door, roll backwards, go through. Twice as hard.</a:t>
            </a:r>
            <a:endParaRPr lang="en-US" sz="1400" dirty="0"/>
          </a:p>
        </p:txBody>
      </p:sp>
      <p:sp>
        <p:nvSpPr>
          <p:cNvPr id="9" name="Shape 7"/>
          <p:cNvSpPr/>
          <p:nvPr/>
        </p:nvSpPr>
        <p:spPr>
          <a:xfrm>
            <a:off x="4663440" y="1051560"/>
            <a:ext cx="1920240" cy="2286000"/>
          </a:xfrm>
          <a:prstGeom prst="roundRect">
            <a:avLst>
              <a:gd name="adj" fmla="val 4762"/>
            </a:avLst>
          </a:prstGeom>
          <a:solidFill>
            <a:srgbClr val="EEF5F1"/>
          </a:solidFill>
          <a:ln w="12700">
            <a:solidFill>
              <a:srgbClr val="D3E4DB"/>
            </a:solidFill>
            <a:prstDash val="solid"/>
          </a:ln>
        </p:spPr>
      </p:sp>
      <p:sp>
        <p:nvSpPr>
          <p:cNvPr id="10" name="Text 8"/>
          <p:cNvSpPr txBox="1"/>
          <p:nvPr/>
        </p:nvSpPr>
        <p:spPr>
          <a:xfrm>
            <a:off x="4846320" y="1188720"/>
            <a:ext cx="1645920" cy="365760"/>
          </a:xfrm>
          <a:prstGeom prst="rect">
            <a:avLst/>
          </a:prstGeom>
          <a:noFill/>
          <a:ln/>
        </p:spPr>
        <p:txBody>
          <a:bodyPr wrap="square" lIns="0" tIns="0" rIns="0" bIns="0" rtlCol="0" anchor="ctr"/>
          <a:lstStyle/>
          <a:p>
            <a:pPr indent="0" marL="0">
              <a:buNone/>
            </a:pPr>
            <a:r>
              <a:rPr lang="en-US" sz="1700" b="1" dirty="0">
                <a:solidFill>
                  <a:srgbClr val="0B3D2E"/>
                </a:solidFill>
              </a:rPr>
              <a:t>Crutches</a:t>
            </a:r>
            <a:endParaRPr lang="en-US" sz="1700" dirty="0"/>
          </a:p>
        </p:txBody>
      </p:sp>
      <p:sp>
        <p:nvSpPr>
          <p:cNvPr id="11" name="Text 9"/>
          <p:cNvSpPr txBox="1"/>
          <p:nvPr/>
        </p:nvSpPr>
        <p:spPr>
          <a:xfrm>
            <a:off x="4846320" y="1600200"/>
            <a:ext cx="1600200" cy="1554480"/>
          </a:xfrm>
          <a:prstGeom prst="rect">
            <a:avLst/>
          </a:prstGeom>
          <a:noFill/>
          <a:ln/>
        </p:spPr>
        <p:txBody>
          <a:bodyPr wrap="square" lIns="0" tIns="0" rIns="0" bIns="0" rtlCol="0" anchor="t"/>
          <a:lstStyle/>
          <a:p>
            <a:pPr indent="0" marL="0">
              <a:buNone/>
            </a:pPr>
            <a:r>
              <a:rPr lang="en-US" sz="1400" dirty="0">
                <a:solidFill>
                  <a:srgbClr val="1B1B1B"/>
                </a:solidFill>
              </a:rPr>
              <a:t>One hand holds you up. One hand is not enough.</a:t>
            </a:r>
            <a:endParaRPr lang="en-US" sz="1400" dirty="0"/>
          </a:p>
        </p:txBody>
      </p:sp>
      <p:sp>
        <p:nvSpPr>
          <p:cNvPr id="12" name="Shape 10"/>
          <p:cNvSpPr/>
          <p:nvPr/>
        </p:nvSpPr>
        <p:spPr>
          <a:xfrm>
            <a:off x="6766560" y="1051560"/>
            <a:ext cx="1920240" cy="2286000"/>
          </a:xfrm>
          <a:prstGeom prst="roundRect">
            <a:avLst>
              <a:gd name="adj" fmla="val 4762"/>
            </a:avLst>
          </a:prstGeom>
          <a:solidFill>
            <a:srgbClr val="EEF5F1"/>
          </a:solidFill>
          <a:ln w="12700">
            <a:solidFill>
              <a:srgbClr val="D3E4DB"/>
            </a:solidFill>
            <a:prstDash val="solid"/>
          </a:ln>
        </p:spPr>
      </p:sp>
      <p:sp>
        <p:nvSpPr>
          <p:cNvPr id="13" name="Text 11"/>
          <p:cNvSpPr txBox="1"/>
          <p:nvPr/>
        </p:nvSpPr>
        <p:spPr>
          <a:xfrm>
            <a:off x="6949440" y="1188720"/>
            <a:ext cx="1645920" cy="365760"/>
          </a:xfrm>
          <a:prstGeom prst="rect">
            <a:avLst/>
          </a:prstGeom>
          <a:noFill/>
          <a:ln/>
        </p:spPr>
        <p:txBody>
          <a:bodyPr wrap="square" lIns="0" tIns="0" rIns="0" bIns="0" rtlCol="0" anchor="ctr"/>
          <a:lstStyle/>
          <a:p>
            <a:pPr indent="0" marL="0">
              <a:buNone/>
            </a:pPr>
            <a:r>
              <a:rPr lang="en-US" sz="1700" b="1" dirty="0">
                <a:solidFill>
                  <a:srgbClr val="0B3D2E"/>
                </a:solidFill>
              </a:rPr>
              <a:t>Hospital</a:t>
            </a:r>
            <a:endParaRPr lang="en-US" sz="1700" dirty="0"/>
          </a:p>
        </p:txBody>
      </p:sp>
      <p:sp>
        <p:nvSpPr>
          <p:cNvPr id="14" name="Text 12"/>
          <p:cNvSpPr txBox="1"/>
          <p:nvPr/>
        </p:nvSpPr>
        <p:spPr>
          <a:xfrm>
            <a:off x="6949440" y="1600200"/>
            <a:ext cx="1600200" cy="1554480"/>
          </a:xfrm>
          <a:prstGeom prst="rect">
            <a:avLst/>
          </a:prstGeom>
          <a:noFill/>
          <a:ln/>
        </p:spPr>
        <p:txBody>
          <a:bodyPr wrap="square" lIns="0" tIns="0" rIns="0" bIns="0" rtlCol="0" anchor="t"/>
          <a:lstStyle/>
          <a:p>
            <a:pPr indent="0" marL="0">
              <a:buNone/>
            </a:pPr>
            <a:r>
              <a:rPr lang="en-US" sz="1400" dirty="0">
                <a:solidFill>
                  <a:srgbClr val="1B1B1B"/>
                </a:solidFill>
              </a:rPr>
              <a:t>Touching handles moves germs from hand to hand.</a:t>
            </a:r>
            <a:endParaRPr lang="en-US" sz="1400" dirty="0"/>
          </a:p>
        </p:txBody>
      </p:sp>
      <p:sp>
        <p:nvSpPr>
          <p:cNvPr id="15" name="Shape 13"/>
          <p:cNvSpPr/>
          <p:nvPr/>
        </p:nvSpPr>
        <p:spPr>
          <a:xfrm>
            <a:off x="457200" y="3520440"/>
            <a:ext cx="8229600" cy="914400"/>
          </a:xfrm>
          <a:prstGeom prst="roundRect">
            <a:avLst>
              <a:gd name="adj" fmla="val 10000"/>
            </a:avLst>
          </a:prstGeom>
          <a:solidFill>
            <a:srgbClr val="0B3D2E"/>
          </a:solidFill>
          <a:ln w="12700">
            <a:solidFill>
              <a:srgbClr val="0B3D2E"/>
            </a:solidFill>
            <a:prstDash val="solid"/>
          </a:ln>
        </p:spPr>
      </p:sp>
      <p:sp>
        <p:nvSpPr>
          <p:cNvPr id="16" name="Text 14"/>
          <p:cNvSpPr txBox="1"/>
          <p:nvPr/>
        </p:nvSpPr>
        <p:spPr>
          <a:xfrm>
            <a:off x="685800" y="3566160"/>
            <a:ext cx="7772400" cy="411480"/>
          </a:xfrm>
          <a:prstGeom prst="rect">
            <a:avLst/>
          </a:prstGeom>
          <a:noFill/>
          <a:ln/>
        </p:spPr>
        <p:txBody>
          <a:bodyPr wrap="square" lIns="0" tIns="0" rIns="0" bIns="0" rtlCol="0" anchor="ctr"/>
          <a:lstStyle/>
          <a:p>
            <a:pPr indent="0" marL="0">
              <a:buNone/>
            </a:pPr>
            <a:r>
              <a:rPr lang="en-US" sz="1600" b="1" dirty="0">
                <a:solidFill>
                  <a:srgbClr val="FFFFFF"/>
                </a:solidFill>
              </a:rPr>
              <a:t>An automatic door is not a luxury. For some people it is the difference between going in and going home.</a:t>
            </a:r>
            <a:endParaRPr lang="en-US" sz="1600" dirty="0"/>
          </a:p>
        </p:txBody>
      </p:sp>
      <p:sp>
        <p:nvSpPr>
          <p:cNvPr id="17" name="Text 15"/>
          <p:cNvSpPr txBox="1"/>
          <p:nvPr/>
        </p:nvSpPr>
        <p:spPr>
          <a:xfrm>
            <a:off x="685800" y="3977640"/>
            <a:ext cx="7772400" cy="411480"/>
          </a:xfrm>
          <a:prstGeom prst="rect">
            <a:avLst/>
          </a:prstGeom>
          <a:noFill/>
          <a:ln/>
        </p:spPr>
        <p:txBody>
          <a:bodyPr wrap="square" lIns="0" tIns="0" rIns="0" bIns="0" rtlCol="0" anchor="ctr"/>
          <a:lstStyle/>
          <a:p>
            <a:pPr indent="0" marL="0">
              <a:buNone/>
            </a:pPr>
            <a:r>
              <a:rPr lang="en-US" sz="1500" dirty="0">
                <a:solidFill>
                  <a:srgbClr val="A7C4B8"/>
                </a:solidFill>
              </a:rPr>
              <a:t>Today you build one. Sensor sees a person · servo opens the door.</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Today: 100 minutes</a:t>
            </a:r>
            <a:endParaRPr lang="en-US" sz="3000" dirty="0"/>
          </a:p>
        </p:txBody>
      </p:sp>
      <p:sp>
        <p:nvSpPr>
          <p:cNvPr id="3" name="Shape 1"/>
          <p:cNvSpPr/>
          <p:nvPr/>
        </p:nvSpPr>
        <p:spPr>
          <a:xfrm>
            <a:off x="457200" y="1417320"/>
            <a:ext cx="612648" cy="1005840"/>
          </a:xfrm>
          <a:prstGeom prst="roundRect">
            <a:avLst>
              <a:gd name="adj" fmla="val 8955"/>
            </a:avLst>
          </a:prstGeom>
          <a:solidFill>
            <a:srgbClr val="0B3D2E"/>
          </a:solidFill>
          <a:ln w="12700">
            <a:solidFill>
              <a:srgbClr val="0B3D2E"/>
            </a:solidFill>
            <a:prstDash val="solid"/>
          </a:ln>
        </p:spPr>
      </p:sp>
      <p:sp>
        <p:nvSpPr>
          <p:cNvPr id="4" name="Text 2"/>
          <p:cNvSpPr txBox="1"/>
          <p:nvPr/>
        </p:nvSpPr>
        <p:spPr>
          <a:xfrm>
            <a:off x="530352" y="1527048"/>
            <a:ext cx="466344" cy="365760"/>
          </a:xfrm>
          <a:prstGeom prst="rect">
            <a:avLst/>
          </a:prstGeom>
          <a:noFill/>
          <a:ln/>
        </p:spPr>
        <p:txBody>
          <a:bodyPr wrap="square" lIns="0" tIns="0" rIns="0" bIns="0" rtlCol="0" anchor="ctr"/>
          <a:lstStyle/>
          <a:p>
            <a:pPr algn="ctr" indent="0" marL="0">
              <a:buNone/>
            </a:pPr>
            <a:r>
              <a:rPr lang="en-US" sz="1300" b="1" dirty="0">
                <a:solidFill>
                  <a:srgbClr val="FFFFFF"/>
                </a:solidFill>
              </a:rPr>
              <a:t>Files</a:t>
            </a:r>
            <a:endParaRPr lang="en-US" sz="1300" dirty="0"/>
          </a:p>
        </p:txBody>
      </p:sp>
      <p:sp>
        <p:nvSpPr>
          <p:cNvPr id="5" name="Text 3"/>
          <p:cNvSpPr txBox="1"/>
          <p:nvPr/>
        </p:nvSpPr>
        <p:spPr>
          <a:xfrm>
            <a:off x="365760" y="2468880"/>
            <a:ext cx="365760" cy="228600"/>
          </a:xfrm>
          <a:prstGeom prst="rect">
            <a:avLst/>
          </a:prstGeom>
          <a:noFill/>
          <a:ln/>
        </p:spPr>
        <p:txBody>
          <a:bodyPr wrap="square" lIns="0" tIns="0" rIns="0" bIns="0" rtlCol="0" anchor="ctr"/>
          <a:lstStyle/>
          <a:p>
            <a:pPr indent="0" marL="0">
              <a:buNone/>
            </a:pPr>
            <a:r>
              <a:rPr lang="en-US" sz="1100" dirty="0">
                <a:solidFill>
                  <a:srgbClr val="6B7280"/>
                </a:solidFill>
              </a:rPr>
              <a:t>0</a:t>
            </a:r>
            <a:endParaRPr lang="en-US" sz="1100" dirty="0"/>
          </a:p>
        </p:txBody>
      </p:sp>
      <p:sp>
        <p:nvSpPr>
          <p:cNvPr id="6" name="Shape 4"/>
          <p:cNvSpPr/>
          <p:nvPr/>
        </p:nvSpPr>
        <p:spPr>
          <a:xfrm>
            <a:off x="1115568" y="1417320"/>
            <a:ext cx="941832" cy="1005840"/>
          </a:xfrm>
          <a:prstGeom prst="roundRect">
            <a:avLst>
              <a:gd name="adj" fmla="val 5825"/>
            </a:avLst>
          </a:prstGeom>
          <a:solidFill>
            <a:srgbClr val="0B3D2E"/>
          </a:solidFill>
          <a:ln w="12700">
            <a:solidFill>
              <a:srgbClr val="0B3D2E"/>
            </a:solidFill>
            <a:prstDash val="solid"/>
          </a:ln>
        </p:spPr>
      </p:sp>
      <p:sp>
        <p:nvSpPr>
          <p:cNvPr id="7" name="Text 5"/>
          <p:cNvSpPr txBox="1"/>
          <p:nvPr/>
        </p:nvSpPr>
        <p:spPr>
          <a:xfrm>
            <a:off x="1188720" y="1527048"/>
            <a:ext cx="795528" cy="365760"/>
          </a:xfrm>
          <a:prstGeom prst="rect">
            <a:avLst/>
          </a:prstGeom>
          <a:noFill/>
          <a:ln/>
        </p:spPr>
        <p:txBody>
          <a:bodyPr wrap="square" lIns="0" tIns="0" rIns="0" bIns="0" rtlCol="0" anchor="ctr"/>
          <a:lstStyle/>
          <a:p>
            <a:pPr algn="ctr" indent="0" marL="0">
              <a:buNone/>
            </a:pPr>
            <a:r>
              <a:rPr lang="en-US" sz="1300" b="1" dirty="0">
                <a:solidFill>
                  <a:srgbClr val="FFFFFF"/>
                </a:solidFill>
              </a:rPr>
              <a:t>Look back</a:t>
            </a:r>
            <a:endParaRPr lang="en-US" sz="1300" dirty="0"/>
          </a:p>
        </p:txBody>
      </p:sp>
      <p:sp>
        <p:nvSpPr>
          <p:cNvPr id="8" name="Text 6"/>
          <p:cNvSpPr txBox="1"/>
          <p:nvPr/>
        </p:nvSpPr>
        <p:spPr>
          <a:xfrm>
            <a:off x="1024128" y="2468880"/>
            <a:ext cx="365760" cy="228600"/>
          </a:xfrm>
          <a:prstGeom prst="rect">
            <a:avLst/>
          </a:prstGeom>
          <a:noFill/>
          <a:ln/>
        </p:spPr>
        <p:txBody>
          <a:bodyPr wrap="square" lIns="0" tIns="0" rIns="0" bIns="0" rtlCol="0" anchor="ctr"/>
          <a:lstStyle/>
          <a:p>
            <a:pPr indent="0" marL="0">
              <a:buNone/>
            </a:pPr>
            <a:r>
              <a:rPr lang="en-US" sz="1100" dirty="0">
                <a:solidFill>
                  <a:srgbClr val="6B7280"/>
                </a:solidFill>
              </a:rPr>
              <a:t>8</a:t>
            </a:r>
            <a:endParaRPr lang="en-US" sz="1100" dirty="0"/>
          </a:p>
        </p:txBody>
      </p:sp>
      <p:sp>
        <p:nvSpPr>
          <p:cNvPr id="9" name="Shape 7"/>
          <p:cNvSpPr/>
          <p:nvPr/>
        </p:nvSpPr>
        <p:spPr>
          <a:xfrm>
            <a:off x="2103120" y="1417320"/>
            <a:ext cx="1106424" cy="1005840"/>
          </a:xfrm>
          <a:prstGeom prst="roundRect">
            <a:avLst>
              <a:gd name="adj" fmla="val 5455"/>
            </a:avLst>
          </a:prstGeom>
          <a:solidFill>
            <a:srgbClr val="2B6CB0"/>
          </a:solidFill>
          <a:ln w="12700">
            <a:solidFill>
              <a:srgbClr val="2B6CB0"/>
            </a:solidFill>
            <a:prstDash val="solid"/>
          </a:ln>
        </p:spPr>
      </p:sp>
      <p:sp>
        <p:nvSpPr>
          <p:cNvPr id="10" name="Text 8"/>
          <p:cNvSpPr txBox="1"/>
          <p:nvPr/>
        </p:nvSpPr>
        <p:spPr>
          <a:xfrm>
            <a:off x="2176272" y="1527048"/>
            <a:ext cx="960120" cy="365760"/>
          </a:xfrm>
          <a:prstGeom prst="rect">
            <a:avLst/>
          </a:prstGeom>
          <a:noFill/>
          <a:ln/>
        </p:spPr>
        <p:txBody>
          <a:bodyPr wrap="square" lIns="0" tIns="0" rIns="0" bIns="0" rtlCol="0" anchor="ctr"/>
          <a:lstStyle/>
          <a:p>
            <a:pPr algn="l" indent="0" marL="0">
              <a:buNone/>
            </a:pPr>
            <a:r>
              <a:rPr lang="en-US" sz="1300" b="1" dirty="0">
                <a:solidFill>
                  <a:srgbClr val="FFFFFF"/>
                </a:solidFill>
              </a:rPr>
              <a:t>Step 0</a:t>
            </a:r>
            <a:endParaRPr lang="en-US" sz="1300" dirty="0"/>
          </a:p>
        </p:txBody>
      </p:sp>
      <p:sp>
        <p:nvSpPr>
          <p:cNvPr id="11" name="Text 9"/>
          <p:cNvSpPr txBox="1"/>
          <p:nvPr/>
        </p:nvSpPr>
        <p:spPr>
          <a:xfrm>
            <a:off x="2176272" y="1920240"/>
            <a:ext cx="960120" cy="411480"/>
          </a:xfrm>
          <a:prstGeom prst="rect">
            <a:avLst/>
          </a:prstGeom>
          <a:noFill/>
          <a:ln/>
        </p:spPr>
        <p:txBody>
          <a:bodyPr wrap="square" lIns="0" tIns="0" rIns="0" bIns="0" rtlCol="0" anchor="ctr"/>
          <a:lstStyle/>
          <a:p>
            <a:pPr indent="0" marL="0">
              <a:buNone/>
            </a:pPr>
            <a:r>
              <a:rPr lang="en-US" sz="1200" dirty="0">
                <a:solidFill>
                  <a:srgbClr val="FFFFFF"/>
                </a:solidFill>
              </a:rPr>
              <a:t>how a program runs</a:t>
            </a:r>
            <a:endParaRPr lang="en-US" sz="1200" dirty="0"/>
          </a:p>
        </p:txBody>
      </p:sp>
      <p:sp>
        <p:nvSpPr>
          <p:cNvPr id="12" name="Text 10"/>
          <p:cNvSpPr txBox="1"/>
          <p:nvPr/>
        </p:nvSpPr>
        <p:spPr>
          <a:xfrm>
            <a:off x="2011680" y="2468880"/>
            <a:ext cx="365760" cy="228600"/>
          </a:xfrm>
          <a:prstGeom prst="rect">
            <a:avLst/>
          </a:prstGeom>
          <a:noFill/>
          <a:ln/>
        </p:spPr>
        <p:txBody>
          <a:bodyPr wrap="square" lIns="0" tIns="0" rIns="0" bIns="0" rtlCol="0" anchor="ctr"/>
          <a:lstStyle/>
          <a:p>
            <a:pPr indent="0" marL="0">
              <a:buNone/>
            </a:pPr>
            <a:r>
              <a:rPr lang="en-US" sz="1100" dirty="0">
                <a:solidFill>
                  <a:srgbClr val="6B7280"/>
                </a:solidFill>
              </a:rPr>
              <a:t>20</a:t>
            </a:r>
            <a:endParaRPr lang="en-US" sz="1100" dirty="0"/>
          </a:p>
        </p:txBody>
      </p:sp>
      <p:sp>
        <p:nvSpPr>
          <p:cNvPr id="13" name="Shape 11"/>
          <p:cNvSpPr/>
          <p:nvPr/>
        </p:nvSpPr>
        <p:spPr>
          <a:xfrm>
            <a:off x="3255264" y="1417320"/>
            <a:ext cx="859536" cy="1005840"/>
          </a:xfrm>
          <a:prstGeom prst="roundRect">
            <a:avLst>
              <a:gd name="adj" fmla="val 6383"/>
            </a:avLst>
          </a:prstGeom>
          <a:solidFill>
            <a:srgbClr val="C98C00"/>
          </a:solidFill>
          <a:ln w="12700">
            <a:solidFill>
              <a:srgbClr val="C98C00"/>
            </a:solidFill>
            <a:prstDash val="solid"/>
          </a:ln>
        </p:spPr>
      </p:sp>
      <p:sp>
        <p:nvSpPr>
          <p:cNvPr id="14" name="Text 12"/>
          <p:cNvSpPr txBox="1"/>
          <p:nvPr/>
        </p:nvSpPr>
        <p:spPr>
          <a:xfrm>
            <a:off x="3328416" y="1527048"/>
            <a:ext cx="713232" cy="365760"/>
          </a:xfrm>
          <a:prstGeom prst="rect">
            <a:avLst/>
          </a:prstGeom>
          <a:noFill/>
          <a:ln/>
        </p:spPr>
        <p:txBody>
          <a:bodyPr wrap="square" lIns="0" tIns="0" rIns="0" bIns="0" rtlCol="0" anchor="ctr"/>
          <a:lstStyle/>
          <a:p>
            <a:pPr algn="ctr" indent="0" marL="0">
              <a:buNone/>
            </a:pPr>
            <a:r>
              <a:rPr lang="en-US" sz="1300" b="1" dirty="0">
                <a:solidFill>
                  <a:srgbClr val="FFFFFF"/>
                </a:solidFill>
              </a:rPr>
              <a:t>Step 1</a:t>
            </a:r>
            <a:endParaRPr lang="en-US" sz="1300" dirty="0"/>
          </a:p>
        </p:txBody>
      </p:sp>
      <p:sp>
        <p:nvSpPr>
          <p:cNvPr id="15" name="Text 13"/>
          <p:cNvSpPr txBox="1"/>
          <p:nvPr/>
        </p:nvSpPr>
        <p:spPr>
          <a:xfrm>
            <a:off x="3163824" y="2468880"/>
            <a:ext cx="365760" cy="228600"/>
          </a:xfrm>
          <a:prstGeom prst="rect">
            <a:avLst/>
          </a:prstGeom>
          <a:noFill/>
          <a:ln/>
        </p:spPr>
        <p:txBody>
          <a:bodyPr wrap="square" lIns="0" tIns="0" rIns="0" bIns="0" rtlCol="0" anchor="ctr"/>
          <a:lstStyle/>
          <a:p>
            <a:pPr indent="0" marL="0">
              <a:buNone/>
            </a:pPr>
            <a:r>
              <a:rPr lang="en-US" sz="1100" dirty="0">
                <a:solidFill>
                  <a:srgbClr val="6B7280"/>
                </a:solidFill>
              </a:rPr>
              <a:t>34</a:t>
            </a:r>
            <a:endParaRPr lang="en-US" sz="1100" dirty="0"/>
          </a:p>
        </p:txBody>
      </p:sp>
      <p:sp>
        <p:nvSpPr>
          <p:cNvPr id="16" name="Shape 14"/>
          <p:cNvSpPr/>
          <p:nvPr/>
        </p:nvSpPr>
        <p:spPr>
          <a:xfrm>
            <a:off x="4160520" y="1417320"/>
            <a:ext cx="859536" cy="1005840"/>
          </a:xfrm>
          <a:prstGeom prst="roundRect">
            <a:avLst>
              <a:gd name="adj" fmla="val 6383"/>
            </a:avLst>
          </a:prstGeom>
          <a:solidFill>
            <a:srgbClr val="C98C00"/>
          </a:solidFill>
          <a:ln w="12700">
            <a:solidFill>
              <a:srgbClr val="C98C00"/>
            </a:solidFill>
            <a:prstDash val="solid"/>
          </a:ln>
        </p:spPr>
      </p:sp>
      <p:sp>
        <p:nvSpPr>
          <p:cNvPr id="17" name="Text 15"/>
          <p:cNvSpPr txBox="1"/>
          <p:nvPr/>
        </p:nvSpPr>
        <p:spPr>
          <a:xfrm>
            <a:off x="4233672" y="1527048"/>
            <a:ext cx="713232" cy="365760"/>
          </a:xfrm>
          <a:prstGeom prst="rect">
            <a:avLst/>
          </a:prstGeom>
          <a:noFill/>
          <a:ln/>
        </p:spPr>
        <p:txBody>
          <a:bodyPr wrap="square" lIns="0" tIns="0" rIns="0" bIns="0" rtlCol="0" anchor="ctr"/>
          <a:lstStyle/>
          <a:p>
            <a:pPr algn="ctr" indent="0" marL="0">
              <a:buNone/>
            </a:pPr>
            <a:r>
              <a:rPr lang="en-US" sz="1300" b="1" dirty="0">
                <a:solidFill>
                  <a:srgbClr val="FFFFFF"/>
                </a:solidFill>
              </a:rPr>
              <a:t>Step 2</a:t>
            </a:r>
            <a:endParaRPr lang="en-US" sz="1300" dirty="0"/>
          </a:p>
        </p:txBody>
      </p:sp>
      <p:sp>
        <p:nvSpPr>
          <p:cNvPr id="18" name="Text 16"/>
          <p:cNvSpPr txBox="1"/>
          <p:nvPr/>
        </p:nvSpPr>
        <p:spPr>
          <a:xfrm>
            <a:off x="4069080" y="2468880"/>
            <a:ext cx="365760" cy="228600"/>
          </a:xfrm>
          <a:prstGeom prst="rect">
            <a:avLst/>
          </a:prstGeom>
          <a:noFill/>
          <a:ln/>
        </p:spPr>
        <p:txBody>
          <a:bodyPr wrap="square" lIns="0" tIns="0" rIns="0" bIns="0" rtlCol="0" anchor="ctr"/>
          <a:lstStyle/>
          <a:p>
            <a:pPr indent="0" marL="0">
              <a:buNone/>
            </a:pPr>
            <a:r>
              <a:rPr lang="en-US" sz="1100" dirty="0">
                <a:solidFill>
                  <a:srgbClr val="6B7280"/>
                </a:solidFill>
              </a:rPr>
              <a:t>45</a:t>
            </a:r>
            <a:endParaRPr lang="en-US" sz="1100" dirty="0"/>
          </a:p>
        </p:txBody>
      </p:sp>
      <p:sp>
        <p:nvSpPr>
          <p:cNvPr id="19" name="Shape 17"/>
          <p:cNvSpPr/>
          <p:nvPr/>
        </p:nvSpPr>
        <p:spPr>
          <a:xfrm>
            <a:off x="5065776" y="1417320"/>
            <a:ext cx="2258568" cy="1005840"/>
          </a:xfrm>
          <a:prstGeom prst="roundRect">
            <a:avLst>
              <a:gd name="adj" fmla="val 5455"/>
            </a:avLst>
          </a:prstGeom>
          <a:solidFill>
            <a:srgbClr val="1F8A70"/>
          </a:solidFill>
          <a:ln w="12700">
            <a:solidFill>
              <a:srgbClr val="1F8A70"/>
            </a:solidFill>
            <a:prstDash val="solid"/>
          </a:ln>
        </p:spPr>
      </p:sp>
      <p:sp>
        <p:nvSpPr>
          <p:cNvPr id="20" name="Text 18"/>
          <p:cNvSpPr txBox="1"/>
          <p:nvPr/>
        </p:nvSpPr>
        <p:spPr>
          <a:xfrm>
            <a:off x="5138928" y="1527048"/>
            <a:ext cx="2112264" cy="365760"/>
          </a:xfrm>
          <a:prstGeom prst="rect">
            <a:avLst/>
          </a:prstGeom>
          <a:noFill/>
          <a:ln/>
        </p:spPr>
        <p:txBody>
          <a:bodyPr wrap="square" lIns="0" tIns="0" rIns="0" bIns="0" rtlCol="0" anchor="ctr"/>
          <a:lstStyle/>
          <a:p>
            <a:pPr algn="l" indent="0" marL="0">
              <a:buNone/>
            </a:pPr>
            <a:r>
              <a:rPr lang="en-US" sz="1700" b="1" dirty="0">
                <a:solidFill>
                  <a:srgbClr val="FFFFFF"/>
                </a:solidFill>
              </a:rPr>
              <a:t>Step 3</a:t>
            </a:r>
            <a:endParaRPr lang="en-US" sz="1700" dirty="0"/>
          </a:p>
        </p:txBody>
      </p:sp>
      <p:sp>
        <p:nvSpPr>
          <p:cNvPr id="21" name="Text 19"/>
          <p:cNvSpPr txBox="1"/>
          <p:nvPr/>
        </p:nvSpPr>
        <p:spPr>
          <a:xfrm>
            <a:off x="5138928" y="1920240"/>
            <a:ext cx="2112264" cy="411480"/>
          </a:xfrm>
          <a:prstGeom prst="rect">
            <a:avLst/>
          </a:prstGeom>
          <a:noFill/>
          <a:ln/>
        </p:spPr>
        <p:txBody>
          <a:bodyPr wrap="square" lIns="0" tIns="0" rIns="0" bIns="0" rtlCol="0" anchor="ctr"/>
          <a:lstStyle/>
          <a:p>
            <a:pPr indent="0" marL="0">
              <a:buNone/>
            </a:pPr>
            <a:r>
              <a:rPr lang="en-US" sz="1200" dirty="0">
                <a:solidFill>
                  <a:srgbClr val="FFFFFF"/>
                </a:solidFill>
              </a:rPr>
              <a:t>you write angle_for()</a:t>
            </a:r>
            <a:endParaRPr lang="en-US" sz="1200" dirty="0"/>
          </a:p>
        </p:txBody>
      </p:sp>
      <p:sp>
        <p:nvSpPr>
          <p:cNvPr id="22" name="Text 20"/>
          <p:cNvSpPr txBox="1"/>
          <p:nvPr/>
        </p:nvSpPr>
        <p:spPr>
          <a:xfrm>
            <a:off x="4974336" y="2468880"/>
            <a:ext cx="365760" cy="228600"/>
          </a:xfrm>
          <a:prstGeom prst="rect">
            <a:avLst/>
          </a:prstGeom>
          <a:noFill/>
          <a:ln/>
        </p:spPr>
        <p:txBody>
          <a:bodyPr wrap="square" lIns="0" tIns="0" rIns="0" bIns="0" rtlCol="0" anchor="ctr"/>
          <a:lstStyle/>
          <a:p>
            <a:pPr indent="0" marL="0">
              <a:buNone/>
            </a:pPr>
            <a:r>
              <a:rPr lang="en-US" sz="1100" dirty="0">
                <a:solidFill>
                  <a:srgbClr val="6B7280"/>
                </a:solidFill>
              </a:rPr>
              <a:t>56</a:t>
            </a:r>
            <a:endParaRPr lang="en-US" sz="1100" dirty="0"/>
          </a:p>
        </p:txBody>
      </p:sp>
      <p:sp>
        <p:nvSpPr>
          <p:cNvPr id="23" name="Shape 21"/>
          <p:cNvSpPr/>
          <p:nvPr/>
        </p:nvSpPr>
        <p:spPr>
          <a:xfrm>
            <a:off x="7370064" y="1417320"/>
            <a:ext cx="1271016" cy="1005840"/>
          </a:xfrm>
          <a:prstGeom prst="roundRect">
            <a:avLst>
              <a:gd name="adj" fmla="val 5455"/>
            </a:avLst>
          </a:prstGeom>
          <a:solidFill>
            <a:srgbClr val="0B3D2E"/>
          </a:solidFill>
          <a:ln w="12700">
            <a:solidFill>
              <a:srgbClr val="0B3D2E"/>
            </a:solidFill>
            <a:prstDash val="solid"/>
          </a:ln>
        </p:spPr>
      </p:sp>
      <p:sp>
        <p:nvSpPr>
          <p:cNvPr id="24" name="Text 22"/>
          <p:cNvSpPr txBox="1"/>
          <p:nvPr/>
        </p:nvSpPr>
        <p:spPr>
          <a:xfrm>
            <a:off x="7443216" y="1527048"/>
            <a:ext cx="1124712" cy="365760"/>
          </a:xfrm>
          <a:prstGeom prst="rect">
            <a:avLst/>
          </a:prstGeom>
          <a:noFill/>
          <a:ln/>
        </p:spPr>
        <p:txBody>
          <a:bodyPr wrap="square" lIns="0" tIns="0" rIns="0" bIns="0" rtlCol="0" anchor="ctr"/>
          <a:lstStyle/>
          <a:p>
            <a:pPr algn="l" indent="0" marL="0">
              <a:buNone/>
            </a:pPr>
            <a:r>
              <a:rPr lang="en-US" sz="1300" b="1" dirty="0">
                <a:solidFill>
                  <a:srgbClr val="FFFFFF"/>
                </a:solidFill>
              </a:rPr>
              <a:t>Talk</a:t>
            </a:r>
            <a:endParaRPr lang="en-US" sz="1300" dirty="0"/>
          </a:p>
        </p:txBody>
      </p:sp>
      <p:sp>
        <p:nvSpPr>
          <p:cNvPr id="25" name="Text 23"/>
          <p:cNvSpPr txBox="1"/>
          <p:nvPr/>
        </p:nvSpPr>
        <p:spPr>
          <a:xfrm>
            <a:off x="7278624" y="2468880"/>
            <a:ext cx="365760" cy="228600"/>
          </a:xfrm>
          <a:prstGeom prst="rect">
            <a:avLst/>
          </a:prstGeom>
          <a:noFill/>
          <a:ln/>
        </p:spPr>
        <p:txBody>
          <a:bodyPr wrap="square" lIns="0" tIns="0" rIns="0" bIns="0" rtlCol="0" anchor="ctr"/>
          <a:lstStyle/>
          <a:p>
            <a:pPr indent="0" marL="0">
              <a:buNone/>
            </a:pPr>
            <a:r>
              <a:rPr lang="en-US" sz="1100" dirty="0">
                <a:solidFill>
                  <a:srgbClr val="6B7280"/>
                </a:solidFill>
              </a:rPr>
              <a:t>84</a:t>
            </a:r>
            <a:endParaRPr lang="en-US" sz="1100" dirty="0"/>
          </a:p>
        </p:txBody>
      </p:sp>
      <p:sp>
        <p:nvSpPr>
          <p:cNvPr id="26" name="Text 24"/>
          <p:cNvSpPr txBox="1"/>
          <p:nvPr/>
        </p:nvSpPr>
        <p:spPr>
          <a:xfrm>
            <a:off x="8412480" y="2468880"/>
            <a:ext cx="457200" cy="228600"/>
          </a:xfrm>
          <a:prstGeom prst="rect">
            <a:avLst/>
          </a:prstGeom>
          <a:noFill/>
          <a:ln/>
        </p:spPr>
        <p:txBody>
          <a:bodyPr wrap="square" lIns="0" tIns="0" rIns="0" bIns="0" rtlCol="0" anchor="ctr"/>
          <a:lstStyle/>
          <a:p>
            <a:pPr indent="0" marL="0">
              <a:buNone/>
            </a:pPr>
            <a:r>
              <a:rPr lang="en-US" sz="1100" dirty="0">
                <a:solidFill>
                  <a:srgbClr val="6B7280"/>
                </a:solidFill>
              </a:rPr>
              <a:t>100</a:t>
            </a:r>
            <a:endParaRPr lang="en-US" sz="1100" dirty="0"/>
          </a:p>
        </p:txBody>
      </p:sp>
      <p:sp>
        <p:nvSpPr>
          <p:cNvPr id="27" name="Text 25"/>
          <p:cNvSpPr txBox="1"/>
          <p:nvPr/>
        </p:nvSpPr>
        <p:spPr>
          <a:xfrm>
            <a:off x="8412480" y="2679192"/>
            <a:ext cx="457200" cy="228600"/>
          </a:xfrm>
          <a:prstGeom prst="rect">
            <a:avLst/>
          </a:prstGeom>
          <a:noFill/>
          <a:ln/>
        </p:spPr>
        <p:txBody>
          <a:bodyPr wrap="square" lIns="0" tIns="0" rIns="0" bIns="0" rtlCol="0" anchor="ctr"/>
          <a:lstStyle/>
          <a:p>
            <a:pPr indent="0" marL="0">
              <a:buNone/>
            </a:pPr>
            <a:r>
              <a:rPr lang="en-US" sz="1100" dirty="0">
                <a:solidFill>
                  <a:srgbClr val="6B7280"/>
                </a:solidFill>
              </a:rPr>
              <a:t>min</a:t>
            </a:r>
            <a:endParaRPr lang="en-US" sz="1100" dirty="0"/>
          </a:p>
        </p:txBody>
      </p:sp>
      <p:sp>
        <p:nvSpPr>
          <p:cNvPr id="28" name="Text 26"/>
          <p:cNvSpPr txBox="1"/>
          <p:nvPr/>
        </p:nvSpPr>
        <p:spPr>
          <a:xfrm>
            <a:off x="457200" y="3063240"/>
            <a:ext cx="8229600" cy="365760"/>
          </a:xfrm>
          <a:prstGeom prst="rect">
            <a:avLst/>
          </a:prstGeom>
          <a:noFill/>
          <a:ln/>
        </p:spPr>
        <p:txBody>
          <a:bodyPr wrap="square" lIns="0" tIns="0" rIns="0" bIns="0" rtlCol="0" anchor="ctr"/>
          <a:lstStyle/>
          <a:p>
            <a:pPr indent="0" marL="0">
              <a:buNone/>
            </a:pPr>
            <a:r>
              <a:rPr lang="en-US" sz="1600" b="1" dirty="0">
                <a:solidFill>
                  <a:srgbClr val="0B3D2E"/>
                </a:solidFill>
              </a:rPr>
              <a:t>Steps 0 to 2 are read-and-run. Step 3 is the one you write. Step 4 (phone) only if you get there.</a:t>
            </a:r>
            <a:endParaRPr lang="en-US" sz="1600" dirty="0"/>
          </a:p>
        </p:txBody>
      </p:sp>
      <p:sp>
        <p:nvSpPr>
          <p:cNvPr id="29" name="Text 27"/>
          <p:cNvSpPr txBox="1"/>
          <p:nvPr/>
        </p:nvSpPr>
        <p:spPr>
          <a:xfrm>
            <a:off x="457200" y="3520440"/>
            <a:ext cx="8229600" cy="365760"/>
          </a:xfrm>
          <a:prstGeom prst="rect">
            <a:avLst/>
          </a:prstGeom>
          <a:noFill/>
          <a:ln/>
        </p:spPr>
        <p:txBody>
          <a:bodyPr wrap="square" lIns="0" tIns="0" rIns="0" bIns="0" rtlCol="0" anchor="ctr"/>
          <a:lstStyle/>
          <a:p>
            <a:pPr indent="0" marL="0">
              <a:buNone/>
            </a:pPr>
            <a:r>
              <a:rPr lang="en-US" sz="1500" i="1" dirty="0">
                <a:solidFill>
                  <a:srgbClr val="6B7280"/>
                </a:solidFill>
              </a:rPr>
              <a:t>Every group leaves with a servo that moves. That already counts as finished.</a:t>
            </a:r>
            <a:endParaRPr lang="en-US" sz="1500" dirty="0"/>
          </a:p>
        </p:txBody>
      </p:sp>
      <p:sp>
        <p:nvSpPr>
          <p:cNvPr id="30" name="Shape 28"/>
          <p:cNvSpPr/>
          <p:nvPr/>
        </p:nvSpPr>
        <p:spPr>
          <a:xfrm>
            <a:off x="457200" y="3977640"/>
            <a:ext cx="8229600" cy="502920"/>
          </a:xfrm>
          <a:prstGeom prst="roundRect">
            <a:avLst>
              <a:gd name="adj" fmla="val 14545"/>
            </a:avLst>
          </a:prstGeom>
          <a:solidFill>
            <a:srgbClr val="DDF3E9"/>
          </a:solidFill>
          <a:ln w="15875">
            <a:solidFill>
              <a:srgbClr val="1F8A70"/>
            </a:solidFill>
            <a:prstDash val="solid"/>
          </a:ln>
        </p:spPr>
      </p:sp>
      <p:sp>
        <p:nvSpPr>
          <p:cNvPr id="31" name="Text 29"/>
          <p:cNvSpPr txBox="1"/>
          <p:nvPr/>
        </p:nvSpPr>
        <p:spPr>
          <a:xfrm>
            <a:off x="594360" y="3977640"/>
            <a:ext cx="7955280" cy="50292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By minute 45 every group has a servo that moves to three positions.</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Get today's files</a:t>
            </a:r>
            <a:endParaRPr lang="en-US" sz="3000" dirty="0"/>
          </a:p>
        </p:txBody>
      </p:sp>
      <p:sp>
        <p:nvSpPr>
          <p:cNvPr id="3" name="Shape 1"/>
          <p:cNvSpPr/>
          <p:nvPr/>
        </p:nvSpPr>
        <p:spPr>
          <a:xfrm>
            <a:off x="457200" y="1051560"/>
            <a:ext cx="5029200" cy="2103120"/>
          </a:xfrm>
          <a:prstGeom prst="roundRect">
            <a:avLst>
              <a:gd name="adj" fmla="val 3478"/>
            </a:avLst>
          </a:prstGeom>
          <a:solidFill>
            <a:srgbClr val="1E1E1E"/>
          </a:solidFill>
          <a:ln w="12700">
            <a:solidFill>
              <a:srgbClr val="3A3A3A"/>
            </a:solidFill>
            <a:prstDash val="solid"/>
          </a:ln>
        </p:spPr>
      </p:sp>
      <p:sp>
        <p:nvSpPr>
          <p:cNvPr id="4" name="Shape 2"/>
          <p:cNvSpPr/>
          <p:nvPr/>
        </p:nvSpPr>
        <p:spPr>
          <a:xfrm>
            <a:off x="594360" y="1143000"/>
            <a:ext cx="118872" cy="118872"/>
          </a:xfrm>
          <a:prstGeom prst="ellipse">
            <a:avLst/>
          </a:prstGeom>
          <a:solidFill>
            <a:srgbClr val="FF5F57"/>
          </a:solidFill>
          <a:ln w="12700">
            <a:solidFill>
              <a:srgbClr val="FF5F57"/>
            </a:solidFill>
            <a:prstDash val="solid"/>
          </a:ln>
        </p:spPr>
      </p:sp>
      <p:sp>
        <p:nvSpPr>
          <p:cNvPr id="5" name="Shape 3"/>
          <p:cNvSpPr/>
          <p:nvPr/>
        </p:nvSpPr>
        <p:spPr>
          <a:xfrm>
            <a:off x="777240" y="1143000"/>
            <a:ext cx="118872" cy="118872"/>
          </a:xfrm>
          <a:prstGeom prst="ellipse">
            <a:avLst/>
          </a:prstGeom>
          <a:solidFill>
            <a:srgbClr val="FEBC2E"/>
          </a:solidFill>
          <a:ln w="12700">
            <a:solidFill>
              <a:srgbClr val="FEBC2E"/>
            </a:solidFill>
            <a:prstDash val="solid"/>
          </a:ln>
        </p:spPr>
      </p:sp>
      <p:sp>
        <p:nvSpPr>
          <p:cNvPr id="6" name="Shape 4"/>
          <p:cNvSpPr/>
          <p:nvPr/>
        </p:nvSpPr>
        <p:spPr>
          <a:xfrm>
            <a:off x="960120" y="1143000"/>
            <a:ext cx="118872" cy="118872"/>
          </a:xfrm>
          <a:prstGeom prst="ellipse">
            <a:avLst/>
          </a:prstGeom>
          <a:solidFill>
            <a:srgbClr val="28C840"/>
          </a:solidFill>
          <a:ln w="12700">
            <a:solidFill>
              <a:srgbClr val="28C840"/>
            </a:solidFill>
            <a:prstDash val="solid"/>
          </a:ln>
        </p:spPr>
      </p:sp>
      <p:sp>
        <p:nvSpPr>
          <p:cNvPr id="7" name="Text 5"/>
          <p:cNvSpPr txBox="1"/>
          <p:nvPr/>
        </p:nvSpPr>
        <p:spPr>
          <a:xfrm>
            <a:off x="457200" y="1106424"/>
            <a:ext cx="502920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8" name="Text 6"/>
          <p:cNvSpPr txBox="1"/>
          <p:nvPr/>
        </p:nvSpPr>
        <p:spPr>
          <a:xfrm>
            <a:off x="621792" y="1399032"/>
            <a:ext cx="4700016" cy="1645920"/>
          </a:xfrm>
          <a:prstGeom prst="rect">
            <a:avLst/>
          </a:prstGeom>
          <a:noFill/>
          <a:ln/>
        </p:spPr>
        <p:txBody>
          <a:bodyPr wrap="square" lIns="0" tIns="0" rIns="0" bIns="0" rtlCol="0" anchor="t"/>
          <a:lstStyle/>
          <a:p>
            <a:pPr indent="0" marL="0">
              <a:spcAft>
                <a:spcPts val="200"/>
              </a:spcAft>
              <a:buNone/>
            </a:pPr>
            <a:r>
              <a:rPr lang="en-US" sz="1200" dirty="0">
                <a:solidFill>
                  <a:srgbClr val="8FA3AD"/>
                </a:solidFill>
                <a:latin typeface="Courier New" pitchFamily="34" charset="0"/>
                <a:ea typeface="Courier New" pitchFamily="34" charset="-122"/>
                <a:cs typeface="Courier New" pitchFamily="34" charset="-120"/>
              </a:rPr>
              <a:t>MacBook:~ s20xxxxxx$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cd ~/JA05</a:t>
            </a:r>
            <a:endParaRPr lang="en-US" sz="1200" dirty="0"/>
          </a:p>
          <a:p>
            <a:pPr indent="0" marL="0">
              <a:spcAft>
                <a:spcPts val="200"/>
              </a:spcAft>
              <a:buNone/>
            </a:pPr>
            <a:r>
              <a:rPr lang="en-US" sz="1200" dirty="0">
                <a:solidFill>
                  <a:srgbClr val="8FA3AD"/>
                </a:solidFill>
                <a:latin typeface="Courier New" pitchFamily="34" charset="0"/>
                <a:ea typeface="Courier New" pitchFamily="34" charset="-122"/>
                <a:cs typeface="Courier New" pitchFamily="34" charset="-120"/>
              </a:rPr>
              <a:t>MacBook:JA05 s20xxxxxx$ </a:t>
            </a:r>
            <a:pPr indent="0" marL="0">
              <a:spcAft>
                <a:spcPts val="200"/>
              </a:spcAft>
              <a:buNone/>
            </a:pPr>
            <a:r>
              <a:rPr lang="en-US" sz="1200" b="1" dirty="0">
                <a:solidFill>
                  <a:srgbClr val="FFFFFF"/>
                </a:solidFill>
                <a:latin typeface="Courier New" pitchFamily="34" charset="0"/>
                <a:ea typeface="Courier New" pitchFamily="34" charset="-122"/>
                <a:cs typeface="Courier New" pitchFamily="34" charset="-120"/>
              </a:rPr>
              <a:t>./get_latest.sh</a:t>
            </a: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Checking GitHub for new files...</a:t>
            </a:r>
            <a:endParaRPr lang="en-US" sz="1200" dirty="0"/>
          </a:p>
          <a:p>
            <a:pPr indent="0" marL="0">
              <a:spcAft>
                <a:spcPts val="200"/>
              </a:spcAft>
              <a:buNone/>
            </a:pPr>
            <a:r>
              <a:rPr lang="en-US" sz="1200" b="1" dirty="0">
                <a:solidFill>
                  <a:srgbClr val="F2A900"/>
                </a:solidFill>
                <a:latin typeface="Courier New" pitchFamily="34" charset="0"/>
                <a:ea typeface="Courier New" pitchFamily="34" charset="-122"/>
                <a:cs typeface="Courier New" pitchFamily="34" charset="-120"/>
              </a:rPr>
              <a:t>Done. You have the latest files.</a:t>
            </a:r>
            <a:endParaRPr lang="en-US" sz="1200" dirty="0"/>
          </a:p>
          <a:p>
            <a:pPr indent="0" marL="0">
              <a:spcAft>
                <a:spcPts val="200"/>
              </a:spcAft>
              <a:buNone/>
            </a:pPr>
            <a:endParaRPr lang="en-US" sz="1200" dirty="0"/>
          </a:p>
          <a:p>
            <a:pPr indent="0" marL="0">
              <a:spcAft>
                <a:spcPts val="200"/>
              </a:spcAft>
              <a:buNone/>
            </a:pPr>
            <a:r>
              <a:rPr lang="en-US" sz="1200" dirty="0">
                <a:solidFill>
                  <a:srgbClr val="B9C7BF"/>
                </a:solidFill>
                <a:latin typeface="Courier New" pitchFamily="34" charset="0"/>
                <a:ea typeface="Courier New" pitchFamily="34" charset="-122"/>
                <a:cs typeface="Courier New" pitchFamily="34" charset="-120"/>
              </a:rPr>
              <a:t>New folder: </a:t>
            </a:r>
            <a:pPr indent="0" marL="0">
              <a:spcAft>
                <a:spcPts val="200"/>
              </a:spcAft>
              <a:buNone/>
            </a:pPr>
            <a:r>
              <a:rPr lang="en-US" sz="1200" b="1" dirty="0">
                <a:solidFill>
                  <a:srgbClr val="F2A900"/>
                </a:solidFill>
                <a:latin typeface="Courier New" pitchFamily="34" charset="0"/>
                <a:ea typeface="Courier New" pitchFamily="34" charset="-122"/>
                <a:cs typeface="Courier New" pitchFamily="34" charset="-120"/>
              </a:rPr>
              <a:t>20261023_L5</a:t>
            </a:r>
            <a:endParaRPr lang="en-US" sz="1200" dirty="0"/>
          </a:p>
        </p:txBody>
      </p:sp>
      <p:sp>
        <p:nvSpPr>
          <p:cNvPr id="9" name="Shape 7"/>
          <p:cNvSpPr/>
          <p:nvPr/>
        </p:nvSpPr>
        <p:spPr>
          <a:xfrm>
            <a:off x="5760720" y="1115568"/>
            <a:ext cx="329184" cy="329184"/>
          </a:xfrm>
          <a:prstGeom prst="ellipse">
            <a:avLst/>
          </a:prstGeom>
          <a:solidFill>
            <a:srgbClr val="F2A900"/>
          </a:solidFill>
          <a:ln w="12700">
            <a:solidFill>
              <a:srgbClr val="C98C00"/>
            </a:solidFill>
            <a:prstDash val="solid"/>
          </a:ln>
        </p:spPr>
      </p:sp>
      <p:sp>
        <p:nvSpPr>
          <p:cNvPr id="10" name="Text 8"/>
          <p:cNvSpPr txBox="1"/>
          <p:nvPr/>
        </p:nvSpPr>
        <p:spPr>
          <a:xfrm>
            <a:off x="5760720" y="11155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11" name="Text 9"/>
          <p:cNvSpPr txBox="1"/>
          <p:nvPr/>
        </p:nvSpPr>
        <p:spPr>
          <a:xfrm>
            <a:off x="6217920" y="1097280"/>
            <a:ext cx="2468880" cy="384048"/>
          </a:xfrm>
          <a:prstGeom prst="rect">
            <a:avLst/>
          </a:prstGeom>
          <a:noFill/>
          <a:ln/>
        </p:spPr>
        <p:txBody>
          <a:bodyPr wrap="square" lIns="0" tIns="0" rIns="0" bIns="0" rtlCol="0" anchor="ctr"/>
          <a:lstStyle/>
          <a:p>
            <a:pPr indent="0" marL="0">
              <a:buNone/>
            </a:pPr>
            <a:r>
              <a:rPr lang="en-US" sz="1500" dirty="0">
                <a:solidFill>
                  <a:srgbClr val="1B1B1B"/>
                </a:solidFill>
              </a:rPr>
              <a:t>Saves anything you changed into my_work</a:t>
            </a:r>
            <a:endParaRPr lang="en-US" sz="1500" dirty="0"/>
          </a:p>
        </p:txBody>
      </p:sp>
      <p:sp>
        <p:nvSpPr>
          <p:cNvPr id="12" name="Shape 10"/>
          <p:cNvSpPr/>
          <p:nvPr/>
        </p:nvSpPr>
        <p:spPr>
          <a:xfrm>
            <a:off x="5760720" y="1801368"/>
            <a:ext cx="329184" cy="329184"/>
          </a:xfrm>
          <a:prstGeom prst="ellipse">
            <a:avLst/>
          </a:prstGeom>
          <a:solidFill>
            <a:srgbClr val="F2A900"/>
          </a:solidFill>
          <a:ln w="12700">
            <a:solidFill>
              <a:srgbClr val="C98C00"/>
            </a:solidFill>
            <a:prstDash val="solid"/>
          </a:ln>
        </p:spPr>
      </p:sp>
      <p:sp>
        <p:nvSpPr>
          <p:cNvPr id="13" name="Text 11"/>
          <p:cNvSpPr txBox="1"/>
          <p:nvPr/>
        </p:nvSpPr>
        <p:spPr>
          <a:xfrm>
            <a:off x="5760720" y="18013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14" name="Text 12"/>
          <p:cNvSpPr txBox="1"/>
          <p:nvPr/>
        </p:nvSpPr>
        <p:spPr>
          <a:xfrm>
            <a:off x="6217920" y="1783080"/>
            <a:ext cx="2468880" cy="384048"/>
          </a:xfrm>
          <a:prstGeom prst="rect">
            <a:avLst/>
          </a:prstGeom>
          <a:noFill/>
          <a:ln/>
        </p:spPr>
        <p:txBody>
          <a:bodyPr wrap="square" lIns="0" tIns="0" rIns="0" bIns="0" rtlCol="0" anchor="ctr"/>
          <a:lstStyle/>
          <a:p>
            <a:pPr indent="0" marL="0">
              <a:buNone/>
            </a:pPr>
            <a:r>
              <a:rPr lang="en-US" sz="1500" dirty="0">
                <a:solidFill>
                  <a:srgbClr val="1B1B1B"/>
                </a:solidFill>
              </a:rPr>
              <a:t>Gets the newest files from GitHub</a:t>
            </a:r>
            <a:endParaRPr lang="en-US" sz="1500" dirty="0"/>
          </a:p>
        </p:txBody>
      </p:sp>
      <p:sp>
        <p:nvSpPr>
          <p:cNvPr id="15" name="Shape 13"/>
          <p:cNvSpPr/>
          <p:nvPr/>
        </p:nvSpPr>
        <p:spPr>
          <a:xfrm>
            <a:off x="5760720" y="2487168"/>
            <a:ext cx="329184" cy="329184"/>
          </a:xfrm>
          <a:prstGeom prst="ellipse">
            <a:avLst/>
          </a:prstGeom>
          <a:solidFill>
            <a:srgbClr val="F2A900"/>
          </a:solidFill>
          <a:ln w="12700">
            <a:solidFill>
              <a:srgbClr val="C98C00"/>
            </a:solidFill>
            <a:prstDash val="solid"/>
          </a:ln>
        </p:spPr>
      </p:sp>
      <p:sp>
        <p:nvSpPr>
          <p:cNvPr id="16" name="Text 14"/>
          <p:cNvSpPr txBox="1"/>
          <p:nvPr/>
        </p:nvSpPr>
        <p:spPr>
          <a:xfrm>
            <a:off x="5760720" y="24871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17" name="Text 15"/>
          <p:cNvSpPr txBox="1"/>
          <p:nvPr/>
        </p:nvSpPr>
        <p:spPr>
          <a:xfrm>
            <a:off x="6217920" y="2468880"/>
            <a:ext cx="2468880" cy="384048"/>
          </a:xfrm>
          <a:prstGeom prst="rect">
            <a:avLst/>
          </a:prstGeom>
          <a:noFill/>
          <a:ln/>
        </p:spPr>
        <p:txBody>
          <a:bodyPr wrap="square" lIns="0" tIns="0" rIns="0" bIns="0" rtlCol="0" anchor="ctr"/>
          <a:lstStyle/>
          <a:p>
            <a:pPr indent="0" marL="0">
              <a:buNone/>
            </a:pPr>
            <a:r>
              <a:rPr lang="en-US" sz="1500" dirty="0">
                <a:solidFill>
                  <a:srgbClr val="1B1B1B"/>
                </a:solidFill>
              </a:rPr>
              <a:t>Never touches your ESP32</a:t>
            </a:r>
            <a:endParaRPr lang="en-US" sz="1500" dirty="0"/>
          </a:p>
        </p:txBody>
      </p:sp>
      <p:sp>
        <p:nvSpPr>
          <p:cNvPr id="18" name="Shape 16"/>
          <p:cNvSpPr/>
          <p:nvPr/>
        </p:nvSpPr>
        <p:spPr>
          <a:xfrm>
            <a:off x="457200" y="3383280"/>
            <a:ext cx="5029200" cy="548640"/>
          </a:xfrm>
          <a:prstGeom prst="roundRect">
            <a:avLst>
              <a:gd name="adj" fmla="val 13333"/>
            </a:avLst>
          </a:prstGeom>
          <a:solidFill>
            <a:srgbClr val="DDF3E9"/>
          </a:solidFill>
          <a:ln w="15875">
            <a:solidFill>
              <a:srgbClr val="1F8A70"/>
            </a:solidFill>
            <a:prstDash val="solid"/>
          </a:ln>
        </p:spPr>
      </p:sp>
      <p:sp>
        <p:nvSpPr>
          <p:cNvPr id="19" name="Text 17"/>
          <p:cNvSpPr txBox="1"/>
          <p:nvPr/>
        </p:nvSpPr>
        <p:spPr>
          <a:xfrm>
            <a:off x="594360" y="3383280"/>
            <a:ext cx="4754880" cy="54864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A folder 20261023_L5 appears in JA05.</a:t>
            </a:r>
            <a:endParaRPr lang="en-US" sz="1400" dirty="0"/>
          </a:p>
        </p:txBody>
      </p:sp>
      <p:sp>
        <p:nvSpPr>
          <p:cNvPr id="20" name="Shape 18"/>
          <p:cNvSpPr/>
          <p:nvPr/>
        </p:nvSpPr>
        <p:spPr>
          <a:xfrm>
            <a:off x="457200" y="4023360"/>
            <a:ext cx="5029200" cy="457200"/>
          </a:xfrm>
          <a:prstGeom prst="roundRect">
            <a:avLst>
              <a:gd name="adj" fmla="val 16000"/>
            </a:avLst>
          </a:prstGeom>
          <a:solidFill>
            <a:srgbClr val="FFF4D6"/>
          </a:solidFill>
          <a:ln w="12700">
            <a:solidFill>
              <a:srgbClr val="E0A800"/>
            </a:solidFill>
            <a:prstDash val="solid"/>
          </a:ln>
        </p:spPr>
      </p:sp>
      <p:sp>
        <p:nvSpPr>
          <p:cNvPr id="21" name="Text 19"/>
          <p:cNvSpPr txBox="1"/>
          <p:nvPr/>
        </p:nvSpPr>
        <p:spPr>
          <a:xfrm>
            <a:off x="594360" y="4023360"/>
            <a:ext cx="475488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permission denied? Type:  bash get_latest.sh</a:t>
            </a:r>
            <a:endParaRPr lang="en-US" sz="1400" dirty="0"/>
          </a:p>
        </p:txBody>
      </p:sp>
      <p:sp>
        <p:nvSpPr>
          <p:cNvPr id="22" name="Text 20"/>
          <p:cNvSpPr txBox="1"/>
          <p:nvPr/>
        </p:nvSpPr>
        <p:spPr>
          <a:xfrm>
            <a:off x="5760720" y="3383280"/>
            <a:ext cx="2926080" cy="1097280"/>
          </a:xfrm>
          <a:prstGeom prst="rect">
            <a:avLst/>
          </a:prstGeom>
          <a:noFill/>
          <a:ln/>
        </p:spPr>
        <p:txBody>
          <a:bodyPr wrap="square" lIns="0" tIns="0" rIns="0" bIns="0" rtlCol="0" anchor="ctr"/>
          <a:lstStyle/>
          <a:p>
            <a:pPr indent="0" marL="0">
              <a:buNone/>
            </a:pPr>
            <a:r>
              <a:rPr lang="en-US" sz="1400" i="1" dirty="0">
                <a:solidFill>
                  <a:srgbClr val="0B3D2E"/>
                </a:solidFill>
              </a:rPr>
              <a:t>Your own code from last lesson is on the ESP32, not in JA05. It is safe.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How to use the code today</a:t>
            </a:r>
            <a:endParaRPr lang="en-US" sz="3000" dirty="0"/>
          </a:p>
        </p:txBody>
      </p:sp>
      <p:sp>
        <p:nvSpPr>
          <p:cNvPr id="3" name="Shape 1"/>
          <p:cNvSpPr/>
          <p:nvPr/>
        </p:nvSpPr>
        <p:spPr>
          <a:xfrm>
            <a:off x="457200" y="1069848"/>
            <a:ext cx="329184" cy="329184"/>
          </a:xfrm>
          <a:prstGeom prst="ellipse">
            <a:avLst/>
          </a:prstGeom>
          <a:solidFill>
            <a:srgbClr val="F2A900"/>
          </a:solidFill>
          <a:ln w="12700">
            <a:solidFill>
              <a:srgbClr val="C98C00"/>
            </a:solidFill>
            <a:prstDash val="solid"/>
          </a:ln>
        </p:spPr>
      </p:sp>
      <p:sp>
        <p:nvSpPr>
          <p:cNvPr id="4" name="Text 2"/>
          <p:cNvSpPr txBox="1"/>
          <p:nvPr/>
        </p:nvSpPr>
        <p:spPr>
          <a:xfrm>
            <a:off x="457200" y="106984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5" name="Text 3"/>
          <p:cNvSpPr txBox="1"/>
          <p:nvPr/>
        </p:nvSpPr>
        <p:spPr>
          <a:xfrm>
            <a:off x="914400" y="1051560"/>
            <a:ext cx="4206240" cy="384048"/>
          </a:xfrm>
          <a:prstGeom prst="rect">
            <a:avLst/>
          </a:prstGeom>
          <a:noFill/>
          <a:ln/>
        </p:spPr>
        <p:txBody>
          <a:bodyPr wrap="square" lIns="0" tIns="0" rIns="0" bIns="0" rtlCol="0" anchor="ctr"/>
          <a:lstStyle/>
          <a:p>
            <a:pPr indent="0" marL="0">
              <a:buNone/>
            </a:pPr>
            <a:r>
              <a:rPr lang="en-US" sz="1500" dirty="0">
                <a:solidFill>
                  <a:srgbClr val="1B1B1B"/>
                </a:solidFill>
              </a:rPr>
              <a:t>Bottom-right of Thonny says </a:t>
            </a:r>
            <a:pPr indent="0" marL="0">
              <a:buNone/>
            </a:pPr>
            <a:r>
              <a:rPr lang="en-US" sz="1500" b="1" dirty="0">
                <a:solidFill>
                  <a:srgbClr val="1B1B1B"/>
                </a:solidFill>
              </a:rPr>
              <a:t>MicroPython (ESP32)</a:t>
            </a:r>
            <a:endParaRPr lang="en-US" sz="1500" dirty="0"/>
          </a:p>
        </p:txBody>
      </p:sp>
      <p:sp>
        <p:nvSpPr>
          <p:cNvPr id="6" name="Shape 4"/>
          <p:cNvSpPr/>
          <p:nvPr/>
        </p:nvSpPr>
        <p:spPr>
          <a:xfrm>
            <a:off x="457200" y="1600200"/>
            <a:ext cx="329184" cy="329184"/>
          </a:xfrm>
          <a:prstGeom prst="ellipse">
            <a:avLst/>
          </a:prstGeom>
          <a:solidFill>
            <a:srgbClr val="F2A900"/>
          </a:solidFill>
          <a:ln w="12700">
            <a:solidFill>
              <a:srgbClr val="C98C00"/>
            </a:solidFill>
            <a:prstDash val="solid"/>
          </a:ln>
        </p:spPr>
      </p:sp>
      <p:sp>
        <p:nvSpPr>
          <p:cNvPr id="7" name="Text 5"/>
          <p:cNvSpPr txBox="1"/>
          <p:nvPr/>
        </p:nvSpPr>
        <p:spPr>
          <a:xfrm>
            <a:off x="457200" y="1600200"/>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8" name="Text 6"/>
          <p:cNvSpPr txBox="1"/>
          <p:nvPr/>
        </p:nvSpPr>
        <p:spPr>
          <a:xfrm>
            <a:off x="914400" y="1581912"/>
            <a:ext cx="4206240" cy="384048"/>
          </a:xfrm>
          <a:prstGeom prst="rect">
            <a:avLst/>
          </a:prstGeom>
          <a:noFill/>
          <a:ln/>
        </p:spPr>
        <p:txBody>
          <a:bodyPr wrap="square" lIns="0" tIns="0" rIns="0" bIns="0" rtlCol="0" anchor="ctr"/>
          <a:lstStyle/>
          <a:p>
            <a:pPr indent="0" marL="0">
              <a:buNone/>
            </a:pPr>
            <a:r>
              <a:rPr lang="en-US" sz="1500" b="1" dirty="0">
                <a:solidFill>
                  <a:srgbClr val="1B1B1B"/>
                </a:solidFill>
              </a:rPr>
              <a:t>View &gt; Files</a:t>
            </a:r>
            <a:pPr indent="0" marL="0">
              <a:buNone/>
            </a:pPr>
            <a:r>
              <a:rPr lang="en-US" sz="1500" dirty="0">
                <a:solidFill>
                  <a:srgbClr val="1B1B1B"/>
                </a:solidFill>
              </a:rPr>
              <a:t>, then open JA05 &gt; 20261023_L5</a:t>
            </a:r>
            <a:endParaRPr lang="en-US" sz="1500" dirty="0"/>
          </a:p>
        </p:txBody>
      </p:sp>
      <p:sp>
        <p:nvSpPr>
          <p:cNvPr id="9" name="Shape 7"/>
          <p:cNvSpPr/>
          <p:nvPr/>
        </p:nvSpPr>
        <p:spPr>
          <a:xfrm>
            <a:off x="457200" y="2130552"/>
            <a:ext cx="329184" cy="329184"/>
          </a:xfrm>
          <a:prstGeom prst="ellipse">
            <a:avLst/>
          </a:prstGeom>
          <a:solidFill>
            <a:srgbClr val="F2A900"/>
          </a:solidFill>
          <a:ln w="12700">
            <a:solidFill>
              <a:srgbClr val="C98C00"/>
            </a:solidFill>
            <a:prstDash val="solid"/>
          </a:ln>
        </p:spPr>
      </p:sp>
      <p:sp>
        <p:nvSpPr>
          <p:cNvPr id="10" name="Text 8"/>
          <p:cNvSpPr txBox="1"/>
          <p:nvPr/>
        </p:nvSpPr>
        <p:spPr>
          <a:xfrm>
            <a:off x="457200" y="2130552"/>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11" name="Text 9"/>
          <p:cNvSpPr txBox="1"/>
          <p:nvPr/>
        </p:nvSpPr>
        <p:spPr>
          <a:xfrm>
            <a:off x="914400" y="2112264"/>
            <a:ext cx="4206240" cy="384048"/>
          </a:xfrm>
          <a:prstGeom prst="rect">
            <a:avLst/>
          </a:prstGeom>
          <a:noFill/>
          <a:ln/>
        </p:spPr>
        <p:txBody>
          <a:bodyPr wrap="square" lIns="0" tIns="0" rIns="0" bIns="0" rtlCol="0" anchor="ctr"/>
          <a:lstStyle/>
          <a:p>
            <a:pPr indent="0" marL="0">
              <a:buNone/>
            </a:pPr>
            <a:r>
              <a:rPr lang="en-US" sz="1500" dirty="0">
                <a:solidFill>
                  <a:srgbClr val="1B1B1B"/>
                </a:solidFill>
              </a:rPr>
              <a:t>Right-click the step file &gt; </a:t>
            </a:r>
            <a:pPr indent="0" marL="0">
              <a:buNone/>
            </a:pPr>
            <a:r>
              <a:rPr lang="en-US" sz="1500" b="1" dirty="0">
                <a:solidFill>
                  <a:srgbClr val="1B1B1B"/>
                </a:solidFill>
              </a:rPr>
              <a:t>Upload to /</a:t>
            </a:r>
            <a:endParaRPr lang="en-US" sz="1500" dirty="0"/>
          </a:p>
        </p:txBody>
      </p:sp>
      <p:sp>
        <p:nvSpPr>
          <p:cNvPr id="12" name="Shape 10"/>
          <p:cNvSpPr/>
          <p:nvPr/>
        </p:nvSpPr>
        <p:spPr>
          <a:xfrm>
            <a:off x="457200" y="2660904"/>
            <a:ext cx="329184" cy="329184"/>
          </a:xfrm>
          <a:prstGeom prst="ellipse">
            <a:avLst/>
          </a:prstGeom>
          <a:solidFill>
            <a:srgbClr val="F2A900"/>
          </a:solidFill>
          <a:ln w="12700">
            <a:solidFill>
              <a:srgbClr val="C98C00"/>
            </a:solidFill>
            <a:prstDash val="solid"/>
          </a:ln>
        </p:spPr>
      </p:sp>
      <p:sp>
        <p:nvSpPr>
          <p:cNvPr id="13" name="Text 11"/>
          <p:cNvSpPr txBox="1"/>
          <p:nvPr/>
        </p:nvSpPr>
        <p:spPr>
          <a:xfrm>
            <a:off x="457200" y="2660904"/>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4</a:t>
            </a:r>
            <a:endParaRPr lang="en-US" sz="1300" dirty="0"/>
          </a:p>
        </p:txBody>
      </p:sp>
      <p:sp>
        <p:nvSpPr>
          <p:cNvPr id="14" name="Text 12"/>
          <p:cNvSpPr txBox="1"/>
          <p:nvPr/>
        </p:nvSpPr>
        <p:spPr>
          <a:xfrm>
            <a:off x="914400" y="2642616"/>
            <a:ext cx="4206240" cy="384048"/>
          </a:xfrm>
          <a:prstGeom prst="rect">
            <a:avLst/>
          </a:prstGeom>
          <a:noFill/>
          <a:ln/>
        </p:spPr>
        <p:txBody>
          <a:bodyPr wrap="square" lIns="0" tIns="0" rIns="0" bIns="0" rtlCol="0" anchor="ctr"/>
          <a:lstStyle/>
          <a:p>
            <a:pPr indent="0" marL="0">
              <a:buNone/>
            </a:pPr>
            <a:r>
              <a:rPr lang="en-US" sz="1500" dirty="0">
                <a:solidFill>
                  <a:srgbClr val="1B1B1B"/>
                </a:solidFill>
              </a:rPr>
              <a:t>Double-click it under </a:t>
            </a:r>
            <a:pPr indent="0" marL="0">
              <a:buNone/>
            </a:pPr>
            <a:r>
              <a:rPr lang="en-US" sz="1500" b="1" dirty="0">
                <a:solidFill>
                  <a:srgbClr val="1B1B1B"/>
                </a:solidFill>
              </a:rPr>
              <a:t>MicroPython device</a:t>
            </a:r>
            <a:endParaRPr lang="en-US" sz="1500" dirty="0"/>
          </a:p>
        </p:txBody>
      </p:sp>
      <p:sp>
        <p:nvSpPr>
          <p:cNvPr id="15" name="Shape 13"/>
          <p:cNvSpPr/>
          <p:nvPr/>
        </p:nvSpPr>
        <p:spPr>
          <a:xfrm>
            <a:off x="457200" y="3191256"/>
            <a:ext cx="329184" cy="329184"/>
          </a:xfrm>
          <a:prstGeom prst="ellipse">
            <a:avLst/>
          </a:prstGeom>
          <a:solidFill>
            <a:srgbClr val="F2A900"/>
          </a:solidFill>
          <a:ln w="12700">
            <a:solidFill>
              <a:srgbClr val="C98C00"/>
            </a:solidFill>
            <a:prstDash val="solid"/>
          </a:ln>
        </p:spPr>
      </p:sp>
      <p:sp>
        <p:nvSpPr>
          <p:cNvPr id="16" name="Text 14"/>
          <p:cNvSpPr txBox="1"/>
          <p:nvPr/>
        </p:nvSpPr>
        <p:spPr>
          <a:xfrm>
            <a:off x="457200" y="3191256"/>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5</a:t>
            </a:r>
            <a:endParaRPr lang="en-US" sz="1300" dirty="0"/>
          </a:p>
        </p:txBody>
      </p:sp>
      <p:sp>
        <p:nvSpPr>
          <p:cNvPr id="17" name="Text 15"/>
          <p:cNvSpPr txBox="1"/>
          <p:nvPr/>
        </p:nvSpPr>
        <p:spPr>
          <a:xfrm>
            <a:off x="914400" y="3172968"/>
            <a:ext cx="4206240" cy="384048"/>
          </a:xfrm>
          <a:prstGeom prst="rect">
            <a:avLst/>
          </a:prstGeom>
          <a:noFill/>
          <a:ln/>
        </p:spPr>
        <p:txBody>
          <a:bodyPr wrap="square" lIns="0" tIns="0" rIns="0" bIns="0" rtlCol="0" anchor="ctr"/>
          <a:lstStyle/>
          <a:p>
            <a:pPr indent="0" marL="0">
              <a:buNone/>
            </a:pPr>
            <a:r>
              <a:rPr lang="en-US" sz="1500" b="1" dirty="0">
                <a:solidFill>
                  <a:srgbClr val="1B1B1B"/>
                </a:solidFill>
              </a:rPr>
              <a:t>Run (F5)</a:t>
            </a:r>
            <a:pPr indent="0" marL="0">
              <a:buNone/>
            </a:pPr>
            <a:r>
              <a:rPr lang="en-US" sz="1500" dirty="0">
                <a:solidFill>
                  <a:srgbClr val="1B1B1B"/>
                </a:solidFill>
              </a:rPr>
              <a:t> without changes first</a:t>
            </a:r>
            <a:endParaRPr lang="en-US" sz="1500" dirty="0"/>
          </a:p>
        </p:txBody>
      </p:sp>
      <p:sp>
        <p:nvSpPr>
          <p:cNvPr id="18" name="Shape 16"/>
          <p:cNvSpPr/>
          <p:nvPr/>
        </p:nvSpPr>
        <p:spPr>
          <a:xfrm>
            <a:off x="457200" y="3721608"/>
            <a:ext cx="329184" cy="329184"/>
          </a:xfrm>
          <a:prstGeom prst="ellipse">
            <a:avLst/>
          </a:prstGeom>
          <a:solidFill>
            <a:srgbClr val="F2A900"/>
          </a:solidFill>
          <a:ln w="12700">
            <a:solidFill>
              <a:srgbClr val="C98C00"/>
            </a:solidFill>
            <a:prstDash val="solid"/>
          </a:ln>
        </p:spPr>
      </p:sp>
      <p:sp>
        <p:nvSpPr>
          <p:cNvPr id="19" name="Text 17"/>
          <p:cNvSpPr txBox="1"/>
          <p:nvPr/>
        </p:nvSpPr>
        <p:spPr>
          <a:xfrm>
            <a:off x="457200" y="372160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6</a:t>
            </a:r>
            <a:endParaRPr lang="en-US" sz="1300" dirty="0"/>
          </a:p>
        </p:txBody>
      </p:sp>
      <p:sp>
        <p:nvSpPr>
          <p:cNvPr id="20" name="Text 18"/>
          <p:cNvSpPr txBox="1"/>
          <p:nvPr/>
        </p:nvSpPr>
        <p:spPr>
          <a:xfrm>
            <a:off x="914400" y="3703320"/>
            <a:ext cx="4206240" cy="384048"/>
          </a:xfrm>
          <a:prstGeom prst="rect">
            <a:avLst/>
          </a:prstGeom>
          <a:noFill/>
          <a:ln/>
        </p:spPr>
        <p:txBody>
          <a:bodyPr wrap="square" lIns="0" tIns="0" rIns="0" bIns="0" rtlCol="0" anchor="ctr"/>
          <a:lstStyle/>
          <a:p>
            <a:pPr indent="0" marL="0">
              <a:buNone/>
            </a:pPr>
            <a:r>
              <a:rPr lang="en-US" sz="1500" dirty="0">
                <a:solidFill>
                  <a:srgbClr val="1B1B1B"/>
                </a:solidFill>
              </a:rPr>
              <a:t>Change only Try it / YOUR CODE lines. </a:t>
            </a:r>
            <a:pPr indent="0" marL="0">
              <a:buNone/>
            </a:pPr>
            <a:r>
              <a:rPr lang="en-US" sz="1500" b="1" dirty="0">
                <a:solidFill>
                  <a:srgbClr val="1B1B1B"/>
                </a:solidFill>
              </a:rPr>
              <a:t>Cmd+S</a:t>
            </a:r>
            <a:pPr indent="0" marL="0">
              <a:buNone/>
            </a:pPr>
            <a:r>
              <a:rPr lang="en-US" sz="1500" dirty="0">
                <a:solidFill>
                  <a:srgbClr val="1B1B1B"/>
                </a:solidFill>
              </a:rPr>
              <a:t> saves on the ESP32</a:t>
            </a:r>
            <a:endParaRPr lang="en-US" sz="1500" dirty="0"/>
          </a:p>
        </p:txBody>
      </p:sp>
      <p:sp>
        <p:nvSpPr>
          <p:cNvPr id="21" name="Shape 19"/>
          <p:cNvSpPr/>
          <p:nvPr/>
        </p:nvSpPr>
        <p:spPr>
          <a:xfrm>
            <a:off x="5440680" y="1051560"/>
            <a:ext cx="3246120" cy="3429000"/>
          </a:xfrm>
          <a:prstGeom prst="roundRect">
            <a:avLst>
              <a:gd name="adj" fmla="val 2817"/>
            </a:avLst>
          </a:prstGeom>
          <a:solidFill>
            <a:srgbClr val="FDECEC"/>
          </a:solidFill>
          <a:ln w="19050">
            <a:solidFill>
              <a:srgbClr val="D64545"/>
            </a:solidFill>
            <a:prstDash val="solid"/>
          </a:ln>
        </p:spPr>
      </p:sp>
      <p:sp>
        <p:nvSpPr>
          <p:cNvPr id="22" name="Text 20"/>
          <p:cNvSpPr txBox="1"/>
          <p:nvPr/>
        </p:nvSpPr>
        <p:spPr>
          <a:xfrm>
            <a:off x="5623560" y="1188720"/>
            <a:ext cx="2926080" cy="640080"/>
          </a:xfrm>
          <a:prstGeom prst="rect">
            <a:avLst/>
          </a:prstGeom>
          <a:noFill/>
          <a:ln/>
        </p:spPr>
        <p:txBody>
          <a:bodyPr wrap="square" lIns="0" tIns="0" rIns="0" bIns="0" rtlCol="0" anchor="ctr"/>
          <a:lstStyle/>
          <a:p>
            <a:pPr indent="0" marL="0">
              <a:buNone/>
            </a:pPr>
            <a:r>
              <a:rPr lang="en-US" sz="1800" b="1" dirty="0">
                <a:solidFill>
                  <a:srgbClr val="D64545"/>
                </a:solidFill>
              </a:rPr>
              <a:t>Don't type code from the slides</a:t>
            </a:r>
            <a:endParaRPr lang="en-US" sz="1800" dirty="0"/>
          </a:p>
        </p:txBody>
      </p:sp>
      <p:sp>
        <p:nvSpPr>
          <p:cNvPr id="23" name="Text 21"/>
          <p:cNvSpPr txBox="1"/>
          <p:nvPr/>
        </p:nvSpPr>
        <p:spPr>
          <a:xfrm>
            <a:off x="5623560" y="1874520"/>
            <a:ext cx="2926080" cy="731520"/>
          </a:xfrm>
          <a:prstGeom prst="rect">
            <a:avLst/>
          </a:prstGeom>
          <a:noFill/>
          <a:ln/>
        </p:spPr>
        <p:txBody>
          <a:bodyPr wrap="square" lIns="0" tIns="0" rIns="0" bIns="0" rtlCol="0" anchor="ctr"/>
          <a:lstStyle/>
          <a:p>
            <a:pPr indent="0" marL="0">
              <a:buNone/>
            </a:pPr>
            <a:r>
              <a:rPr lang="en-US" sz="1400" dirty="0">
                <a:solidFill>
                  <a:srgbClr val="1B1B1B"/>
                </a:solidFill>
              </a:rPr>
              <a:t>Slides show only PART of a program. The whole program is already in the file.</a:t>
            </a:r>
            <a:endParaRPr lang="en-US" sz="1400" dirty="0"/>
          </a:p>
        </p:txBody>
      </p:sp>
      <p:sp>
        <p:nvSpPr>
          <p:cNvPr id="24" name="Shape 22"/>
          <p:cNvSpPr/>
          <p:nvPr/>
        </p:nvSpPr>
        <p:spPr>
          <a:xfrm>
            <a:off x="5623560" y="2743200"/>
            <a:ext cx="2880360" cy="411480"/>
          </a:xfrm>
          <a:prstGeom prst="roundRect">
            <a:avLst>
              <a:gd name="adj" fmla="val 13333"/>
            </a:avLst>
          </a:prstGeom>
          <a:solidFill>
            <a:srgbClr val="14261F"/>
          </a:solidFill>
          <a:ln w="12700">
            <a:solidFill>
              <a:srgbClr val="14261F"/>
            </a:solidFill>
            <a:prstDash val="solid"/>
          </a:ln>
        </p:spPr>
      </p:sp>
      <p:sp>
        <p:nvSpPr>
          <p:cNvPr id="25" name="Text 23"/>
          <p:cNvSpPr txBox="1"/>
          <p:nvPr/>
        </p:nvSpPr>
        <p:spPr>
          <a:xfrm>
            <a:off x="5715000" y="2743200"/>
            <a:ext cx="2743200" cy="411480"/>
          </a:xfrm>
          <a:prstGeom prst="rect">
            <a:avLst/>
          </a:prstGeom>
          <a:noFill/>
          <a:ln/>
        </p:spPr>
        <p:txBody>
          <a:bodyPr wrap="square" lIns="0" tIns="0" rIns="0" bIns="0" rtlCol="0" anchor="ctr"/>
          <a:lstStyle/>
          <a:p>
            <a:pPr indent="0" marL="0">
              <a:buNone/>
            </a:pPr>
            <a:r>
              <a:rPr lang="en-US" sz="1100" b="1" dirty="0">
                <a:solidFill>
                  <a:srgbClr val="F2A900"/>
                </a:solidFill>
              </a:rPr>
              <a:t>step1_servo_sweep.py</a:t>
            </a:r>
            <a:pPr indent="0" marL="0">
              <a:buNone/>
            </a:pPr>
            <a:r>
              <a:rPr lang="en-US" sz="1100" dirty="0">
                <a:solidFill>
                  <a:srgbClr val="9FB8AD"/>
                </a:solidFill>
              </a:rPr>
              <a:t>  ·  lines 20–21</a:t>
            </a:r>
            <a:endParaRPr lang="en-US" sz="1100" dirty="0"/>
          </a:p>
        </p:txBody>
      </p:sp>
      <p:sp>
        <p:nvSpPr>
          <p:cNvPr id="26" name="Text 24"/>
          <p:cNvSpPr txBox="1"/>
          <p:nvPr/>
        </p:nvSpPr>
        <p:spPr>
          <a:xfrm>
            <a:off x="5623560" y="3291840"/>
            <a:ext cx="2926080" cy="731520"/>
          </a:xfrm>
          <a:prstGeom prst="rect">
            <a:avLst/>
          </a:prstGeom>
          <a:noFill/>
          <a:ln/>
        </p:spPr>
        <p:txBody>
          <a:bodyPr wrap="square" lIns="0" tIns="0" rIns="0" bIns="0" rtlCol="0" anchor="ctr"/>
          <a:lstStyle/>
          <a:p>
            <a:pPr indent="0" marL="0">
              <a:buNone/>
            </a:pPr>
            <a:r>
              <a:rPr lang="en-US" sz="1400" dirty="0">
                <a:solidFill>
                  <a:srgbClr val="1B1B1B"/>
                </a:solidFill>
              </a:rPr>
              <a:t>This header tells you which file and which lines to look at.</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Look back: what did you build?</a:t>
            </a:r>
            <a:endParaRPr lang="en-US" sz="3000" dirty="0"/>
          </a:p>
        </p:txBody>
      </p:sp>
      <p:sp>
        <p:nvSpPr>
          <p:cNvPr id="3" name="Shape 1"/>
          <p:cNvSpPr/>
          <p:nvPr/>
        </p:nvSpPr>
        <p:spPr>
          <a:xfrm>
            <a:off x="457200" y="1188720"/>
            <a:ext cx="1828800" cy="1417320"/>
          </a:xfrm>
          <a:prstGeom prst="roundRect">
            <a:avLst>
              <a:gd name="adj" fmla="val 6452"/>
            </a:avLst>
          </a:prstGeom>
          <a:solidFill>
            <a:srgbClr val="EEF5F1"/>
          </a:solidFill>
          <a:ln w="12700">
            <a:solidFill>
              <a:srgbClr val="D3E4DB"/>
            </a:solidFill>
            <a:prstDash val="solid"/>
          </a:ln>
        </p:spPr>
      </p:sp>
      <p:sp>
        <p:nvSpPr>
          <p:cNvPr id="4" name="Text 2"/>
          <p:cNvSpPr txBox="1"/>
          <p:nvPr/>
        </p:nvSpPr>
        <p:spPr>
          <a:xfrm>
            <a:off x="594360" y="1298448"/>
            <a:ext cx="1554480" cy="320040"/>
          </a:xfrm>
          <a:prstGeom prst="rect">
            <a:avLst/>
          </a:prstGeom>
          <a:noFill/>
          <a:ln/>
        </p:spPr>
        <p:txBody>
          <a:bodyPr wrap="square" lIns="0" tIns="0" rIns="0" bIns="0" rtlCol="0" anchor="ctr"/>
          <a:lstStyle/>
          <a:p>
            <a:pPr indent="0" marL="0">
              <a:buNone/>
            </a:pPr>
            <a:r>
              <a:rPr lang="en-US" sz="1500" b="1" dirty="0">
                <a:solidFill>
                  <a:srgbClr val="1F6FB2"/>
                </a:solidFill>
              </a:rPr>
              <a:t>The sensor</a:t>
            </a:r>
            <a:endParaRPr lang="en-US" sz="1500" dirty="0"/>
          </a:p>
        </p:txBody>
      </p:sp>
      <p:sp>
        <p:nvSpPr>
          <p:cNvPr id="5" name="Text 3"/>
          <p:cNvSpPr txBox="1"/>
          <p:nvPr/>
        </p:nvSpPr>
        <p:spPr>
          <a:xfrm>
            <a:off x="594360" y="1645920"/>
            <a:ext cx="1554480" cy="868680"/>
          </a:xfrm>
          <a:prstGeom prst="rect">
            <a:avLst/>
          </a:prstGeom>
          <a:noFill/>
          <a:ln/>
        </p:spPr>
        <p:txBody>
          <a:bodyPr wrap="square" lIns="0" tIns="0" rIns="0" bIns="0" rtlCol="0" anchor="t"/>
          <a:lstStyle/>
          <a:p>
            <a:pPr indent="0" marL="0">
              <a:buNone/>
            </a:pPr>
            <a:r>
              <a:rPr lang="en-US" sz="1300" dirty="0">
                <a:solidFill>
                  <a:srgbClr val="1B1B1B"/>
                </a:solidFill>
              </a:rPr>
              <a:t>sends out a sound,</a:t>
            </a:r>
            <a:endParaRPr lang="en-US" sz="1300" dirty="0"/>
          </a:p>
          <a:p>
            <a:pPr indent="0" marL="0">
              <a:buNone/>
            </a:pPr>
            <a:r>
              <a:rPr lang="en-US" sz="1300" dirty="0">
                <a:solidFill>
                  <a:srgbClr val="1B1B1B"/>
                </a:solidFill>
              </a:rPr>
              <a:t>times the echo</a:t>
            </a:r>
            <a:endParaRPr lang="en-US" sz="1300" dirty="0"/>
          </a:p>
        </p:txBody>
      </p:sp>
      <p:sp>
        <p:nvSpPr>
          <p:cNvPr id="6" name="Shape 4"/>
          <p:cNvSpPr/>
          <p:nvPr/>
        </p:nvSpPr>
        <p:spPr>
          <a:xfrm>
            <a:off x="2313432" y="1874520"/>
            <a:ext cx="256032" cy="0"/>
          </a:xfrm>
          <a:prstGeom prst="line">
            <a:avLst/>
          </a:prstGeom>
          <a:noFill/>
          <a:ln w="25400">
            <a:solidFill>
              <a:srgbClr val="6B7280"/>
            </a:solidFill>
            <a:prstDash val="solid"/>
            <a:tailEnd type="triangle"/>
          </a:ln>
        </p:spPr>
      </p:sp>
      <p:sp>
        <p:nvSpPr>
          <p:cNvPr id="7" name="Shape 5"/>
          <p:cNvSpPr/>
          <p:nvPr/>
        </p:nvSpPr>
        <p:spPr>
          <a:xfrm>
            <a:off x="2606040" y="1188720"/>
            <a:ext cx="1828800" cy="1417320"/>
          </a:xfrm>
          <a:prstGeom prst="roundRect">
            <a:avLst>
              <a:gd name="adj" fmla="val 6452"/>
            </a:avLst>
          </a:prstGeom>
          <a:solidFill>
            <a:srgbClr val="EEF5F1"/>
          </a:solidFill>
          <a:ln w="12700">
            <a:solidFill>
              <a:srgbClr val="D3E4DB"/>
            </a:solidFill>
            <a:prstDash val="solid"/>
          </a:ln>
        </p:spPr>
      </p:sp>
      <p:sp>
        <p:nvSpPr>
          <p:cNvPr id="8" name="Text 6"/>
          <p:cNvSpPr txBox="1"/>
          <p:nvPr/>
        </p:nvSpPr>
        <p:spPr>
          <a:xfrm>
            <a:off x="2743200" y="1298448"/>
            <a:ext cx="1554480" cy="320040"/>
          </a:xfrm>
          <a:prstGeom prst="rect">
            <a:avLst/>
          </a:prstGeom>
          <a:noFill/>
          <a:ln/>
        </p:spPr>
        <p:txBody>
          <a:bodyPr wrap="square" lIns="0" tIns="0" rIns="0" bIns="0" rtlCol="0" anchor="ctr"/>
          <a:lstStyle/>
          <a:p>
            <a:pPr indent="0" marL="0">
              <a:buNone/>
            </a:pPr>
            <a:r>
              <a:rPr lang="en-US" sz="1500" b="1" dirty="0">
                <a:solidFill>
                  <a:srgbClr val="6B7280"/>
                </a:solidFill>
              </a:rPr>
              <a:t>A number</a:t>
            </a:r>
            <a:endParaRPr lang="en-US" sz="1500" dirty="0"/>
          </a:p>
        </p:txBody>
      </p:sp>
      <p:sp>
        <p:nvSpPr>
          <p:cNvPr id="9" name="Text 7"/>
          <p:cNvSpPr txBox="1"/>
          <p:nvPr/>
        </p:nvSpPr>
        <p:spPr>
          <a:xfrm>
            <a:off x="2743200" y="1645920"/>
            <a:ext cx="1554480" cy="868680"/>
          </a:xfrm>
          <a:prstGeom prst="rect">
            <a:avLst/>
          </a:prstGeom>
          <a:noFill/>
          <a:ln/>
        </p:spPr>
        <p:txBody>
          <a:bodyPr wrap="square" lIns="0" tIns="0" rIns="0" bIns="0" rtlCol="0" anchor="t"/>
          <a:lstStyle/>
          <a:p>
            <a:pPr indent="0" marL="0">
              <a:buNone/>
            </a:pPr>
            <a:r>
              <a:rPr lang="en-US" sz="1300" dirty="0">
                <a:solidFill>
                  <a:srgbClr val="1B1B1B"/>
                </a:solidFill>
              </a:rPr>
              <a:t>e.g. 12.4 cm</a:t>
            </a:r>
            <a:endParaRPr lang="en-US" sz="1300" dirty="0"/>
          </a:p>
        </p:txBody>
      </p:sp>
      <p:sp>
        <p:nvSpPr>
          <p:cNvPr id="10" name="Shape 8"/>
          <p:cNvSpPr/>
          <p:nvPr/>
        </p:nvSpPr>
        <p:spPr>
          <a:xfrm>
            <a:off x="4462272" y="1874520"/>
            <a:ext cx="256032" cy="0"/>
          </a:xfrm>
          <a:prstGeom prst="line">
            <a:avLst/>
          </a:prstGeom>
          <a:noFill/>
          <a:ln w="25400">
            <a:solidFill>
              <a:srgbClr val="6B7280"/>
            </a:solidFill>
            <a:prstDash val="solid"/>
            <a:tailEnd type="triangle"/>
          </a:ln>
        </p:spPr>
      </p:sp>
      <p:sp>
        <p:nvSpPr>
          <p:cNvPr id="11" name="Shape 9"/>
          <p:cNvSpPr/>
          <p:nvPr/>
        </p:nvSpPr>
        <p:spPr>
          <a:xfrm>
            <a:off x="4754880" y="1188720"/>
            <a:ext cx="1828800" cy="1417320"/>
          </a:xfrm>
          <a:prstGeom prst="roundRect">
            <a:avLst>
              <a:gd name="adj" fmla="val 6452"/>
            </a:avLst>
          </a:prstGeom>
          <a:solidFill>
            <a:srgbClr val="FFF1C2"/>
          </a:solidFill>
          <a:ln w="19050">
            <a:solidFill>
              <a:srgbClr val="E0A800"/>
            </a:solidFill>
            <a:prstDash val="solid"/>
          </a:ln>
        </p:spPr>
      </p:sp>
      <p:sp>
        <p:nvSpPr>
          <p:cNvPr id="12" name="Text 10"/>
          <p:cNvSpPr txBox="1"/>
          <p:nvPr/>
        </p:nvSpPr>
        <p:spPr>
          <a:xfrm>
            <a:off x="4892040" y="1298448"/>
            <a:ext cx="1554480" cy="320040"/>
          </a:xfrm>
          <a:prstGeom prst="rect">
            <a:avLst/>
          </a:prstGeom>
          <a:noFill/>
          <a:ln/>
        </p:spPr>
        <p:txBody>
          <a:bodyPr wrap="square" lIns="0" tIns="0" rIns="0" bIns="0" rtlCol="0" anchor="ctr"/>
          <a:lstStyle/>
          <a:p>
            <a:pPr indent="0" marL="0">
              <a:buNone/>
            </a:pPr>
            <a:r>
              <a:rPr lang="en-US" sz="1500" b="1" dirty="0">
                <a:solidFill>
                  <a:srgbClr val="C98C00"/>
                </a:solidFill>
              </a:rPr>
              <a:t>YOUR function</a:t>
            </a:r>
            <a:endParaRPr lang="en-US" sz="1500" dirty="0"/>
          </a:p>
        </p:txBody>
      </p:sp>
      <p:sp>
        <p:nvSpPr>
          <p:cNvPr id="13" name="Text 11"/>
          <p:cNvSpPr txBox="1"/>
          <p:nvPr/>
        </p:nvSpPr>
        <p:spPr>
          <a:xfrm>
            <a:off x="4892040" y="1645920"/>
            <a:ext cx="1554480" cy="868680"/>
          </a:xfrm>
          <a:prstGeom prst="rect">
            <a:avLst/>
          </a:prstGeom>
          <a:noFill/>
          <a:ln/>
        </p:spPr>
        <p:txBody>
          <a:bodyPr wrap="square" lIns="0" tIns="0" rIns="0" bIns="0" rtlCol="0" anchor="t"/>
          <a:lstStyle/>
          <a:p>
            <a:pPr indent="0" marL="0">
              <a:buNone/>
            </a:pPr>
            <a:r>
              <a:rPr lang="en-US" sz="1300" dirty="0">
                <a:solidFill>
                  <a:srgbClr val="1B1B1B"/>
                </a:solidFill>
              </a:rPr>
              <a:t>leds_for()</a:t>
            </a:r>
            <a:endParaRPr lang="en-US" sz="1300" dirty="0"/>
          </a:p>
          <a:p>
            <a:pPr indent="0" marL="0">
              <a:buNone/>
            </a:pPr>
            <a:r>
              <a:rPr lang="en-US" sz="1300" dirty="0">
                <a:solidFill>
                  <a:srgbClr val="1B1B1B"/>
                </a:solidFill>
              </a:rPr>
              <a:t>gap_for()</a:t>
            </a:r>
            <a:endParaRPr lang="en-US" sz="1300" dirty="0"/>
          </a:p>
        </p:txBody>
      </p:sp>
      <p:sp>
        <p:nvSpPr>
          <p:cNvPr id="14" name="Shape 12"/>
          <p:cNvSpPr/>
          <p:nvPr/>
        </p:nvSpPr>
        <p:spPr>
          <a:xfrm>
            <a:off x="6611112" y="1874520"/>
            <a:ext cx="256032" cy="0"/>
          </a:xfrm>
          <a:prstGeom prst="line">
            <a:avLst/>
          </a:prstGeom>
          <a:noFill/>
          <a:ln w="25400">
            <a:solidFill>
              <a:srgbClr val="6B7280"/>
            </a:solidFill>
            <a:prstDash val="solid"/>
            <a:tailEnd type="triangle"/>
          </a:ln>
        </p:spPr>
      </p:sp>
      <p:sp>
        <p:nvSpPr>
          <p:cNvPr id="15" name="Shape 13"/>
          <p:cNvSpPr/>
          <p:nvPr/>
        </p:nvSpPr>
        <p:spPr>
          <a:xfrm>
            <a:off x="6903720" y="1188720"/>
            <a:ext cx="1828800" cy="1417320"/>
          </a:xfrm>
          <a:prstGeom prst="roundRect">
            <a:avLst>
              <a:gd name="adj" fmla="val 6452"/>
            </a:avLst>
          </a:prstGeom>
          <a:solidFill>
            <a:srgbClr val="EEF5F1"/>
          </a:solidFill>
          <a:ln w="12700">
            <a:solidFill>
              <a:srgbClr val="D3E4DB"/>
            </a:solidFill>
            <a:prstDash val="solid"/>
          </a:ln>
        </p:spPr>
      </p:sp>
      <p:sp>
        <p:nvSpPr>
          <p:cNvPr id="16" name="Text 14"/>
          <p:cNvSpPr txBox="1"/>
          <p:nvPr/>
        </p:nvSpPr>
        <p:spPr>
          <a:xfrm>
            <a:off x="7040880" y="1298448"/>
            <a:ext cx="1554480" cy="320040"/>
          </a:xfrm>
          <a:prstGeom prst="rect">
            <a:avLst/>
          </a:prstGeom>
          <a:noFill/>
          <a:ln/>
        </p:spPr>
        <p:txBody>
          <a:bodyPr wrap="square" lIns="0" tIns="0" rIns="0" bIns="0" rtlCol="0" anchor="ctr"/>
          <a:lstStyle/>
          <a:p>
            <a:pPr indent="0" marL="0">
              <a:buNone/>
            </a:pPr>
            <a:r>
              <a:rPr lang="en-US" sz="1500" b="1" dirty="0">
                <a:solidFill>
                  <a:srgbClr val="1F8A70"/>
                </a:solidFill>
              </a:rPr>
              <a:t>The output</a:t>
            </a:r>
            <a:endParaRPr lang="en-US" sz="1500" dirty="0"/>
          </a:p>
        </p:txBody>
      </p:sp>
      <p:sp>
        <p:nvSpPr>
          <p:cNvPr id="17" name="Text 15"/>
          <p:cNvSpPr txBox="1"/>
          <p:nvPr/>
        </p:nvSpPr>
        <p:spPr>
          <a:xfrm>
            <a:off x="7040880" y="1645920"/>
            <a:ext cx="1554480" cy="868680"/>
          </a:xfrm>
          <a:prstGeom prst="rect">
            <a:avLst/>
          </a:prstGeom>
          <a:noFill/>
          <a:ln/>
        </p:spPr>
        <p:txBody>
          <a:bodyPr wrap="square" lIns="0" tIns="0" rIns="0" bIns="0" rtlCol="0" anchor="t"/>
          <a:lstStyle/>
          <a:p>
            <a:pPr indent="0" marL="0">
              <a:buNone/>
            </a:pPr>
            <a:r>
              <a:rPr lang="en-US" sz="1300" dirty="0">
                <a:solidFill>
                  <a:srgbClr val="1B1B1B"/>
                </a:solidFill>
              </a:rPr>
              <a:t>3 LEDs on,</a:t>
            </a:r>
            <a:endParaRPr lang="en-US" sz="1300" dirty="0"/>
          </a:p>
          <a:p>
            <a:pPr indent="0" marL="0">
              <a:buNone/>
            </a:pPr>
            <a:r>
              <a:rPr lang="en-US" sz="1300" dirty="0">
                <a:solidFill>
                  <a:srgbClr val="1B1B1B"/>
                </a:solidFill>
              </a:rPr>
              <a:t>fast beeps</a:t>
            </a:r>
            <a:endParaRPr lang="en-US" sz="1300" dirty="0"/>
          </a:p>
        </p:txBody>
      </p:sp>
      <p:sp>
        <p:nvSpPr>
          <p:cNvPr id="18" name="Text 16"/>
          <p:cNvSpPr txBox="1"/>
          <p:nvPr/>
        </p:nvSpPr>
        <p:spPr>
          <a:xfrm>
            <a:off x="457200" y="2788920"/>
            <a:ext cx="8229600" cy="457200"/>
          </a:xfrm>
          <a:prstGeom prst="rect">
            <a:avLst/>
          </a:prstGeom>
          <a:noFill/>
          <a:ln/>
        </p:spPr>
        <p:txBody>
          <a:bodyPr wrap="square" lIns="0" tIns="0" rIns="0" bIns="0" rtlCol="0" anchor="ctr"/>
          <a:lstStyle/>
          <a:p>
            <a:pPr indent="0" marL="0">
              <a:buNone/>
            </a:pPr>
            <a:r>
              <a:rPr lang="en-US" sz="1600" b="1" dirty="0">
                <a:solidFill>
                  <a:srgbClr val="0B3D2E"/>
                </a:solidFill>
              </a:rPr>
              <a:t>The sensor and the LEDs are the easy half. The thinking happened in the middle box, and you wrote that part.</a:t>
            </a:r>
            <a:endParaRPr lang="en-US" sz="1600" dirty="0"/>
          </a:p>
        </p:txBody>
      </p:sp>
      <p:sp>
        <p:nvSpPr>
          <p:cNvPr id="19" name="Shape 17"/>
          <p:cNvSpPr/>
          <p:nvPr/>
        </p:nvSpPr>
        <p:spPr>
          <a:xfrm>
            <a:off x="457200" y="3337560"/>
            <a:ext cx="3931920" cy="1143000"/>
          </a:xfrm>
          <a:prstGeom prst="roundRect">
            <a:avLst>
              <a:gd name="adj" fmla="val 6400"/>
            </a:avLst>
          </a:prstGeom>
          <a:solidFill>
            <a:srgbClr val="EEF5F1"/>
          </a:solidFill>
          <a:ln w="12700">
            <a:solidFill>
              <a:srgbClr val="D3E4DB"/>
            </a:solidFill>
            <a:prstDash val="solid"/>
          </a:ln>
        </p:spPr>
      </p:sp>
      <p:sp>
        <p:nvSpPr>
          <p:cNvPr id="20" name="Text 18"/>
          <p:cNvSpPr txBox="1"/>
          <p:nvPr/>
        </p:nvSpPr>
        <p:spPr>
          <a:xfrm>
            <a:off x="640080" y="3429000"/>
            <a:ext cx="3566160" cy="274320"/>
          </a:xfrm>
          <a:prstGeom prst="rect">
            <a:avLst/>
          </a:prstGeom>
          <a:noFill/>
          <a:ln/>
        </p:spPr>
        <p:txBody>
          <a:bodyPr wrap="square" lIns="0" tIns="0" rIns="0" bIns="0" rtlCol="0" anchor="ctr"/>
          <a:lstStyle/>
          <a:p>
            <a:pPr indent="0" marL="0">
              <a:buNone/>
            </a:pPr>
            <a:r>
              <a:rPr lang="en-US" sz="1400" b="1" dirty="0">
                <a:solidFill>
                  <a:srgbClr val="0B3D2E"/>
                </a:solidFill>
              </a:rPr>
              <a:t>Tell your partner, 30 seconds each</a:t>
            </a:r>
            <a:endParaRPr lang="en-US" sz="1400" dirty="0"/>
          </a:p>
        </p:txBody>
      </p:sp>
      <p:sp>
        <p:nvSpPr>
          <p:cNvPr id="21" name="Text 19"/>
          <p:cNvSpPr txBox="1"/>
          <p:nvPr/>
        </p:nvSpPr>
        <p:spPr>
          <a:xfrm>
            <a:off x="640080" y="3730752"/>
            <a:ext cx="3566160" cy="685800"/>
          </a:xfrm>
          <a:prstGeom prst="rect">
            <a:avLst/>
          </a:prstGeom>
          <a:noFill/>
          <a:ln/>
        </p:spPr>
        <p:txBody>
          <a:bodyPr wrap="square" lIns="0" tIns="0" rIns="0" bIns="0" rtlCol="0" anchor="t"/>
          <a:lstStyle/>
          <a:p>
            <a:pPr indent="0" marL="0">
              <a:buNone/>
            </a:pPr>
            <a:r>
              <a:rPr lang="en-US" sz="1400" dirty="0">
                <a:solidFill>
                  <a:srgbClr val="1B1B1B"/>
                </a:solidFill>
              </a:rPr>
              <a:t>What did your parking sensor do when a hand came close?</a:t>
            </a:r>
            <a:endParaRPr lang="en-US" sz="1400" dirty="0"/>
          </a:p>
        </p:txBody>
      </p:sp>
      <p:sp>
        <p:nvSpPr>
          <p:cNvPr id="22" name="Shape 20"/>
          <p:cNvSpPr/>
          <p:nvPr/>
        </p:nvSpPr>
        <p:spPr>
          <a:xfrm>
            <a:off x="4754880" y="3337560"/>
            <a:ext cx="3931920" cy="1143000"/>
          </a:xfrm>
          <a:prstGeom prst="roundRect">
            <a:avLst>
              <a:gd name="adj" fmla="val 6400"/>
            </a:avLst>
          </a:prstGeom>
          <a:solidFill>
            <a:srgbClr val="EEF5F1"/>
          </a:solidFill>
          <a:ln w="12700">
            <a:solidFill>
              <a:srgbClr val="D3E4DB"/>
            </a:solidFill>
            <a:prstDash val="solid"/>
          </a:ln>
        </p:spPr>
      </p:sp>
      <p:sp>
        <p:nvSpPr>
          <p:cNvPr id="23" name="Text 21"/>
          <p:cNvSpPr txBox="1"/>
          <p:nvPr/>
        </p:nvSpPr>
        <p:spPr>
          <a:xfrm>
            <a:off x="4937760" y="3429000"/>
            <a:ext cx="3566160" cy="274320"/>
          </a:xfrm>
          <a:prstGeom prst="rect">
            <a:avLst/>
          </a:prstGeom>
          <a:noFill/>
          <a:ln/>
        </p:spPr>
        <p:txBody>
          <a:bodyPr wrap="square" lIns="0" tIns="0" rIns="0" bIns="0" rtlCol="0" anchor="ctr"/>
          <a:lstStyle/>
          <a:p>
            <a:pPr indent="0" marL="0">
              <a:buNone/>
            </a:pPr>
            <a:r>
              <a:rPr lang="en-US" sz="1400" b="1" dirty="0">
                <a:solidFill>
                  <a:srgbClr val="0B3D2E"/>
                </a:solidFill>
              </a:rPr>
              <a:t>Then: what took you longest?</a:t>
            </a:r>
            <a:endParaRPr lang="en-US" sz="1400" dirty="0"/>
          </a:p>
        </p:txBody>
      </p:sp>
      <p:sp>
        <p:nvSpPr>
          <p:cNvPr id="24" name="Text 22"/>
          <p:cNvSpPr txBox="1"/>
          <p:nvPr/>
        </p:nvSpPr>
        <p:spPr>
          <a:xfrm>
            <a:off x="4937760" y="3730752"/>
            <a:ext cx="3566160" cy="685800"/>
          </a:xfrm>
          <a:prstGeom prst="rect">
            <a:avLst/>
          </a:prstGeom>
          <a:noFill/>
          <a:ln/>
        </p:spPr>
        <p:txBody>
          <a:bodyPr wrap="square" lIns="0" tIns="0" rIns="0" bIns="0" rtlCol="0" anchor="t"/>
          <a:lstStyle/>
          <a:p>
            <a:pPr indent="0" marL="0">
              <a:buNone/>
            </a:pPr>
            <a:r>
              <a:rPr lang="en-US" sz="1400" dirty="0">
                <a:solidFill>
                  <a:srgbClr val="1B1B1B"/>
                </a:solidFill>
              </a:rPr>
              <a:t>Wiring? The maths? Finding the file? Say which.</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You have used functions all along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2743200"/>
                <a:gridCol w="3108960"/>
              </a:tblGrid>
              <a:tr h="475488">
                <a:tc>
                  <a:txBody>
                    <a:bodyPr/>
                    <a:lstStyle/>
                    <a:p>
                      <a:pPr indent="0" marL="0">
                        <a:buNone/>
                      </a:pPr>
                      <a:r>
                        <a:rPr lang="en-US" sz="1300" dirty="0">
                          <a:solidFill>
                            <a:srgbClr val="1B1B1B"/>
                          </a:solidFill>
                          <a:latin typeface="Courier New" pitchFamily="34" charset="0"/>
                          <a:ea typeface="Courier New" pitchFamily="34" charset="-122"/>
                          <a:cs typeface="Courier New" pitchFamily="34" charset="-120"/>
                        </a:rPr>
                        <a:t>print("Hello")</a:t>
                      </a:r>
                      <a:endParaRPr lang="en-US" sz="13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Someone else wrote it</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Shows text in the Shell</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1B1B"/>
                          </a:solidFill>
                          <a:latin typeface="Courier New" pitchFamily="34" charset="0"/>
                          <a:ea typeface="Courier New" pitchFamily="34" charset="-122"/>
                          <a:cs typeface="Courier New" pitchFamily="34" charset="-120"/>
                        </a:rPr>
                        <a:t>time.sleep(1)</a:t>
                      </a:r>
                      <a:endParaRPr lang="en-US" sz="13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Someone else wrote it</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Waits one second</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r h="475488">
                <a:tc>
                  <a:txBody>
                    <a:bodyPr/>
                    <a:lstStyle/>
                    <a:p>
                      <a:pPr indent="0" marL="0">
                        <a:buNone/>
                      </a:pPr>
                      <a:r>
                        <a:rPr lang="en-US" sz="1300" dirty="0">
                          <a:solidFill>
                            <a:srgbClr val="1B1B1B"/>
                          </a:solidFill>
                          <a:latin typeface="Courier New" pitchFamily="34" charset="0"/>
                          <a:ea typeface="Courier New" pitchFamily="34" charset="-122"/>
                          <a:cs typeface="Courier New" pitchFamily="34" charset="-120"/>
                        </a:rPr>
                        <a:t>led.value(1)</a:t>
                      </a:r>
                      <a:endParaRPr lang="en-US" sz="13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Someone else wrote it</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Turns the pin on</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B1B1B"/>
                          </a:solidFill>
                          <a:latin typeface="Courier New" pitchFamily="34" charset="0"/>
                          <a:ea typeface="Courier New" pitchFamily="34" charset="-122"/>
                          <a:cs typeface="Courier New" pitchFamily="34" charset="-120"/>
                        </a:rPr>
                        <a:t>leds_for(12)</a:t>
                      </a:r>
                      <a:endParaRPr lang="en-US" sz="1300" dirty="0">
                        <a:latin typeface="Courier New" charset="0"/>
                        <a:ea typeface="Courier New" charset="0"/>
                        <a:cs typeface="Courier New"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1C2"/>
                    </a:solidFill>
                  </a:tcPr>
                </a:tc>
                <a:tc>
                  <a:txBody>
                    <a:bodyPr/>
                    <a:lstStyle/>
                    <a:p>
                      <a:pPr indent="0" marL="0">
                        <a:buNone/>
                      </a:pPr>
                      <a:r>
                        <a:rPr lang="en-US" sz="1400" b="1" dirty="0">
                          <a:solidFill>
                            <a:srgbClr val="1B1B1B"/>
                          </a:solidFill>
                          <a:latin typeface="Calibri" pitchFamily="34" charset="0"/>
                          <a:ea typeface="Calibri" pitchFamily="34" charset="-122"/>
                          <a:cs typeface="Calibri" pitchFamily="34" charset="-120"/>
                        </a:rPr>
                        <a:t>YOU wrote it</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1C2"/>
                    </a:solidFill>
                  </a:tcPr>
                </a:tc>
                <a:tc>
                  <a:txBody>
                    <a:bodyPr/>
                    <a:lstStyle/>
                    <a:p>
                      <a:pPr indent="0" marL="0">
                        <a:buNone/>
                      </a:pPr>
                      <a:r>
                        <a:rPr lang="en-US" sz="1400" b="1" dirty="0">
                          <a:solidFill>
                            <a:srgbClr val="1B1B1B"/>
                          </a:solidFill>
                          <a:latin typeface="Calibri" pitchFamily="34" charset="0"/>
                          <a:ea typeface="Calibri" pitchFamily="34" charset="-122"/>
                          <a:cs typeface="Calibri" pitchFamily="34" charset="-120"/>
                        </a:rPr>
                        <a:t>Gives back 3</a:t>
                      </a:r>
                      <a:endParaRPr lang="en-US" sz="1400" dirty="0">
                        <a:latin typeface="Calibri" charset="0"/>
                        <a:ea typeface="Calibri" charset="0"/>
                        <a:cs typeface="Calibri" charset="0"/>
                      </a:endParaRPr>
                    </a:p>
                  </a:txBody>
                  <a:tcPr marL="109728" marR="109728"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1C2"/>
                    </a:solidFill>
                  </a:tcPr>
                </a:tc>
              </a:tr>
            </a:tbl>
          </a:graphicData>
        </a:graphic>
      </p:graphicFrame>
      <p:sp>
        <p:nvSpPr>
          <p:cNvPr id="4" name="Text 1"/>
          <p:cNvSpPr txBox="1"/>
          <p:nvPr/>
        </p:nvSpPr>
        <p:spPr>
          <a:xfrm>
            <a:off x="4206240" y="3108960"/>
            <a:ext cx="1005840" cy="822960"/>
          </a:xfrm>
          <a:prstGeom prst="rect">
            <a:avLst/>
          </a:prstGeom>
          <a:noFill/>
          <a:ln/>
        </p:spPr>
        <p:txBody>
          <a:bodyPr wrap="square" lIns="0" tIns="0" rIns="0" bIns="0" rtlCol="0" anchor="ctr"/>
          <a:lstStyle/>
          <a:p>
            <a:pPr indent="0" marL="0">
              <a:buNone/>
            </a:pPr>
            <a:r>
              <a:rPr lang="en-US" sz="900" dirty="0">
                <a:solidFill>
                  <a:srgbClr val="1F8A70"/>
                </a:solidFill>
              </a:rPr>
              <a:t>again and</a:t>
            </a:r>
            <a:endParaRPr lang="en-US" sz="900" dirty="0"/>
          </a:p>
          <a:p>
            <a:pPr indent="0" marL="0">
              <a:buNone/>
            </a:pPr>
            <a:r>
              <a:rPr lang="en-US" sz="900" dirty="0">
                <a:solidFill>
                  <a:srgbClr val="1F8A70"/>
                </a:solidFill>
              </a:rPr>
              <a:t>again, about</a:t>
            </a:r>
            <a:endParaRPr lang="en-US" sz="900" dirty="0"/>
          </a:p>
          <a:p>
            <a:pPr indent="0" marL="0">
              <a:buNone/>
            </a:pPr>
            <a:r>
              <a:rPr lang="en-US" sz="900" dirty="0">
                <a:solidFill>
                  <a:srgbClr val="1F8A70"/>
                </a:solidFill>
              </a:rPr>
              <a:t>10 times a</a:t>
            </a:r>
            <a:endParaRPr lang="en-US" sz="900" dirty="0"/>
          </a:p>
          <a:p>
            <a:pPr indent="0" marL="0">
              <a:buNone/>
            </a:pPr>
            <a:r>
              <a:rPr lang="en-US" sz="900" dirty="0">
                <a:solidFill>
                  <a:srgbClr val="1F8A70"/>
                </a:solidFill>
              </a:rPr>
              <a:t>second</a:t>
            </a:r>
            <a:endParaRPr lang="en-US" sz="900" dirty="0"/>
          </a:p>
        </p:txBody>
      </p:sp>
      <p:sp>
        <p:nvSpPr>
          <p:cNvPr id="5" name="Shape 2"/>
          <p:cNvSpPr/>
          <p:nvPr/>
        </p:nvSpPr>
        <p:spPr>
          <a:xfrm>
            <a:off x="457200" y="3611880"/>
            <a:ext cx="8229600" cy="868680"/>
          </a:xfrm>
          <a:prstGeom prst="roundRect">
            <a:avLst>
              <a:gd name="adj" fmla="val 8421"/>
            </a:avLst>
          </a:prstGeom>
          <a:solidFill>
            <a:srgbClr val="0B3D2E"/>
          </a:solidFill>
          <a:ln w="12700">
            <a:solidFill>
              <a:srgbClr val="0B3D2E"/>
            </a:solidFill>
            <a:prstDash val="solid"/>
          </a:ln>
        </p:spPr>
      </p:sp>
      <p:sp>
        <p:nvSpPr>
          <p:cNvPr id="6" name="Text 3"/>
          <p:cNvSpPr txBox="1"/>
          <p:nvPr/>
        </p:nvSpPr>
        <p:spPr>
          <a:xfrm>
            <a:off x="685800" y="3611880"/>
            <a:ext cx="7772400" cy="868680"/>
          </a:xfrm>
          <a:prstGeom prst="rect">
            <a:avLst/>
          </a:prstGeom>
          <a:noFill/>
          <a:ln/>
        </p:spPr>
        <p:txBody>
          <a:bodyPr wrap="square" lIns="0" tIns="0" rIns="0" bIns="0" rtlCol="0" anchor="ctr"/>
          <a:lstStyle/>
          <a:p>
            <a:pPr indent="0" marL="0">
              <a:buNone/>
            </a:pPr>
            <a:r>
              <a:rPr lang="en-US" sz="1700" dirty="0">
                <a:solidFill>
                  <a:srgbClr val="D7EBE2"/>
                </a:solidFill>
              </a:rPr>
              <a:t>The only new thing in Lesson 3 was this: </a:t>
            </a:r>
            <a:pPr indent="0" marL="0">
              <a:buNone/>
            </a:pPr>
            <a:r>
              <a:rPr lang="en-US" sz="1700" b="1" dirty="0">
                <a:solidFill>
                  <a:srgbClr val="FFFFFF"/>
                </a:solidFill>
              </a:rPr>
              <a:t>you made one of your own.</a:t>
            </a:r>
            <a:endParaRPr lang="en-US" sz="17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The parts of a function</a:t>
            </a:r>
            <a:endParaRPr lang="en-US" sz="3000" dirty="0"/>
          </a:p>
        </p:txBody>
      </p:sp>
      <p:sp>
        <p:nvSpPr>
          <p:cNvPr id="3" name="Text 1"/>
          <p:cNvSpPr txBox="1"/>
          <p:nvPr/>
        </p:nvSpPr>
        <p:spPr>
          <a:xfrm>
            <a:off x="822960" y="1051560"/>
            <a:ext cx="7772400" cy="411480"/>
          </a:xfrm>
          <a:prstGeom prst="rect">
            <a:avLst/>
          </a:prstGeom>
          <a:noFill/>
          <a:ln/>
        </p:spPr>
        <p:txBody>
          <a:bodyPr wrap="square" lIns="0" tIns="0" rIns="0" bIns="0" rtlCol="0" anchor="ctr"/>
          <a:lstStyle/>
          <a:p>
            <a:pPr indent="0" marL="0">
              <a:buNone/>
            </a:pPr>
            <a:r>
              <a:rPr lang="en-US" sz="2000" b="1" dirty="0">
                <a:solidFill>
                  <a:srgbClr val="0B3D2E"/>
                </a:solidFill>
                <a:latin typeface="Courier New" pitchFamily="34" charset="0"/>
                <a:ea typeface="Courier New" pitchFamily="34" charset="-122"/>
                <a:cs typeface="Courier New" pitchFamily="34" charset="-120"/>
              </a:rPr>
              <a:t>def leds_for(distance):</a:t>
            </a:r>
            <a:endParaRPr lang="en-US" sz="2000" dirty="0"/>
          </a:p>
        </p:txBody>
      </p:sp>
      <p:sp>
        <p:nvSpPr>
          <p:cNvPr id="4" name="Shape 2"/>
          <p:cNvSpPr/>
          <p:nvPr/>
        </p:nvSpPr>
        <p:spPr>
          <a:xfrm>
            <a:off x="1088136" y="1435608"/>
            <a:ext cx="0" cy="73152"/>
          </a:xfrm>
          <a:prstGeom prst="line">
            <a:avLst/>
          </a:prstGeom>
          <a:noFill/>
          <a:ln w="19050">
            <a:solidFill>
              <a:srgbClr val="6B7280"/>
            </a:solidFill>
            <a:prstDash val="solid"/>
          </a:ln>
        </p:spPr>
      </p:sp>
      <p:sp>
        <p:nvSpPr>
          <p:cNvPr id="5" name="Shape 3"/>
          <p:cNvSpPr/>
          <p:nvPr/>
        </p:nvSpPr>
        <p:spPr>
          <a:xfrm>
            <a:off x="310896" y="1508760"/>
            <a:ext cx="1554480" cy="457200"/>
          </a:xfrm>
          <a:prstGeom prst="roundRect">
            <a:avLst>
              <a:gd name="adj" fmla="val 12000"/>
            </a:avLst>
          </a:prstGeom>
          <a:solidFill>
            <a:srgbClr val="FFFFFF"/>
          </a:solidFill>
          <a:ln w="15875">
            <a:solidFill>
              <a:srgbClr val="6B7280"/>
            </a:solidFill>
            <a:prstDash val="solid"/>
          </a:ln>
        </p:spPr>
      </p:sp>
      <p:sp>
        <p:nvSpPr>
          <p:cNvPr id="6" name="Text 4"/>
          <p:cNvSpPr txBox="1"/>
          <p:nvPr/>
        </p:nvSpPr>
        <p:spPr>
          <a:xfrm>
            <a:off x="356616" y="1508760"/>
            <a:ext cx="1463040" cy="457200"/>
          </a:xfrm>
          <a:prstGeom prst="rect">
            <a:avLst/>
          </a:prstGeom>
          <a:noFill/>
          <a:ln/>
        </p:spPr>
        <p:txBody>
          <a:bodyPr wrap="square" lIns="0" tIns="0" rIns="0" bIns="0" rtlCol="0" anchor="ctr"/>
          <a:lstStyle/>
          <a:p>
            <a:pPr algn="ctr" indent="0" marL="0">
              <a:buNone/>
            </a:pPr>
            <a:r>
              <a:rPr lang="en-US" sz="1100" b="1" dirty="0">
                <a:solidFill>
                  <a:srgbClr val="6B7280"/>
                </a:solidFill>
              </a:rPr>
              <a:t>def = I am making one</a:t>
            </a:r>
            <a:endParaRPr lang="en-US" sz="1100" dirty="0"/>
          </a:p>
        </p:txBody>
      </p:sp>
      <p:sp>
        <p:nvSpPr>
          <p:cNvPr id="7" name="Shape 5"/>
          <p:cNvSpPr/>
          <p:nvPr/>
        </p:nvSpPr>
        <p:spPr>
          <a:xfrm>
            <a:off x="2078736" y="1435608"/>
            <a:ext cx="0" cy="640080"/>
          </a:xfrm>
          <a:prstGeom prst="line">
            <a:avLst/>
          </a:prstGeom>
          <a:noFill/>
          <a:ln w="19050">
            <a:solidFill>
              <a:srgbClr val="C98C00"/>
            </a:solidFill>
            <a:prstDash val="solid"/>
          </a:ln>
        </p:spPr>
      </p:sp>
      <p:sp>
        <p:nvSpPr>
          <p:cNvPr id="8" name="Shape 6"/>
          <p:cNvSpPr/>
          <p:nvPr/>
        </p:nvSpPr>
        <p:spPr>
          <a:xfrm>
            <a:off x="1301496" y="2075688"/>
            <a:ext cx="1554480" cy="457200"/>
          </a:xfrm>
          <a:prstGeom prst="roundRect">
            <a:avLst>
              <a:gd name="adj" fmla="val 12000"/>
            </a:avLst>
          </a:prstGeom>
          <a:solidFill>
            <a:srgbClr val="FFFFFF"/>
          </a:solidFill>
          <a:ln w="15875">
            <a:solidFill>
              <a:srgbClr val="C98C00"/>
            </a:solidFill>
            <a:prstDash val="solid"/>
          </a:ln>
        </p:spPr>
      </p:sp>
      <p:sp>
        <p:nvSpPr>
          <p:cNvPr id="9" name="Text 7"/>
          <p:cNvSpPr txBox="1"/>
          <p:nvPr/>
        </p:nvSpPr>
        <p:spPr>
          <a:xfrm>
            <a:off x="1347216" y="2075688"/>
            <a:ext cx="1463040" cy="457200"/>
          </a:xfrm>
          <a:prstGeom prst="rect">
            <a:avLst/>
          </a:prstGeom>
          <a:noFill/>
          <a:ln/>
        </p:spPr>
        <p:txBody>
          <a:bodyPr wrap="square" lIns="0" tIns="0" rIns="0" bIns="0" rtlCol="0" anchor="ctr"/>
          <a:lstStyle/>
          <a:p>
            <a:pPr algn="ctr" indent="0" marL="0">
              <a:buNone/>
            </a:pPr>
            <a:r>
              <a:rPr lang="en-US" sz="1100" b="1" dirty="0">
                <a:solidFill>
                  <a:srgbClr val="C98C00"/>
                </a:solidFill>
              </a:rPr>
              <a:t>the name you choose</a:t>
            </a:r>
            <a:endParaRPr lang="en-US" sz="1100" dirty="0"/>
          </a:p>
        </p:txBody>
      </p:sp>
      <p:sp>
        <p:nvSpPr>
          <p:cNvPr id="10" name="Shape 8"/>
          <p:cNvSpPr/>
          <p:nvPr/>
        </p:nvSpPr>
        <p:spPr>
          <a:xfrm>
            <a:off x="3450336" y="1435608"/>
            <a:ext cx="0" cy="73152"/>
          </a:xfrm>
          <a:prstGeom prst="line">
            <a:avLst/>
          </a:prstGeom>
          <a:noFill/>
          <a:ln w="19050">
            <a:solidFill>
              <a:srgbClr val="2B6CB0"/>
            </a:solidFill>
            <a:prstDash val="solid"/>
          </a:ln>
        </p:spPr>
      </p:sp>
      <p:sp>
        <p:nvSpPr>
          <p:cNvPr id="11" name="Shape 9"/>
          <p:cNvSpPr/>
          <p:nvPr/>
        </p:nvSpPr>
        <p:spPr>
          <a:xfrm>
            <a:off x="2673096" y="1508760"/>
            <a:ext cx="1554480" cy="457200"/>
          </a:xfrm>
          <a:prstGeom prst="roundRect">
            <a:avLst>
              <a:gd name="adj" fmla="val 12000"/>
            </a:avLst>
          </a:prstGeom>
          <a:solidFill>
            <a:srgbClr val="FFFFFF"/>
          </a:solidFill>
          <a:ln w="15875">
            <a:solidFill>
              <a:srgbClr val="2B6CB0"/>
            </a:solidFill>
            <a:prstDash val="solid"/>
          </a:ln>
        </p:spPr>
      </p:sp>
      <p:sp>
        <p:nvSpPr>
          <p:cNvPr id="12" name="Text 10"/>
          <p:cNvSpPr txBox="1"/>
          <p:nvPr/>
        </p:nvSpPr>
        <p:spPr>
          <a:xfrm>
            <a:off x="2718816" y="1508760"/>
            <a:ext cx="1463040" cy="457200"/>
          </a:xfrm>
          <a:prstGeom prst="rect">
            <a:avLst/>
          </a:prstGeom>
          <a:noFill/>
          <a:ln/>
        </p:spPr>
        <p:txBody>
          <a:bodyPr wrap="square" lIns="0" tIns="0" rIns="0" bIns="0" rtlCol="0" anchor="ctr"/>
          <a:lstStyle/>
          <a:p>
            <a:pPr algn="ctr" indent="0" marL="0">
              <a:buNone/>
            </a:pPr>
            <a:r>
              <a:rPr lang="en-US" sz="1100" b="1" dirty="0">
                <a:solidFill>
                  <a:srgbClr val="2B6CB0"/>
                </a:solidFill>
              </a:rPr>
              <a:t>what goes IN</a:t>
            </a:r>
            <a:endParaRPr lang="en-US" sz="1100" dirty="0"/>
          </a:p>
        </p:txBody>
      </p:sp>
      <p:sp>
        <p:nvSpPr>
          <p:cNvPr id="13" name="Text 11"/>
          <p:cNvSpPr txBox="1"/>
          <p:nvPr/>
        </p:nvSpPr>
        <p:spPr>
          <a:xfrm>
            <a:off x="1188720" y="2514600"/>
            <a:ext cx="7406640" cy="411480"/>
          </a:xfrm>
          <a:prstGeom prst="rect">
            <a:avLst/>
          </a:prstGeom>
          <a:noFill/>
          <a:ln/>
        </p:spPr>
        <p:txBody>
          <a:bodyPr wrap="square" lIns="0" tIns="0" rIns="0" bIns="0" rtlCol="0" anchor="ctr"/>
          <a:lstStyle/>
          <a:p>
            <a:pPr indent="0" marL="0">
              <a:buNone/>
            </a:pPr>
            <a:r>
              <a:rPr lang="en-US" sz="2000" b="1" dirty="0">
                <a:solidFill>
                  <a:srgbClr val="0B3D2E"/>
                </a:solidFill>
                <a:latin typeface="Courier New" pitchFamily="34" charset="0"/>
                <a:ea typeface="Courier New" pitchFamily="34" charset="-122"/>
                <a:cs typeface="Courier New" pitchFamily="34" charset="-120"/>
              </a:rPr>
              <a:t>return 5 - int(distance // 5)</a:t>
            </a:r>
            <a:endParaRPr lang="en-US" sz="2000" dirty="0"/>
          </a:p>
        </p:txBody>
      </p:sp>
      <p:sp>
        <p:nvSpPr>
          <p:cNvPr id="14" name="Shape 12"/>
          <p:cNvSpPr/>
          <p:nvPr/>
        </p:nvSpPr>
        <p:spPr>
          <a:xfrm>
            <a:off x="1682496" y="2898648"/>
            <a:ext cx="0" cy="73152"/>
          </a:xfrm>
          <a:prstGeom prst="line">
            <a:avLst/>
          </a:prstGeom>
          <a:noFill/>
          <a:ln w="19050">
            <a:solidFill>
              <a:srgbClr val="1F8A70"/>
            </a:solidFill>
            <a:prstDash val="solid"/>
          </a:ln>
        </p:spPr>
      </p:sp>
      <p:sp>
        <p:nvSpPr>
          <p:cNvPr id="15" name="Shape 13"/>
          <p:cNvSpPr/>
          <p:nvPr/>
        </p:nvSpPr>
        <p:spPr>
          <a:xfrm>
            <a:off x="905256" y="2971800"/>
            <a:ext cx="1554480" cy="457200"/>
          </a:xfrm>
          <a:prstGeom prst="roundRect">
            <a:avLst>
              <a:gd name="adj" fmla="val 12000"/>
            </a:avLst>
          </a:prstGeom>
          <a:solidFill>
            <a:srgbClr val="FFFFFF"/>
          </a:solidFill>
          <a:ln w="15875">
            <a:solidFill>
              <a:srgbClr val="1F8A70"/>
            </a:solidFill>
            <a:prstDash val="solid"/>
          </a:ln>
        </p:spPr>
      </p:sp>
      <p:sp>
        <p:nvSpPr>
          <p:cNvPr id="16" name="Text 14"/>
          <p:cNvSpPr txBox="1"/>
          <p:nvPr/>
        </p:nvSpPr>
        <p:spPr>
          <a:xfrm>
            <a:off x="950976" y="2971800"/>
            <a:ext cx="1463040" cy="457200"/>
          </a:xfrm>
          <a:prstGeom prst="rect">
            <a:avLst/>
          </a:prstGeom>
          <a:noFill/>
          <a:ln/>
        </p:spPr>
        <p:txBody>
          <a:bodyPr wrap="square" lIns="0" tIns="0" rIns="0" bIns="0" rtlCol="0" anchor="ctr"/>
          <a:lstStyle/>
          <a:p>
            <a:pPr algn="ctr" indent="0" marL="0">
              <a:buNone/>
            </a:pPr>
            <a:r>
              <a:rPr lang="en-US" sz="1100" b="1" dirty="0">
                <a:solidFill>
                  <a:srgbClr val="1F8A70"/>
                </a:solidFill>
              </a:rPr>
              <a:t>what comes OUT</a:t>
            </a:r>
            <a:endParaRPr lang="en-US" sz="1100" dirty="0"/>
          </a:p>
        </p:txBody>
      </p:sp>
      <p:sp>
        <p:nvSpPr>
          <p:cNvPr id="17" name="Shape 15"/>
          <p:cNvSpPr/>
          <p:nvPr/>
        </p:nvSpPr>
        <p:spPr>
          <a:xfrm>
            <a:off x="457200" y="3611880"/>
            <a:ext cx="3931920" cy="868680"/>
          </a:xfrm>
          <a:prstGeom prst="roundRect">
            <a:avLst>
              <a:gd name="adj" fmla="val 8421"/>
            </a:avLst>
          </a:prstGeom>
          <a:solidFill>
            <a:srgbClr val="FFF4D6"/>
          </a:solidFill>
          <a:ln w="15875">
            <a:solidFill>
              <a:srgbClr val="E0A800"/>
            </a:solidFill>
            <a:prstDash val="solid"/>
          </a:ln>
        </p:spPr>
      </p:sp>
      <p:sp>
        <p:nvSpPr>
          <p:cNvPr id="18" name="Text 16"/>
          <p:cNvSpPr txBox="1"/>
          <p:nvPr/>
        </p:nvSpPr>
        <p:spPr>
          <a:xfrm>
            <a:off x="640080" y="3611880"/>
            <a:ext cx="3566160" cy="868680"/>
          </a:xfrm>
          <a:prstGeom prst="rect">
            <a:avLst/>
          </a:prstGeom>
          <a:noFill/>
          <a:ln/>
        </p:spPr>
        <p:txBody>
          <a:bodyPr wrap="square" lIns="0" tIns="0" rIns="0" bIns="0" rtlCol="0" anchor="ctr"/>
          <a:lstStyle/>
          <a:p>
            <a:pPr indent="0" marL="0">
              <a:buNone/>
            </a:pPr>
            <a:r>
              <a:rPr lang="en-US" sz="1400" b="1" dirty="0">
                <a:solidFill>
                  <a:srgbClr val="9A6B00"/>
                </a:solidFill>
              </a:rPr>
              <a:t>Writing def does not run it.
</a:t>
            </a:r>
            <a:pPr indent="0" marL="0">
              <a:buNone/>
            </a:pPr>
            <a:r>
              <a:rPr lang="en-US" sz="1400" dirty="0">
                <a:solidFill>
                  <a:srgbClr val="1B1B1B"/>
                </a:solidFill>
              </a:rPr>
              <a:t>It only tells Python the recipe exists.</a:t>
            </a:r>
            <a:endParaRPr lang="en-US" sz="1400" dirty="0"/>
          </a:p>
        </p:txBody>
      </p:sp>
      <p:sp>
        <p:nvSpPr>
          <p:cNvPr id="19" name="Shape 17"/>
          <p:cNvSpPr/>
          <p:nvPr/>
        </p:nvSpPr>
        <p:spPr>
          <a:xfrm>
            <a:off x="4754880" y="3611880"/>
            <a:ext cx="3931920" cy="868680"/>
          </a:xfrm>
          <a:prstGeom prst="roundRect">
            <a:avLst>
              <a:gd name="adj" fmla="val 8421"/>
            </a:avLst>
          </a:prstGeom>
          <a:solidFill>
            <a:srgbClr val="DDF3E9"/>
          </a:solidFill>
          <a:ln w="15875">
            <a:solidFill>
              <a:srgbClr val="1F8A70"/>
            </a:solidFill>
            <a:prstDash val="solid"/>
          </a:ln>
        </p:spPr>
      </p:sp>
      <p:sp>
        <p:nvSpPr>
          <p:cNvPr id="20" name="Text 18"/>
          <p:cNvSpPr txBox="1"/>
          <p:nvPr/>
        </p:nvSpPr>
        <p:spPr>
          <a:xfrm>
            <a:off x="4937760" y="3611880"/>
            <a:ext cx="3566160" cy="868680"/>
          </a:xfrm>
          <a:prstGeom prst="rect">
            <a:avLst/>
          </a:prstGeom>
          <a:noFill/>
          <a:ln/>
        </p:spPr>
        <p:txBody>
          <a:bodyPr wrap="square" lIns="0" tIns="0" rIns="0" bIns="0" rtlCol="0" anchor="ctr"/>
          <a:lstStyle/>
          <a:p>
            <a:pPr indent="0" marL="0">
              <a:buNone/>
            </a:pPr>
            <a:r>
              <a:rPr lang="en-US" sz="1400" b="1" dirty="0">
                <a:solidFill>
                  <a:srgbClr val="1F8A70"/>
                </a:solidFill>
              </a:rPr>
              <a:t>leds_for(12) runs it.
</a:t>
            </a:r>
            <a:pPr indent="0" marL="0">
              <a:buNone/>
            </a:pPr>
            <a:r>
              <a:rPr lang="en-US" sz="1400" dirty="0">
                <a:solidFill>
                  <a:srgbClr val="1B1B1B"/>
                </a:solidFill>
              </a:rPr>
              <a:t>distance becomes 12 inside, just for that one run.</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Step 0: watch a function run</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0</a:t>
            </a:r>
            <a:endParaRPr lang="en-US" sz="2000" dirty="0"/>
          </a:p>
        </p:txBody>
      </p:sp>
      <p:sp>
        <p:nvSpPr>
          <p:cNvPr id="6" name="Text 4"/>
          <p:cNvSpPr txBox="1"/>
          <p:nvPr/>
        </p:nvSpPr>
        <p:spPr>
          <a:xfrm>
            <a:off x="457200" y="960120"/>
            <a:ext cx="4663440" cy="457200"/>
          </a:xfrm>
          <a:prstGeom prst="rect">
            <a:avLst/>
          </a:prstGeom>
          <a:noFill/>
          <a:ln/>
        </p:spPr>
        <p:txBody>
          <a:bodyPr wrap="square" lIns="0" tIns="0" rIns="0" bIns="0" rtlCol="0" anchor="ctr"/>
          <a:lstStyle/>
          <a:p>
            <a:pPr indent="0" marL="0">
              <a:buNone/>
            </a:pPr>
            <a:r>
              <a:rPr lang="en-US" sz="1400" b="1" dirty="0">
                <a:solidFill>
                  <a:srgbClr val="0B3D2E"/>
                </a:solidFill>
              </a:rPr>
              <a:t>No wiring. Upload step0_functions.py, run it, and read the Shell from top to bottom.</a:t>
            </a:r>
            <a:endParaRPr lang="en-US" sz="1400" dirty="0"/>
          </a:p>
        </p:txBody>
      </p:sp>
      <p:sp>
        <p:nvSpPr>
          <p:cNvPr id="7" name="Shape 5"/>
          <p:cNvSpPr/>
          <p:nvPr/>
        </p:nvSpPr>
        <p:spPr>
          <a:xfrm>
            <a:off x="457200" y="1417320"/>
            <a:ext cx="4663440" cy="2240280"/>
          </a:xfrm>
          <a:prstGeom prst="roundRect">
            <a:avLst>
              <a:gd name="adj" fmla="val 3265"/>
            </a:avLst>
          </a:prstGeom>
          <a:solidFill>
            <a:srgbClr val="14261F"/>
          </a:solidFill>
          <a:ln w="12700">
            <a:solidFill>
              <a:srgbClr val="14261F"/>
            </a:solidFill>
            <a:prstDash val="solid"/>
          </a:ln>
        </p:spPr>
      </p:sp>
      <p:sp>
        <p:nvSpPr>
          <p:cNvPr id="8" name="Text 6"/>
          <p:cNvSpPr txBox="1"/>
          <p:nvPr/>
        </p:nvSpPr>
        <p:spPr>
          <a:xfrm>
            <a:off x="594360" y="1481328"/>
            <a:ext cx="4389120" cy="219456"/>
          </a:xfrm>
          <a:prstGeom prst="rect">
            <a:avLst/>
          </a:prstGeom>
          <a:noFill/>
          <a:ln/>
        </p:spPr>
        <p:txBody>
          <a:bodyPr wrap="square" lIns="0" tIns="0" rIns="0" bIns="0" rtlCol="0" anchor="ctr"/>
          <a:lstStyle/>
          <a:p>
            <a:pPr indent="0" marL="0">
              <a:buNone/>
            </a:pPr>
            <a:r>
              <a:rPr lang="en-US" sz="1100" b="1" dirty="0">
                <a:solidFill>
                  <a:srgbClr val="F2A900"/>
                </a:solidFill>
              </a:rPr>
              <a:t>step0_functions.py</a:t>
            </a:r>
            <a:pPr indent="0" marL="0">
              <a:buNone/>
            </a:pPr>
            <a:r>
              <a:rPr lang="en-US" sz="1100" dirty="0">
                <a:solidFill>
                  <a:srgbClr val="9FB8AD"/>
                </a:solidFill>
              </a:rPr>
              <a:t>  ·  lines 11–21</a:t>
            </a:r>
            <a:endParaRPr lang="en-US" sz="1100" dirty="0"/>
          </a:p>
        </p:txBody>
      </p:sp>
      <p:sp>
        <p:nvSpPr>
          <p:cNvPr id="9" name="Shape 7"/>
          <p:cNvSpPr/>
          <p:nvPr/>
        </p:nvSpPr>
        <p:spPr>
          <a:xfrm>
            <a:off x="566928" y="1737360"/>
            <a:ext cx="4443984" cy="0"/>
          </a:xfrm>
          <a:prstGeom prst="line">
            <a:avLst/>
          </a:prstGeom>
          <a:noFill/>
          <a:ln w="12700">
            <a:solidFill>
              <a:srgbClr val="2F4A3F"/>
            </a:solidFill>
            <a:prstDash val="solid"/>
          </a:ln>
        </p:spPr>
      </p:sp>
      <p:sp>
        <p:nvSpPr>
          <p:cNvPr id="10" name="Text 8"/>
          <p:cNvSpPr txBox="1"/>
          <p:nvPr/>
        </p:nvSpPr>
        <p:spPr>
          <a:xfrm>
            <a:off x="548640" y="1801368"/>
            <a:ext cx="4480560" cy="1783080"/>
          </a:xfrm>
          <a:prstGeom prst="rect">
            <a:avLst/>
          </a:prstGeom>
          <a:noFill/>
          <a:ln/>
        </p:spPr>
        <p:txBody>
          <a:bodyPr wrap="square" lIns="0" tIns="0" rIns="0" bIns="0" rtlCol="0" anchor="t"/>
          <a:lstStyle/>
          <a:p>
            <a:pPr indent="0" marL="0">
              <a:buNone/>
            </a:pPr>
            <a:r>
              <a:rPr lang="en-US" sz="1100" dirty="0">
                <a:solidFill>
                  <a:srgbClr val="6F8A7F"/>
                </a:solidFill>
                <a:latin typeface="Courier New" pitchFamily="34" charset="0"/>
                <a:ea typeface="Courier New" pitchFamily="34" charset="-122"/>
                <a:cs typeface="Courier New" pitchFamily="34" charset="-120"/>
              </a:rPr>
              <a:t> 11  </a:t>
            </a:r>
            <a:pPr indent="0" marL="0">
              <a:buNone/>
            </a:pPr>
            <a:r>
              <a:rPr lang="en-US" sz="1100" dirty="0">
                <a:solidFill>
                  <a:srgbClr val="E6F2EC"/>
                </a:solidFill>
                <a:latin typeface="Courier New" pitchFamily="34" charset="0"/>
                <a:ea typeface="Courier New" pitchFamily="34" charset="-122"/>
                <a:cs typeface="Courier New" pitchFamily="34" charset="-120"/>
              </a:rPr>
              <a:t>print("1. The program starts here")</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12  </a:t>
            </a:r>
            <a:pPr indent="0" marL="0">
              <a:buNone/>
            </a:pPr>
            <a:r>
              <a:rPr lang="en-US" sz="1100" dirty="0">
                <a:solidFill>
                  <a:srgbClr val="E6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13  </a:t>
            </a:r>
            <a:pPr indent="0" marL="0">
              <a:buNone/>
            </a:pPr>
            <a:r>
              <a:rPr lang="en-US" sz="1100" dirty="0">
                <a:solidFill>
                  <a:srgbClr val="E6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14  </a:t>
            </a:r>
            <a:pPr indent="0" marL="0">
              <a:buNone/>
            </a:pPr>
            <a:r>
              <a:rPr lang="en-US" sz="1100" dirty="0">
                <a:solidFill>
                  <a:srgbClr val="E6F2EC"/>
                </a:solidFill>
                <a:latin typeface="Courier New" pitchFamily="34" charset="0"/>
                <a:ea typeface="Courier New" pitchFamily="34" charset="-122"/>
                <a:cs typeface="Courier New" pitchFamily="34" charset="-120"/>
              </a:rPr>
              <a:t>def greet(name):</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15  </a:t>
            </a:r>
            <a:pPr indent="0" marL="0">
              <a:buNone/>
            </a:pPr>
            <a:r>
              <a:rPr lang="en-US" sz="1100" dirty="0">
                <a:solidFill>
                  <a:srgbClr val="E6F2EC"/>
                </a:solidFill>
                <a:latin typeface="Courier New" pitchFamily="34" charset="0"/>
                <a:ea typeface="Courier New" pitchFamily="34" charset="-122"/>
                <a:cs typeface="Courier New" pitchFamily="34" charset="-120"/>
              </a:rPr>
              <a:t>    print("   Hello,", name)</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16  </a:t>
            </a:r>
            <a:pPr indent="0" marL="0">
              <a:buNone/>
            </a:pPr>
            <a:r>
              <a:rPr lang="en-US" sz="1100" dirty="0">
                <a:solidFill>
                  <a:srgbClr val="E6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17  </a:t>
            </a:r>
            <a:pPr indent="0" marL="0">
              <a:buNone/>
            </a:pPr>
            <a:r>
              <a:rPr lang="en-US" sz="1100" dirty="0">
                <a:solidFill>
                  <a:srgbClr val="E6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18  </a:t>
            </a:r>
            <a:pPr indent="0" marL="0">
              <a:buNone/>
            </a:pPr>
            <a:r>
              <a:rPr lang="en-US" sz="1100" dirty="0">
                <a:solidFill>
                  <a:srgbClr val="E6F2EC"/>
                </a:solidFill>
                <a:latin typeface="Courier New" pitchFamily="34" charset="0"/>
                <a:ea typeface="Courier New" pitchFamily="34" charset="-122"/>
                <a:cs typeface="Courier New" pitchFamily="34" charset="-120"/>
              </a:rPr>
              <a:t>print("2. greet is DEFINED. No hello yet.")</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19  </a:t>
            </a:r>
            <a:pPr indent="0" marL="0">
              <a:buNone/>
            </a:pPr>
            <a:r>
              <a:rPr lang="en-US" sz="1100" dirty="0">
                <a:solidFill>
                  <a:srgbClr val="E6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20  </a:t>
            </a:r>
            <a:pPr indent="0" marL="0">
              <a:buNone/>
            </a:pPr>
            <a:r>
              <a:rPr lang="en-US" sz="1100" dirty="0">
                <a:solidFill>
                  <a:srgbClr val="E6F2EC"/>
                </a:solidFill>
                <a:latin typeface="Courier New" pitchFamily="34" charset="0"/>
                <a:ea typeface="Courier New" pitchFamily="34" charset="-122"/>
                <a:cs typeface="Courier New" pitchFamily="34" charset="-120"/>
              </a:rPr>
              <a:t>greet("Class 2A")</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 21  </a:t>
            </a:r>
            <a:pPr indent="0" marL="0">
              <a:buNone/>
            </a:pPr>
            <a:r>
              <a:rPr lang="en-US" sz="1100" dirty="0">
                <a:solidFill>
                  <a:srgbClr val="E6F2EC"/>
                </a:solidFill>
                <a:latin typeface="Courier New" pitchFamily="34" charset="0"/>
                <a:ea typeface="Courier New" pitchFamily="34" charset="-122"/>
                <a:cs typeface="Courier New" pitchFamily="34" charset="-120"/>
              </a:rPr>
              <a:t>greet("Ms Chan")</a:t>
            </a:r>
            <a:endParaRPr lang="en-US" sz="1100" dirty="0"/>
          </a:p>
        </p:txBody>
      </p:sp>
      <p:sp>
        <p:nvSpPr>
          <p:cNvPr id="11" name="Shape 9"/>
          <p:cNvSpPr/>
          <p:nvPr/>
        </p:nvSpPr>
        <p:spPr>
          <a:xfrm>
            <a:off x="457200" y="3730752"/>
            <a:ext cx="4663440" cy="457200"/>
          </a:xfrm>
          <a:prstGeom prst="roundRect">
            <a:avLst>
              <a:gd name="adj" fmla="val 16000"/>
            </a:avLst>
          </a:prstGeom>
          <a:solidFill>
            <a:srgbClr val="DDF3E9"/>
          </a:solidFill>
          <a:ln w="15875">
            <a:solidFill>
              <a:srgbClr val="1F8A70"/>
            </a:solidFill>
            <a:prstDash val="solid"/>
          </a:ln>
        </p:spPr>
      </p:sp>
      <p:sp>
        <p:nvSpPr>
          <p:cNvPr id="12" name="Text 10"/>
          <p:cNvSpPr txBox="1"/>
          <p:nvPr/>
        </p:nvSpPr>
        <p:spPr>
          <a:xfrm>
            <a:off x="594360" y="3730752"/>
            <a:ext cx="4389120" cy="45720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Line 2 of the Shell appears BEFORE any hello.</a:t>
            </a:r>
            <a:endParaRPr lang="en-US" sz="1400" dirty="0"/>
          </a:p>
        </p:txBody>
      </p:sp>
      <p:sp>
        <p:nvSpPr>
          <p:cNvPr id="13" name="Shape 11"/>
          <p:cNvSpPr/>
          <p:nvPr/>
        </p:nvSpPr>
        <p:spPr>
          <a:xfrm>
            <a:off x="457200" y="4261104"/>
            <a:ext cx="4663440" cy="457200"/>
          </a:xfrm>
          <a:prstGeom prst="roundRect">
            <a:avLst>
              <a:gd name="adj" fmla="val 16000"/>
            </a:avLst>
          </a:prstGeom>
          <a:solidFill>
            <a:srgbClr val="FFF4D6"/>
          </a:solidFill>
          <a:ln w="12700">
            <a:solidFill>
              <a:srgbClr val="E0A800"/>
            </a:solidFill>
            <a:prstDash val="solid"/>
          </a:ln>
        </p:spPr>
      </p:sp>
      <p:sp>
        <p:nvSpPr>
          <p:cNvPr id="14" name="Text 12"/>
          <p:cNvSpPr txBox="1"/>
          <p:nvPr/>
        </p:nvSpPr>
        <p:spPr>
          <a:xfrm>
            <a:off x="594360" y="4261104"/>
            <a:ext cx="438912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Nothing in the Shell? Press Run, not just save.</a:t>
            </a:r>
            <a:endParaRPr lang="en-US" sz="1400" dirty="0"/>
          </a:p>
        </p:txBody>
      </p:sp>
      <p:sp>
        <p:nvSpPr>
          <p:cNvPr id="15" name="Shape 13"/>
          <p:cNvSpPr/>
          <p:nvPr/>
        </p:nvSpPr>
        <p:spPr>
          <a:xfrm>
            <a:off x="5394960" y="1188720"/>
            <a:ext cx="3291840" cy="2286000"/>
          </a:xfrm>
          <a:prstGeom prst="roundRect">
            <a:avLst>
              <a:gd name="adj" fmla="val 3200"/>
            </a:avLst>
          </a:prstGeom>
          <a:solidFill>
            <a:srgbClr val="1E1E1E"/>
          </a:solidFill>
          <a:ln w="12700">
            <a:solidFill>
              <a:srgbClr val="3A3A3A"/>
            </a:solidFill>
            <a:prstDash val="solid"/>
          </a:ln>
        </p:spPr>
      </p:sp>
      <p:sp>
        <p:nvSpPr>
          <p:cNvPr id="16" name="Shape 14"/>
          <p:cNvSpPr/>
          <p:nvPr/>
        </p:nvSpPr>
        <p:spPr>
          <a:xfrm>
            <a:off x="5532120" y="1280160"/>
            <a:ext cx="118872" cy="118872"/>
          </a:xfrm>
          <a:prstGeom prst="ellipse">
            <a:avLst/>
          </a:prstGeom>
          <a:solidFill>
            <a:srgbClr val="FF5F57"/>
          </a:solidFill>
          <a:ln w="12700">
            <a:solidFill>
              <a:srgbClr val="FF5F57"/>
            </a:solidFill>
            <a:prstDash val="solid"/>
          </a:ln>
        </p:spPr>
      </p:sp>
      <p:sp>
        <p:nvSpPr>
          <p:cNvPr id="17" name="Shape 15"/>
          <p:cNvSpPr/>
          <p:nvPr/>
        </p:nvSpPr>
        <p:spPr>
          <a:xfrm>
            <a:off x="5715000" y="1280160"/>
            <a:ext cx="118872" cy="118872"/>
          </a:xfrm>
          <a:prstGeom prst="ellipse">
            <a:avLst/>
          </a:prstGeom>
          <a:solidFill>
            <a:srgbClr val="FEBC2E"/>
          </a:solidFill>
          <a:ln w="12700">
            <a:solidFill>
              <a:srgbClr val="FEBC2E"/>
            </a:solidFill>
            <a:prstDash val="solid"/>
          </a:ln>
        </p:spPr>
      </p:sp>
      <p:sp>
        <p:nvSpPr>
          <p:cNvPr id="18" name="Shape 16"/>
          <p:cNvSpPr/>
          <p:nvPr/>
        </p:nvSpPr>
        <p:spPr>
          <a:xfrm>
            <a:off x="5897880" y="1280160"/>
            <a:ext cx="118872" cy="118872"/>
          </a:xfrm>
          <a:prstGeom prst="ellipse">
            <a:avLst/>
          </a:prstGeom>
          <a:solidFill>
            <a:srgbClr val="28C840"/>
          </a:solidFill>
          <a:ln w="12700">
            <a:solidFill>
              <a:srgbClr val="28C840"/>
            </a:solidFill>
            <a:prstDash val="solid"/>
          </a:ln>
        </p:spPr>
      </p:sp>
      <p:sp>
        <p:nvSpPr>
          <p:cNvPr id="19" name="Text 17"/>
          <p:cNvSpPr txBox="1"/>
          <p:nvPr/>
        </p:nvSpPr>
        <p:spPr>
          <a:xfrm>
            <a:off x="5394960" y="1243584"/>
            <a:ext cx="329184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20" name="Text 18"/>
          <p:cNvSpPr txBox="1"/>
          <p:nvPr/>
        </p:nvSpPr>
        <p:spPr>
          <a:xfrm>
            <a:off x="5559552" y="1536192"/>
            <a:ext cx="2962656" cy="1828800"/>
          </a:xfrm>
          <a:prstGeom prst="rect">
            <a:avLst/>
          </a:prstGeom>
          <a:noFill/>
          <a:ln/>
        </p:spPr>
        <p:txBody>
          <a:bodyPr wrap="square" lIns="0" tIns="0" rIns="0" bIns="0" rtlCol="0" anchor="t"/>
          <a:lstStyle/>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1. The program starts here</a:t>
            </a:r>
            <a:endParaRPr lang="en-US" sz="1100" dirty="0"/>
          </a:p>
          <a:p>
            <a:pPr indent="0" marL="0">
              <a:spcAft>
                <a:spcPts val="200"/>
              </a:spcAft>
              <a:buNone/>
            </a:pPr>
            <a:r>
              <a:rPr lang="en-US" sz="1100" b="1" dirty="0">
                <a:solidFill>
                  <a:srgbClr val="F2A900"/>
                </a:solidFill>
                <a:latin typeface="Courier New" pitchFamily="34" charset="0"/>
                <a:ea typeface="Courier New" pitchFamily="34" charset="-122"/>
                <a:cs typeface="Courier New" pitchFamily="34" charset="-120"/>
              </a:rPr>
              <a:t>2. greet is DEFINED. No hello yet.</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Hello, Class 2A</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Hello, Ms Chan</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3. Two hellos: greet was CALLED</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twice.</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4. distance -&gt; how many LEDs</a:t>
            </a:r>
            <a:endParaRPr lang="en-US" sz="1100" dirty="0"/>
          </a:p>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   12 cm -&gt; 3 LEDs</a:t>
            </a:r>
            <a:endParaRPr lang="en-US" sz="1100" dirty="0"/>
          </a:p>
        </p:txBody>
      </p:sp>
      <p:sp>
        <p:nvSpPr>
          <p:cNvPr id="21" name="Text 19"/>
          <p:cNvSpPr txBox="1"/>
          <p:nvPr/>
        </p:nvSpPr>
        <p:spPr>
          <a:xfrm>
            <a:off x="5394960" y="3611880"/>
            <a:ext cx="3291840" cy="822960"/>
          </a:xfrm>
          <a:prstGeom prst="rect">
            <a:avLst/>
          </a:prstGeom>
          <a:noFill/>
          <a:ln/>
        </p:spPr>
        <p:txBody>
          <a:bodyPr wrap="square" lIns="0" tIns="0" rIns="0" bIns="0" rtlCol="0" anchor="ctr"/>
          <a:lstStyle/>
          <a:p>
            <a:pPr indent="0" marL="0">
              <a:buNone/>
            </a:pPr>
            <a:r>
              <a:rPr lang="en-US" sz="1300" i="1" dirty="0">
                <a:solidFill>
                  <a:srgbClr val="0B3D2E"/>
                </a:solidFill>
              </a:rPr>
              <a:t>Try it: delete the two greet(...) lines. The hellos stop, the rest still runs.</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The order Python really does it</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0</a:t>
            </a:r>
            <a:endParaRPr lang="en-US" sz="2000" dirty="0"/>
          </a:p>
        </p:txBody>
      </p:sp>
      <p:sp>
        <p:nvSpPr>
          <p:cNvPr id="6" name="Shape 4"/>
          <p:cNvSpPr/>
          <p:nvPr/>
        </p:nvSpPr>
        <p:spPr>
          <a:xfrm>
            <a:off x="457200" y="1005840"/>
            <a:ext cx="3931920" cy="2834640"/>
          </a:xfrm>
          <a:prstGeom prst="roundRect">
            <a:avLst>
              <a:gd name="adj" fmla="val 2581"/>
            </a:avLst>
          </a:prstGeom>
          <a:solidFill>
            <a:srgbClr val="14261F"/>
          </a:solidFill>
          <a:ln w="12700">
            <a:solidFill>
              <a:srgbClr val="14261F"/>
            </a:solidFill>
            <a:prstDash val="solid"/>
          </a:ln>
        </p:spPr>
      </p:sp>
      <p:sp>
        <p:nvSpPr>
          <p:cNvPr id="7" name="Text 5"/>
          <p:cNvSpPr txBox="1"/>
          <p:nvPr/>
        </p:nvSpPr>
        <p:spPr>
          <a:xfrm>
            <a:off x="594360" y="1069848"/>
            <a:ext cx="3657600" cy="219456"/>
          </a:xfrm>
          <a:prstGeom prst="rect">
            <a:avLst/>
          </a:prstGeom>
          <a:noFill/>
          <a:ln/>
        </p:spPr>
        <p:txBody>
          <a:bodyPr wrap="square" lIns="0" tIns="0" rIns="0" bIns="0" rtlCol="0" anchor="ctr"/>
          <a:lstStyle/>
          <a:p>
            <a:pPr indent="0" marL="0">
              <a:buNone/>
            </a:pPr>
            <a:r>
              <a:rPr lang="en-US" sz="1100" b="1" dirty="0">
                <a:solidFill>
                  <a:srgbClr val="F2A900"/>
                </a:solidFill>
              </a:rPr>
              <a:t>step0_functions.py</a:t>
            </a:r>
            <a:pPr indent="0" marL="0">
              <a:buNone/>
            </a:pPr>
            <a:r>
              <a:rPr lang="en-US" sz="1100" dirty="0">
                <a:solidFill>
                  <a:srgbClr val="9FB8AD"/>
                </a:solidFill>
              </a:rPr>
              <a:t>  ·  lines 11–23</a:t>
            </a:r>
            <a:endParaRPr lang="en-US" sz="1100" dirty="0"/>
          </a:p>
        </p:txBody>
      </p:sp>
      <p:sp>
        <p:nvSpPr>
          <p:cNvPr id="8" name="Shape 6"/>
          <p:cNvSpPr/>
          <p:nvPr/>
        </p:nvSpPr>
        <p:spPr>
          <a:xfrm>
            <a:off x="566928" y="1325880"/>
            <a:ext cx="3712464" cy="0"/>
          </a:xfrm>
          <a:prstGeom prst="line">
            <a:avLst/>
          </a:prstGeom>
          <a:noFill/>
          <a:ln w="12700">
            <a:solidFill>
              <a:srgbClr val="2F4A3F"/>
            </a:solidFill>
            <a:prstDash val="solid"/>
          </a:ln>
        </p:spPr>
      </p:sp>
      <p:sp>
        <p:nvSpPr>
          <p:cNvPr id="9" name="Text 7"/>
          <p:cNvSpPr txBox="1"/>
          <p:nvPr/>
        </p:nvSpPr>
        <p:spPr>
          <a:xfrm>
            <a:off x="548640" y="1389888"/>
            <a:ext cx="3749040" cy="2377440"/>
          </a:xfrm>
          <a:prstGeom prst="rect">
            <a:avLst/>
          </a:prstGeom>
          <a:noFill/>
          <a:ln/>
        </p:spPr>
        <p:txBody>
          <a:bodyPr wrap="square" lIns="0" tIns="0" rIns="0" bIns="0" rtlCol="0" anchor="t"/>
          <a:lstStyle/>
          <a:p>
            <a:pPr indent="0" marL="0">
              <a:buNone/>
            </a:pPr>
            <a:r>
              <a:rPr lang="en-US" sz="900" dirty="0">
                <a:solidFill>
                  <a:srgbClr val="6F8A7F"/>
                </a:solidFill>
                <a:latin typeface="Courier New" pitchFamily="34" charset="0"/>
                <a:ea typeface="Courier New" pitchFamily="34" charset="-122"/>
                <a:cs typeface="Courier New" pitchFamily="34" charset="-120"/>
              </a:rPr>
              <a:t> 11  </a:t>
            </a:r>
            <a:pPr indent="0" marL="0">
              <a:buNone/>
            </a:pPr>
            <a:r>
              <a:rPr lang="en-US" sz="900" dirty="0">
                <a:solidFill>
                  <a:srgbClr val="E6F2EC"/>
                </a:solidFill>
                <a:latin typeface="Courier New" pitchFamily="34" charset="0"/>
                <a:ea typeface="Courier New" pitchFamily="34" charset="-122"/>
                <a:cs typeface="Courier New" pitchFamily="34" charset="-120"/>
              </a:rPr>
              <a:t>print("1. The program starts here")</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12  </a:t>
            </a:r>
            <a:pPr indent="0" marL="0">
              <a:buNone/>
            </a:pPr>
            <a:r>
              <a:rPr lang="en-US" sz="900" dirty="0">
                <a:solidFill>
                  <a:srgbClr val="E6F2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13  </a:t>
            </a:r>
            <a:pPr indent="0" marL="0">
              <a:buNone/>
            </a:pPr>
            <a:r>
              <a:rPr lang="en-US" sz="900" dirty="0">
                <a:solidFill>
                  <a:srgbClr val="E6F2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14  </a:t>
            </a:r>
            <a:pPr indent="0" marL="0">
              <a:buNone/>
            </a:pPr>
            <a:r>
              <a:rPr lang="en-US" sz="900" dirty="0">
                <a:solidFill>
                  <a:srgbClr val="E6F2EC"/>
                </a:solidFill>
                <a:latin typeface="Courier New" pitchFamily="34" charset="0"/>
                <a:ea typeface="Courier New" pitchFamily="34" charset="-122"/>
                <a:cs typeface="Courier New" pitchFamily="34" charset="-120"/>
              </a:rPr>
              <a:t>def greet(name):</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15  </a:t>
            </a:r>
            <a:pPr indent="0" marL="0">
              <a:buNone/>
            </a:pPr>
            <a:r>
              <a:rPr lang="en-US" sz="900" dirty="0">
                <a:solidFill>
                  <a:srgbClr val="E6F2EC"/>
                </a:solidFill>
                <a:latin typeface="Courier New" pitchFamily="34" charset="0"/>
                <a:ea typeface="Courier New" pitchFamily="34" charset="-122"/>
                <a:cs typeface="Courier New" pitchFamily="34" charset="-120"/>
              </a:rPr>
              <a:t>    print("   Hello,", name)</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16  </a:t>
            </a:r>
            <a:pPr indent="0" marL="0">
              <a:buNone/>
            </a:pPr>
            <a:r>
              <a:rPr lang="en-US" sz="900" dirty="0">
                <a:solidFill>
                  <a:srgbClr val="E6F2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17  </a:t>
            </a:r>
            <a:pPr indent="0" marL="0">
              <a:buNone/>
            </a:pPr>
            <a:r>
              <a:rPr lang="en-US" sz="900" dirty="0">
                <a:solidFill>
                  <a:srgbClr val="E6F2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18  </a:t>
            </a:r>
            <a:pPr indent="0" marL="0">
              <a:buNone/>
            </a:pPr>
            <a:r>
              <a:rPr lang="en-US" sz="900" dirty="0">
                <a:solidFill>
                  <a:srgbClr val="E6F2EC"/>
                </a:solidFill>
                <a:latin typeface="Courier New" pitchFamily="34" charset="0"/>
                <a:ea typeface="Courier New" pitchFamily="34" charset="-122"/>
                <a:cs typeface="Courier New" pitchFamily="34" charset="-120"/>
              </a:rPr>
              <a:t>print("2. greet is DEFINED. No hello yet.")</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19  </a:t>
            </a:r>
            <a:pPr indent="0" marL="0">
              <a:buNone/>
            </a:pPr>
            <a:r>
              <a:rPr lang="en-US" sz="900" dirty="0">
                <a:solidFill>
                  <a:srgbClr val="E6F2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20  </a:t>
            </a:r>
            <a:pPr indent="0" marL="0">
              <a:buNone/>
            </a:pPr>
            <a:r>
              <a:rPr lang="en-US" sz="900" dirty="0">
                <a:solidFill>
                  <a:srgbClr val="E6F2EC"/>
                </a:solidFill>
                <a:latin typeface="Courier New" pitchFamily="34" charset="0"/>
                <a:ea typeface="Courier New" pitchFamily="34" charset="-122"/>
                <a:cs typeface="Courier New" pitchFamily="34" charset="-120"/>
              </a:rPr>
              <a:t>greet("Class 2A")</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21  </a:t>
            </a:r>
            <a:pPr indent="0" marL="0">
              <a:buNone/>
            </a:pPr>
            <a:r>
              <a:rPr lang="en-US" sz="900" dirty="0">
                <a:solidFill>
                  <a:srgbClr val="E6F2EC"/>
                </a:solidFill>
                <a:latin typeface="Courier New" pitchFamily="34" charset="0"/>
                <a:ea typeface="Courier New" pitchFamily="34" charset="-122"/>
                <a:cs typeface="Courier New" pitchFamily="34" charset="-120"/>
              </a:rPr>
              <a:t>greet("Ms Chan")</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22  </a:t>
            </a:r>
            <a:pPr indent="0" marL="0">
              <a:buNone/>
            </a:pPr>
            <a:r>
              <a:rPr lang="en-US" sz="900" dirty="0">
                <a:solidFill>
                  <a:srgbClr val="E6F2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23  </a:t>
            </a:r>
            <a:pPr indent="0" marL="0">
              <a:buNone/>
            </a:pPr>
            <a:r>
              <a:rPr lang="en-US" sz="900" dirty="0">
                <a:solidFill>
                  <a:srgbClr val="E6F2EC"/>
                </a:solidFill>
                <a:latin typeface="Courier New" pitchFamily="34" charset="0"/>
                <a:ea typeface="Courier New" pitchFamily="34" charset="-122"/>
                <a:cs typeface="Courier New" pitchFamily="34" charset="-120"/>
              </a:rPr>
              <a:t>print("3. Two hellos: greet was CALLED twice.")</a:t>
            </a:r>
            <a:endParaRPr lang="en-US" sz="900" dirty="0"/>
          </a:p>
        </p:txBody>
      </p:sp>
      <p:sp>
        <p:nvSpPr>
          <p:cNvPr id="10" name="Shape 8"/>
          <p:cNvSpPr/>
          <p:nvPr/>
        </p:nvSpPr>
        <p:spPr>
          <a:xfrm>
            <a:off x="4572000" y="1088136"/>
            <a:ext cx="329184" cy="329184"/>
          </a:xfrm>
          <a:prstGeom prst="ellipse">
            <a:avLst/>
          </a:prstGeom>
          <a:solidFill>
            <a:srgbClr val="F2A900"/>
          </a:solidFill>
          <a:ln w="12700">
            <a:solidFill>
              <a:srgbClr val="C98C00"/>
            </a:solidFill>
            <a:prstDash val="solid"/>
          </a:ln>
        </p:spPr>
      </p:sp>
      <p:sp>
        <p:nvSpPr>
          <p:cNvPr id="11" name="Text 9"/>
          <p:cNvSpPr txBox="1"/>
          <p:nvPr/>
        </p:nvSpPr>
        <p:spPr>
          <a:xfrm>
            <a:off x="4572000" y="1088136"/>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1</a:t>
            </a:r>
            <a:endParaRPr lang="en-US" sz="1200" dirty="0"/>
          </a:p>
        </p:txBody>
      </p:sp>
      <p:sp>
        <p:nvSpPr>
          <p:cNvPr id="12" name="Text 10"/>
          <p:cNvSpPr txBox="1"/>
          <p:nvPr/>
        </p:nvSpPr>
        <p:spPr>
          <a:xfrm>
            <a:off x="4983480" y="1051560"/>
            <a:ext cx="868680" cy="402336"/>
          </a:xfrm>
          <a:prstGeom prst="rect">
            <a:avLst/>
          </a:prstGeom>
          <a:noFill/>
          <a:ln/>
        </p:spPr>
        <p:txBody>
          <a:bodyPr wrap="square" lIns="0" tIns="0" rIns="0" bIns="0" rtlCol="0" anchor="ctr"/>
          <a:lstStyle/>
          <a:p>
            <a:pPr indent="0" marL="0">
              <a:buNone/>
            </a:pPr>
            <a:r>
              <a:rPr lang="en-US" sz="1200" b="1" dirty="0">
                <a:solidFill>
                  <a:srgbClr val="0B3D2E"/>
                </a:solidFill>
                <a:latin typeface="Courier New" pitchFamily="34" charset="0"/>
                <a:ea typeface="Courier New" pitchFamily="34" charset="-122"/>
                <a:cs typeface="Courier New" pitchFamily="34" charset="-120"/>
              </a:rPr>
              <a:t>line 11</a:t>
            </a:r>
            <a:endParaRPr lang="en-US" sz="1200" dirty="0"/>
          </a:p>
        </p:txBody>
      </p:sp>
      <p:sp>
        <p:nvSpPr>
          <p:cNvPr id="13" name="Text 11"/>
          <p:cNvSpPr txBox="1"/>
          <p:nvPr/>
        </p:nvSpPr>
        <p:spPr>
          <a:xfrm>
            <a:off x="5897880" y="1051560"/>
            <a:ext cx="2788920" cy="457200"/>
          </a:xfrm>
          <a:prstGeom prst="rect">
            <a:avLst/>
          </a:prstGeom>
          <a:noFill/>
          <a:ln/>
        </p:spPr>
        <p:txBody>
          <a:bodyPr wrap="square" lIns="0" tIns="0" rIns="0" bIns="0" rtlCol="0" anchor="ctr"/>
          <a:lstStyle/>
          <a:p>
            <a:pPr indent="0" marL="0">
              <a:buNone/>
            </a:pPr>
            <a:r>
              <a:rPr lang="en-US" sz="1200" dirty="0">
                <a:solidFill>
                  <a:srgbClr val="1B1B1B"/>
                </a:solidFill>
              </a:rPr>
              <a:t>prints “1. The program starts here”</a:t>
            </a:r>
            <a:endParaRPr lang="en-US" sz="1200" dirty="0"/>
          </a:p>
        </p:txBody>
      </p:sp>
      <p:sp>
        <p:nvSpPr>
          <p:cNvPr id="14" name="Shape 12"/>
          <p:cNvSpPr/>
          <p:nvPr/>
        </p:nvSpPr>
        <p:spPr>
          <a:xfrm>
            <a:off x="4572000" y="1600200"/>
            <a:ext cx="329184" cy="329184"/>
          </a:xfrm>
          <a:prstGeom prst="ellipse">
            <a:avLst/>
          </a:prstGeom>
          <a:solidFill>
            <a:srgbClr val="6B7280"/>
          </a:solidFill>
          <a:ln w="12700">
            <a:solidFill>
              <a:srgbClr val="6B7280"/>
            </a:solidFill>
            <a:prstDash val="solid"/>
          </a:ln>
        </p:spPr>
      </p:sp>
      <p:sp>
        <p:nvSpPr>
          <p:cNvPr id="15" name="Text 13"/>
          <p:cNvSpPr txBox="1"/>
          <p:nvPr/>
        </p:nvSpPr>
        <p:spPr>
          <a:xfrm>
            <a:off x="4572000" y="1600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6" name="Text 14"/>
          <p:cNvSpPr txBox="1"/>
          <p:nvPr/>
        </p:nvSpPr>
        <p:spPr>
          <a:xfrm>
            <a:off x="4983480" y="1563624"/>
            <a:ext cx="868680" cy="402336"/>
          </a:xfrm>
          <a:prstGeom prst="rect">
            <a:avLst/>
          </a:prstGeom>
          <a:noFill/>
          <a:ln/>
        </p:spPr>
        <p:txBody>
          <a:bodyPr wrap="square" lIns="0" tIns="0" rIns="0" bIns="0" rtlCol="0" anchor="ctr"/>
          <a:lstStyle/>
          <a:p>
            <a:pPr indent="0" marL="0">
              <a:buNone/>
            </a:pPr>
            <a:r>
              <a:rPr lang="en-US" sz="1200" b="1" dirty="0">
                <a:solidFill>
                  <a:srgbClr val="0B3D2E"/>
                </a:solidFill>
                <a:latin typeface="Courier New" pitchFamily="34" charset="0"/>
                <a:ea typeface="Courier New" pitchFamily="34" charset="-122"/>
                <a:cs typeface="Courier New" pitchFamily="34" charset="-120"/>
              </a:rPr>
              <a:t>lines 14-15</a:t>
            </a:r>
            <a:endParaRPr lang="en-US" sz="1200" dirty="0"/>
          </a:p>
        </p:txBody>
      </p:sp>
      <p:sp>
        <p:nvSpPr>
          <p:cNvPr id="17" name="Text 15"/>
          <p:cNvSpPr txBox="1"/>
          <p:nvPr/>
        </p:nvSpPr>
        <p:spPr>
          <a:xfrm>
            <a:off x="5897880" y="1563624"/>
            <a:ext cx="2788920" cy="457200"/>
          </a:xfrm>
          <a:prstGeom prst="rect">
            <a:avLst/>
          </a:prstGeom>
          <a:noFill/>
          <a:ln/>
        </p:spPr>
        <p:txBody>
          <a:bodyPr wrap="square" lIns="0" tIns="0" rIns="0" bIns="0" rtlCol="0" anchor="ctr"/>
          <a:lstStyle/>
          <a:p>
            <a:pPr indent="0" marL="0">
              <a:buNone/>
            </a:pPr>
            <a:r>
              <a:rPr lang="en-US" sz="1200" dirty="0">
                <a:solidFill>
                  <a:srgbClr val="1B1B1B"/>
                </a:solidFill>
              </a:rPr>
              <a:t>SKIPPED. Python only remembers that greet exists</a:t>
            </a:r>
            <a:endParaRPr lang="en-US" sz="1200" dirty="0"/>
          </a:p>
        </p:txBody>
      </p:sp>
      <p:sp>
        <p:nvSpPr>
          <p:cNvPr id="18" name="Shape 16"/>
          <p:cNvSpPr/>
          <p:nvPr/>
        </p:nvSpPr>
        <p:spPr>
          <a:xfrm>
            <a:off x="4572000" y="2112264"/>
            <a:ext cx="329184" cy="329184"/>
          </a:xfrm>
          <a:prstGeom prst="ellipse">
            <a:avLst/>
          </a:prstGeom>
          <a:solidFill>
            <a:srgbClr val="F2A900"/>
          </a:solidFill>
          <a:ln w="12700">
            <a:solidFill>
              <a:srgbClr val="C98C00"/>
            </a:solidFill>
            <a:prstDash val="solid"/>
          </a:ln>
        </p:spPr>
      </p:sp>
      <p:sp>
        <p:nvSpPr>
          <p:cNvPr id="19" name="Text 17"/>
          <p:cNvSpPr txBox="1"/>
          <p:nvPr/>
        </p:nvSpPr>
        <p:spPr>
          <a:xfrm>
            <a:off x="4572000" y="2112264"/>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3</a:t>
            </a:r>
            <a:endParaRPr lang="en-US" sz="1200" dirty="0"/>
          </a:p>
        </p:txBody>
      </p:sp>
      <p:sp>
        <p:nvSpPr>
          <p:cNvPr id="20" name="Text 18"/>
          <p:cNvSpPr txBox="1"/>
          <p:nvPr/>
        </p:nvSpPr>
        <p:spPr>
          <a:xfrm>
            <a:off x="4983480" y="2075688"/>
            <a:ext cx="868680" cy="402336"/>
          </a:xfrm>
          <a:prstGeom prst="rect">
            <a:avLst/>
          </a:prstGeom>
          <a:noFill/>
          <a:ln/>
        </p:spPr>
        <p:txBody>
          <a:bodyPr wrap="square" lIns="0" tIns="0" rIns="0" bIns="0" rtlCol="0" anchor="ctr"/>
          <a:lstStyle/>
          <a:p>
            <a:pPr indent="0" marL="0">
              <a:buNone/>
            </a:pPr>
            <a:r>
              <a:rPr lang="en-US" sz="1200" b="1" dirty="0">
                <a:solidFill>
                  <a:srgbClr val="0B3D2E"/>
                </a:solidFill>
                <a:latin typeface="Courier New" pitchFamily="34" charset="0"/>
                <a:ea typeface="Courier New" pitchFamily="34" charset="-122"/>
                <a:cs typeface="Courier New" pitchFamily="34" charset="-120"/>
              </a:rPr>
              <a:t>line 18</a:t>
            </a:r>
            <a:endParaRPr lang="en-US" sz="1200" dirty="0"/>
          </a:p>
        </p:txBody>
      </p:sp>
      <p:sp>
        <p:nvSpPr>
          <p:cNvPr id="21" name="Text 19"/>
          <p:cNvSpPr txBox="1"/>
          <p:nvPr/>
        </p:nvSpPr>
        <p:spPr>
          <a:xfrm>
            <a:off x="5897880" y="2075688"/>
            <a:ext cx="2788920" cy="457200"/>
          </a:xfrm>
          <a:prstGeom prst="rect">
            <a:avLst/>
          </a:prstGeom>
          <a:noFill/>
          <a:ln/>
        </p:spPr>
        <p:txBody>
          <a:bodyPr wrap="square" lIns="0" tIns="0" rIns="0" bIns="0" rtlCol="0" anchor="ctr"/>
          <a:lstStyle/>
          <a:p>
            <a:pPr indent="0" marL="0">
              <a:buNone/>
            </a:pPr>
            <a:r>
              <a:rPr lang="en-US" sz="1200" dirty="0">
                <a:solidFill>
                  <a:srgbClr val="1B1B1B"/>
                </a:solidFill>
              </a:rPr>
              <a:t>prints “2. greet is DEFINED …”</a:t>
            </a:r>
            <a:endParaRPr lang="en-US" sz="1200" dirty="0"/>
          </a:p>
        </p:txBody>
      </p:sp>
      <p:sp>
        <p:nvSpPr>
          <p:cNvPr id="22" name="Shape 20"/>
          <p:cNvSpPr/>
          <p:nvPr/>
        </p:nvSpPr>
        <p:spPr>
          <a:xfrm>
            <a:off x="4572000" y="2624328"/>
            <a:ext cx="329184" cy="329184"/>
          </a:xfrm>
          <a:prstGeom prst="ellipse">
            <a:avLst/>
          </a:prstGeom>
          <a:solidFill>
            <a:srgbClr val="F2A900"/>
          </a:solidFill>
          <a:ln w="12700">
            <a:solidFill>
              <a:srgbClr val="C98C00"/>
            </a:solidFill>
            <a:prstDash val="solid"/>
          </a:ln>
        </p:spPr>
      </p:sp>
      <p:sp>
        <p:nvSpPr>
          <p:cNvPr id="23" name="Text 21"/>
          <p:cNvSpPr txBox="1"/>
          <p:nvPr/>
        </p:nvSpPr>
        <p:spPr>
          <a:xfrm>
            <a:off x="4572000" y="2624328"/>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4</a:t>
            </a:r>
            <a:endParaRPr lang="en-US" sz="1200" dirty="0"/>
          </a:p>
        </p:txBody>
      </p:sp>
      <p:sp>
        <p:nvSpPr>
          <p:cNvPr id="24" name="Text 22"/>
          <p:cNvSpPr txBox="1"/>
          <p:nvPr/>
        </p:nvSpPr>
        <p:spPr>
          <a:xfrm>
            <a:off x="4983480" y="2587752"/>
            <a:ext cx="868680" cy="402336"/>
          </a:xfrm>
          <a:prstGeom prst="rect">
            <a:avLst/>
          </a:prstGeom>
          <a:noFill/>
          <a:ln/>
        </p:spPr>
        <p:txBody>
          <a:bodyPr wrap="square" lIns="0" tIns="0" rIns="0" bIns="0" rtlCol="0" anchor="ctr"/>
          <a:lstStyle/>
          <a:p>
            <a:pPr indent="0" marL="0">
              <a:buNone/>
            </a:pPr>
            <a:r>
              <a:rPr lang="en-US" sz="1200" b="1" dirty="0">
                <a:solidFill>
                  <a:srgbClr val="0B3D2E"/>
                </a:solidFill>
                <a:latin typeface="Courier New" pitchFamily="34" charset="0"/>
                <a:ea typeface="Courier New" pitchFamily="34" charset="-122"/>
                <a:cs typeface="Courier New" pitchFamily="34" charset="-120"/>
              </a:rPr>
              <a:t>line 20</a:t>
            </a:r>
            <a:endParaRPr lang="en-US" sz="1200" dirty="0"/>
          </a:p>
        </p:txBody>
      </p:sp>
      <p:sp>
        <p:nvSpPr>
          <p:cNvPr id="25" name="Text 23"/>
          <p:cNvSpPr txBox="1"/>
          <p:nvPr/>
        </p:nvSpPr>
        <p:spPr>
          <a:xfrm>
            <a:off x="5897880" y="2587752"/>
            <a:ext cx="2788920" cy="457200"/>
          </a:xfrm>
          <a:prstGeom prst="rect">
            <a:avLst/>
          </a:prstGeom>
          <a:noFill/>
          <a:ln/>
        </p:spPr>
        <p:txBody>
          <a:bodyPr wrap="square" lIns="0" tIns="0" rIns="0" bIns="0" rtlCol="0" anchor="ctr"/>
          <a:lstStyle/>
          <a:p>
            <a:pPr indent="0" marL="0">
              <a:buNone/>
            </a:pPr>
            <a:r>
              <a:rPr lang="en-US" sz="1200" dirty="0">
                <a:solidFill>
                  <a:srgbClr val="1B1B1B"/>
                </a:solidFill>
              </a:rPr>
              <a:t>calls greet, jumps UP to line 15, prints, comes back</a:t>
            </a:r>
            <a:endParaRPr lang="en-US" sz="1200" dirty="0"/>
          </a:p>
        </p:txBody>
      </p:sp>
      <p:sp>
        <p:nvSpPr>
          <p:cNvPr id="26" name="Shape 24"/>
          <p:cNvSpPr/>
          <p:nvPr/>
        </p:nvSpPr>
        <p:spPr>
          <a:xfrm>
            <a:off x="4572000" y="3136392"/>
            <a:ext cx="329184" cy="329184"/>
          </a:xfrm>
          <a:prstGeom prst="ellipse">
            <a:avLst/>
          </a:prstGeom>
          <a:solidFill>
            <a:srgbClr val="F2A900"/>
          </a:solidFill>
          <a:ln w="12700">
            <a:solidFill>
              <a:srgbClr val="C98C00"/>
            </a:solidFill>
            <a:prstDash val="solid"/>
          </a:ln>
        </p:spPr>
      </p:sp>
      <p:sp>
        <p:nvSpPr>
          <p:cNvPr id="27" name="Text 25"/>
          <p:cNvSpPr txBox="1"/>
          <p:nvPr/>
        </p:nvSpPr>
        <p:spPr>
          <a:xfrm>
            <a:off x="4572000" y="3136392"/>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5</a:t>
            </a:r>
            <a:endParaRPr lang="en-US" sz="1200" dirty="0"/>
          </a:p>
        </p:txBody>
      </p:sp>
      <p:sp>
        <p:nvSpPr>
          <p:cNvPr id="28" name="Text 26"/>
          <p:cNvSpPr txBox="1"/>
          <p:nvPr/>
        </p:nvSpPr>
        <p:spPr>
          <a:xfrm>
            <a:off x="4983480" y="3099816"/>
            <a:ext cx="868680" cy="402336"/>
          </a:xfrm>
          <a:prstGeom prst="rect">
            <a:avLst/>
          </a:prstGeom>
          <a:noFill/>
          <a:ln/>
        </p:spPr>
        <p:txBody>
          <a:bodyPr wrap="square" lIns="0" tIns="0" rIns="0" bIns="0" rtlCol="0" anchor="ctr"/>
          <a:lstStyle/>
          <a:p>
            <a:pPr indent="0" marL="0">
              <a:buNone/>
            </a:pPr>
            <a:r>
              <a:rPr lang="en-US" sz="1200" b="1" dirty="0">
                <a:solidFill>
                  <a:srgbClr val="0B3D2E"/>
                </a:solidFill>
                <a:latin typeface="Courier New" pitchFamily="34" charset="0"/>
                <a:ea typeface="Courier New" pitchFamily="34" charset="-122"/>
                <a:cs typeface="Courier New" pitchFamily="34" charset="-120"/>
              </a:rPr>
              <a:t>line 21</a:t>
            </a:r>
            <a:endParaRPr lang="en-US" sz="1200" dirty="0"/>
          </a:p>
        </p:txBody>
      </p:sp>
      <p:sp>
        <p:nvSpPr>
          <p:cNvPr id="29" name="Text 27"/>
          <p:cNvSpPr txBox="1"/>
          <p:nvPr/>
        </p:nvSpPr>
        <p:spPr>
          <a:xfrm>
            <a:off x="5897880" y="3099816"/>
            <a:ext cx="2788920" cy="457200"/>
          </a:xfrm>
          <a:prstGeom prst="rect">
            <a:avLst/>
          </a:prstGeom>
          <a:noFill/>
          <a:ln/>
        </p:spPr>
        <p:txBody>
          <a:bodyPr wrap="square" lIns="0" tIns="0" rIns="0" bIns="0" rtlCol="0" anchor="ctr"/>
          <a:lstStyle/>
          <a:p>
            <a:pPr indent="0" marL="0">
              <a:buNone/>
            </a:pPr>
            <a:r>
              <a:rPr lang="en-US" sz="1200" dirty="0">
                <a:solidFill>
                  <a:srgbClr val="1B1B1B"/>
                </a:solidFill>
              </a:rPr>
              <a:t>calls greet again. Line 15 runs a second time</a:t>
            </a:r>
            <a:endParaRPr lang="en-US" sz="1200" dirty="0"/>
          </a:p>
        </p:txBody>
      </p:sp>
      <p:sp>
        <p:nvSpPr>
          <p:cNvPr id="30" name="Shape 28"/>
          <p:cNvSpPr/>
          <p:nvPr/>
        </p:nvSpPr>
        <p:spPr>
          <a:xfrm>
            <a:off x="4572000" y="3648456"/>
            <a:ext cx="329184" cy="329184"/>
          </a:xfrm>
          <a:prstGeom prst="ellipse">
            <a:avLst/>
          </a:prstGeom>
          <a:solidFill>
            <a:srgbClr val="F2A900"/>
          </a:solidFill>
          <a:ln w="12700">
            <a:solidFill>
              <a:srgbClr val="C98C00"/>
            </a:solidFill>
            <a:prstDash val="solid"/>
          </a:ln>
        </p:spPr>
      </p:sp>
      <p:sp>
        <p:nvSpPr>
          <p:cNvPr id="31" name="Text 29"/>
          <p:cNvSpPr txBox="1"/>
          <p:nvPr/>
        </p:nvSpPr>
        <p:spPr>
          <a:xfrm>
            <a:off x="4572000" y="3648456"/>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6</a:t>
            </a:r>
            <a:endParaRPr lang="en-US" sz="1200" dirty="0"/>
          </a:p>
        </p:txBody>
      </p:sp>
      <p:sp>
        <p:nvSpPr>
          <p:cNvPr id="32" name="Text 30"/>
          <p:cNvSpPr txBox="1"/>
          <p:nvPr/>
        </p:nvSpPr>
        <p:spPr>
          <a:xfrm>
            <a:off x="4983480" y="3611880"/>
            <a:ext cx="868680" cy="402336"/>
          </a:xfrm>
          <a:prstGeom prst="rect">
            <a:avLst/>
          </a:prstGeom>
          <a:noFill/>
          <a:ln/>
        </p:spPr>
        <p:txBody>
          <a:bodyPr wrap="square" lIns="0" tIns="0" rIns="0" bIns="0" rtlCol="0" anchor="ctr"/>
          <a:lstStyle/>
          <a:p>
            <a:pPr indent="0" marL="0">
              <a:buNone/>
            </a:pPr>
            <a:r>
              <a:rPr lang="en-US" sz="1200" b="1" dirty="0">
                <a:solidFill>
                  <a:srgbClr val="0B3D2E"/>
                </a:solidFill>
                <a:latin typeface="Courier New" pitchFamily="34" charset="0"/>
                <a:ea typeface="Courier New" pitchFamily="34" charset="-122"/>
                <a:cs typeface="Courier New" pitchFamily="34" charset="-120"/>
              </a:rPr>
              <a:t>line 23</a:t>
            </a:r>
            <a:endParaRPr lang="en-US" sz="1200" dirty="0"/>
          </a:p>
        </p:txBody>
      </p:sp>
      <p:sp>
        <p:nvSpPr>
          <p:cNvPr id="33" name="Text 31"/>
          <p:cNvSpPr txBox="1"/>
          <p:nvPr/>
        </p:nvSpPr>
        <p:spPr>
          <a:xfrm>
            <a:off x="5897880" y="3611880"/>
            <a:ext cx="2788920" cy="457200"/>
          </a:xfrm>
          <a:prstGeom prst="rect">
            <a:avLst/>
          </a:prstGeom>
          <a:noFill/>
          <a:ln/>
        </p:spPr>
        <p:txBody>
          <a:bodyPr wrap="square" lIns="0" tIns="0" rIns="0" bIns="0" rtlCol="0" anchor="ctr"/>
          <a:lstStyle/>
          <a:p>
            <a:pPr indent="0" marL="0">
              <a:buNone/>
            </a:pPr>
            <a:r>
              <a:rPr lang="en-US" sz="1200" dirty="0">
                <a:solidFill>
                  <a:srgbClr val="1B1B1B"/>
                </a:solidFill>
              </a:rPr>
              <a:t>prints “3. Two hellos …”</a:t>
            </a:r>
            <a:endParaRPr lang="en-US" sz="1200" dirty="0"/>
          </a:p>
        </p:txBody>
      </p:sp>
      <p:sp>
        <p:nvSpPr>
          <p:cNvPr id="34" name="Shape 32"/>
          <p:cNvSpPr/>
          <p:nvPr/>
        </p:nvSpPr>
        <p:spPr>
          <a:xfrm>
            <a:off x="4572000" y="4114800"/>
            <a:ext cx="4114800" cy="548640"/>
          </a:xfrm>
          <a:prstGeom prst="roundRect">
            <a:avLst>
              <a:gd name="adj" fmla="val 13333"/>
            </a:avLst>
          </a:prstGeom>
          <a:solidFill>
            <a:srgbClr val="FFF4D6"/>
          </a:solidFill>
          <a:ln w="15875">
            <a:solidFill>
              <a:srgbClr val="E0A800"/>
            </a:solidFill>
            <a:prstDash val="solid"/>
          </a:ln>
        </p:spPr>
      </p:sp>
      <p:sp>
        <p:nvSpPr>
          <p:cNvPr id="35" name="Text 33"/>
          <p:cNvSpPr txBox="1"/>
          <p:nvPr/>
        </p:nvSpPr>
        <p:spPr>
          <a:xfrm>
            <a:off x="4754880" y="4114800"/>
            <a:ext cx="3749040" cy="548640"/>
          </a:xfrm>
          <a:prstGeom prst="rect">
            <a:avLst/>
          </a:prstGeom>
          <a:noFill/>
          <a:ln/>
        </p:spPr>
        <p:txBody>
          <a:bodyPr wrap="square" lIns="0" tIns="0" rIns="0" bIns="0" rtlCol="0" anchor="ctr"/>
          <a:lstStyle/>
          <a:p>
            <a:pPr indent="0" marL="0">
              <a:buNone/>
            </a:pPr>
            <a:r>
              <a:rPr lang="en-US" sz="1400" b="1" dirty="0">
                <a:solidFill>
                  <a:srgbClr val="9A6B00"/>
                </a:solidFill>
              </a:rPr>
              <a:t>Line 15 never runs until something calls greet.</a:t>
            </a:r>
            <a:endParaRPr lang="en-US" sz="1400" dirty="0"/>
          </a:p>
        </p:txBody>
      </p:sp>
      <p:sp>
        <p:nvSpPr>
          <p:cNvPr id="36" name="Text 34"/>
          <p:cNvSpPr txBox="1"/>
          <p:nvPr/>
        </p:nvSpPr>
        <p:spPr>
          <a:xfrm>
            <a:off x="457200" y="3931920"/>
            <a:ext cx="3931920" cy="685800"/>
          </a:xfrm>
          <a:prstGeom prst="rect">
            <a:avLst/>
          </a:prstGeom>
          <a:noFill/>
          <a:ln/>
        </p:spPr>
        <p:txBody>
          <a:bodyPr wrap="square" lIns="0" tIns="0" rIns="0" bIns="0" rtlCol="0" anchor="ctr"/>
          <a:lstStyle/>
          <a:p>
            <a:pPr indent="0" marL="0">
              <a:buNone/>
            </a:pPr>
            <a:r>
              <a:rPr lang="en-US" sz="1300" i="1" dirty="0">
                <a:solidFill>
                  <a:srgbClr val="0B3D2E"/>
                </a:solidFill>
              </a:rPr>
              <a:t>Python reads top to bottom, except when a call sends it somewhere else.</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What happens when the ESP32 starts</a:t>
            </a:r>
            <a:endParaRPr lang="en-US" sz="3000" dirty="0"/>
          </a:p>
        </p:txBody>
      </p:sp>
      <p:sp>
        <p:nvSpPr>
          <p:cNvPr id="3" name="Shape 1"/>
          <p:cNvSpPr/>
          <p:nvPr/>
        </p:nvSpPr>
        <p:spPr>
          <a:xfrm>
            <a:off x="457200" y="1051560"/>
            <a:ext cx="1234440" cy="548640"/>
          </a:xfrm>
          <a:prstGeom prst="roundRect">
            <a:avLst>
              <a:gd name="adj" fmla="val 13333"/>
            </a:avLst>
          </a:prstGeom>
          <a:solidFill>
            <a:srgbClr val="EEF5F1"/>
          </a:solidFill>
          <a:ln w="15875">
            <a:solidFill>
              <a:srgbClr val="B7D3C6"/>
            </a:solidFill>
            <a:prstDash val="solid"/>
          </a:ln>
        </p:spPr>
      </p:sp>
      <p:sp>
        <p:nvSpPr>
          <p:cNvPr id="4" name="Text 2"/>
          <p:cNvSpPr txBox="1"/>
          <p:nvPr/>
        </p:nvSpPr>
        <p:spPr>
          <a:xfrm>
            <a:off x="457200" y="1051560"/>
            <a:ext cx="1234440" cy="548640"/>
          </a:xfrm>
          <a:prstGeom prst="rect">
            <a:avLst/>
          </a:prstGeom>
          <a:noFill/>
          <a:ln/>
        </p:spPr>
        <p:txBody>
          <a:bodyPr wrap="square" lIns="0" tIns="0" rIns="0" bIns="0" rtlCol="0" anchor="ctr"/>
          <a:lstStyle/>
          <a:p>
            <a:pPr algn="ctr" indent="0" marL="0">
              <a:buNone/>
            </a:pPr>
            <a:r>
              <a:rPr lang="en-US" sz="1200" b="1" dirty="0">
                <a:solidFill>
                  <a:srgbClr val="1B1B1B"/>
                </a:solidFill>
              </a:rPr>
              <a:t>Power on</a:t>
            </a:r>
            <a:endParaRPr lang="en-US" sz="1200" dirty="0"/>
          </a:p>
        </p:txBody>
      </p:sp>
      <p:sp>
        <p:nvSpPr>
          <p:cNvPr id="5" name="Shape 3"/>
          <p:cNvSpPr/>
          <p:nvPr/>
        </p:nvSpPr>
        <p:spPr>
          <a:xfrm>
            <a:off x="1709928" y="1325880"/>
            <a:ext cx="182880" cy="0"/>
          </a:xfrm>
          <a:prstGeom prst="line">
            <a:avLst/>
          </a:prstGeom>
          <a:noFill/>
          <a:ln w="19050">
            <a:solidFill>
              <a:srgbClr val="6B7280"/>
            </a:solidFill>
            <a:prstDash val="solid"/>
            <a:tailEnd type="triangle"/>
          </a:ln>
        </p:spPr>
      </p:sp>
      <p:sp>
        <p:nvSpPr>
          <p:cNvPr id="6" name="Shape 4"/>
          <p:cNvSpPr/>
          <p:nvPr/>
        </p:nvSpPr>
        <p:spPr>
          <a:xfrm>
            <a:off x="1920240" y="1051560"/>
            <a:ext cx="1234440" cy="548640"/>
          </a:xfrm>
          <a:prstGeom prst="roundRect">
            <a:avLst>
              <a:gd name="adj" fmla="val 13333"/>
            </a:avLst>
          </a:prstGeom>
          <a:solidFill>
            <a:srgbClr val="EEF5F1"/>
          </a:solidFill>
          <a:ln w="15875">
            <a:solidFill>
              <a:srgbClr val="B7D3C6"/>
            </a:solidFill>
            <a:prstDash val="solid"/>
          </a:ln>
        </p:spPr>
      </p:sp>
      <p:sp>
        <p:nvSpPr>
          <p:cNvPr id="7" name="Text 5"/>
          <p:cNvSpPr txBox="1"/>
          <p:nvPr/>
        </p:nvSpPr>
        <p:spPr>
          <a:xfrm>
            <a:off x="1920240" y="1051560"/>
            <a:ext cx="1234440" cy="548640"/>
          </a:xfrm>
          <a:prstGeom prst="rect">
            <a:avLst/>
          </a:prstGeom>
          <a:noFill/>
          <a:ln/>
        </p:spPr>
        <p:txBody>
          <a:bodyPr wrap="square" lIns="0" tIns="0" rIns="0" bIns="0" rtlCol="0" anchor="ctr"/>
          <a:lstStyle/>
          <a:p>
            <a:pPr algn="ctr" indent="0" marL="0">
              <a:buNone/>
            </a:pPr>
            <a:r>
              <a:rPr lang="en-US" sz="1200" b="1" dirty="0">
                <a:solidFill>
                  <a:srgbClr val="1B1B1B"/>
                </a:solidFill>
              </a:rPr>
              <a:t>boot.py</a:t>
            </a:r>
            <a:endParaRPr lang="en-US" sz="1200" dirty="0"/>
          </a:p>
        </p:txBody>
      </p:sp>
      <p:sp>
        <p:nvSpPr>
          <p:cNvPr id="8" name="Shape 6"/>
          <p:cNvSpPr/>
          <p:nvPr/>
        </p:nvSpPr>
        <p:spPr>
          <a:xfrm>
            <a:off x="3172968" y="1325880"/>
            <a:ext cx="182880" cy="0"/>
          </a:xfrm>
          <a:prstGeom prst="line">
            <a:avLst/>
          </a:prstGeom>
          <a:noFill/>
          <a:ln w="19050">
            <a:solidFill>
              <a:srgbClr val="6B7280"/>
            </a:solidFill>
            <a:prstDash val="solid"/>
            <a:tailEnd type="triangle"/>
          </a:ln>
        </p:spPr>
      </p:sp>
      <p:sp>
        <p:nvSpPr>
          <p:cNvPr id="9" name="Shape 7"/>
          <p:cNvSpPr/>
          <p:nvPr/>
        </p:nvSpPr>
        <p:spPr>
          <a:xfrm>
            <a:off x="3383280" y="1051560"/>
            <a:ext cx="1234440" cy="548640"/>
          </a:xfrm>
          <a:prstGeom prst="roundRect">
            <a:avLst>
              <a:gd name="adj" fmla="val 13333"/>
            </a:avLst>
          </a:prstGeom>
          <a:solidFill>
            <a:srgbClr val="FFF1C2"/>
          </a:solidFill>
          <a:ln w="15875">
            <a:solidFill>
              <a:srgbClr val="E0A800"/>
            </a:solidFill>
            <a:prstDash val="solid"/>
          </a:ln>
        </p:spPr>
      </p:sp>
      <p:sp>
        <p:nvSpPr>
          <p:cNvPr id="10" name="Text 8"/>
          <p:cNvSpPr txBox="1"/>
          <p:nvPr/>
        </p:nvSpPr>
        <p:spPr>
          <a:xfrm>
            <a:off x="3383280" y="1051560"/>
            <a:ext cx="1234440" cy="548640"/>
          </a:xfrm>
          <a:prstGeom prst="rect">
            <a:avLst/>
          </a:prstGeom>
          <a:noFill/>
          <a:ln/>
        </p:spPr>
        <p:txBody>
          <a:bodyPr wrap="square" lIns="0" tIns="0" rIns="0" bIns="0" rtlCol="0" anchor="ctr"/>
          <a:lstStyle/>
          <a:p>
            <a:pPr algn="ctr" indent="0" marL="0">
              <a:buNone/>
            </a:pPr>
            <a:r>
              <a:rPr lang="en-US" sz="1200" b="1" dirty="0">
                <a:solidFill>
                  <a:srgbClr val="1B1B1B"/>
                </a:solidFill>
              </a:rPr>
              <a:t>main.py</a:t>
            </a:r>
            <a:endParaRPr lang="en-US" sz="1200" dirty="0"/>
          </a:p>
        </p:txBody>
      </p:sp>
      <p:sp>
        <p:nvSpPr>
          <p:cNvPr id="11" name="Shape 9"/>
          <p:cNvSpPr/>
          <p:nvPr/>
        </p:nvSpPr>
        <p:spPr>
          <a:xfrm>
            <a:off x="4636008" y="1325880"/>
            <a:ext cx="182880" cy="0"/>
          </a:xfrm>
          <a:prstGeom prst="line">
            <a:avLst/>
          </a:prstGeom>
          <a:noFill/>
          <a:ln w="19050">
            <a:solidFill>
              <a:srgbClr val="6B7280"/>
            </a:solidFill>
            <a:prstDash val="solid"/>
            <a:tailEnd type="triangle"/>
          </a:ln>
        </p:spPr>
      </p:sp>
      <p:sp>
        <p:nvSpPr>
          <p:cNvPr id="12" name="Shape 10"/>
          <p:cNvSpPr/>
          <p:nvPr/>
        </p:nvSpPr>
        <p:spPr>
          <a:xfrm>
            <a:off x="4846320" y="1051560"/>
            <a:ext cx="1234440" cy="548640"/>
          </a:xfrm>
          <a:prstGeom prst="roundRect">
            <a:avLst>
              <a:gd name="adj" fmla="val 13333"/>
            </a:avLst>
          </a:prstGeom>
          <a:solidFill>
            <a:srgbClr val="DDF3E9"/>
          </a:solidFill>
          <a:ln w="15875">
            <a:solidFill>
              <a:srgbClr val="1F8A70"/>
            </a:solidFill>
            <a:prstDash val="solid"/>
          </a:ln>
        </p:spPr>
      </p:sp>
      <p:sp>
        <p:nvSpPr>
          <p:cNvPr id="13" name="Text 11"/>
          <p:cNvSpPr txBox="1"/>
          <p:nvPr/>
        </p:nvSpPr>
        <p:spPr>
          <a:xfrm>
            <a:off x="4846320" y="1051560"/>
            <a:ext cx="1234440" cy="548640"/>
          </a:xfrm>
          <a:prstGeom prst="rect">
            <a:avLst/>
          </a:prstGeom>
          <a:noFill/>
          <a:ln/>
        </p:spPr>
        <p:txBody>
          <a:bodyPr wrap="square" lIns="0" tIns="0" rIns="0" bIns="0" rtlCol="0" anchor="ctr"/>
          <a:lstStyle/>
          <a:p>
            <a:pPr algn="ctr" indent="0" marL="0">
              <a:buNone/>
            </a:pPr>
            <a:r>
              <a:rPr lang="en-US" sz="1200" b="1" dirty="0">
                <a:solidFill>
                  <a:srgbClr val="1B1B1B"/>
                </a:solidFill>
              </a:rPr>
              <a:t>your program</a:t>
            </a:r>
            <a:endParaRPr lang="en-US" sz="1200" dirty="0"/>
          </a:p>
        </p:txBody>
      </p:sp>
      <p:sp>
        <p:nvSpPr>
          <p:cNvPr id="14" name="Text 12"/>
          <p:cNvSpPr txBox="1"/>
          <p:nvPr/>
        </p:nvSpPr>
        <p:spPr>
          <a:xfrm>
            <a:off x="457200" y="1783080"/>
            <a:ext cx="2377440" cy="274320"/>
          </a:xfrm>
          <a:prstGeom prst="rect">
            <a:avLst/>
          </a:prstGeom>
          <a:noFill/>
          <a:ln/>
        </p:spPr>
        <p:txBody>
          <a:bodyPr wrap="square" lIns="0" tIns="0" rIns="0" bIns="0" rtlCol="0" anchor="ctr"/>
          <a:lstStyle/>
          <a:p>
            <a:pPr indent="0" marL="0">
              <a:buNone/>
            </a:pPr>
            <a:r>
              <a:rPr lang="en-US" sz="1200" i="1" dirty="0">
                <a:solidFill>
                  <a:srgbClr val="6B7280"/>
                </a:solidFill>
              </a:rPr>
              <a:t>or, while you are working:</a:t>
            </a:r>
            <a:endParaRPr lang="en-US" sz="1200" dirty="0"/>
          </a:p>
        </p:txBody>
      </p:sp>
      <p:sp>
        <p:nvSpPr>
          <p:cNvPr id="15" name="Shape 13"/>
          <p:cNvSpPr/>
          <p:nvPr/>
        </p:nvSpPr>
        <p:spPr>
          <a:xfrm>
            <a:off x="3017520" y="1737360"/>
            <a:ext cx="1828800" cy="457200"/>
          </a:xfrm>
          <a:prstGeom prst="roundRect">
            <a:avLst>
              <a:gd name="adj" fmla="val 16000"/>
            </a:avLst>
          </a:prstGeom>
          <a:solidFill>
            <a:srgbClr val="2B6CB0"/>
          </a:solidFill>
          <a:ln w="12700">
            <a:solidFill>
              <a:srgbClr val="2B6CB0"/>
            </a:solidFill>
            <a:prstDash val="solid"/>
          </a:ln>
        </p:spPr>
      </p:sp>
      <p:sp>
        <p:nvSpPr>
          <p:cNvPr id="16" name="Text 14"/>
          <p:cNvSpPr txBox="1"/>
          <p:nvPr/>
        </p:nvSpPr>
        <p:spPr>
          <a:xfrm>
            <a:off x="3017520" y="1737360"/>
            <a:ext cx="1828800" cy="457200"/>
          </a:xfrm>
          <a:prstGeom prst="rect">
            <a:avLst/>
          </a:prstGeom>
          <a:noFill/>
          <a:ln/>
        </p:spPr>
        <p:txBody>
          <a:bodyPr wrap="square" lIns="0" tIns="0" rIns="0" bIns="0" rtlCol="0" anchor="ctr"/>
          <a:lstStyle/>
          <a:p>
            <a:pPr algn="ctr" indent="0" marL="0">
              <a:buNone/>
            </a:pPr>
            <a:r>
              <a:rPr lang="en-US" sz="1200" b="1" dirty="0">
                <a:solidFill>
                  <a:srgbClr val="FFFFFF"/>
                </a:solidFill>
              </a:rPr>
              <a:t>you press Run (F5)</a:t>
            </a:r>
            <a:endParaRPr lang="en-US" sz="1200" dirty="0"/>
          </a:p>
        </p:txBody>
      </p:sp>
      <p:sp>
        <p:nvSpPr>
          <p:cNvPr id="17" name="Shape 15"/>
          <p:cNvSpPr/>
          <p:nvPr/>
        </p:nvSpPr>
        <p:spPr>
          <a:xfrm>
            <a:off x="4892040" y="1965960"/>
            <a:ext cx="320040" cy="0"/>
          </a:xfrm>
          <a:prstGeom prst="line">
            <a:avLst/>
          </a:prstGeom>
          <a:noFill/>
          <a:ln w="19050">
            <a:solidFill>
              <a:srgbClr val="6B7280"/>
            </a:solidFill>
            <a:prstDash val="solid"/>
            <a:tailEnd type="triangle"/>
          </a:ln>
        </p:spPr>
      </p:sp>
      <p:sp>
        <p:nvSpPr>
          <p:cNvPr id="18" name="Shape 16"/>
          <p:cNvSpPr/>
          <p:nvPr/>
        </p:nvSpPr>
        <p:spPr>
          <a:xfrm>
            <a:off x="822960" y="2514600"/>
            <a:ext cx="4480560" cy="1691640"/>
          </a:xfrm>
          <a:prstGeom prst="roundRect">
            <a:avLst>
              <a:gd name="adj" fmla="val 5405"/>
            </a:avLst>
          </a:prstGeom>
          <a:solidFill>
            <a:srgbClr val="FFFFFF"/>
          </a:solidFill>
          <a:ln w="19050">
            <a:solidFill>
              <a:srgbClr val="1F8A70"/>
            </a:solidFill>
            <a:prstDash val="dash"/>
          </a:ln>
        </p:spPr>
      </p:sp>
      <p:sp>
        <p:nvSpPr>
          <p:cNvPr id="19" name="Text 17"/>
          <p:cNvSpPr txBox="1"/>
          <p:nvPr/>
        </p:nvSpPr>
        <p:spPr>
          <a:xfrm>
            <a:off x="960120" y="2578608"/>
            <a:ext cx="2194560" cy="228600"/>
          </a:xfrm>
          <a:prstGeom prst="rect">
            <a:avLst/>
          </a:prstGeom>
          <a:noFill/>
          <a:ln/>
        </p:spPr>
        <p:txBody>
          <a:bodyPr wrap="square" lIns="0" tIns="0" rIns="0" bIns="0" rtlCol="0" anchor="ctr"/>
          <a:lstStyle/>
          <a:p>
            <a:pPr indent="0" marL="0">
              <a:buNone/>
            </a:pPr>
            <a:r>
              <a:rPr lang="en-US" sz="1100" i="1" dirty="0">
                <a:solidFill>
                  <a:srgbClr val="1F8A70"/>
                </a:solidFill>
              </a:rPr>
              <a:t>inside your program</a:t>
            </a:r>
            <a:endParaRPr lang="en-US" sz="1100" dirty="0"/>
          </a:p>
        </p:txBody>
      </p:sp>
      <p:sp>
        <p:nvSpPr>
          <p:cNvPr id="20" name="Shape 18"/>
          <p:cNvSpPr/>
          <p:nvPr/>
        </p:nvSpPr>
        <p:spPr>
          <a:xfrm>
            <a:off x="1691640" y="2880360"/>
            <a:ext cx="2103120" cy="347472"/>
          </a:xfrm>
          <a:prstGeom prst="roundRect">
            <a:avLst>
              <a:gd name="adj" fmla="val 15789"/>
            </a:avLst>
          </a:prstGeom>
          <a:solidFill>
            <a:srgbClr val="EEF5F1"/>
          </a:solidFill>
          <a:ln w="12700">
            <a:solidFill>
              <a:srgbClr val="B7D3C6"/>
            </a:solidFill>
            <a:prstDash val="solid"/>
          </a:ln>
        </p:spPr>
      </p:sp>
      <p:sp>
        <p:nvSpPr>
          <p:cNvPr id="21" name="Text 19"/>
          <p:cNvSpPr txBox="1"/>
          <p:nvPr/>
        </p:nvSpPr>
        <p:spPr>
          <a:xfrm>
            <a:off x="1691640" y="2880360"/>
            <a:ext cx="2103120" cy="347472"/>
          </a:xfrm>
          <a:prstGeom prst="rect">
            <a:avLst/>
          </a:prstGeom>
          <a:noFill/>
          <a:ln/>
        </p:spPr>
        <p:txBody>
          <a:bodyPr wrap="square" lIns="0" tIns="0" rIns="0" bIns="0" rtlCol="0" anchor="ctr"/>
          <a:lstStyle/>
          <a:p>
            <a:pPr algn="ctr" indent="0" marL="0">
              <a:buNone/>
            </a:pPr>
            <a:r>
              <a:rPr lang="en-US" sz="1200" b="1" dirty="0">
                <a:solidFill>
                  <a:srgbClr val="1B1B1B"/>
                </a:solidFill>
              </a:rPr>
              <a:t>read the sensor</a:t>
            </a:r>
            <a:endParaRPr lang="en-US" sz="1200" dirty="0"/>
          </a:p>
        </p:txBody>
      </p:sp>
      <p:sp>
        <p:nvSpPr>
          <p:cNvPr id="22" name="Shape 20"/>
          <p:cNvSpPr/>
          <p:nvPr/>
        </p:nvSpPr>
        <p:spPr>
          <a:xfrm>
            <a:off x="1691640" y="3337560"/>
            <a:ext cx="2103120" cy="347472"/>
          </a:xfrm>
          <a:prstGeom prst="roundRect">
            <a:avLst>
              <a:gd name="adj" fmla="val 15789"/>
            </a:avLst>
          </a:prstGeom>
          <a:solidFill>
            <a:srgbClr val="EEF5F1"/>
          </a:solidFill>
          <a:ln w="12700">
            <a:solidFill>
              <a:srgbClr val="B7D3C6"/>
            </a:solidFill>
            <a:prstDash val="solid"/>
          </a:ln>
        </p:spPr>
      </p:sp>
      <p:sp>
        <p:nvSpPr>
          <p:cNvPr id="23" name="Text 21"/>
          <p:cNvSpPr txBox="1"/>
          <p:nvPr/>
        </p:nvSpPr>
        <p:spPr>
          <a:xfrm>
            <a:off x="1691640" y="3337560"/>
            <a:ext cx="2103120" cy="347472"/>
          </a:xfrm>
          <a:prstGeom prst="rect">
            <a:avLst/>
          </a:prstGeom>
          <a:noFill/>
          <a:ln/>
        </p:spPr>
        <p:txBody>
          <a:bodyPr wrap="square" lIns="0" tIns="0" rIns="0" bIns="0" rtlCol="0" anchor="ctr"/>
          <a:lstStyle/>
          <a:p>
            <a:pPr algn="ctr" indent="0" marL="0">
              <a:buNone/>
            </a:pPr>
            <a:r>
              <a:rPr lang="en-US" sz="1200" b="1" dirty="0">
                <a:solidFill>
                  <a:srgbClr val="1B1B1B"/>
                </a:solidFill>
              </a:rPr>
              <a:t>decide (your function)</a:t>
            </a:r>
            <a:endParaRPr lang="en-US" sz="1200" dirty="0"/>
          </a:p>
        </p:txBody>
      </p:sp>
      <p:sp>
        <p:nvSpPr>
          <p:cNvPr id="24" name="Shape 22"/>
          <p:cNvSpPr/>
          <p:nvPr/>
        </p:nvSpPr>
        <p:spPr>
          <a:xfrm>
            <a:off x="1691640" y="3794760"/>
            <a:ext cx="2103120" cy="347472"/>
          </a:xfrm>
          <a:prstGeom prst="roundRect">
            <a:avLst>
              <a:gd name="adj" fmla="val 15789"/>
            </a:avLst>
          </a:prstGeom>
          <a:solidFill>
            <a:srgbClr val="EEF5F1"/>
          </a:solidFill>
          <a:ln w="12700">
            <a:solidFill>
              <a:srgbClr val="B7D3C6"/>
            </a:solidFill>
            <a:prstDash val="solid"/>
          </a:ln>
        </p:spPr>
      </p:sp>
      <p:sp>
        <p:nvSpPr>
          <p:cNvPr id="25" name="Text 23"/>
          <p:cNvSpPr txBox="1"/>
          <p:nvPr/>
        </p:nvSpPr>
        <p:spPr>
          <a:xfrm>
            <a:off x="1691640" y="3794760"/>
            <a:ext cx="2103120" cy="347472"/>
          </a:xfrm>
          <a:prstGeom prst="rect">
            <a:avLst/>
          </a:prstGeom>
          <a:noFill/>
          <a:ln/>
        </p:spPr>
        <p:txBody>
          <a:bodyPr wrap="square" lIns="0" tIns="0" rIns="0" bIns="0" rtlCol="0" anchor="ctr"/>
          <a:lstStyle/>
          <a:p>
            <a:pPr algn="ctr" indent="0" marL="0">
              <a:buNone/>
            </a:pPr>
            <a:r>
              <a:rPr lang="en-US" sz="1200" b="1" dirty="0">
                <a:solidFill>
                  <a:srgbClr val="1B1B1B"/>
                </a:solidFill>
              </a:rPr>
              <a:t>move the servo</a:t>
            </a:r>
            <a:endParaRPr lang="en-US" sz="1200" dirty="0"/>
          </a:p>
        </p:txBody>
      </p:sp>
      <p:sp>
        <p:nvSpPr>
          <p:cNvPr id="26" name="Shape 24"/>
          <p:cNvSpPr/>
          <p:nvPr/>
        </p:nvSpPr>
        <p:spPr>
          <a:xfrm>
            <a:off x="3794760" y="3054096"/>
            <a:ext cx="320040" cy="0"/>
          </a:xfrm>
          <a:prstGeom prst="line">
            <a:avLst/>
          </a:prstGeom>
          <a:noFill/>
          <a:ln w="25400">
            <a:solidFill>
              <a:srgbClr val="1F8A70"/>
            </a:solidFill>
            <a:prstDash val="solid"/>
          </a:ln>
        </p:spPr>
      </p:sp>
      <p:sp>
        <p:nvSpPr>
          <p:cNvPr id="27" name="Shape 25"/>
          <p:cNvSpPr/>
          <p:nvPr/>
        </p:nvSpPr>
        <p:spPr>
          <a:xfrm>
            <a:off x="4114800" y="3054096"/>
            <a:ext cx="0" cy="914400"/>
          </a:xfrm>
          <a:prstGeom prst="line">
            <a:avLst/>
          </a:prstGeom>
          <a:noFill/>
          <a:ln w="25400">
            <a:solidFill>
              <a:srgbClr val="1F8A70"/>
            </a:solidFill>
            <a:prstDash val="solid"/>
          </a:ln>
        </p:spPr>
      </p:sp>
      <p:sp>
        <p:nvSpPr>
          <p:cNvPr id="28" name="Shape 26"/>
          <p:cNvSpPr/>
          <p:nvPr/>
        </p:nvSpPr>
        <p:spPr>
          <a:xfrm>
            <a:off x="3794760" y="3968496"/>
            <a:ext cx="320040" cy="0"/>
          </a:xfrm>
          <a:prstGeom prst="line">
            <a:avLst/>
          </a:prstGeom>
          <a:noFill/>
          <a:ln w="25400">
            <a:solidFill>
              <a:srgbClr val="1F8A70"/>
            </a:solidFill>
            <a:prstDash val="solid"/>
          </a:ln>
        </p:spPr>
      </p:sp>
      <p:sp>
        <p:nvSpPr>
          <p:cNvPr id="29" name="Shape 27"/>
          <p:cNvSpPr/>
          <p:nvPr/>
        </p:nvSpPr>
        <p:spPr>
          <a:xfrm>
            <a:off x="3794760" y="3054096"/>
            <a:ext cx="256032" cy="0"/>
          </a:xfrm>
          <a:prstGeom prst="line">
            <a:avLst/>
          </a:prstGeom>
          <a:noFill/>
          <a:ln w="25400">
            <a:solidFill>
              <a:srgbClr val="1F8A70"/>
            </a:solidFill>
            <a:prstDash val="solid"/>
            <a:headEnd type="triangle"/>
          </a:ln>
        </p:spPr>
      </p:sp>
      <p:sp>
        <p:nvSpPr>
          <p:cNvPr id="30" name="Text 28"/>
          <p:cNvSpPr txBox="1"/>
          <p:nvPr/>
        </p:nvSpPr>
        <p:spPr>
          <a:xfrm>
            <a:off x="4434840" y="3200400"/>
            <a:ext cx="822960" cy="731520"/>
          </a:xfrm>
          <a:prstGeom prst="rect">
            <a:avLst/>
          </a:prstGeom>
          <a:noFill/>
          <a:ln/>
        </p:spPr>
        <p:txBody>
          <a:bodyPr wrap="square" lIns="0" tIns="0" rIns="0" bIns="0" rtlCol="0" anchor="ctr"/>
          <a:lstStyle/>
          <a:p>
            <a:pPr indent="0" marL="0">
              <a:buNone/>
            </a:pPr>
            <a:r>
              <a:rPr lang="en-US" sz="1000" dirty="0">
                <a:solidFill>
                  <a:srgbClr val="1F8A70"/>
                </a:solidFill>
              </a:rPr>
              <a:t>again and again,</a:t>
            </a:r>
            <a:endParaRPr lang="en-US" sz="1000" dirty="0"/>
          </a:p>
          <a:p>
            <a:pPr indent="0" marL="0">
              <a:buNone/>
            </a:pPr>
            <a:r>
              <a:rPr lang="en-US" sz="1000" dirty="0">
                <a:solidFill>
                  <a:srgbClr val="1F8A70"/>
                </a:solidFill>
              </a:rPr>
              <a:t>about 10 times</a:t>
            </a:r>
            <a:endParaRPr lang="en-US" sz="1000" dirty="0"/>
          </a:p>
          <a:p>
            <a:pPr indent="0" marL="0">
              <a:buNone/>
            </a:pPr>
            <a:r>
              <a:rPr lang="en-US" sz="1000" dirty="0">
                <a:solidFill>
                  <a:srgbClr val="1F8A70"/>
                </a:solidFill>
              </a:rPr>
              <a:t>a second</a:t>
            </a:r>
            <a:endParaRPr lang="en-US" sz="1000" dirty="0"/>
          </a:p>
        </p:txBody>
      </p:sp>
      <p:sp>
        <p:nvSpPr>
          <p:cNvPr id="31" name="Text 29"/>
          <p:cNvSpPr txBox="1"/>
          <p:nvPr/>
        </p:nvSpPr>
        <p:spPr>
          <a:xfrm>
            <a:off x="914400" y="2880360"/>
            <a:ext cx="777240" cy="457200"/>
          </a:xfrm>
          <a:prstGeom prst="rect">
            <a:avLst/>
          </a:prstGeom>
          <a:noFill/>
          <a:ln/>
        </p:spPr>
        <p:txBody>
          <a:bodyPr wrap="square" lIns="0" tIns="0" rIns="0" bIns="0" rtlCol="0" anchor="ctr"/>
          <a:lstStyle/>
          <a:p>
            <a:pPr indent="0" marL="0">
              <a:buNone/>
            </a:pPr>
            <a:r>
              <a:rPr lang="en-US" sz="1000" dirty="0">
                <a:solidFill>
                  <a:srgbClr val="1F8A70"/>
                </a:solidFill>
                <a:latin typeface="Courier New" pitchFamily="34" charset="0"/>
                <a:ea typeface="Courier New" pitchFamily="34" charset="-122"/>
                <a:cs typeface="Courier New" pitchFamily="34" charset="-120"/>
              </a:rPr>
              <a:t>while True:</a:t>
            </a:r>
            <a:endParaRPr lang="en-US" sz="1000" dirty="0"/>
          </a:p>
        </p:txBody>
      </p:sp>
      <p:sp>
        <p:nvSpPr>
          <p:cNvPr id="32" name="Shape 30"/>
          <p:cNvSpPr/>
          <p:nvPr/>
        </p:nvSpPr>
        <p:spPr>
          <a:xfrm>
            <a:off x="5394960" y="2514600"/>
            <a:ext cx="3291840" cy="777240"/>
          </a:xfrm>
          <a:prstGeom prst="roundRect">
            <a:avLst>
              <a:gd name="adj" fmla="val 9412"/>
            </a:avLst>
          </a:prstGeom>
          <a:solidFill>
            <a:srgbClr val="FDECEC"/>
          </a:solidFill>
          <a:ln w="15875">
            <a:solidFill>
              <a:srgbClr val="D64545"/>
            </a:solidFill>
            <a:prstDash val="solid"/>
          </a:ln>
        </p:spPr>
      </p:sp>
      <p:sp>
        <p:nvSpPr>
          <p:cNvPr id="33" name="Text 31"/>
          <p:cNvSpPr txBox="1"/>
          <p:nvPr/>
        </p:nvSpPr>
        <p:spPr>
          <a:xfrm>
            <a:off x="5577840" y="2514600"/>
            <a:ext cx="2926080" cy="777240"/>
          </a:xfrm>
          <a:prstGeom prst="rect">
            <a:avLst/>
          </a:prstGeom>
          <a:noFill/>
          <a:ln/>
        </p:spPr>
        <p:txBody>
          <a:bodyPr wrap="square" lIns="0" tIns="0" rIns="0" bIns="0" rtlCol="0" anchor="ctr"/>
          <a:lstStyle/>
          <a:p>
            <a:pPr indent="0" marL="0">
              <a:buNone/>
            </a:pPr>
            <a:r>
              <a:rPr lang="en-US" sz="1300" b="1" dirty="0">
                <a:solidFill>
                  <a:srgbClr val="D64545"/>
                </a:solidFill>
              </a:rPr>
              <a:t>Stop, or Ctrl+C  </a:t>
            </a:r>
            <a:pPr indent="0" marL="0">
              <a:buNone/>
            </a:pPr>
            <a:r>
              <a:rPr lang="en-US" sz="1300" dirty="0">
                <a:solidFill>
                  <a:srgbClr val="1B1B1B"/>
                </a:solidFill>
              </a:rPr>
              <a:t>breaks the loop. The finally: lines then tidy up.</a:t>
            </a:r>
            <a:endParaRPr lang="en-US" sz="1300" dirty="0"/>
          </a:p>
        </p:txBody>
      </p:sp>
      <p:sp>
        <p:nvSpPr>
          <p:cNvPr id="34" name="Shape 32"/>
          <p:cNvSpPr/>
          <p:nvPr/>
        </p:nvSpPr>
        <p:spPr>
          <a:xfrm>
            <a:off x="5394960" y="3429000"/>
            <a:ext cx="3291840" cy="777240"/>
          </a:xfrm>
          <a:prstGeom prst="roundRect">
            <a:avLst>
              <a:gd name="adj" fmla="val 9412"/>
            </a:avLst>
          </a:prstGeom>
          <a:solidFill>
            <a:srgbClr val="DDF3E9"/>
          </a:solidFill>
          <a:ln w="15875">
            <a:solidFill>
              <a:srgbClr val="1F8A70"/>
            </a:solidFill>
            <a:prstDash val="solid"/>
          </a:ln>
        </p:spPr>
      </p:sp>
      <p:sp>
        <p:nvSpPr>
          <p:cNvPr id="35" name="Text 33"/>
          <p:cNvSpPr txBox="1"/>
          <p:nvPr/>
        </p:nvSpPr>
        <p:spPr>
          <a:xfrm>
            <a:off x="5577840" y="3429000"/>
            <a:ext cx="2926080" cy="777240"/>
          </a:xfrm>
          <a:prstGeom prst="rect">
            <a:avLst/>
          </a:prstGeom>
          <a:noFill/>
          <a:ln/>
        </p:spPr>
        <p:txBody>
          <a:bodyPr wrap="square" lIns="0" tIns="0" rIns="0" bIns="0" rtlCol="0" anchor="ctr"/>
          <a:lstStyle/>
          <a:p>
            <a:pPr indent="0" marL="0">
              <a:buNone/>
            </a:pPr>
            <a:r>
              <a:rPr lang="en-US" sz="1300" b="1" dirty="0">
                <a:solidFill>
                  <a:srgbClr val="1F8A70"/>
                </a:solidFill>
              </a:rPr>
              <a:t>The file lives on the chip.  </a:t>
            </a:r>
            <a:pPr indent="0" marL="0">
              <a:buNone/>
            </a:pPr>
            <a:r>
              <a:rPr lang="en-US" sz="1300" dirty="0">
                <a:solidFill>
                  <a:srgbClr val="1B1B1B"/>
                </a:solidFill>
              </a:rPr>
              <a:t>Unplug the Mac, use a power bank: it still runs.</a:t>
            </a:r>
            <a:endParaRPr lang="en-US" sz="1300" dirty="0"/>
          </a:p>
        </p:txBody>
      </p:sp>
      <p:sp>
        <p:nvSpPr>
          <p:cNvPr id="36" name="Text 34"/>
          <p:cNvSpPr txBox="1"/>
          <p:nvPr/>
        </p:nvSpPr>
        <p:spPr>
          <a:xfrm>
            <a:off x="5394960" y="4315968"/>
            <a:ext cx="3291840" cy="457200"/>
          </a:xfrm>
          <a:prstGeom prst="rect">
            <a:avLst/>
          </a:prstGeom>
          <a:noFill/>
          <a:ln/>
        </p:spPr>
        <p:txBody>
          <a:bodyPr wrap="square" lIns="0" tIns="0" rIns="0" bIns="0" rtlCol="0" anchor="ctr"/>
          <a:lstStyle/>
          <a:p>
            <a:pPr indent="0" marL="0">
              <a:buNone/>
            </a:pPr>
            <a:r>
              <a:rPr lang="en-US" sz="1200" i="1" dirty="0">
                <a:solidFill>
                  <a:srgbClr val="0B3D2E"/>
                </a:solidFill>
              </a:rPr>
              <a:t>main.py is the only name the ESP32 starts by itself. Any other name needs the Run button.</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Trace it: what does leds_for(12) give?</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0</a:t>
            </a:r>
            <a:endParaRPr lang="en-US" sz="2000" dirty="0"/>
          </a:p>
        </p:txBody>
      </p:sp>
      <p:sp>
        <p:nvSpPr>
          <p:cNvPr id="6" name="Shape 4"/>
          <p:cNvSpPr/>
          <p:nvPr/>
        </p:nvSpPr>
        <p:spPr>
          <a:xfrm>
            <a:off x="457200" y="1005840"/>
            <a:ext cx="4389120" cy="1600200"/>
          </a:xfrm>
          <a:prstGeom prst="roundRect">
            <a:avLst>
              <a:gd name="adj" fmla="val 4571"/>
            </a:avLst>
          </a:prstGeom>
          <a:solidFill>
            <a:srgbClr val="14261F"/>
          </a:solidFill>
          <a:ln w="12700">
            <a:solidFill>
              <a:srgbClr val="14261F"/>
            </a:solidFill>
            <a:prstDash val="solid"/>
          </a:ln>
        </p:spPr>
      </p:sp>
      <p:sp>
        <p:nvSpPr>
          <p:cNvPr id="7" name="Text 5"/>
          <p:cNvSpPr txBox="1"/>
          <p:nvPr/>
        </p:nvSpPr>
        <p:spPr>
          <a:xfrm>
            <a:off x="594360" y="1069848"/>
            <a:ext cx="4114800" cy="219456"/>
          </a:xfrm>
          <a:prstGeom prst="rect">
            <a:avLst/>
          </a:prstGeom>
          <a:noFill/>
          <a:ln/>
        </p:spPr>
        <p:txBody>
          <a:bodyPr wrap="square" lIns="0" tIns="0" rIns="0" bIns="0" rtlCol="0" anchor="ctr"/>
          <a:lstStyle/>
          <a:p>
            <a:pPr indent="0" marL="0">
              <a:buNone/>
            </a:pPr>
            <a:r>
              <a:rPr lang="en-US" sz="1100" b="1" dirty="0">
                <a:solidFill>
                  <a:srgbClr val="F2A900"/>
                </a:solidFill>
              </a:rPr>
              <a:t>step0_functions.py</a:t>
            </a:r>
            <a:pPr indent="0" marL="0">
              <a:buNone/>
            </a:pPr>
            <a:r>
              <a:rPr lang="en-US" sz="1100" dirty="0">
                <a:solidFill>
                  <a:srgbClr val="9FB8AD"/>
                </a:solidFill>
              </a:rPr>
              <a:t>  ·  lines 27–35</a:t>
            </a:r>
            <a:endParaRPr lang="en-US" sz="1100" dirty="0"/>
          </a:p>
        </p:txBody>
      </p:sp>
      <p:sp>
        <p:nvSpPr>
          <p:cNvPr id="8" name="Shape 6"/>
          <p:cNvSpPr/>
          <p:nvPr/>
        </p:nvSpPr>
        <p:spPr>
          <a:xfrm>
            <a:off x="566928" y="1325880"/>
            <a:ext cx="4169664" cy="0"/>
          </a:xfrm>
          <a:prstGeom prst="line">
            <a:avLst/>
          </a:prstGeom>
          <a:noFill/>
          <a:ln w="12700">
            <a:solidFill>
              <a:srgbClr val="2F4A3F"/>
            </a:solidFill>
            <a:prstDash val="solid"/>
          </a:ln>
        </p:spPr>
      </p:sp>
      <p:sp>
        <p:nvSpPr>
          <p:cNvPr id="9" name="Text 7"/>
          <p:cNvSpPr txBox="1"/>
          <p:nvPr/>
        </p:nvSpPr>
        <p:spPr>
          <a:xfrm>
            <a:off x="548640" y="1389888"/>
            <a:ext cx="4206240" cy="1143000"/>
          </a:xfrm>
          <a:prstGeom prst="rect">
            <a:avLst/>
          </a:prstGeom>
          <a:noFill/>
          <a:ln/>
        </p:spPr>
        <p:txBody>
          <a:bodyPr wrap="square" lIns="0" tIns="0" rIns="0" bIns="0" rtlCol="0" anchor="t"/>
          <a:lstStyle/>
          <a:p>
            <a:pPr indent="0" marL="0">
              <a:buNone/>
            </a:pPr>
            <a:r>
              <a:rPr lang="en-US" sz="1000" dirty="0">
                <a:solidFill>
                  <a:srgbClr val="6F8A7F"/>
                </a:solidFill>
                <a:latin typeface="Courier New" pitchFamily="34" charset="0"/>
                <a:ea typeface="Courier New" pitchFamily="34" charset="-122"/>
                <a:cs typeface="Courier New" pitchFamily="34" charset="-120"/>
              </a:rPr>
              <a:t> 27  </a:t>
            </a:r>
            <a:pPr indent="0" marL="0">
              <a:buNone/>
            </a:pPr>
            <a:r>
              <a:rPr lang="en-US" sz="1000" dirty="0">
                <a:solidFill>
                  <a:srgbClr val="E6F2EC"/>
                </a:solidFill>
                <a:latin typeface="Courier New" pitchFamily="34" charset="0"/>
                <a:ea typeface="Courier New" pitchFamily="34" charset="-122"/>
                <a:cs typeface="Courier New" pitchFamily="34" charset="-120"/>
              </a:rPr>
              <a:t>def leds_for(distance):</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28  </a:t>
            </a:r>
            <a:pPr indent="0" marL="0">
              <a:buNone/>
            </a:pPr>
            <a:r>
              <a:rPr lang="en-US" sz="1000" dirty="0">
                <a:solidFill>
                  <a:srgbClr val="E6F2EC"/>
                </a:solidFill>
                <a:latin typeface="Courier New" pitchFamily="34" charset="0"/>
                <a:ea typeface="Courier New" pitchFamily="34" charset="-122"/>
                <a:cs typeface="Courier New" pitchFamily="34" charset="-120"/>
              </a:rPr>
              <a:t>    return max(0, min(5, 5 - int(distance // 5)))</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6F8A7F"/>
                </a:solidFill>
                <a:latin typeface="Courier New" pitchFamily="34" charset="0"/>
                <a:ea typeface="Courier New" pitchFamily="34" charset="-122"/>
                <a:cs typeface="Courier New" pitchFamily="34" charset="-120"/>
              </a:rPr>
              <a:t> 35  </a:t>
            </a:r>
            <a:pPr indent="0" marL="0">
              <a:buNone/>
            </a:pPr>
            <a:r>
              <a:rPr lang="en-US" sz="1000" dirty="0">
                <a:solidFill>
                  <a:srgbClr val="E6F2EC"/>
                </a:solidFill>
                <a:latin typeface="Courier New" pitchFamily="34" charset="0"/>
                <a:ea typeface="Courier New" pitchFamily="34" charset="-122"/>
                <a:cs typeface="Courier New" pitchFamily="34" charset="-120"/>
              </a:rPr>
              <a:t>answer = leds_for(12)</a:t>
            </a:r>
            <a:endParaRPr lang="en-US" sz="1000" dirty="0"/>
          </a:p>
        </p:txBody>
      </p:sp>
      <p:sp>
        <p:nvSpPr>
          <p:cNvPr id="10" name="Shape 8"/>
          <p:cNvSpPr/>
          <p:nvPr/>
        </p:nvSpPr>
        <p:spPr>
          <a:xfrm>
            <a:off x="457200" y="2761488"/>
            <a:ext cx="329184" cy="329184"/>
          </a:xfrm>
          <a:prstGeom prst="ellipse">
            <a:avLst/>
          </a:prstGeom>
          <a:solidFill>
            <a:srgbClr val="F2A900"/>
          </a:solidFill>
          <a:ln w="12700">
            <a:solidFill>
              <a:srgbClr val="C98C00"/>
            </a:solidFill>
            <a:prstDash val="solid"/>
          </a:ln>
        </p:spPr>
      </p:sp>
      <p:sp>
        <p:nvSpPr>
          <p:cNvPr id="11" name="Text 9"/>
          <p:cNvSpPr txBox="1"/>
          <p:nvPr/>
        </p:nvSpPr>
        <p:spPr>
          <a:xfrm>
            <a:off x="457200" y="2761488"/>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1</a:t>
            </a:r>
            <a:endParaRPr lang="en-US" sz="1200" dirty="0"/>
          </a:p>
        </p:txBody>
      </p:sp>
      <p:sp>
        <p:nvSpPr>
          <p:cNvPr id="12" name="Text 10"/>
          <p:cNvSpPr txBox="1"/>
          <p:nvPr/>
        </p:nvSpPr>
        <p:spPr>
          <a:xfrm>
            <a:off x="896112" y="2724912"/>
            <a:ext cx="1920240" cy="402336"/>
          </a:xfrm>
          <a:prstGeom prst="rect">
            <a:avLst/>
          </a:prstGeom>
          <a:noFill/>
          <a:ln/>
        </p:spPr>
        <p:txBody>
          <a:bodyPr wrap="square" lIns="0" tIns="0" rIns="0" bIns="0" rtlCol="0" anchor="ctr"/>
          <a:lstStyle/>
          <a:p>
            <a:pPr indent="0" marL="0">
              <a:buNone/>
            </a:pPr>
            <a:r>
              <a:rPr lang="en-US" sz="1300" b="1" dirty="0">
                <a:solidFill>
                  <a:srgbClr val="0B3D2E"/>
                </a:solidFill>
                <a:latin typeface="Courier New" pitchFamily="34" charset="0"/>
                <a:ea typeface="Courier New" pitchFamily="34" charset="-122"/>
                <a:cs typeface="Courier New" pitchFamily="34" charset="-120"/>
              </a:rPr>
              <a:t>distance becomes 12</a:t>
            </a:r>
            <a:endParaRPr lang="en-US" sz="1300" dirty="0"/>
          </a:p>
        </p:txBody>
      </p:sp>
      <p:sp>
        <p:nvSpPr>
          <p:cNvPr id="13" name="Text 11"/>
          <p:cNvSpPr txBox="1"/>
          <p:nvPr/>
        </p:nvSpPr>
        <p:spPr>
          <a:xfrm>
            <a:off x="2926080" y="2724912"/>
            <a:ext cx="1920240" cy="457200"/>
          </a:xfrm>
          <a:prstGeom prst="rect">
            <a:avLst/>
          </a:prstGeom>
          <a:noFill/>
          <a:ln/>
        </p:spPr>
        <p:txBody>
          <a:bodyPr wrap="square" lIns="0" tIns="0" rIns="0" bIns="0" rtlCol="0" anchor="ctr"/>
          <a:lstStyle/>
          <a:p>
            <a:pPr indent="0" marL="0">
              <a:buNone/>
            </a:pPr>
            <a:r>
              <a:rPr lang="en-US" sz="1100" dirty="0">
                <a:solidFill>
                  <a:srgbClr val="6B7280"/>
                </a:solidFill>
              </a:rPr>
              <a:t>the number on line 35</a:t>
            </a:r>
            <a:endParaRPr lang="en-US" sz="1100" dirty="0"/>
          </a:p>
        </p:txBody>
      </p:sp>
      <p:sp>
        <p:nvSpPr>
          <p:cNvPr id="14" name="Shape 12"/>
          <p:cNvSpPr/>
          <p:nvPr/>
        </p:nvSpPr>
        <p:spPr>
          <a:xfrm>
            <a:off x="457200" y="3255264"/>
            <a:ext cx="329184" cy="329184"/>
          </a:xfrm>
          <a:prstGeom prst="ellipse">
            <a:avLst/>
          </a:prstGeom>
          <a:solidFill>
            <a:srgbClr val="F2A900"/>
          </a:solidFill>
          <a:ln w="12700">
            <a:solidFill>
              <a:srgbClr val="C98C00"/>
            </a:solidFill>
            <a:prstDash val="solid"/>
          </a:ln>
        </p:spPr>
      </p:sp>
      <p:sp>
        <p:nvSpPr>
          <p:cNvPr id="15" name="Text 13"/>
          <p:cNvSpPr txBox="1"/>
          <p:nvPr/>
        </p:nvSpPr>
        <p:spPr>
          <a:xfrm>
            <a:off x="457200" y="3255264"/>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2</a:t>
            </a:r>
            <a:endParaRPr lang="en-US" sz="1200" dirty="0"/>
          </a:p>
        </p:txBody>
      </p:sp>
      <p:sp>
        <p:nvSpPr>
          <p:cNvPr id="16" name="Text 14"/>
          <p:cNvSpPr txBox="1"/>
          <p:nvPr/>
        </p:nvSpPr>
        <p:spPr>
          <a:xfrm>
            <a:off x="896112" y="3218688"/>
            <a:ext cx="1920240" cy="402336"/>
          </a:xfrm>
          <a:prstGeom prst="rect">
            <a:avLst/>
          </a:prstGeom>
          <a:noFill/>
          <a:ln/>
        </p:spPr>
        <p:txBody>
          <a:bodyPr wrap="square" lIns="0" tIns="0" rIns="0" bIns="0" rtlCol="0" anchor="ctr"/>
          <a:lstStyle/>
          <a:p>
            <a:pPr indent="0" marL="0">
              <a:buNone/>
            </a:pPr>
            <a:r>
              <a:rPr lang="en-US" sz="1300" b="1" dirty="0">
                <a:solidFill>
                  <a:srgbClr val="0B3D2E"/>
                </a:solidFill>
                <a:latin typeface="Courier New" pitchFamily="34" charset="0"/>
                <a:ea typeface="Courier New" pitchFamily="34" charset="-122"/>
                <a:cs typeface="Courier New" pitchFamily="34" charset="-120"/>
              </a:rPr>
              <a:t>12 // 5  is  2</a:t>
            </a:r>
            <a:endParaRPr lang="en-US" sz="1300" dirty="0"/>
          </a:p>
        </p:txBody>
      </p:sp>
      <p:sp>
        <p:nvSpPr>
          <p:cNvPr id="17" name="Text 15"/>
          <p:cNvSpPr txBox="1"/>
          <p:nvPr/>
        </p:nvSpPr>
        <p:spPr>
          <a:xfrm>
            <a:off x="2926080" y="3218688"/>
            <a:ext cx="1920240" cy="457200"/>
          </a:xfrm>
          <a:prstGeom prst="rect">
            <a:avLst/>
          </a:prstGeom>
          <a:noFill/>
          <a:ln/>
        </p:spPr>
        <p:txBody>
          <a:bodyPr wrap="square" lIns="0" tIns="0" rIns="0" bIns="0" rtlCol="0" anchor="ctr"/>
          <a:lstStyle/>
          <a:p>
            <a:pPr indent="0" marL="0">
              <a:buNone/>
            </a:pPr>
            <a:r>
              <a:rPr lang="en-US" sz="1100" dirty="0">
                <a:solidFill>
                  <a:srgbClr val="6B7280"/>
                </a:solidFill>
              </a:rPr>
              <a:t>how many whole 5 cm fit into 12</a:t>
            </a:r>
            <a:endParaRPr lang="en-US" sz="1100" dirty="0"/>
          </a:p>
        </p:txBody>
      </p:sp>
      <p:sp>
        <p:nvSpPr>
          <p:cNvPr id="18" name="Shape 16"/>
          <p:cNvSpPr/>
          <p:nvPr/>
        </p:nvSpPr>
        <p:spPr>
          <a:xfrm>
            <a:off x="457200" y="3749040"/>
            <a:ext cx="329184" cy="329184"/>
          </a:xfrm>
          <a:prstGeom prst="ellipse">
            <a:avLst/>
          </a:prstGeom>
          <a:solidFill>
            <a:srgbClr val="F2A900"/>
          </a:solidFill>
          <a:ln w="12700">
            <a:solidFill>
              <a:srgbClr val="C98C00"/>
            </a:solidFill>
            <a:prstDash val="solid"/>
          </a:ln>
        </p:spPr>
      </p:sp>
      <p:sp>
        <p:nvSpPr>
          <p:cNvPr id="19" name="Text 17"/>
          <p:cNvSpPr txBox="1"/>
          <p:nvPr/>
        </p:nvSpPr>
        <p:spPr>
          <a:xfrm>
            <a:off x="457200" y="3749040"/>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3</a:t>
            </a:r>
            <a:endParaRPr lang="en-US" sz="1200" dirty="0"/>
          </a:p>
        </p:txBody>
      </p:sp>
      <p:sp>
        <p:nvSpPr>
          <p:cNvPr id="20" name="Text 18"/>
          <p:cNvSpPr txBox="1"/>
          <p:nvPr/>
        </p:nvSpPr>
        <p:spPr>
          <a:xfrm>
            <a:off x="896112" y="3712464"/>
            <a:ext cx="1920240" cy="402336"/>
          </a:xfrm>
          <a:prstGeom prst="rect">
            <a:avLst/>
          </a:prstGeom>
          <a:noFill/>
          <a:ln/>
        </p:spPr>
        <p:txBody>
          <a:bodyPr wrap="square" lIns="0" tIns="0" rIns="0" bIns="0" rtlCol="0" anchor="ctr"/>
          <a:lstStyle/>
          <a:p>
            <a:pPr indent="0" marL="0">
              <a:buNone/>
            </a:pPr>
            <a:r>
              <a:rPr lang="en-US" sz="1300" b="1" dirty="0">
                <a:solidFill>
                  <a:srgbClr val="0B3D2E"/>
                </a:solidFill>
                <a:latin typeface="Courier New" pitchFamily="34" charset="0"/>
                <a:ea typeface="Courier New" pitchFamily="34" charset="-122"/>
                <a:cs typeface="Courier New" pitchFamily="34" charset="-120"/>
              </a:rPr>
              <a:t>5 - 2  is  3</a:t>
            </a:r>
            <a:endParaRPr lang="en-US" sz="1300" dirty="0"/>
          </a:p>
        </p:txBody>
      </p:sp>
      <p:sp>
        <p:nvSpPr>
          <p:cNvPr id="21" name="Text 19"/>
          <p:cNvSpPr txBox="1"/>
          <p:nvPr/>
        </p:nvSpPr>
        <p:spPr>
          <a:xfrm>
            <a:off x="2926080" y="3712464"/>
            <a:ext cx="1920240" cy="457200"/>
          </a:xfrm>
          <a:prstGeom prst="rect">
            <a:avLst/>
          </a:prstGeom>
          <a:noFill/>
          <a:ln/>
        </p:spPr>
        <p:txBody>
          <a:bodyPr wrap="square" lIns="0" tIns="0" rIns="0" bIns="0" rtlCol="0" anchor="ctr"/>
          <a:lstStyle/>
          <a:p>
            <a:pPr indent="0" marL="0">
              <a:buNone/>
            </a:pPr>
            <a:r>
              <a:rPr lang="en-US" sz="1100" dirty="0">
                <a:solidFill>
                  <a:srgbClr val="6B7280"/>
                </a:solidFill>
              </a:rPr>
              <a:t>max/min keep it 0 to 5</a:t>
            </a:r>
            <a:endParaRPr lang="en-US" sz="1100" dirty="0"/>
          </a:p>
        </p:txBody>
      </p:sp>
      <p:sp>
        <p:nvSpPr>
          <p:cNvPr id="22" name="Shape 20"/>
          <p:cNvSpPr/>
          <p:nvPr/>
        </p:nvSpPr>
        <p:spPr>
          <a:xfrm>
            <a:off x="457200" y="4242816"/>
            <a:ext cx="329184" cy="329184"/>
          </a:xfrm>
          <a:prstGeom prst="ellipse">
            <a:avLst/>
          </a:prstGeom>
          <a:solidFill>
            <a:srgbClr val="F2A900"/>
          </a:solidFill>
          <a:ln w="12700">
            <a:solidFill>
              <a:srgbClr val="C98C00"/>
            </a:solidFill>
            <a:prstDash val="solid"/>
          </a:ln>
        </p:spPr>
      </p:sp>
      <p:sp>
        <p:nvSpPr>
          <p:cNvPr id="23" name="Text 21"/>
          <p:cNvSpPr txBox="1"/>
          <p:nvPr/>
        </p:nvSpPr>
        <p:spPr>
          <a:xfrm>
            <a:off x="457200" y="4242816"/>
            <a:ext cx="329184" cy="329184"/>
          </a:xfrm>
          <a:prstGeom prst="rect">
            <a:avLst/>
          </a:prstGeom>
          <a:noFill/>
          <a:ln/>
        </p:spPr>
        <p:txBody>
          <a:bodyPr wrap="square" lIns="0" tIns="0" rIns="0" bIns="0" rtlCol="0" anchor="ctr"/>
          <a:lstStyle/>
          <a:p>
            <a:pPr algn="ctr" indent="0" marL="0">
              <a:buNone/>
            </a:pPr>
            <a:r>
              <a:rPr lang="en-US" sz="1200" b="1" dirty="0">
                <a:solidFill>
                  <a:srgbClr val="0B3D2E"/>
                </a:solidFill>
              </a:rPr>
              <a:t>4</a:t>
            </a:r>
            <a:endParaRPr lang="en-US" sz="1200" dirty="0"/>
          </a:p>
        </p:txBody>
      </p:sp>
      <p:sp>
        <p:nvSpPr>
          <p:cNvPr id="24" name="Text 22"/>
          <p:cNvSpPr txBox="1"/>
          <p:nvPr/>
        </p:nvSpPr>
        <p:spPr>
          <a:xfrm>
            <a:off x="896112" y="4206240"/>
            <a:ext cx="1920240" cy="402336"/>
          </a:xfrm>
          <a:prstGeom prst="rect">
            <a:avLst/>
          </a:prstGeom>
          <a:noFill/>
          <a:ln/>
        </p:spPr>
        <p:txBody>
          <a:bodyPr wrap="square" lIns="0" tIns="0" rIns="0" bIns="0" rtlCol="0" anchor="ctr"/>
          <a:lstStyle/>
          <a:p>
            <a:pPr indent="0" marL="0">
              <a:buNone/>
            </a:pPr>
            <a:r>
              <a:rPr lang="en-US" sz="1300" b="1" dirty="0">
                <a:solidFill>
                  <a:srgbClr val="0B3D2E"/>
                </a:solidFill>
                <a:latin typeface="Courier New" pitchFamily="34" charset="0"/>
                <a:ea typeface="Courier New" pitchFamily="34" charset="-122"/>
                <a:cs typeface="Courier New" pitchFamily="34" charset="-120"/>
              </a:rPr>
              <a:t>gives back 3</a:t>
            </a:r>
            <a:endParaRPr lang="en-US" sz="1300" dirty="0"/>
          </a:p>
        </p:txBody>
      </p:sp>
      <p:sp>
        <p:nvSpPr>
          <p:cNvPr id="25" name="Text 23"/>
          <p:cNvSpPr txBox="1"/>
          <p:nvPr/>
        </p:nvSpPr>
        <p:spPr>
          <a:xfrm>
            <a:off x="2926080" y="4206240"/>
            <a:ext cx="1920240" cy="457200"/>
          </a:xfrm>
          <a:prstGeom prst="rect">
            <a:avLst/>
          </a:prstGeom>
          <a:noFill/>
          <a:ln/>
        </p:spPr>
        <p:txBody>
          <a:bodyPr wrap="square" lIns="0" tIns="0" rIns="0" bIns="0" rtlCol="0" anchor="ctr"/>
          <a:lstStyle/>
          <a:p>
            <a:pPr indent="0" marL="0">
              <a:buNone/>
            </a:pPr>
            <a:r>
              <a:rPr lang="en-US" sz="1100" dirty="0">
                <a:solidFill>
                  <a:srgbClr val="6B7280"/>
                </a:solidFill>
              </a:rPr>
              <a:t>line 35 puts 3 into answer</a:t>
            </a:r>
            <a:endParaRPr lang="en-US" sz="1100" dirty="0"/>
          </a:p>
        </p:txBody>
      </p:sp>
      <p:sp>
        <p:nvSpPr>
          <p:cNvPr id="26" name="Shape 24"/>
          <p:cNvSpPr/>
          <p:nvPr/>
        </p:nvSpPr>
        <p:spPr>
          <a:xfrm>
            <a:off x="5120640" y="1005840"/>
            <a:ext cx="3566160" cy="3566160"/>
          </a:xfrm>
          <a:prstGeom prst="roundRect">
            <a:avLst>
              <a:gd name="adj" fmla="val 2564"/>
            </a:avLst>
          </a:prstGeom>
          <a:solidFill>
            <a:srgbClr val="EEF5F1"/>
          </a:solidFill>
          <a:ln w="15875">
            <a:solidFill>
              <a:srgbClr val="D3E4DB"/>
            </a:solidFill>
            <a:prstDash val="solid"/>
          </a:ln>
        </p:spPr>
      </p:sp>
      <p:sp>
        <p:nvSpPr>
          <p:cNvPr id="27" name="Text 25"/>
          <p:cNvSpPr txBox="1"/>
          <p:nvPr/>
        </p:nvSpPr>
        <p:spPr>
          <a:xfrm>
            <a:off x="5303520" y="1143000"/>
            <a:ext cx="3200400" cy="320040"/>
          </a:xfrm>
          <a:prstGeom prst="rect">
            <a:avLst/>
          </a:prstGeom>
          <a:noFill/>
          <a:ln/>
        </p:spPr>
        <p:txBody>
          <a:bodyPr wrap="square" lIns="0" tIns="0" rIns="0" bIns="0" rtlCol="0" anchor="ctr"/>
          <a:lstStyle/>
          <a:p>
            <a:pPr indent="0" marL="0">
              <a:buNone/>
            </a:pPr>
            <a:r>
              <a:rPr lang="en-US" sz="1500" b="1" dirty="0">
                <a:solidFill>
                  <a:srgbClr val="0B3D2E"/>
                </a:solidFill>
              </a:rPr>
              <a:t>Now you. On paper, no computer.</a:t>
            </a:r>
            <a:endParaRPr lang="en-US" sz="1500" dirty="0"/>
          </a:p>
        </p:txBody>
      </p:sp>
      <p:sp>
        <p:nvSpPr>
          <p:cNvPr id="28" name="Text 26"/>
          <p:cNvSpPr txBox="1"/>
          <p:nvPr/>
        </p:nvSpPr>
        <p:spPr>
          <a:xfrm>
            <a:off x="5303520" y="1554480"/>
            <a:ext cx="3200400" cy="28346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B1B1B"/>
                </a:solidFill>
              </a:rPr>
              <a:t>leds_for(40) gives back?</a:t>
            </a:r>
            <a:endParaRPr lang="en-US" sz="1400" dirty="0"/>
          </a:p>
          <a:p>
            <a:pPr marL="342900" indent="-342900">
              <a:spcAft>
                <a:spcPts val="1000"/>
              </a:spcAft>
              <a:buSzPct val="100000"/>
              <a:buChar char="•"/>
            </a:pPr>
            <a:r>
              <a:rPr lang="en-US" sz="1400" dirty="0">
                <a:solidFill>
                  <a:srgbClr val="1B1B1B"/>
                </a:solidFill>
              </a:rPr>
              <a:t>leds_for(2) gives back?</a:t>
            </a:r>
            <a:endParaRPr lang="en-US" sz="1400" dirty="0"/>
          </a:p>
          <a:p>
            <a:pPr marL="342900" indent="-342900">
              <a:spcAft>
                <a:spcPts val="1000"/>
              </a:spcAft>
              <a:buSzPct val="100000"/>
              <a:buChar char="•"/>
            </a:pPr>
            <a:r>
              <a:rPr lang="en-US" sz="1400" dirty="0">
                <a:solidFill>
                  <a:srgbClr val="1B1B1B"/>
                </a:solidFill>
              </a:rPr>
              <a:t>How many times does line 28 run when the for loop on line 32 goes round five times?</a:t>
            </a:r>
            <a:endParaRPr lang="en-US" sz="1400" dirty="0"/>
          </a:p>
          <a:p>
            <a:pPr marL="342900" indent="-342900">
              <a:spcAft>
                <a:spcPts val="1000"/>
              </a:spcAft>
              <a:buSzPct val="100000"/>
              <a:buChar char="•"/>
            </a:pPr>
            <a:r>
              <a:rPr lang="en-US" sz="1400" dirty="0">
                <a:solidFill>
                  <a:srgbClr val="1B1B1B"/>
                </a:solidFill>
              </a:rPr>
              <a:t>Which line of your Lesson 3 program decided WHEN the LEDs change? Was it inside leds_for?</a:t>
            </a:r>
            <a:endParaRPr lang="en-US" sz="1400" dirty="0"/>
          </a:p>
          <a:p>
            <a:pPr marL="342900" indent="-342900">
              <a:spcAft>
                <a:spcPts val="1000"/>
              </a:spcAft>
              <a:buSzPct val="100000"/>
              <a:buChar char="•"/>
            </a:pPr>
            <a:r>
              <a:rPr lang="en-US" sz="1400" dirty="0">
                <a:solidFill>
                  <a:srgbClr val="1B1B1B"/>
                </a:solidFill>
              </a:rPr>
              <a:t>gap_for(20) gave 0.4 s. What gives gap_for(10)?</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Self-check: tick what you can do</a:t>
            </a:r>
            <a:endParaRPr lang="en-US" sz="3000" dirty="0"/>
          </a:p>
        </p:txBody>
      </p:sp>
      <p:sp>
        <p:nvSpPr>
          <p:cNvPr id="3" name="Shape 1"/>
          <p:cNvSpPr/>
          <p:nvPr/>
        </p:nvSpPr>
        <p:spPr>
          <a:xfrm>
            <a:off x="457200" y="1097280"/>
            <a:ext cx="411480" cy="411480"/>
          </a:xfrm>
          <a:prstGeom prst="roundRect">
            <a:avLst>
              <a:gd name="adj" fmla="val 13333"/>
            </a:avLst>
          </a:prstGeom>
          <a:solidFill>
            <a:srgbClr val="FFFFFF"/>
          </a:solidFill>
          <a:ln w="19050">
            <a:solidFill>
              <a:srgbClr val="1F8A70"/>
            </a:solidFill>
            <a:prstDash val="solid"/>
          </a:ln>
        </p:spPr>
      </p:sp>
      <p:sp>
        <p:nvSpPr>
          <p:cNvPr id="4" name="Text 2"/>
          <p:cNvSpPr txBox="1"/>
          <p:nvPr/>
        </p:nvSpPr>
        <p:spPr>
          <a:xfrm>
            <a:off x="1005840" y="1078992"/>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read a line like leds_for(12) and say what it gives back</a:t>
            </a:r>
            <a:endParaRPr lang="en-US" sz="1500" dirty="0"/>
          </a:p>
        </p:txBody>
      </p:sp>
      <p:sp>
        <p:nvSpPr>
          <p:cNvPr id="5" name="Text 3"/>
          <p:cNvSpPr txBox="1"/>
          <p:nvPr/>
        </p:nvSpPr>
        <p:spPr>
          <a:xfrm>
            <a:off x="6217920" y="1078992"/>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Step 0, slide before this</a:t>
            </a:r>
            <a:endParaRPr lang="en-US" sz="1200" dirty="0"/>
          </a:p>
        </p:txBody>
      </p:sp>
      <p:sp>
        <p:nvSpPr>
          <p:cNvPr id="6" name="Shape 4"/>
          <p:cNvSpPr/>
          <p:nvPr/>
        </p:nvSpPr>
        <p:spPr>
          <a:xfrm>
            <a:off x="457200" y="1847088"/>
            <a:ext cx="411480" cy="411480"/>
          </a:xfrm>
          <a:prstGeom prst="roundRect">
            <a:avLst>
              <a:gd name="adj" fmla="val 13333"/>
            </a:avLst>
          </a:prstGeom>
          <a:solidFill>
            <a:srgbClr val="FFFFFF"/>
          </a:solidFill>
          <a:ln w="19050">
            <a:solidFill>
              <a:srgbClr val="1F8A70"/>
            </a:solidFill>
            <a:prstDash val="solid"/>
          </a:ln>
        </p:spPr>
      </p:sp>
      <p:sp>
        <p:nvSpPr>
          <p:cNvPr id="7" name="Text 5"/>
          <p:cNvSpPr txBox="1"/>
          <p:nvPr/>
        </p:nvSpPr>
        <p:spPr>
          <a:xfrm>
            <a:off x="1005840" y="1828800"/>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say the difference between writing def and calling the function</a:t>
            </a:r>
            <a:endParaRPr lang="en-US" sz="1500" dirty="0"/>
          </a:p>
        </p:txBody>
      </p:sp>
      <p:sp>
        <p:nvSpPr>
          <p:cNvPr id="8" name="Text 6"/>
          <p:cNvSpPr txBox="1"/>
          <p:nvPr/>
        </p:nvSpPr>
        <p:spPr>
          <a:xfrm>
            <a:off x="6217920" y="1828800"/>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Step 0: the Shell order</a:t>
            </a:r>
            <a:endParaRPr lang="en-US" sz="1200" dirty="0"/>
          </a:p>
        </p:txBody>
      </p:sp>
      <p:sp>
        <p:nvSpPr>
          <p:cNvPr id="9" name="Shape 7"/>
          <p:cNvSpPr/>
          <p:nvPr/>
        </p:nvSpPr>
        <p:spPr>
          <a:xfrm>
            <a:off x="457200" y="2596896"/>
            <a:ext cx="411480" cy="411480"/>
          </a:xfrm>
          <a:prstGeom prst="roundRect">
            <a:avLst>
              <a:gd name="adj" fmla="val 13333"/>
            </a:avLst>
          </a:prstGeom>
          <a:solidFill>
            <a:srgbClr val="FFFFFF"/>
          </a:solidFill>
          <a:ln w="19050">
            <a:solidFill>
              <a:srgbClr val="1F8A70"/>
            </a:solidFill>
            <a:prstDash val="solid"/>
          </a:ln>
        </p:spPr>
      </p:sp>
      <p:sp>
        <p:nvSpPr>
          <p:cNvPr id="10" name="Text 8"/>
          <p:cNvSpPr txBox="1"/>
          <p:nvPr/>
        </p:nvSpPr>
        <p:spPr>
          <a:xfrm>
            <a:off x="1005840" y="2578608"/>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change a number inside a function and predict what happens</a:t>
            </a:r>
            <a:endParaRPr lang="en-US" sz="1500" dirty="0"/>
          </a:p>
        </p:txBody>
      </p:sp>
      <p:sp>
        <p:nvSpPr>
          <p:cNvPr id="11" name="Text 9"/>
          <p:cNvSpPr txBox="1"/>
          <p:nvPr/>
        </p:nvSpPr>
        <p:spPr>
          <a:xfrm>
            <a:off x="6217920" y="2578608"/>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Step 0 Try it lines</a:t>
            </a:r>
            <a:endParaRPr lang="en-US" sz="1200" dirty="0"/>
          </a:p>
        </p:txBody>
      </p:sp>
      <p:sp>
        <p:nvSpPr>
          <p:cNvPr id="12" name="Shape 10"/>
          <p:cNvSpPr/>
          <p:nvPr/>
        </p:nvSpPr>
        <p:spPr>
          <a:xfrm>
            <a:off x="457200" y="3346704"/>
            <a:ext cx="411480" cy="411480"/>
          </a:xfrm>
          <a:prstGeom prst="roundRect">
            <a:avLst>
              <a:gd name="adj" fmla="val 13333"/>
            </a:avLst>
          </a:prstGeom>
          <a:solidFill>
            <a:srgbClr val="FFFFFF"/>
          </a:solidFill>
          <a:ln w="19050">
            <a:solidFill>
              <a:srgbClr val="1F8A70"/>
            </a:solidFill>
            <a:prstDash val="solid"/>
          </a:ln>
        </p:spPr>
      </p:sp>
      <p:sp>
        <p:nvSpPr>
          <p:cNvPr id="13" name="Text 11"/>
          <p:cNvSpPr txBox="1"/>
          <p:nvPr/>
        </p:nvSpPr>
        <p:spPr>
          <a:xfrm>
            <a:off x="1005840" y="3328416"/>
            <a:ext cx="5120640" cy="457200"/>
          </a:xfrm>
          <a:prstGeom prst="rect">
            <a:avLst/>
          </a:prstGeom>
          <a:noFill/>
          <a:ln/>
        </p:spPr>
        <p:txBody>
          <a:bodyPr wrap="square" lIns="0" tIns="0" rIns="0" bIns="0" rtlCol="0" anchor="ctr"/>
          <a:lstStyle/>
          <a:p>
            <a:pPr indent="0" marL="0">
              <a:buNone/>
            </a:pPr>
            <a:r>
              <a:rPr lang="en-US" sz="1500" dirty="0">
                <a:solidFill>
                  <a:srgbClr val="1B1B1B"/>
                </a:solidFill>
              </a:rPr>
              <a:t>I can write the inside of a function when I am told what goes in and out</a:t>
            </a:r>
            <a:endParaRPr lang="en-US" sz="1500" dirty="0"/>
          </a:p>
        </p:txBody>
      </p:sp>
      <p:sp>
        <p:nvSpPr>
          <p:cNvPr id="14" name="Text 12"/>
          <p:cNvSpPr txBox="1"/>
          <p:nvPr/>
        </p:nvSpPr>
        <p:spPr>
          <a:xfrm>
            <a:off x="6217920" y="3328416"/>
            <a:ext cx="2468880" cy="457200"/>
          </a:xfrm>
          <a:prstGeom prst="rect">
            <a:avLst/>
          </a:prstGeom>
          <a:noFill/>
          <a:ln/>
        </p:spPr>
        <p:txBody>
          <a:bodyPr wrap="square" lIns="0" tIns="0" rIns="0" bIns="0" rtlCol="0" anchor="ctr"/>
          <a:lstStyle/>
          <a:p>
            <a:pPr indent="0" marL="0">
              <a:buNone/>
            </a:pPr>
            <a:r>
              <a:rPr lang="en-US" sz="1200" i="1" dirty="0">
                <a:solidFill>
                  <a:srgbClr val="6B7280"/>
                </a:solidFill>
              </a:rPr>
              <a:t>that is today's Step 3</a:t>
            </a:r>
            <a:endParaRPr lang="en-US" sz="1200" dirty="0"/>
          </a:p>
        </p:txBody>
      </p:sp>
      <p:sp>
        <p:nvSpPr>
          <p:cNvPr id="15" name="Shape 13"/>
          <p:cNvSpPr/>
          <p:nvPr/>
        </p:nvSpPr>
        <p:spPr>
          <a:xfrm>
            <a:off x="457200" y="4114800"/>
            <a:ext cx="8229600" cy="548640"/>
          </a:xfrm>
          <a:prstGeom prst="roundRect">
            <a:avLst>
              <a:gd name="adj" fmla="val 13333"/>
            </a:avLst>
          </a:prstGeom>
          <a:solidFill>
            <a:srgbClr val="0B3D2E"/>
          </a:solidFill>
          <a:ln w="12700">
            <a:solidFill>
              <a:srgbClr val="0B3D2E"/>
            </a:solidFill>
            <a:prstDash val="solid"/>
          </a:ln>
        </p:spPr>
      </p:sp>
      <p:sp>
        <p:nvSpPr>
          <p:cNvPr id="16" name="Text 14"/>
          <p:cNvSpPr txBox="1"/>
          <p:nvPr/>
        </p:nvSpPr>
        <p:spPr>
          <a:xfrm>
            <a:off x="685800" y="4114800"/>
            <a:ext cx="7772400" cy="548640"/>
          </a:xfrm>
          <a:prstGeom prst="rect">
            <a:avLst/>
          </a:prstGeom>
          <a:noFill/>
          <a:ln/>
        </p:spPr>
        <p:txBody>
          <a:bodyPr wrap="square" lIns="0" tIns="0" rIns="0" bIns="0" rtlCol="0" anchor="ctr"/>
          <a:lstStyle/>
          <a:p>
            <a:pPr indent="0" marL="0">
              <a:buNone/>
            </a:pPr>
            <a:r>
              <a:rPr lang="en-US" sz="1500" b="1" dirty="0">
                <a:solidFill>
                  <a:srgbClr val="FFFFFF"/>
                </a:solidFill>
              </a:rPr>
              <a:t>Cannot tick one? Say so now. Three people here can explain it, and one of them is sitting next to you.</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You have written this twice already</a:t>
            </a:r>
            <a:endParaRPr lang="en-US" sz="3000" dirty="0"/>
          </a:p>
        </p:txBody>
      </p:sp>
      <p:sp>
        <p:nvSpPr>
          <p:cNvPr id="3" name="Shape 1"/>
          <p:cNvSpPr/>
          <p:nvPr/>
        </p:nvSpPr>
        <p:spPr>
          <a:xfrm>
            <a:off x="457200" y="1051560"/>
            <a:ext cx="2606040" cy="2103120"/>
          </a:xfrm>
          <a:prstGeom prst="roundRect">
            <a:avLst>
              <a:gd name="adj" fmla="val 4348"/>
            </a:avLst>
          </a:prstGeom>
          <a:solidFill>
            <a:srgbClr val="EEF5F1"/>
          </a:solidFill>
          <a:ln w="15875">
            <a:solidFill>
              <a:srgbClr val="D3E4DB"/>
            </a:solidFill>
            <a:prstDash val="solid"/>
          </a:ln>
        </p:spPr>
      </p:sp>
      <p:sp>
        <p:nvSpPr>
          <p:cNvPr id="4" name="Text 2"/>
          <p:cNvSpPr txBox="1"/>
          <p:nvPr/>
        </p:nvSpPr>
        <p:spPr>
          <a:xfrm>
            <a:off x="640080" y="1170432"/>
            <a:ext cx="2240280" cy="274320"/>
          </a:xfrm>
          <a:prstGeom prst="rect">
            <a:avLst/>
          </a:prstGeom>
          <a:noFill/>
          <a:ln/>
        </p:spPr>
        <p:txBody>
          <a:bodyPr wrap="square" lIns="0" tIns="0" rIns="0" bIns="0" rtlCol="0" anchor="ctr"/>
          <a:lstStyle/>
          <a:p>
            <a:pPr indent="0" marL="0">
              <a:buNone/>
            </a:pPr>
            <a:r>
              <a:rPr lang="en-US" sz="1300" b="1" dirty="0">
                <a:solidFill>
                  <a:srgbClr val="6B7280"/>
                </a:solidFill>
              </a:rPr>
              <a:t>Lesson 3</a:t>
            </a:r>
            <a:endParaRPr lang="en-US" sz="1300" dirty="0"/>
          </a:p>
        </p:txBody>
      </p:sp>
      <p:sp>
        <p:nvSpPr>
          <p:cNvPr id="5" name="Text 3"/>
          <p:cNvSpPr txBox="1"/>
          <p:nvPr/>
        </p:nvSpPr>
        <p:spPr>
          <a:xfrm>
            <a:off x="640080" y="1463040"/>
            <a:ext cx="2240280" cy="320040"/>
          </a:xfrm>
          <a:prstGeom prst="rect">
            <a:avLst/>
          </a:prstGeom>
          <a:noFill/>
          <a:ln/>
        </p:spPr>
        <p:txBody>
          <a:bodyPr wrap="square" lIns="0" tIns="0" rIns="0" bIns="0" rtlCol="0" anchor="ctr"/>
          <a:lstStyle/>
          <a:p>
            <a:pPr indent="0" marL="0">
              <a:buNone/>
            </a:pPr>
            <a:r>
              <a:rPr lang="en-US" sz="1500" b="1" dirty="0">
                <a:solidFill>
                  <a:srgbClr val="0B3D2E"/>
                </a:solidFill>
                <a:latin typeface="Courier New" pitchFamily="34" charset="0"/>
                <a:ea typeface="Courier New" pitchFamily="34" charset="-122"/>
                <a:cs typeface="Courier New" pitchFamily="34" charset="-120"/>
              </a:rPr>
              <a:t>leds_for(distance)</a:t>
            </a:r>
            <a:endParaRPr lang="en-US" sz="1500" dirty="0"/>
          </a:p>
        </p:txBody>
      </p:sp>
      <p:sp>
        <p:nvSpPr>
          <p:cNvPr id="6" name="Text 4"/>
          <p:cNvSpPr txBox="1"/>
          <p:nvPr/>
        </p:nvSpPr>
        <p:spPr>
          <a:xfrm>
            <a:off x="640080" y="1874520"/>
            <a:ext cx="2240280" cy="320040"/>
          </a:xfrm>
          <a:prstGeom prst="rect">
            <a:avLst/>
          </a:prstGeom>
          <a:noFill/>
          <a:ln/>
        </p:spPr>
        <p:txBody>
          <a:bodyPr wrap="square" lIns="0" tIns="0" rIns="0" bIns="0" rtlCol="0" anchor="ctr"/>
          <a:lstStyle/>
          <a:p>
            <a:pPr indent="0" marL="0">
              <a:buNone/>
            </a:pPr>
            <a:r>
              <a:rPr lang="en-US" sz="1500" dirty="0">
                <a:solidFill>
                  <a:srgbClr val="1B1B1B"/>
                </a:solidFill>
              </a:rPr>
              <a:t>how many LEDs?</a:t>
            </a:r>
            <a:endParaRPr lang="en-US" sz="1500" dirty="0"/>
          </a:p>
        </p:txBody>
      </p:sp>
      <p:sp>
        <p:nvSpPr>
          <p:cNvPr id="7" name="Text 5"/>
          <p:cNvSpPr txBox="1"/>
          <p:nvPr/>
        </p:nvSpPr>
        <p:spPr>
          <a:xfrm>
            <a:off x="640080" y="2286000"/>
            <a:ext cx="2240280" cy="731520"/>
          </a:xfrm>
          <a:prstGeom prst="rect">
            <a:avLst/>
          </a:prstGeom>
          <a:noFill/>
          <a:ln/>
        </p:spPr>
        <p:txBody>
          <a:bodyPr wrap="square" lIns="0" tIns="0" rIns="0" bIns="0" rtlCol="0" anchor="t"/>
          <a:lstStyle/>
          <a:p>
            <a:pPr indent="0" marL="0">
              <a:buNone/>
            </a:pPr>
            <a:r>
              <a:rPr lang="en-US" sz="1400" dirty="0">
                <a:solidFill>
                  <a:srgbClr val="6B7280"/>
                </a:solidFill>
              </a:rPr>
              <a:t>gives back: 0 to 5</a:t>
            </a:r>
            <a:endParaRPr lang="en-US" sz="1400" dirty="0"/>
          </a:p>
        </p:txBody>
      </p:sp>
      <p:sp>
        <p:nvSpPr>
          <p:cNvPr id="8" name="Shape 6"/>
          <p:cNvSpPr/>
          <p:nvPr/>
        </p:nvSpPr>
        <p:spPr>
          <a:xfrm>
            <a:off x="3273552" y="1051560"/>
            <a:ext cx="2606040" cy="2103120"/>
          </a:xfrm>
          <a:prstGeom prst="roundRect">
            <a:avLst>
              <a:gd name="adj" fmla="val 4348"/>
            </a:avLst>
          </a:prstGeom>
          <a:solidFill>
            <a:srgbClr val="EEF5F1"/>
          </a:solidFill>
          <a:ln w="15875">
            <a:solidFill>
              <a:srgbClr val="D3E4DB"/>
            </a:solidFill>
            <a:prstDash val="solid"/>
          </a:ln>
        </p:spPr>
      </p:sp>
      <p:sp>
        <p:nvSpPr>
          <p:cNvPr id="9" name="Text 7"/>
          <p:cNvSpPr txBox="1"/>
          <p:nvPr/>
        </p:nvSpPr>
        <p:spPr>
          <a:xfrm>
            <a:off x="3456432" y="1170432"/>
            <a:ext cx="2240280" cy="274320"/>
          </a:xfrm>
          <a:prstGeom prst="rect">
            <a:avLst/>
          </a:prstGeom>
          <a:noFill/>
          <a:ln/>
        </p:spPr>
        <p:txBody>
          <a:bodyPr wrap="square" lIns="0" tIns="0" rIns="0" bIns="0" rtlCol="0" anchor="ctr"/>
          <a:lstStyle/>
          <a:p>
            <a:pPr indent="0" marL="0">
              <a:buNone/>
            </a:pPr>
            <a:r>
              <a:rPr lang="en-US" sz="1300" b="1" dirty="0">
                <a:solidFill>
                  <a:srgbClr val="6B7280"/>
                </a:solidFill>
              </a:rPr>
              <a:t>Lesson 4</a:t>
            </a:r>
            <a:endParaRPr lang="en-US" sz="1300" dirty="0"/>
          </a:p>
        </p:txBody>
      </p:sp>
      <p:sp>
        <p:nvSpPr>
          <p:cNvPr id="10" name="Text 8"/>
          <p:cNvSpPr txBox="1"/>
          <p:nvPr/>
        </p:nvSpPr>
        <p:spPr>
          <a:xfrm>
            <a:off x="3456432" y="1463040"/>
            <a:ext cx="2240280" cy="320040"/>
          </a:xfrm>
          <a:prstGeom prst="rect">
            <a:avLst/>
          </a:prstGeom>
          <a:noFill/>
          <a:ln/>
        </p:spPr>
        <p:txBody>
          <a:bodyPr wrap="square" lIns="0" tIns="0" rIns="0" bIns="0" rtlCol="0" anchor="ctr"/>
          <a:lstStyle/>
          <a:p>
            <a:pPr indent="0" marL="0">
              <a:buNone/>
            </a:pPr>
            <a:r>
              <a:rPr lang="en-US" sz="1500" b="1" dirty="0">
                <a:solidFill>
                  <a:srgbClr val="0B3D2E"/>
                </a:solidFill>
                <a:latin typeface="Courier New" pitchFamily="34" charset="0"/>
                <a:ea typeface="Courier New" pitchFamily="34" charset="-122"/>
                <a:cs typeface="Courier New" pitchFamily="34" charset="-120"/>
              </a:rPr>
              <a:t>gap_for(distance)</a:t>
            </a:r>
            <a:endParaRPr lang="en-US" sz="1500" dirty="0"/>
          </a:p>
        </p:txBody>
      </p:sp>
      <p:sp>
        <p:nvSpPr>
          <p:cNvPr id="11" name="Text 9"/>
          <p:cNvSpPr txBox="1"/>
          <p:nvPr/>
        </p:nvSpPr>
        <p:spPr>
          <a:xfrm>
            <a:off x="3456432" y="1874520"/>
            <a:ext cx="2240280" cy="320040"/>
          </a:xfrm>
          <a:prstGeom prst="rect">
            <a:avLst/>
          </a:prstGeom>
          <a:noFill/>
          <a:ln/>
        </p:spPr>
        <p:txBody>
          <a:bodyPr wrap="square" lIns="0" tIns="0" rIns="0" bIns="0" rtlCol="0" anchor="ctr"/>
          <a:lstStyle/>
          <a:p>
            <a:pPr indent="0" marL="0">
              <a:buNone/>
            </a:pPr>
            <a:r>
              <a:rPr lang="en-US" sz="1500" dirty="0">
                <a:solidFill>
                  <a:srgbClr val="1B1B1B"/>
                </a:solidFill>
              </a:rPr>
              <a:t>how long to wait?</a:t>
            </a:r>
            <a:endParaRPr lang="en-US" sz="1500" dirty="0"/>
          </a:p>
        </p:txBody>
      </p:sp>
      <p:sp>
        <p:nvSpPr>
          <p:cNvPr id="12" name="Text 10"/>
          <p:cNvSpPr txBox="1"/>
          <p:nvPr/>
        </p:nvSpPr>
        <p:spPr>
          <a:xfrm>
            <a:off x="3456432" y="2286000"/>
            <a:ext cx="2240280" cy="731520"/>
          </a:xfrm>
          <a:prstGeom prst="rect">
            <a:avLst/>
          </a:prstGeom>
          <a:noFill/>
          <a:ln/>
        </p:spPr>
        <p:txBody>
          <a:bodyPr wrap="square" lIns="0" tIns="0" rIns="0" bIns="0" rtlCol="0" anchor="t"/>
          <a:lstStyle/>
          <a:p>
            <a:pPr indent="0" marL="0">
              <a:buNone/>
            </a:pPr>
            <a:r>
              <a:rPr lang="en-US" sz="1400" dirty="0">
                <a:solidFill>
                  <a:srgbClr val="6B7280"/>
                </a:solidFill>
              </a:rPr>
              <a:t>gives back: 0.1 to 0.5 s</a:t>
            </a:r>
            <a:endParaRPr lang="en-US" sz="1400" dirty="0"/>
          </a:p>
        </p:txBody>
      </p:sp>
      <p:sp>
        <p:nvSpPr>
          <p:cNvPr id="13" name="Shape 11"/>
          <p:cNvSpPr/>
          <p:nvPr/>
        </p:nvSpPr>
        <p:spPr>
          <a:xfrm>
            <a:off x="6089904" y="1051560"/>
            <a:ext cx="2606040" cy="2103120"/>
          </a:xfrm>
          <a:prstGeom prst="roundRect">
            <a:avLst>
              <a:gd name="adj" fmla="val 4348"/>
            </a:avLst>
          </a:prstGeom>
          <a:solidFill>
            <a:srgbClr val="FFF1C2"/>
          </a:solidFill>
          <a:ln w="15875">
            <a:solidFill>
              <a:srgbClr val="E0A800"/>
            </a:solidFill>
            <a:prstDash val="solid"/>
          </a:ln>
        </p:spPr>
      </p:sp>
      <p:sp>
        <p:nvSpPr>
          <p:cNvPr id="14" name="Text 12"/>
          <p:cNvSpPr txBox="1"/>
          <p:nvPr/>
        </p:nvSpPr>
        <p:spPr>
          <a:xfrm>
            <a:off x="6272784" y="1170432"/>
            <a:ext cx="2240280" cy="274320"/>
          </a:xfrm>
          <a:prstGeom prst="rect">
            <a:avLst/>
          </a:prstGeom>
          <a:noFill/>
          <a:ln/>
        </p:spPr>
        <p:txBody>
          <a:bodyPr wrap="square" lIns="0" tIns="0" rIns="0" bIns="0" rtlCol="0" anchor="ctr"/>
          <a:lstStyle/>
          <a:p>
            <a:pPr indent="0" marL="0">
              <a:buNone/>
            </a:pPr>
            <a:r>
              <a:rPr lang="en-US" sz="1300" b="1" dirty="0">
                <a:solidFill>
                  <a:srgbClr val="6B7280"/>
                </a:solidFill>
              </a:rPr>
              <a:t>Today</a:t>
            </a:r>
            <a:endParaRPr lang="en-US" sz="1300" dirty="0"/>
          </a:p>
        </p:txBody>
      </p:sp>
      <p:sp>
        <p:nvSpPr>
          <p:cNvPr id="15" name="Text 13"/>
          <p:cNvSpPr txBox="1"/>
          <p:nvPr/>
        </p:nvSpPr>
        <p:spPr>
          <a:xfrm>
            <a:off x="6272784" y="1463040"/>
            <a:ext cx="2240280" cy="320040"/>
          </a:xfrm>
          <a:prstGeom prst="rect">
            <a:avLst/>
          </a:prstGeom>
          <a:noFill/>
          <a:ln/>
        </p:spPr>
        <p:txBody>
          <a:bodyPr wrap="square" lIns="0" tIns="0" rIns="0" bIns="0" rtlCol="0" anchor="ctr"/>
          <a:lstStyle/>
          <a:p>
            <a:pPr indent="0" marL="0">
              <a:buNone/>
            </a:pPr>
            <a:r>
              <a:rPr lang="en-US" sz="1500" b="1" dirty="0">
                <a:solidFill>
                  <a:srgbClr val="0B3D2E"/>
                </a:solidFill>
                <a:latin typeface="Courier New" pitchFamily="34" charset="0"/>
                <a:ea typeface="Courier New" pitchFamily="34" charset="-122"/>
                <a:cs typeface="Courier New" pitchFamily="34" charset="-120"/>
              </a:rPr>
              <a:t>angle_for(distance)</a:t>
            </a:r>
            <a:endParaRPr lang="en-US" sz="1500" dirty="0"/>
          </a:p>
        </p:txBody>
      </p:sp>
      <p:sp>
        <p:nvSpPr>
          <p:cNvPr id="16" name="Text 14"/>
          <p:cNvSpPr txBox="1"/>
          <p:nvPr/>
        </p:nvSpPr>
        <p:spPr>
          <a:xfrm>
            <a:off x="6272784" y="1874520"/>
            <a:ext cx="2240280" cy="320040"/>
          </a:xfrm>
          <a:prstGeom prst="rect">
            <a:avLst/>
          </a:prstGeom>
          <a:noFill/>
          <a:ln/>
        </p:spPr>
        <p:txBody>
          <a:bodyPr wrap="square" lIns="0" tIns="0" rIns="0" bIns="0" rtlCol="0" anchor="ctr"/>
          <a:lstStyle/>
          <a:p>
            <a:pPr indent="0" marL="0">
              <a:buNone/>
            </a:pPr>
            <a:r>
              <a:rPr lang="en-US" sz="1500" dirty="0">
                <a:solidFill>
                  <a:srgbClr val="1B1B1B"/>
                </a:solidFill>
              </a:rPr>
              <a:t>which angle?</a:t>
            </a:r>
            <a:endParaRPr lang="en-US" sz="1500" dirty="0"/>
          </a:p>
        </p:txBody>
      </p:sp>
      <p:sp>
        <p:nvSpPr>
          <p:cNvPr id="17" name="Text 15"/>
          <p:cNvSpPr txBox="1"/>
          <p:nvPr/>
        </p:nvSpPr>
        <p:spPr>
          <a:xfrm>
            <a:off x="6272784" y="2286000"/>
            <a:ext cx="2240280" cy="731520"/>
          </a:xfrm>
          <a:prstGeom prst="rect">
            <a:avLst/>
          </a:prstGeom>
          <a:noFill/>
          <a:ln/>
        </p:spPr>
        <p:txBody>
          <a:bodyPr wrap="square" lIns="0" tIns="0" rIns="0" bIns="0" rtlCol="0" anchor="t"/>
          <a:lstStyle/>
          <a:p>
            <a:pPr indent="0" marL="0">
              <a:buNone/>
            </a:pPr>
            <a:r>
              <a:rPr lang="en-US" sz="1400" dirty="0">
                <a:solidFill>
                  <a:srgbClr val="6B7280"/>
                </a:solidFill>
              </a:rPr>
              <a:t>gives back: 0 or 90</a:t>
            </a:r>
            <a:endParaRPr lang="en-US" sz="1400" dirty="0"/>
          </a:p>
        </p:txBody>
      </p:sp>
      <p:sp>
        <p:nvSpPr>
          <p:cNvPr id="18" name="Shape 16"/>
          <p:cNvSpPr/>
          <p:nvPr/>
        </p:nvSpPr>
        <p:spPr>
          <a:xfrm>
            <a:off x="457200" y="3337560"/>
            <a:ext cx="4846320" cy="1143000"/>
          </a:xfrm>
          <a:prstGeom prst="roundRect">
            <a:avLst>
              <a:gd name="adj" fmla="val 6400"/>
            </a:avLst>
          </a:prstGeom>
          <a:solidFill>
            <a:srgbClr val="2B2F33"/>
          </a:solidFill>
          <a:ln w="12700">
            <a:solidFill>
              <a:srgbClr val="2B2F33"/>
            </a:solidFill>
            <a:prstDash val="solid"/>
          </a:ln>
        </p:spPr>
      </p:sp>
      <p:sp>
        <p:nvSpPr>
          <p:cNvPr id="19" name="Text 17"/>
          <p:cNvSpPr txBox="1"/>
          <p:nvPr/>
        </p:nvSpPr>
        <p:spPr>
          <a:xfrm>
            <a:off x="594360" y="3401568"/>
            <a:ext cx="4572000" cy="219456"/>
          </a:xfrm>
          <a:prstGeom prst="rect">
            <a:avLst/>
          </a:prstGeom>
          <a:noFill/>
          <a:ln/>
        </p:spPr>
        <p:txBody>
          <a:bodyPr wrap="square" lIns="0" tIns="0" rIns="0" bIns="0" rtlCol="0" anchor="ctr"/>
          <a:lstStyle/>
          <a:p>
            <a:pPr indent="0" marL="0">
              <a:buNone/>
            </a:pPr>
            <a:r>
              <a:rPr lang="en-US" sz="1100" i="1" dirty="0">
                <a:solidFill>
                  <a:srgbClr val="C9CED3"/>
                </a:solidFill>
              </a:rPr>
              <a:t>The same shape every time</a:t>
            </a:r>
            <a:endParaRPr lang="en-US" sz="1100" dirty="0"/>
          </a:p>
        </p:txBody>
      </p:sp>
      <p:sp>
        <p:nvSpPr>
          <p:cNvPr id="20" name="Shape 18"/>
          <p:cNvSpPr/>
          <p:nvPr/>
        </p:nvSpPr>
        <p:spPr>
          <a:xfrm>
            <a:off x="566928" y="3657600"/>
            <a:ext cx="4626864" cy="0"/>
          </a:xfrm>
          <a:prstGeom prst="line">
            <a:avLst/>
          </a:prstGeom>
          <a:noFill/>
          <a:ln w="12700">
            <a:solidFill>
              <a:srgbClr val="454B51"/>
            </a:solidFill>
            <a:prstDash val="solid"/>
          </a:ln>
        </p:spPr>
      </p:sp>
      <p:sp>
        <p:nvSpPr>
          <p:cNvPr id="21" name="Text 19"/>
          <p:cNvSpPr txBox="1"/>
          <p:nvPr/>
        </p:nvSpPr>
        <p:spPr>
          <a:xfrm>
            <a:off x="621792" y="3721608"/>
            <a:ext cx="4517136" cy="685800"/>
          </a:xfrm>
          <a:prstGeom prst="rect">
            <a:avLst/>
          </a:prstGeom>
          <a:noFill/>
          <a:ln/>
        </p:spPr>
        <p:txBody>
          <a:bodyPr wrap="square" lIns="0" tIns="0" rIns="0" bIns="0" rtlCol="0" anchor="t"/>
          <a:lstStyle/>
          <a:p>
            <a:pPr indent="0" marL="0">
              <a:buNone/>
            </a:pPr>
            <a:r>
              <a:rPr lang="en-US" sz="1400" dirty="0">
                <a:solidFill>
                  <a:srgbClr val="E8EAED"/>
                </a:solidFill>
                <a:latin typeface="Courier New" pitchFamily="34" charset="0"/>
                <a:ea typeface="Courier New" pitchFamily="34" charset="-122"/>
                <a:cs typeface="Courier New" pitchFamily="34" charset="-120"/>
              </a:rPr>
              <a:t>distance  -&gt;  your function  -&gt;  one decision</a:t>
            </a:r>
            <a:endParaRPr lang="en-US" sz="1400" dirty="0"/>
          </a:p>
        </p:txBody>
      </p:sp>
      <p:sp>
        <p:nvSpPr>
          <p:cNvPr id="22" name="Text 20"/>
          <p:cNvSpPr txBox="1"/>
          <p:nvPr/>
        </p:nvSpPr>
        <p:spPr>
          <a:xfrm>
            <a:off x="5486400" y="3337560"/>
            <a:ext cx="3200400" cy="1143000"/>
          </a:xfrm>
          <a:prstGeom prst="rect">
            <a:avLst/>
          </a:prstGeom>
          <a:noFill/>
          <a:ln/>
        </p:spPr>
        <p:txBody>
          <a:bodyPr wrap="square" lIns="0" tIns="0" rIns="0" bIns="0" rtlCol="0" anchor="t"/>
          <a:lstStyle/>
          <a:p>
            <a:pPr indent="0" marL="0">
              <a:buNone/>
            </a:pPr>
            <a:r>
              <a:rPr lang="en-US" sz="1500" dirty="0">
                <a:solidFill>
                  <a:srgbClr val="1B1B1B"/>
                </a:solidFill>
              </a:rPr>
              <a:t>A number goes in. You decide what comes out. The rest of the program is already written.</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Pick your track</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algn="ctr" indent="0" marL="0">
              <a:buNone/>
            </a:pPr>
            <a:r>
              <a:rPr lang="en-US" sz="1800" b="1" dirty="0">
                <a:solidFill>
                  <a:srgbClr val="0B3D2E"/>
                </a:solidFill>
              </a:rPr>
              <a:t>Does your LED bar light up when your hand gets closer?</a:t>
            </a:r>
            <a:endParaRPr lang="en-US" sz="1800" dirty="0"/>
          </a:p>
        </p:txBody>
      </p:sp>
      <p:sp>
        <p:nvSpPr>
          <p:cNvPr id="4" name="Shape 2"/>
          <p:cNvSpPr/>
          <p:nvPr/>
        </p:nvSpPr>
        <p:spPr>
          <a:xfrm>
            <a:off x="457200" y="1508760"/>
            <a:ext cx="3931920" cy="2651760"/>
          </a:xfrm>
          <a:prstGeom prst="roundRect">
            <a:avLst>
              <a:gd name="adj" fmla="val 3448"/>
            </a:avLst>
          </a:prstGeom>
          <a:solidFill>
            <a:srgbClr val="FFF4D6"/>
          </a:solidFill>
          <a:ln w="19050">
            <a:solidFill>
              <a:srgbClr val="9A6B00"/>
            </a:solidFill>
            <a:prstDash val="solid"/>
          </a:ln>
        </p:spPr>
      </p:sp>
      <p:sp>
        <p:nvSpPr>
          <p:cNvPr id="5" name="Shape 3"/>
          <p:cNvSpPr/>
          <p:nvPr/>
        </p:nvSpPr>
        <p:spPr>
          <a:xfrm>
            <a:off x="685800" y="1691640"/>
            <a:ext cx="640080" cy="640080"/>
          </a:xfrm>
          <a:prstGeom prst="ellipse">
            <a:avLst/>
          </a:prstGeom>
          <a:solidFill>
            <a:srgbClr val="9A6B00"/>
          </a:solidFill>
          <a:ln w="12700">
            <a:solidFill>
              <a:srgbClr val="9A6B00"/>
            </a:solidFill>
            <a:prstDash val="solid"/>
          </a:ln>
        </p:spPr>
      </p:sp>
      <p:sp>
        <p:nvSpPr>
          <p:cNvPr id="6" name="Text 4"/>
          <p:cNvSpPr txBox="1"/>
          <p:nvPr/>
        </p:nvSpPr>
        <p:spPr>
          <a:xfrm>
            <a:off x="685800" y="169164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rPr>
              <a:t>A</a:t>
            </a:r>
            <a:endParaRPr lang="en-US" sz="2600" dirty="0"/>
          </a:p>
        </p:txBody>
      </p:sp>
      <p:sp>
        <p:nvSpPr>
          <p:cNvPr id="7" name="Text 5"/>
          <p:cNvSpPr txBox="1"/>
          <p:nvPr/>
        </p:nvSpPr>
        <p:spPr>
          <a:xfrm>
            <a:off x="1508760" y="1737360"/>
            <a:ext cx="2743200" cy="548640"/>
          </a:xfrm>
          <a:prstGeom prst="rect">
            <a:avLst/>
          </a:prstGeom>
          <a:noFill/>
          <a:ln/>
        </p:spPr>
        <p:txBody>
          <a:bodyPr wrap="square" lIns="0" tIns="0" rIns="0" bIns="0" rtlCol="0" anchor="ctr"/>
          <a:lstStyle/>
          <a:p>
            <a:pPr indent="0" marL="0">
              <a:buNone/>
            </a:pPr>
            <a:r>
              <a:rPr lang="en-US" sz="1800" b="1" dirty="0">
                <a:solidFill>
                  <a:srgbClr val="9A6B00"/>
                </a:solidFill>
              </a:rPr>
              <a:t>Not yet</a:t>
            </a:r>
            <a:endParaRPr lang="en-US" sz="1800" dirty="0"/>
          </a:p>
        </p:txBody>
      </p:sp>
      <p:sp>
        <p:nvSpPr>
          <p:cNvPr id="8" name="Text 6"/>
          <p:cNvSpPr txBox="1"/>
          <p:nvPr/>
        </p:nvSpPr>
        <p:spPr>
          <a:xfrm>
            <a:off x="731520" y="2514600"/>
            <a:ext cx="3474720" cy="146304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1B1B"/>
                </a:solidFill>
              </a:rPr>
              <a:t>Wire the sensor: Lesson 3 PDF page 25</a:t>
            </a:r>
            <a:endParaRPr lang="en-US" sz="1500" dirty="0"/>
          </a:p>
          <a:p>
            <a:pPr marL="342900" indent="-342900">
              <a:spcAft>
                <a:spcPts val="600"/>
              </a:spcAft>
              <a:buSzPct val="100000"/>
              <a:buChar char="•"/>
            </a:pPr>
            <a:r>
              <a:rPr lang="en-US" sz="1500" dirty="0">
                <a:solidFill>
                  <a:srgbClr val="1B1B1B"/>
                </a:solidFill>
              </a:rPr>
              <a:t>Run 20261009_L3/step5_solution.py</a:t>
            </a:r>
            <a:endParaRPr lang="en-US" sz="1500" dirty="0"/>
          </a:p>
          <a:p>
            <a:pPr marL="342900" indent="-342900">
              <a:spcAft>
                <a:spcPts val="600"/>
              </a:spcAft>
              <a:buSzPct val="100000"/>
              <a:buChar char="•"/>
            </a:pPr>
            <a:r>
              <a:rPr lang="en-US" sz="1500" dirty="0">
                <a:solidFill>
                  <a:srgbClr val="1B1B1B"/>
                </a:solidFill>
              </a:rPr>
              <a:t>Then start Step 1 with everybody else</a:t>
            </a:r>
            <a:endParaRPr lang="en-US" sz="1500" dirty="0"/>
          </a:p>
        </p:txBody>
      </p:sp>
      <p:sp>
        <p:nvSpPr>
          <p:cNvPr id="9" name="Shape 7"/>
          <p:cNvSpPr/>
          <p:nvPr/>
        </p:nvSpPr>
        <p:spPr>
          <a:xfrm>
            <a:off x="4754880" y="1508760"/>
            <a:ext cx="3931920" cy="2651760"/>
          </a:xfrm>
          <a:prstGeom prst="roundRect">
            <a:avLst>
              <a:gd name="adj" fmla="val 3448"/>
            </a:avLst>
          </a:prstGeom>
          <a:solidFill>
            <a:srgbClr val="DDF3E9"/>
          </a:solidFill>
          <a:ln w="19050">
            <a:solidFill>
              <a:srgbClr val="1F8A70"/>
            </a:solidFill>
            <a:prstDash val="solid"/>
          </a:ln>
        </p:spPr>
      </p:sp>
      <p:sp>
        <p:nvSpPr>
          <p:cNvPr id="10" name="Shape 8"/>
          <p:cNvSpPr/>
          <p:nvPr/>
        </p:nvSpPr>
        <p:spPr>
          <a:xfrm>
            <a:off x="4983480" y="1691640"/>
            <a:ext cx="640080" cy="640080"/>
          </a:xfrm>
          <a:prstGeom prst="ellipse">
            <a:avLst/>
          </a:prstGeom>
          <a:solidFill>
            <a:srgbClr val="1F8A70"/>
          </a:solidFill>
          <a:ln w="12700">
            <a:solidFill>
              <a:srgbClr val="1F8A70"/>
            </a:solidFill>
            <a:prstDash val="solid"/>
          </a:ln>
        </p:spPr>
      </p:sp>
      <p:sp>
        <p:nvSpPr>
          <p:cNvPr id="11" name="Text 9"/>
          <p:cNvSpPr txBox="1"/>
          <p:nvPr/>
        </p:nvSpPr>
        <p:spPr>
          <a:xfrm>
            <a:off x="4983480" y="169164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rPr>
              <a:t>B</a:t>
            </a:r>
            <a:endParaRPr lang="en-US" sz="2600" dirty="0"/>
          </a:p>
        </p:txBody>
      </p:sp>
      <p:sp>
        <p:nvSpPr>
          <p:cNvPr id="12" name="Text 10"/>
          <p:cNvSpPr txBox="1"/>
          <p:nvPr/>
        </p:nvSpPr>
        <p:spPr>
          <a:xfrm>
            <a:off x="5806440" y="1737360"/>
            <a:ext cx="2743200" cy="548640"/>
          </a:xfrm>
          <a:prstGeom prst="rect">
            <a:avLst/>
          </a:prstGeom>
          <a:noFill/>
          <a:ln/>
        </p:spPr>
        <p:txBody>
          <a:bodyPr wrap="square" lIns="0" tIns="0" rIns="0" bIns="0" rtlCol="0" anchor="ctr"/>
          <a:lstStyle/>
          <a:p>
            <a:pPr indent="0" marL="0">
              <a:buNone/>
            </a:pPr>
            <a:r>
              <a:rPr lang="en-US" sz="1800" b="1" dirty="0">
                <a:solidFill>
                  <a:srgbClr val="1F8A70"/>
                </a:solidFill>
              </a:rPr>
              <a:t>Yes, it works</a:t>
            </a:r>
            <a:endParaRPr lang="en-US" sz="1800" dirty="0"/>
          </a:p>
        </p:txBody>
      </p:sp>
      <p:sp>
        <p:nvSpPr>
          <p:cNvPr id="13" name="Text 11"/>
          <p:cNvSpPr txBox="1"/>
          <p:nvPr/>
        </p:nvSpPr>
        <p:spPr>
          <a:xfrm>
            <a:off x="5029200" y="2514600"/>
            <a:ext cx="3474720" cy="146304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1B1B"/>
                </a:solidFill>
              </a:rPr>
              <a:t>Start at Step 1: wire the servo</a:t>
            </a:r>
            <a:endParaRPr lang="en-US" sz="1500" dirty="0"/>
          </a:p>
          <a:p>
            <a:pPr marL="342900" indent="-342900">
              <a:spcAft>
                <a:spcPts val="600"/>
              </a:spcAft>
              <a:buSzPct val="100000"/>
              <a:buChar char="•"/>
            </a:pPr>
            <a:r>
              <a:rPr lang="en-US" sz="1500" dirty="0">
                <a:solidFill>
                  <a:srgbClr val="1B1B1B"/>
                </a:solidFill>
              </a:rPr>
              <a:t>Step 2: set_angle()</a:t>
            </a:r>
            <a:endParaRPr lang="en-US" sz="1500" dirty="0"/>
          </a:p>
          <a:p>
            <a:pPr marL="342900" indent="-342900">
              <a:spcAft>
                <a:spcPts val="600"/>
              </a:spcAft>
              <a:buSzPct val="100000"/>
              <a:buChar char="•"/>
            </a:pPr>
            <a:r>
              <a:rPr lang="en-US" sz="1500" dirty="0">
                <a:solidFill>
                  <a:srgbClr val="1B1B1B"/>
                </a:solidFill>
              </a:rPr>
              <a:t>Step 3: you write angle_for()</a:t>
            </a:r>
            <a:endParaRPr lang="en-US" sz="1500" dirty="0"/>
          </a:p>
        </p:txBody>
      </p:sp>
      <p:sp>
        <p:nvSpPr>
          <p:cNvPr id="14" name="Text 12"/>
          <p:cNvSpPr txBox="1"/>
          <p:nvPr/>
        </p:nvSpPr>
        <p:spPr>
          <a:xfrm>
            <a:off x="457200" y="4297680"/>
            <a:ext cx="8229600" cy="320040"/>
          </a:xfrm>
          <a:prstGeom prst="rect">
            <a:avLst/>
          </a:prstGeom>
          <a:noFill/>
          <a:ln/>
        </p:spPr>
        <p:txBody>
          <a:bodyPr wrap="square" lIns="0" tIns="0" rIns="0" bIns="0" rtlCol="0" anchor="ctr"/>
          <a:lstStyle/>
          <a:p>
            <a:pPr algn="ctr" indent="0" marL="0">
              <a:buNone/>
            </a:pPr>
            <a:r>
              <a:rPr lang="en-US" sz="1500" i="1" dirty="0">
                <a:solidFill>
                  <a:srgbClr val="0B3D2E"/>
                </a:solidFill>
              </a:rPr>
              <a:t>You do not need the buzzer today. The servo is the new part for everyone.</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Track A: catch up fast</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A</a:t>
            </a:r>
            <a:endParaRPr lang="en-US" sz="2000" dirty="0"/>
          </a:p>
        </p:txBody>
      </p:sp>
      <p:sp>
        <p:nvSpPr>
          <p:cNvPr id="6" name="Shape 4"/>
          <p:cNvSpPr/>
          <p:nvPr/>
        </p:nvSpPr>
        <p:spPr>
          <a:xfrm>
            <a:off x="457200" y="1115568"/>
            <a:ext cx="329184" cy="329184"/>
          </a:xfrm>
          <a:prstGeom prst="ellipse">
            <a:avLst/>
          </a:prstGeom>
          <a:solidFill>
            <a:srgbClr val="F2A900"/>
          </a:solidFill>
          <a:ln w="12700">
            <a:solidFill>
              <a:srgbClr val="C98C00"/>
            </a:solidFill>
            <a:prstDash val="solid"/>
          </a:ln>
        </p:spPr>
      </p:sp>
      <p:sp>
        <p:nvSpPr>
          <p:cNvPr id="7" name="Text 5"/>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8" name="Text 6"/>
          <p:cNvSpPr txBox="1"/>
          <p:nvPr/>
        </p:nvSpPr>
        <p:spPr>
          <a:xfrm>
            <a:off x="914400" y="1097280"/>
            <a:ext cx="4663440" cy="384048"/>
          </a:xfrm>
          <a:prstGeom prst="rect">
            <a:avLst/>
          </a:prstGeom>
          <a:noFill/>
          <a:ln/>
        </p:spPr>
        <p:txBody>
          <a:bodyPr wrap="square" lIns="0" tIns="0" rIns="0" bIns="0" rtlCol="0" anchor="ctr"/>
          <a:lstStyle/>
          <a:p>
            <a:pPr indent="0" marL="0">
              <a:buNone/>
            </a:pPr>
            <a:r>
              <a:rPr lang="en-US" sz="1500" dirty="0">
                <a:solidFill>
                  <a:srgbClr val="1B1B1B"/>
                </a:solidFill>
              </a:rPr>
              <a:t>Upload the Lesson 3 files you need to the ESP32</a:t>
            </a:r>
            <a:endParaRPr lang="en-US" sz="1500" dirty="0"/>
          </a:p>
        </p:txBody>
      </p:sp>
      <p:sp>
        <p:nvSpPr>
          <p:cNvPr id="9" name="Shape 7"/>
          <p:cNvSpPr/>
          <p:nvPr/>
        </p:nvSpPr>
        <p:spPr>
          <a:xfrm>
            <a:off x="457200" y="1664208"/>
            <a:ext cx="329184" cy="329184"/>
          </a:xfrm>
          <a:prstGeom prst="ellipse">
            <a:avLst/>
          </a:prstGeom>
          <a:solidFill>
            <a:srgbClr val="F2A900"/>
          </a:solidFill>
          <a:ln w="12700">
            <a:solidFill>
              <a:srgbClr val="C98C00"/>
            </a:solidFill>
            <a:prstDash val="solid"/>
          </a:ln>
        </p:spPr>
      </p:sp>
      <p:sp>
        <p:nvSpPr>
          <p:cNvPr id="10" name="Text 8"/>
          <p:cNvSpPr txBox="1"/>
          <p:nvPr/>
        </p:nvSpPr>
        <p:spPr>
          <a:xfrm>
            <a:off x="457200" y="166420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11" name="Text 9"/>
          <p:cNvSpPr txBox="1"/>
          <p:nvPr/>
        </p:nvSpPr>
        <p:spPr>
          <a:xfrm>
            <a:off x="914400" y="1645920"/>
            <a:ext cx="4663440" cy="384048"/>
          </a:xfrm>
          <a:prstGeom prst="rect">
            <a:avLst/>
          </a:prstGeom>
          <a:noFill/>
          <a:ln/>
        </p:spPr>
        <p:txBody>
          <a:bodyPr wrap="square" lIns="0" tIns="0" rIns="0" bIns="0" rtlCol="0" anchor="ctr"/>
          <a:lstStyle/>
          <a:p>
            <a:pPr indent="0" marL="0">
              <a:buNone/>
            </a:pPr>
            <a:r>
              <a:rPr lang="en-US" sz="1500" dirty="0">
                <a:solidFill>
                  <a:srgbClr val="1B1B1B"/>
                </a:solidFill>
              </a:rPr>
              <a:t>Check the LEDs: step3a_check_leds.py</a:t>
            </a:r>
            <a:endParaRPr lang="en-US" sz="1500" dirty="0"/>
          </a:p>
        </p:txBody>
      </p:sp>
      <p:sp>
        <p:nvSpPr>
          <p:cNvPr id="12" name="Shape 10"/>
          <p:cNvSpPr/>
          <p:nvPr/>
        </p:nvSpPr>
        <p:spPr>
          <a:xfrm>
            <a:off x="457200" y="2212848"/>
            <a:ext cx="329184" cy="329184"/>
          </a:xfrm>
          <a:prstGeom prst="ellipse">
            <a:avLst/>
          </a:prstGeom>
          <a:solidFill>
            <a:srgbClr val="F2A900"/>
          </a:solidFill>
          <a:ln w="12700">
            <a:solidFill>
              <a:srgbClr val="C98C00"/>
            </a:solidFill>
            <a:prstDash val="solid"/>
          </a:ln>
        </p:spPr>
      </p:sp>
      <p:sp>
        <p:nvSpPr>
          <p:cNvPr id="13" name="Text 11"/>
          <p:cNvSpPr txBox="1"/>
          <p:nvPr/>
        </p:nvSpPr>
        <p:spPr>
          <a:xfrm>
            <a:off x="457200" y="221284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14" name="Text 12"/>
          <p:cNvSpPr txBox="1"/>
          <p:nvPr/>
        </p:nvSpPr>
        <p:spPr>
          <a:xfrm>
            <a:off x="914400" y="2194560"/>
            <a:ext cx="4663440" cy="384048"/>
          </a:xfrm>
          <a:prstGeom prst="rect">
            <a:avLst/>
          </a:prstGeom>
          <a:noFill/>
          <a:ln/>
        </p:spPr>
        <p:txBody>
          <a:bodyPr wrap="square" lIns="0" tIns="0" rIns="0" bIns="0" rtlCol="0" anchor="ctr"/>
          <a:lstStyle/>
          <a:p>
            <a:pPr indent="0" marL="0">
              <a:buNone/>
            </a:pPr>
            <a:r>
              <a:rPr lang="en-US" sz="1500" dirty="0">
                <a:solidFill>
                  <a:srgbClr val="1B1B1B"/>
                </a:solidFill>
              </a:rPr>
              <a:t>Add the sensor: Lesson 3 PDF, page 25</a:t>
            </a:r>
            <a:endParaRPr lang="en-US" sz="1500" dirty="0"/>
          </a:p>
        </p:txBody>
      </p:sp>
      <p:sp>
        <p:nvSpPr>
          <p:cNvPr id="15" name="Shape 13"/>
          <p:cNvSpPr/>
          <p:nvPr/>
        </p:nvSpPr>
        <p:spPr>
          <a:xfrm>
            <a:off x="457200" y="2761488"/>
            <a:ext cx="329184" cy="329184"/>
          </a:xfrm>
          <a:prstGeom prst="ellipse">
            <a:avLst/>
          </a:prstGeom>
          <a:solidFill>
            <a:srgbClr val="F2A900"/>
          </a:solidFill>
          <a:ln w="12700">
            <a:solidFill>
              <a:srgbClr val="C98C00"/>
            </a:solidFill>
            <a:prstDash val="solid"/>
          </a:ln>
        </p:spPr>
      </p:sp>
      <p:sp>
        <p:nvSpPr>
          <p:cNvPr id="16" name="Text 14"/>
          <p:cNvSpPr txBox="1"/>
          <p:nvPr/>
        </p:nvSpPr>
        <p:spPr>
          <a:xfrm>
            <a:off x="457200" y="276148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4</a:t>
            </a:r>
            <a:endParaRPr lang="en-US" sz="1300" dirty="0"/>
          </a:p>
        </p:txBody>
      </p:sp>
      <p:sp>
        <p:nvSpPr>
          <p:cNvPr id="17" name="Text 15"/>
          <p:cNvSpPr txBox="1"/>
          <p:nvPr/>
        </p:nvSpPr>
        <p:spPr>
          <a:xfrm>
            <a:off x="914400" y="2743200"/>
            <a:ext cx="4663440" cy="384048"/>
          </a:xfrm>
          <a:prstGeom prst="rect">
            <a:avLst/>
          </a:prstGeom>
          <a:noFill/>
          <a:ln/>
        </p:spPr>
        <p:txBody>
          <a:bodyPr wrap="square" lIns="0" tIns="0" rIns="0" bIns="0" rtlCol="0" anchor="ctr"/>
          <a:lstStyle/>
          <a:p>
            <a:pPr indent="0" marL="0">
              <a:buNone/>
            </a:pPr>
            <a:r>
              <a:rPr lang="en-US" sz="1500" dirty="0">
                <a:solidFill>
                  <a:srgbClr val="1B1B1B"/>
                </a:solidFill>
              </a:rPr>
              <a:t>Run step4_ultrasonic_print.py, then step5_solution.py</a:t>
            </a:r>
            <a:endParaRPr lang="en-US" sz="1500" dirty="0"/>
          </a:p>
        </p:txBody>
      </p:sp>
      <p:sp>
        <p:nvSpPr>
          <p:cNvPr id="18" name="Shape 16"/>
          <p:cNvSpPr/>
          <p:nvPr/>
        </p:nvSpPr>
        <p:spPr>
          <a:xfrm>
            <a:off x="457200" y="3310128"/>
            <a:ext cx="329184" cy="329184"/>
          </a:xfrm>
          <a:prstGeom prst="ellipse">
            <a:avLst/>
          </a:prstGeom>
          <a:solidFill>
            <a:srgbClr val="F2A900"/>
          </a:solidFill>
          <a:ln w="12700">
            <a:solidFill>
              <a:srgbClr val="C98C00"/>
            </a:solidFill>
            <a:prstDash val="solid"/>
          </a:ln>
        </p:spPr>
      </p:sp>
      <p:sp>
        <p:nvSpPr>
          <p:cNvPr id="19" name="Text 17"/>
          <p:cNvSpPr txBox="1"/>
          <p:nvPr/>
        </p:nvSpPr>
        <p:spPr>
          <a:xfrm>
            <a:off x="457200" y="331012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5</a:t>
            </a:r>
            <a:endParaRPr lang="en-US" sz="1300" dirty="0"/>
          </a:p>
        </p:txBody>
      </p:sp>
      <p:sp>
        <p:nvSpPr>
          <p:cNvPr id="20" name="Text 18"/>
          <p:cNvSpPr txBox="1"/>
          <p:nvPr/>
        </p:nvSpPr>
        <p:spPr>
          <a:xfrm>
            <a:off x="914400" y="3291840"/>
            <a:ext cx="4663440" cy="384048"/>
          </a:xfrm>
          <a:prstGeom prst="rect">
            <a:avLst/>
          </a:prstGeom>
          <a:noFill/>
          <a:ln/>
        </p:spPr>
        <p:txBody>
          <a:bodyPr wrap="square" lIns="0" tIns="0" rIns="0" bIns="0" rtlCol="0" anchor="ctr"/>
          <a:lstStyle/>
          <a:p>
            <a:pPr indent="0" marL="0">
              <a:buNone/>
            </a:pPr>
            <a:r>
              <a:rPr lang="en-US" sz="1500" dirty="0">
                <a:solidFill>
                  <a:srgbClr val="1B1B1B"/>
                </a:solidFill>
              </a:rPr>
              <a:t>LED bar works? Go straight to Step 1</a:t>
            </a:r>
            <a:endParaRPr lang="en-US" sz="1500" dirty="0"/>
          </a:p>
        </p:txBody>
      </p:sp>
      <p:sp>
        <p:nvSpPr>
          <p:cNvPr id="21" name="Shape 19"/>
          <p:cNvSpPr/>
          <p:nvPr/>
        </p:nvSpPr>
        <p:spPr>
          <a:xfrm>
            <a:off x="457200" y="3931920"/>
            <a:ext cx="5120640" cy="502920"/>
          </a:xfrm>
          <a:prstGeom prst="roundRect">
            <a:avLst>
              <a:gd name="adj" fmla="val 14545"/>
            </a:avLst>
          </a:prstGeom>
          <a:solidFill>
            <a:srgbClr val="DDF3E9"/>
          </a:solidFill>
          <a:ln w="15875">
            <a:solidFill>
              <a:srgbClr val="1F8A70"/>
            </a:solidFill>
            <a:prstDash val="solid"/>
          </a:ln>
        </p:spPr>
      </p:sp>
      <p:sp>
        <p:nvSpPr>
          <p:cNvPr id="22" name="Text 20"/>
          <p:cNvSpPr txBox="1"/>
          <p:nvPr/>
        </p:nvSpPr>
        <p:spPr>
          <a:xfrm>
            <a:off x="594360" y="3931920"/>
            <a:ext cx="4846320" cy="50292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Hand closer, more LEDs on.</a:t>
            </a:r>
            <a:endParaRPr lang="en-US" sz="1400" dirty="0"/>
          </a:p>
        </p:txBody>
      </p:sp>
      <p:pic>
        <p:nvPicPr>
          <p:cNvPr id="23" name="Image 0" descr="ESP32 pinout from Lesson 1">    </p:cNvPr>
          <p:cNvPicPr>
            <a:picLocks noChangeAspect="1"/>
          </p:cNvPicPr>
          <p:nvPr/>
        </p:nvPicPr>
        <p:blipFill>
          <a:blip r:embed="rId1"/>
          <a:stretch>
            <a:fillRect/>
          </a:stretch>
        </p:blipFill>
        <p:spPr>
          <a:xfrm>
            <a:off x="5989320" y="1005840"/>
            <a:ext cx="2708910" cy="3611880"/>
          </a:xfrm>
          <a:prstGeom prst="rect">
            <a:avLst/>
          </a:prstGeom>
        </p:spPr>
      </p:pic>
      <p:sp>
        <p:nvSpPr>
          <p:cNvPr id="24" name="Shape 21"/>
          <p:cNvSpPr/>
          <p:nvPr/>
        </p:nvSpPr>
        <p:spPr>
          <a:xfrm>
            <a:off x="8354004" y="3006343"/>
            <a:ext cx="329260" cy="109753"/>
          </a:xfrm>
          <a:prstGeom prst="roundRect">
            <a:avLst>
              <a:gd name="adj" fmla="val 33326"/>
            </a:avLst>
          </a:prstGeom>
          <a:solidFill>
            <a:srgbClr val="C98C00">
              <a:alpha val="25000"/>
            </a:srgbClr>
          </a:solidFill>
          <a:ln w="25400">
            <a:solidFill>
              <a:srgbClr val="C98C00"/>
            </a:solidFill>
            <a:prstDash val="solid"/>
          </a:ln>
        </p:spPr>
      </p:sp>
      <p:sp>
        <p:nvSpPr>
          <p:cNvPr id="25" name="Shape 22"/>
          <p:cNvSpPr/>
          <p:nvPr/>
        </p:nvSpPr>
        <p:spPr>
          <a:xfrm>
            <a:off x="8354004" y="2896589"/>
            <a:ext cx="329260" cy="109753"/>
          </a:xfrm>
          <a:prstGeom prst="roundRect">
            <a:avLst>
              <a:gd name="adj" fmla="val 33326"/>
            </a:avLst>
          </a:prstGeom>
          <a:solidFill>
            <a:srgbClr val="C98C00">
              <a:alpha val="25000"/>
            </a:srgbClr>
          </a:solidFill>
          <a:ln w="25400">
            <a:solidFill>
              <a:srgbClr val="C98C00"/>
            </a:solidFill>
            <a:prstDash val="solid"/>
          </a:ln>
        </p:spPr>
      </p:sp>
      <p:sp>
        <p:nvSpPr>
          <p:cNvPr id="26" name="Shape 23"/>
          <p:cNvSpPr/>
          <p:nvPr/>
        </p:nvSpPr>
        <p:spPr>
          <a:xfrm>
            <a:off x="8354004" y="2682072"/>
            <a:ext cx="329260" cy="109753"/>
          </a:xfrm>
          <a:prstGeom prst="roundRect">
            <a:avLst>
              <a:gd name="adj" fmla="val 33326"/>
            </a:avLst>
          </a:prstGeom>
          <a:solidFill>
            <a:srgbClr val="C98C00">
              <a:alpha val="25000"/>
            </a:srgbClr>
          </a:solidFill>
          <a:ln w="25400">
            <a:solidFill>
              <a:srgbClr val="C98C00"/>
            </a:solidFill>
            <a:prstDash val="solid"/>
          </a:ln>
        </p:spPr>
      </p:sp>
      <p:sp>
        <p:nvSpPr>
          <p:cNvPr id="27" name="Shape 24"/>
          <p:cNvSpPr/>
          <p:nvPr/>
        </p:nvSpPr>
        <p:spPr>
          <a:xfrm>
            <a:off x="8354004" y="2577307"/>
            <a:ext cx="329260" cy="109753"/>
          </a:xfrm>
          <a:prstGeom prst="roundRect">
            <a:avLst>
              <a:gd name="adj" fmla="val 33326"/>
            </a:avLst>
          </a:prstGeom>
          <a:solidFill>
            <a:srgbClr val="C98C00">
              <a:alpha val="25000"/>
            </a:srgbClr>
          </a:solidFill>
          <a:ln w="25400">
            <a:solidFill>
              <a:srgbClr val="C98C00"/>
            </a:solidFill>
            <a:prstDash val="solid"/>
          </a:ln>
        </p:spPr>
      </p:sp>
      <p:sp>
        <p:nvSpPr>
          <p:cNvPr id="28" name="Shape 25"/>
          <p:cNvSpPr/>
          <p:nvPr/>
        </p:nvSpPr>
        <p:spPr>
          <a:xfrm>
            <a:off x="8354004" y="1928765"/>
            <a:ext cx="329260" cy="109753"/>
          </a:xfrm>
          <a:prstGeom prst="roundRect">
            <a:avLst>
              <a:gd name="adj" fmla="val 33326"/>
            </a:avLst>
          </a:prstGeom>
          <a:solidFill>
            <a:srgbClr val="C98C00">
              <a:alpha val="25000"/>
            </a:srgbClr>
          </a:solidFill>
          <a:ln w="25400">
            <a:solidFill>
              <a:srgbClr val="C98C00"/>
            </a:solidFill>
            <a:prstDash val="solid"/>
          </a:ln>
        </p:spPr>
      </p:sp>
      <p:sp>
        <p:nvSpPr>
          <p:cNvPr id="29" name="Shape 26"/>
          <p:cNvSpPr/>
          <p:nvPr/>
        </p:nvSpPr>
        <p:spPr>
          <a:xfrm>
            <a:off x="6298625" y="3779604"/>
            <a:ext cx="309305" cy="109753"/>
          </a:xfrm>
          <a:prstGeom prst="roundRect">
            <a:avLst>
              <a:gd name="adj" fmla="val 33326"/>
            </a:avLst>
          </a:prstGeom>
          <a:solidFill>
            <a:srgbClr val="D64545">
              <a:alpha val="25000"/>
            </a:srgbClr>
          </a:solidFill>
          <a:ln w="25400">
            <a:solidFill>
              <a:srgbClr val="D64545"/>
            </a:solidFill>
            <a:prstDash val="solid"/>
          </a:ln>
        </p:spPr>
      </p:sp>
      <p:sp>
        <p:nvSpPr>
          <p:cNvPr id="30" name="Shape 27"/>
          <p:cNvSpPr/>
          <p:nvPr/>
        </p:nvSpPr>
        <p:spPr>
          <a:xfrm>
            <a:off x="6298625" y="3345580"/>
            <a:ext cx="309305" cy="109753"/>
          </a:xfrm>
          <a:prstGeom prst="roundRect">
            <a:avLst>
              <a:gd name="adj" fmla="val 33326"/>
            </a:avLst>
          </a:prstGeom>
          <a:solidFill>
            <a:srgbClr val="00A3A3">
              <a:alpha val="25000"/>
            </a:srgbClr>
          </a:solidFill>
          <a:ln w="25400">
            <a:solidFill>
              <a:srgbClr val="00A3A3"/>
            </a:solidFill>
            <a:prstDash val="solid"/>
          </a:ln>
        </p:spPr>
      </p:sp>
      <p:sp>
        <p:nvSpPr>
          <p:cNvPr id="31" name="Shape 28"/>
          <p:cNvSpPr/>
          <p:nvPr/>
        </p:nvSpPr>
        <p:spPr>
          <a:xfrm>
            <a:off x="6298625" y="3016320"/>
            <a:ext cx="309305" cy="109753"/>
          </a:xfrm>
          <a:prstGeom prst="roundRect">
            <a:avLst>
              <a:gd name="adj" fmla="val 33326"/>
            </a:avLst>
          </a:prstGeom>
          <a:solidFill>
            <a:srgbClr val="C2185B">
              <a:alpha val="25000"/>
            </a:srgbClr>
          </a:solidFill>
          <a:ln w="25400">
            <a:solidFill>
              <a:srgbClr val="C2185B"/>
            </a:solidFill>
            <a:prstDash val="solid"/>
          </a:ln>
        </p:spPr>
      </p:sp>
      <p:sp>
        <p:nvSpPr>
          <p:cNvPr id="32" name="Shape 29"/>
          <p:cNvSpPr/>
          <p:nvPr/>
        </p:nvSpPr>
        <p:spPr>
          <a:xfrm>
            <a:off x="6298625" y="3240815"/>
            <a:ext cx="309305" cy="109753"/>
          </a:xfrm>
          <a:prstGeom prst="roundRect">
            <a:avLst>
              <a:gd name="adj" fmla="val 33326"/>
            </a:avLst>
          </a:prstGeom>
          <a:solidFill>
            <a:srgbClr val="1B1B1B">
              <a:alpha val="25000"/>
            </a:srgbClr>
          </a:solidFill>
          <a:ln w="25400">
            <a:solidFill>
              <a:srgbClr val="1B1B1B"/>
            </a:solidFill>
            <a:prstDash val="solid"/>
          </a:ln>
        </p:spPr>
      </p:sp>
      <p:sp>
        <p:nvSpPr>
          <p:cNvPr id="33" name="Shape 30"/>
          <p:cNvSpPr/>
          <p:nvPr/>
        </p:nvSpPr>
        <p:spPr>
          <a:xfrm>
            <a:off x="8354004" y="1709259"/>
            <a:ext cx="329260" cy="109753"/>
          </a:xfrm>
          <a:prstGeom prst="roundRect">
            <a:avLst>
              <a:gd name="adj" fmla="val 33326"/>
            </a:avLst>
          </a:prstGeom>
          <a:solidFill>
            <a:srgbClr val="1B1B1B">
              <a:alpha val="25000"/>
            </a:srgbClr>
          </a:solidFill>
          <a:ln w="25400">
            <a:solidFill>
              <a:srgbClr val="1B1B1B"/>
            </a:solidFill>
            <a:prstDash val="solid"/>
          </a:ln>
        </p:spPr>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A servo is an output that moves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120640" cy="914400"/>
        </p:xfrm>
        <a:graphic>
          <a:graphicData uri="http://schemas.openxmlformats.org/drawingml/2006/table">
            <a:tbl>
              <a:tblPr/>
              <a:tblGrid>
                <a:gridCol w="1188720"/>
                <a:gridCol w="1737360"/>
                <a:gridCol w="219456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You say</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It does</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r>
              <a:tr h="475488">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LED</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value(1)</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light, on or off</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r h="475488">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Buzzer</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value(1)</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sound, on or off</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B1B1B"/>
                          </a:solidFill>
                          <a:latin typeface="Calibri" pitchFamily="34" charset="0"/>
                          <a:ea typeface="Calibri" pitchFamily="34" charset="-122"/>
                          <a:cs typeface="Calibri" pitchFamily="34" charset="-120"/>
                        </a:rPr>
                        <a:t>Servo</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3E8FA"/>
                    </a:solidFill>
                  </a:tcPr>
                </a:tc>
                <a:tc>
                  <a:txBody>
                    <a:bodyPr/>
                    <a:lstStyle/>
                    <a:p>
                      <a:pPr indent="0" marL="0">
                        <a:buNone/>
                      </a:pPr>
                      <a:r>
                        <a:rPr lang="en-US" sz="1400" b="1" dirty="0">
                          <a:solidFill>
                            <a:srgbClr val="1B1B1B"/>
                          </a:solidFill>
                          <a:latin typeface="Calibri" pitchFamily="34" charset="0"/>
                          <a:ea typeface="Calibri" pitchFamily="34" charset="-122"/>
                          <a:cs typeface="Calibri" pitchFamily="34" charset="-120"/>
                        </a:rPr>
                        <a:t>an angle: 0 to 180</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3E8FA"/>
                    </a:solidFill>
                  </a:tcPr>
                </a:tc>
                <a:tc>
                  <a:txBody>
                    <a:bodyPr/>
                    <a:lstStyle/>
                    <a:p>
                      <a:pPr indent="0" marL="0">
                        <a:buNone/>
                      </a:pPr>
                      <a:r>
                        <a:rPr lang="en-US" sz="1400" b="1" dirty="0">
                          <a:solidFill>
                            <a:srgbClr val="1B1B1B"/>
                          </a:solidFill>
                          <a:latin typeface="Calibri" pitchFamily="34" charset="0"/>
                          <a:ea typeface="Calibri" pitchFamily="34" charset="-122"/>
                          <a:cs typeface="Calibri" pitchFamily="34" charset="-120"/>
                        </a:rPr>
                        <a:t>turns there and HOLDS it</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3E8FA"/>
                    </a:solidFill>
                  </a:tcPr>
                </a:tc>
              </a:tr>
            </a:tbl>
          </a:graphicData>
        </a:graphic>
      </p:graphicFrame>
      <p:sp>
        <p:nvSpPr>
          <p:cNvPr id="4" name="Text 1"/>
          <p:cNvSpPr txBox="1"/>
          <p:nvPr/>
        </p:nvSpPr>
        <p:spPr>
          <a:xfrm>
            <a:off x="457200" y="3108960"/>
            <a:ext cx="5120640" cy="365760"/>
          </a:xfrm>
          <a:prstGeom prst="rect">
            <a:avLst/>
          </a:prstGeom>
          <a:noFill/>
          <a:ln/>
        </p:spPr>
        <p:txBody>
          <a:bodyPr wrap="square" lIns="0" tIns="0" rIns="0" bIns="0" rtlCol="0" anchor="ctr"/>
          <a:lstStyle/>
          <a:p>
            <a:pPr indent="0" marL="0">
              <a:buNone/>
            </a:pPr>
            <a:r>
              <a:rPr lang="en-US" sz="1500" b="1" dirty="0">
                <a:solidFill>
                  <a:srgbClr val="0B3D2E"/>
                </a:solidFill>
              </a:rPr>
              <a:t>It holds the angle. Let go of the door and it stays open.</a:t>
            </a:r>
            <a:endParaRPr lang="en-US" sz="1500" dirty="0"/>
          </a:p>
        </p:txBody>
      </p:sp>
      <p:sp>
        <p:nvSpPr>
          <p:cNvPr id="5" name="Text 2"/>
          <p:cNvSpPr txBox="1"/>
          <p:nvPr/>
        </p:nvSpPr>
        <p:spPr>
          <a:xfrm>
            <a:off x="457200" y="3520440"/>
            <a:ext cx="5120640" cy="822960"/>
          </a:xfrm>
          <a:prstGeom prst="rect">
            <a:avLst/>
          </a:prstGeom>
          <a:noFill/>
          <a:ln/>
        </p:spPr>
        <p:txBody>
          <a:bodyPr wrap="square" lIns="0" tIns="0" rIns="0" bIns="0" rtlCol="0" anchor="t"/>
          <a:lstStyle/>
          <a:p>
            <a:pPr indent="0" marL="0">
              <a:buNone/>
            </a:pPr>
            <a:r>
              <a:rPr lang="en-US" sz="1400" dirty="0">
                <a:solidFill>
                  <a:srgbClr val="1B1B1B"/>
                </a:solidFill>
              </a:rPr>
              <a:t>Inside: a small motor, gears, and a sensor that checks where the arm is, thousands of times a second.</a:t>
            </a:r>
            <a:endParaRPr lang="en-US" sz="1400" dirty="0"/>
          </a:p>
        </p:txBody>
      </p:sp>
      <p:sp>
        <p:nvSpPr>
          <p:cNvPr id="6" name="Shape 3"/>
          <p:cNvSpPr/>
          <p:nvPr/>
        </p:nvSpPr>
        <p:spPr>
          <a:xfrm>
            <a:off x="6035040" y="1463040"/>
            <a:ext cx="731520" cy="566928"/>
          </a:xfrm>
          <a:prstGeom prst="roundRect">
            <a:avLst>
              <a:gd name="adj" fmla="val 8065"/>
            </a:avLst>
          </a:prstGeom>
          <a:solidFill>
            <a:srgbClr val="1F6FB2"/>
          </a:solidFill>
          <a:ln w="12700">
            <a:solidFill>
              <a:srgbClr val="16568C"/>
            </a:solidFill>
            <a:prstDash val="solid"/>
          </a:ln>
        </p:spPr>
      </p:sp>
      <p:sp>
        <p:nvSpPr>
          <p:cNvPr id="7" name="Shape 4"/>
          <p:cNvSpPr/>
          <p:nvPr/>
        </p:nvSpPr>
        <p:spPr>
          <a:xfrm>
            <a:off x="5888736" y="1554480"/>
            <a:ext cx="146304" cy="128016"/>
          </a:xfrm>
          <a:prstGeom prst="rect">
            <a:avLst/>
          </a:prstGeom>
          <a:solidFill>
            <a:srgbClr val="1F6FB2"/>
          </a:solidFill>
          <a:ln w="12700">
            <a:solidFill>
              <a:srgbClr val="16568C"/>
            </a:solidFill>
            <a:prstDash val="solid"/>
          </a:ln>
        </p:spPr>
      </p:sp>
      <p:sp>
        <p:nvSpPr>
          <p:cNvPr id="8" name="Shape 5"/>
          <p:cNvSpPr/>
          <p:nvPr/>
        </p:nvSpPr>
        <p:spPr>
          <a:xfrm>
            <a:off x="6766560" y="1554480"/>
            <a:ext cx="146304" cy="128016"/>
          </a:xfrm>
          <a:prstGeom prst="rect">
            <a:avLst/>
          </a:prstGeom>
          <a:solidFill>
            <a:srgbClr val="1F6FB2"/>
          </a:solidFill>
          <a:ln w="12700">
            <a:solidFill>
              <a:srgbClr val="16568C"/>
            </a:solidFill>
            <a:prstDash val="solid"/>
          </a:ln>
        </p:spPr>
      </p:sp>
      <p:sp>
        <p:nvSpPr>
          <p:cNvPr id="9" name="Shape 6"/>
          <p:cNvSpPr/>
          <p:nvPr/>
        </p:nvSpPr>
        <p:spPr>
          <a:xfrm>
            <a:off x="6153912" y="1481328"/>
            <a:ext cx="219456" cy="219456"/>
          </a:xfrm>
          <a:prstGeom prst="ellipse">
            <a:avLst/>
          </a:prstGeom>
          <a:solidFill>
            <a:srgbClr val="ECEFF1"/>
          </a:solidFill>
          <a:ln w="12700">
            <a:solidFill>
              <a:srgbClr val="90A4AE"/>
            </a:solidFill>
            <a:prstDash val="solid"/>
          </a:ln>
        </p:spPr>
      </p:sp>
      <p:sp>
        <p:nvSpPr>
          <p:cNvPr id="10" name="Shape 7"/>
          <p:cNvSpPr/>
          <p:nvPr/>
        </p:nvSpPr>
        <p:spPr>
          <a:xfrm>
            <a:off x="6263640" y="1591056"/>
            <a:ext cx="685800" cy="0"/>
          </a:xfrm>
          <a:prstGeom prst="line">
            <a:avLst/>
          </a:prstGeom>
          <a:noFill/>
          <a:ln w="76200">
            <a:solidFill>
              <a:srgbClr val="ECEFF1"/>
            </a:solidFill>
            <a:prstDash val="solid"/>
          </a:ln>
        </p:spPr>
      </p:sp>
      <p:sp>
        <p:nvSpPr>
          <p:cNvPr id="11" name="Shape 8"/>
          <p:cNvSpPr/>
          <p:nvPr/>
        </p:nvSpPr>
        <p:spPr>
          <a:xfrm>
            <a:off x="6217920" y="1545336"/>
            <a:ext cx="91440" cy="91440"/>
          </a:xfrm>
          <a:prstGeom prst="ellipse">
            <a:avLst/>
          </a:prstGeom>
          <a:solidFill>
            <a:srgbClr val="607D8B"/>
          </a:solidFill>
          <a:ln w="12700">
            <a:solidFill>
              <a:srgbClr val="607D8B"/>
            </a:solidFill>
            <a:prstDash val="solid"/>
          </a:ln>
        </p:spPr>
      </p:sp>
      <p:sp>
        <p:nvSpPr>
          <p:cNvPr id="12" name="Text 9"/>
          <p:cNvSpPr txBox="1"/>
          <p:nvPr/>
        </p:nvSpPr>
        <p:spPr>
          <a:xfrm>
            <a:off x="6949440" y="1207008"/>
            <a:ext cx="457200" cy="228600"/>
          </a:xfrm>
          <a:prstGeom prst="rect">
            <a:avLst/>
          </a:prstGeom>
          <a:noFill/>
          <a:ln/>
        </p:spPr>
        <p:txBody>
          <a:bodyPr wrap="square" lIns="0" tIns="0" rIns="0" bIns="0" rtlCol="0" anchor="ctr"/>
          <a:lstStyle/>
          <a:p>
            <a:pPr indent="0" marL="0">
              <a:buNone/>
            </a:pPr>
            <a:r>
              <a:rPr lang="en-US" sz="1200" b="1" dirty="0">
                <a:solidFill>
                  <a:srgbClr val="6B7280"/>
                </a:solidFill>
              </a:rPr>
              <a:t>0°</a:t>
            </a:r>
            <a:endParaRPr lang="en-US" sz="1200" dirty="0"/>
          </a:p>
        </p:txBody>
      </p:sp>
      <p:sp>
        <p:nvSpPr>
          <p:cNvPr id="13" name="Shape 10"/>
          <p:cNvSpPr/>
          <p:nvPr/>
        </p:nvSpPr>
        <p:spPr>
          <a:xfrm>
            <a:off x="6035040" y="2834640"/>
            <a:ext cx="731520" cy="566928"/>
          </a:xfrm>
          <a:prstGeom prst="roundRect">
            <a:avLst>
              <a:gd name="adj" fmla="val 8065"/>
            </a:avLst>
          </a:prstGeom>
          <a:solidFill>
            <a:srgbClr val="1F6FB2"/>
          </a:solidFill>
          <a:ln w="12700">
            <a:solidFill>
              <a:srgbClr val="16568C"/>
            </a:solidFill>
            <a:prstDash val="solid"/>
          </a:ln>
        </p:spPr>
      </p:sp>
      <p:sp>
        <p:nvSpPr>
          <p:cNvPr id="14" name="Shape 11"/>
          <p:cNvSpPr/>
          <p:nvPr/>
        </p:nvSpPr>
        <p:spPr>
          <a:xfrm>
            <a:off x="5888736" y="2926080"/>
            <a:ext cx="146304" cy="128016"/>
          </a:xfrm>
          <a:prstGeom prst="rect">
            <a:avLst/>
          </a:prstGeom>
          <a:solidFill>
            <a:srgbClr val="1F6FB2"/>
          </a:solidFill>
          <a:ln w="12700">
            <a:solidFill>
              <a:srgbClr val="16568C"/>
            </a:solidFill>
            <a:prstDash val="solid"/>
          </a:ln>
        </p:spPr>
      </p:sp>
      <p:sp>
        <p:nvSpPr>
          <p:cNvPr id="15" name="Shape 12"/>
          <p:cNvSpPr/>
          <p:nvPr/>
        </p:nvSpPr>
        <p:spPr>
          <a:xfrm>
            <a:off x="6766560" y="2926080"/>
            <a:ext cx="146304" cy="128016"/>
          </a:xfrm>
          <a:prstGeom prst="rect">
            <a:avLst/>
          </a:prstGeom>
          <a:solidFill>
            <a:srgbClr val="1F6FB2"/>
          </a:solidFill>
          <a:ln w="12700">
            <a:solidFill>
              <a:srgbClr val="16568C"/>
            </a:solidFill>
            <a:prstDash val="solid"/>
          </a:ln>
        </p:spPr>
      </p:sp>
      <p:sp>
        <p:nvSpPr>
          <p:cNvPr id="16" name="Shape 13"/>
          <p:cNvSpPr/>
          <p:nvPr/>
        </p:nvSpPr>
        <p:spPr>
          <a:xfrm>
            <a:off x="6153912" y="2852928"/>
            <a:ext cx="219456" cy="219456"/>
          </a:xfrm>
          <a:prstGeom prst="ellipse">
            <a:avLst/>
          </a:prstGeom>
          <a:solidFill>
            <a:srgbClr val="ECEFF1"/>
          </a:solidFill>
          <a:ln w="12700">
            <a:solidFill>
              <a:srgbClr val="90A4AE"/>
            </a:solidFill>
            <a:prstDash val="solid"/>
          </a:ln>
        </p:spPr>
      </p:sp>
      <p:sp>
        <p:nvSpPr>
          <p:cNvPr id="17" name="Shape 14"/>
          <p:cNvSpPr/>
          <p:nvPr/>
        </p:nvSpPr>
        <p:spPr>
          <a:xfrm>
            <a:off x="6263640" y="2276856"/>
            <a:ext cx="0" cy="685800"/>
          </a:xfrm>
          <a:prstGeom prst="line">
            <a:avLst/>
          </a:prstGeom>
          <a:noFill/>
          <a:ln w="76200">
            <a:solidFill>
              <a:srgbClr val="ECEFF1"/>
            </a:solidFill>
            <a:prstDash val="solid"/>
          </a:ln>
        </p:spPr>
      </p:sp>
      <p:sp>
        <p:nvSpPr>
          <p:cNvPr id="18" name="Shape 15"/>
          <p:cNvSpPr/>
          <p:nvPr/>
        </p:nvSpPr>
        <p:spPr>
          <a:xfrm>
            <a:off x="6217920" y="2916936"/>
            <a:ext cx="91440" cy="91440"/>
          </a:xfrm>
          <a:prstGeom prst="ellipse">
            <a:avLst/>
          </a:prstGeom>
          <a:solidFill>
            <a:srgbClr val="607D8B"/>
          </a:solidFill>
          <a:ln w="12700">
            <a:solidFill>
              <a:srgbClr val="607D8B"/>
            </a:solidFill>
            <a:prstDash val="solid"/>
          </a:ln>
        </p:spPr>
      </p:sp>
      <p:sp>
        <p:nvSpPr>
          <p:cNvPr id="19" name="Text 16"/>
          <p:cNvSpPr txBox="1"/>
          <p:nvPr/>
        </p:nvSpPr>
        <p:spPr>
          <a:xfrm>
            <a:off x="6400800" y="2286000"/>
            <a:ext cx="548640" cy="228600"/>
          </a:xfrm>
          <a:prstGeom prst="rect">
            <a:avLst/>
          </a:prstGeom>
          <a:noFill/>
          <a:ln/>
        </p:spPr>
        <p:txBody>
          <a:bodyPr wrap="square" lIns="0" tIns="0" rIns="0" bIns="0" rtlCol="0" anchor="ctr"/>
          <a:lstStyle/>
          <a:p>
            <a:pPr indent="0" marL="0">
              <a:buNone/>
            </a:pPr>
            <a:r>
              <a:rPr lang="en-US" sz="1200" b="1" dirty="0">
                <a:solidFill>
                  <a:srgbClr val="1F8A70"/>
                </a:solidFill>
              </a:rPr>
              <a:t>90°</a:t>
            </a:r>
            <a:endParaRPr lang="en-US" sz="1200" dirty="0"/>
          </a:p>
        </p:txBody>
      </p:sp>
      <p:sp>
        <p:nvSpPr>
          <p:cNvPr id="20" name="Text 17"/>
          <p:cNvSpPr txBox="1"/>
          <p:nvPr/>
        </p:nvSpPr>
        <p:spPr>
          <a:xfrm>
            <a:off x="5760720" y="3886200"/>
            <a:ext cx="2926080" cy="274320"/>
          </a:xfrm>
          <a:prstGeom prst="rect">
            <a:avLst/>
          </a:prstGeom>
          <a:noFill/>
          <a:ln/>
        </p:spPr>
        <p:txBody>
          <a:bodyPr wrap="square" lIns="0" tIns="0" rIns="0" bIns="0" rtlCol="0" anchor="ctr"/>
          <a:lstStyle/>
          <a:p>
            <a:pPr algn="ctr" indent="0" marL="0">
              <a:buNone/>
            </a:pPr>
            <a:r>
              <a:rPr lang="en-US" sz="1300" i="1" dirty="0">
                <a:solidFill>
                  <a:srgbClr val="6B7280"/>
                </a:solidFill>
              </a:rPr>
              <a:t>Same servo. Two angles.</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Wire the servo - read this first</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3749040" cy="914400"/>
        </p:xfrm>
        <a:graphic>
          <a:graphicData uri="http://schemas.openxmlformats.org/drawingml/2006/table">
            <a:tbl>
              <a:tblPr/>
              <a:tblGrid>
                <a:gridCol w="1828800"/>
                <a:gridCol w="192024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Servo wire</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Goes to</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r>
              <a:tr h="457200">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brown or black</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GND</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r h="457200">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red</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400" b="1" dirty="0">
                          <a:solidFill>
                            <a:srgbClr val="D64545"/>
                          </a:solidFill>
                          <a:latin typeface="Calibri" pitchFamily="34" charset="0"/>
                          <a:ea typeface="Calibri" pitchFamily="34" charset="-122"/>
                          <a:cs typeface="Calibri" pitchFamily="34" charset="-120"/>
                        </a:rPr>
                        <a:t>5V   (never 3V3)</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orange or yellow</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400" dirty="0">
                          <a:solidFill>
                            <a:srgbClr val="1B1B1B"/>
                          </a:solidFill>
                          <a:latin typeface="Calibri" pitchFamily="34" charset="0"/>
                          <a:ea typeface="Calibri" pitchFamily="34" charset="-122"/>
                          <a:cs typeface="Calibri" pitchFamily="34" charset="-120"/>
                        </a:rPr>
                        <a:t>GPIO26  (IO26)</a:t>
                      </a:r>
                      <a:endParaRPr lang="en-US" sz="1400" dirty="0">
                        <a:latin typeface="Calibri" charset="0"/>
                        <a:ea typeface="Calibri" charset="0"/>
                        <a:cs typeface="Calibri" charset="0"/>
                      </a:endParaRPr>
                    </a:p>
                  </a:txBody>
                  <a:tcPr marL="91440" marR="91440"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bl>
          </a:graphicData>
        </a:graphic>
      </p:graphicFrame>
      <p:pic>
        <p:nvPicPr>
          <p:cNvPr id="4" name="Image 0" descr="ESP32 pinout from Lesson 1">    </p:cNvPr>
          <p:cNvPicPr>
            <a:picLocks noChangeAspect="1"/>
          </p:cNvPicPr>
          <p:nvPr/>
        </p:nvPicPr>
        <p:blipFill>
          <a:blip r:embed="rId1"/>
          <a:stretch>
            <a:fillRect/>
          </a:stretch>
        </p:blipFill>
        <p:spPr>
          <a:xfrm>
            <a:off x="457200" y="3063240"/>
            <a:ext cx="1131570" cy="1508760"/>
          </a:xfrm>
          <a:prstGeom prst="rect">
            <a:avLst/>
          </a:prstGeom>
        </p:spPr>
      </p:pic>
      <p:sp>
        <p:nvSpPr>
          <p:cNvPr id="5" name="Shape 1"/>
          <p:cNvSpPr/>
          <p:nvPr/>
        </p:nvSpPr>
        <p:spPr>
          <a:xfrm>
            <a:off x="586403" y="3813452"/>
            <a:ext cx="129203" cy="45846"/>
          </a:xfrm>
          <a:prstGeom prst="roundRect">
            <a:avLst>
              <a:gd name="adj" fmla="val 79780"/>
            </a:avLst>
          </a:prstGeom>
          <a:solidFill>
            <a:srgbClr val="8E44AD">
              <a:alpha val="25000"/>
            </a:srgbClr>
          </a:solidFill>
          <a:ln w="25400">
            <a:solidFill>
              <a:srgbClr val="8E44AD"/>
            </a:solidFill>
            <a:prstDash val="solid"/>
          </a:ln>
        </p:spPr>
      </p:sp>
      <p:sp>
        <p:nvSpPr>
          <p:cNvPr id="6" name="Shape 2"/>
          <p:cNvSpPr/>
          <p:nvPr/>
        </p:nvSpPr>
        <p:spPr>
          <a:xfrm>
            <a:off x="586403" y="4221901"/>
            <a:ext cx="129203" cy="45846"/>
          </a:xfrm>
          <a:prstGeom prst="roundRect">
            <a:avLst>
              <a:gd name="adj" fmla="val 79780"/>
            </a:avLst>
          </a:prstGeom>
          <a:solidFill>
            <a:srgbClr val="D64545">
              <a:alpha val="25000"/>
            </a:srgbClr>
          </a:solidFill>
          <a:ln w="25400">
            <a:solidFill>
              <a:srgbClr val="D64545"/>
            </a:solidFill>
            <a:prstDash val="solid"/>
          </a:ln>
        </p:spPr>
      </p:sp>
      <p:sp>
        <p:nvSpPr>
          <p:cNvPr id="7" name="Shape 3"/>
          <p:cNvSpPr/>
          <p:nvPr/>
        </p:nvSpPr>
        <p:spPr>
          <a:xfrm>
            <a:off x="586403" y="3996837"/>
            <a:ext cx="129203" cy="45846"/>
          </a:xfrm>
          <a:prstGeom prst="roundRect">
            <a:avLst>
              <a:gd name="adj" fmla="val 79780"/>
            </a:avLst>
          </a:prstGeom>
          <a:solidFill>
            <a:srgbClr val="1B1B1B">
              <a:alpha val="25000"/>
            </a:srgbClr>
          </a:solidFill>
          <a:ln w="25400">
            <a:solidFill>
              <a:srgbClr val="1B1B1B"/>
            </a:solidFill>
            <a:prstDash val="solid"/>
          </a:ln>
        </p:spPr>
      </p:sp>
      <p:sp>
        <p:nvSpPr>
          <p:cNvPr id="8" name="Text 4"/>
          <p:cNvSpPr txBox="1"/>
          <p:nvPr/>
        </p:nvSpPr>
        <p:spPr>
          <a:xfrm>
            <a:off x="1737360" y="3063240"/>
            <a:ext cx="2468880" cy="548640"/>
          </a:xfrm>
          <a:prstGeom prst="rect">
            <a:avLst/>
          </a:prstGeom>
          <a:noFill/>
          <a:ln/>
        </p:spPr>
        <p:txBody>
          <a:bodyPr wrap="square" lIns="0" tIns="0" rIns="0" bIns="0" rtlCol="0" anchor="t"/>
          <a:lstStyle/>
          <a:p>
            <a:pPr indent="0" marL="0">
              <a:buNone/>
            </a:pPr>
            <a:r>
              <a:rPr lang="en-US" sz="1300" dirty="0">
                <a:solidFill>
                  <a:srgbClr val="1B1B1B"/>
                </a:solidFill>
              </a:rPr>
              <a:t>IO26 is on the left side, one below IO25.</a:t>
            </a:r>
            <a:endParaRPr lang="en-US" sz="1300" dirty="0"/>
          </a:p>
        </p:txBody>
      </p:sp>
      <p:sp>
        <p:nvSpPr>
          <p:cNvPr id="9" name="Text 5"/>
          <p:cNvSpPr txBox="1"/>
          <p:nvPr/>
        </p:nvSpPr>
        <p:spPr>
          <a:xfrm>
            <a:off x="1737360" y="3657600"/>
            <a:ext cx="2468880" cy="914400"/>
          </a:xfrm>
          <a:prstGeom prst="rect">
            <a:avLst/>
          </a:prstGeom>
          <a:noFill/>
          <a:ln/>
        </p:spPr>
        <p:txBody>
          <a:bodyPr wrap="square" lIns="0" tIns="0" rIns="0" bIns="0" rtlCol="0" anchor="t"/>
          <a:lstStyle/>
          <a:p>
            <a:pPr indent="0" marL="0">
              <a:buNone/>
            </a:pPr>
            <a:r>
              <a:rPr lang="en-US" sz="1300" dirty="0">
                <a:solidFill>
                  <a:srgbClr val="1B1B1B"/>
                </a:solidFill>
              </a:rPr>
              <a:t>The sensor also needs 5V. Use the red rail on the breadboard so one pin feeds both.</a:t>
            </a:r>
            <a:endParaRPr lang="en-US" sz="1300" dirty="0"/>
          </a:p>
        </p:txBody>
      </p:sp>
      <p:sp>
        <p:nvSpPr>
          <p:cNvPr id="10" name="Shape 6"/>
          <p:cNvSpPr/>
          <p:nvPr/>
        </p:nvSpPr>
        <p:spPr>
          <a:xfrm>
            <a:off x="4480560" y="1234440"/>
            <a:ext cx="1188720" cy="3017520"/>
          </a:xfrm>
          <a:prstGeom prst="roundRect">
            <a:avLst>
              <a:gd name="adj" fmla="val 6154"/>
            </a:avLst>
          </a:prstGeom>
          <a:solidFill>
            <a:srgbClr val="263238"/>
          </a:solidFill>
          <a:ln w="12700">
            <a:solidFill>
              <a:srgbClr val="263238"/>
            </a:solidFill>
            <a:prstDash val="solid"/>
          </a:ln>
        </p:spPr>
      </p:sp>
      <p:sp>
        <p:nvSpPr>
          <p:cNvPr id="11" name="Text 7"/>
          <p:cNvSpPr txBox="1"/>
          <p:nvPr/>
        </p:nvSpPr>
        <p:spPr>
          <a:xfrm>
            <a:off x="4572000" y="1307592"/>
            <a:ext cx="1005840" cy="228600"/>
          </a:xfrm>
          <a:prstGeom prst="rect">
            <a:avLst/>
          </a:prstGeom>
          <a:noFill/>
          <a:ln/>
        </p:spPr>
        <p:txBody>
          <a:bodyPr wrap="square" lIns="0" tIns="0" rIns="0" bIns="0" rtlCol="0" anchor="ctr"/>
          <a:lstStyle/>
          <a:p>
            <a:pPr indent="0" marL="0">
              <a:buNone/>
            </a:pPr>
            <a:r>
              <a:rPr lang="en-US" sz="1100" b="1" dirty="0">
                <a:solidFill>
                  <a:srgbClr val="B0BEC5"/>
                </a:solidFill>
              </a:rPr>
              <a:t>ESP32</a:t>
            </a:r>
            <a:endParaRPr lang="en-US" sz="1100" dirty="0"/>
          </a:p>
        </p:txBody>
      </p:sp>
      <p:sp>
        <p:nvSpPr>
          <p:cNvPr id="12" name="Shape 8"/>
          <p:cNvSpPr/>
          <p:nvPr/>
        </p:nvSpPr>
        <p:spPr>
          <a:xfrm>
            <a:off x="5605272" y="1764792"/>
            <a:ext cx="128016" cy="128016"/>
          </a:xfrm>
          <a:prstGeom prst="rect">
            <a:avLst/>
          </a:prstGeom>
          <a:solidFill>
            <a:srgbClr val="FFD54F"/>
          </a:solidFill>
          <a:ln w="6350">
            <a:solidFill>
              <a:srgbClr val="37474F"/>
            </a:solidFill>
            <a:prstDash val="solid"/>
          </a:ln>
        </p:spPr>
      </p:sp>
      <p:sp>
        <p:nvSpPr>
          <p:cNvPr id="13" name="Text 9"/>
          <p:cNvSpPr txBox="1"/>
          <p:nvPr/>
        </p:nvSpPr>
        <p:spPr>
          <a:xfrm>
            <a:off x="4526280" y="172821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5V</a:t>
            </a:r>
            <a:endParaRPr lang="en-US" sz="1100" dirty="0"/>
          </a:p>
        </p:txBody>
      </p:sp>
      <p:sp>
        <p:nvSpPr>
          <p:cNvPr id="14" name="Shape 10"/>
          <p:cNvSpPr/>
          <p:nvPr/>
        </p:nvSpPr>
        <p:spPr>
          <a:xfrm>
            <a:off x="5605272" y="2587752"/>
            <a:ext cx="128016" cy="128016"/>
          </a:xfrm>
          <a:prstGeom prst="rect">
            <a:avLst/>
          </a:prstGeom>
          <a:solidFill>
            <a:srgbClr val="FFD54F"/>
          </a:solidFill>
          <a:ln w="6350">
            <a:solidFill>
              <a:srgbClr val="37474F"/>
            </a:solidFill>
            <a:prstDash val="solid"/>
          </a:ln>
        </p:spPr>
      </p:sp>
      <p:sp>
        <p:nvSpPr>
          <p:cNvPr id="15" name="Text 11"/>
          <p:cNvSpPr txBox="1"/>
          <p:nvPr/>
        </p:nvSpPr>
        <p:spPr>
          <a:xfrm>
            <a:off x="4526280" y="255117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GPIO26</a:t>
            </a:r>
            <a:endParaRPr lang="en-US" sz="1100" dirty="0"/>
          </a:p>
        </p:txBody>
      </p:sp>
      <p:sp>
        <p:nvSpPr>
          <p:cNvPr id="16" name="Shape 12"/>
          <p:cNvSpPr/>
          <p:nvPr/>
        </p:nvSpPr>
        <p:spPr>
          <a:xfrm>
            <a:off x="5605272" y="3593592"/>
            <a:ext cx="128016" cy="128016"/>
          </a:xfrm>
          <a:prstGeom prst="rect">
            <a:avLst/>
          </a:prstGeom>
          <a:solidFill>
            <a:srgbClr val="FFD54F"/>
          </a:solidFill>
          <a:ln w="6350">
            <a:solidFill>
              <a:srgbClr val="37474F"/>
            </a:solidFill>
            <a:prstDash val="solid"/>
          </a:ln>
        </p:spPr>
      </p:sp>
      <p:sp>
        <p:nvSpPr>
          <p:cNvPr id="17" name="Text 13"/>
          <p:cNvSpPr txBox="1"/>
          <p:nvPr/>
        </p:nvSpPr>
        <p:spPr>
          <a:xfrm>
            <a:off x="4526280" y="355701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GND</a:t>
            </a:r>
            <a:endParaRPr lang="en-US" sz="1100" dirty="0"/>
          </a:p>
        </p:txBody>
      </p:sp>
      <p:sp>
        <p:nvSpPr>
          <p:cNvPr id="18" name="Shape 14"/>
          <p:cNvSpPr/>
          <p:nvPr/>
        </p:nvSpPr>
        <p:spPr>
          <a:xfrm>
            <a:off x="5733288" y="1828800"/>
            <a:ext cx="850392" cy="0"/>
          </a:xfrm>
          <a:prstGeom prst="line">
            <a:avLst/>
          </a:prstGeom>
          <a:noFill/>
          <a:ln w="44450">
            <a:solidFill>
              <a:srgbClr val="D64545"/>
            </a:solidFill>
            <a:prstDash val="solid"/>
          </a:ln>
        </p:spPr>
      </p:sp>
      <p:sp>
        <p:nvSpPr>
          <p:cNvPr id="19" name="Shape 15"/>
          <p:cNvSpPr/>
          <p:nvPr/>
        </p:nvSpPr>
        <p:spPr>
          <a:xfrm>
            <a:off x="6583680" y="1828800"/>
            <a:ext cx="0" cy="704088"/>
          </a:xfrm>
          <a:prstGeom prst="line">
            <a:avLst/>
          </a:prstGeom>
          <a:noFill/>
          <a:ln w="44450">
            <a:solidFill>
              <a:srgbClr val="D64545"/>
            </a:solidFill>
            <a:prstDash val="solid"/>
          </a:ln>
        </p:spPr>
      </p:sp>
      <p:sp>
        <p:nvSpPr>
          <p:cNvPr id="20" name="Shape 16"/>
          <p:cNvSpPr/>
          <p:nvPr/>
        </p:nvSpPr>
        <p:spPr>
          <a:xfrm>
            <a:off x="6583680" y="2532888"/>
            <a:ext cx="731520" cy="0"/>
          </a:xfrm>
          <a:prstGeom prst="line">
            <a:avLst/>
          </a:prstGeom>
          <a:noFill/>
          <a:ln w="44450">
            <a:solidFill>
              <a:srgbClr val="D64545"/>
            </a:solidFill>
            <a:prstDash val="solid"/>
          </a:ln>
        </p:spPr>
      </p:sp>
      <p:sp>
        <p:nvSpPr>
          <p:cNvPr id="21" name="Shape 17"/>
          <p:cNvSpPr/>
          <p:nvPr/>
        </p:nvSpPr>
        <p:spPr>
          <a:xfrm>
            <a:off x="5733288" y="2651760"/>
            <a:ext cx="1078992" cy="0"/>
          </a:xfrm>
          <a:prstGeom prst="line">
            <a:avLst/>
          </a:prstGeom>
          <a:noFill/>
          <a:ln w="44450">
            <a:solidFill>
              <a:srgbClr val="8E44AD"/>
            </a:solidFill>
            <a:prstDash val="solid"/>
          </a:ln>
        </p:spPr>
      </p:sp>
      <p:sp>
        <p:nvSpPr>
          <p:cNvPr id="22" name="Shape 18"/>
          <p:cNvSpPr/>
          <p:nvPr/>
        </p:nvSpPr>
        <p:spPr>
          <a:xfrm>
            <a:off x="6812280" y="2651760"/>
            <a:ext cx="0" cy="9144"/>
          </a:xfrm>
          <a:prstGeom prst="line">
            <a:avLst/>
          </a:prstGeom>
          <a:noFill/>
          <a:ln w="44450">
            <a:solidFill>
              <a:srgbClr val="8E44AD"/>
            </a:solidFill>
            <a:prstDash val="solid"/>
          </a:ln>
        </p:spPr>
      </p:sp>
      <p:sp>
        <p:nvSpPr>
          <p:cNvPr id="23" name="Shape 19"/>
          <p:cNvSpPr/>
          <p:nvPr/>
        </p:nvSpPr>
        <p:spPr>
          <a:xfrm>
            <a:off x="6812280" y="2660904"/>
            <a:ext cx="502920" cy="0"/>
          </a:xfrm>
          <a:prstGeom prst="line">
            <a:avLst/>
          </a:prstGeom>
          <a:noFill/>
          <a:ln w="44450">
            <a:solidFill>
              <a:srgbClr val="8E44AD"/>
            </a:solidFill>
            <a:prstDash val="solid"/>
          </a:ln>
        </p:spPr>
      </p:sp>
      <p:sp>
        <p:nvSpPr>
          <p:cNvPr id="24" name="Shape 20"/>
          <p:cNvSpPr/>
          <p:nvPr/>
        </p:nvSpPr>
        <p:spPr>
          <a:xfrm>
            <a:off x="5733288" y="3657600"/>
            <a:ext cx="667512" cy="0"/>
          </a:xfrm>
          <a:prstGeom prst="line">
            <a:avLst/>
          </a:prstGeom>
          <a:noFill/>
          <a:ln w="44450">
            <a:solidFill>
              <a:srgbClr val="1B1B1B"/>
            </a:solidFill>
            <a:prstDash val="solid"/>
          </a:ln>
        </p:spPr>
      </p:sp>
      <p:sp>
        <p:nvSpPr>
          <p:cNvPr id="25" name="Shape 21"/>
          <p:cNvSpPr/>
          <p:nvPr/>
        </p:nvSpPr>
        <p:spPr>
          <a:xfrm>
            <a:off x="6400800" y="2788920"/>
            <a:ext cx="0" cy="868680"/>
          </a:xfrm>
          <a:prstGeom prst="line">
            <a:avLst/>
          </a:prstGeom>
          <a:noFill/>
          <a:ln w="44450">
            <a:solidFill>
              <a:srgbClr val="1B1B1B"/>
            </a:solidFill>
            <a:prstDash val="solid"/>
          </a:ln>
        </p:spPr>
      </p:sp>
      <p:sp>
        <p:nvSpPr>
          <p:cNvPr id="26" name="Shape 22"/>
          <p:cNvSpPr/>
          <p:nvPr/>
        </p:nvSpPr>
        <p:spPr>
          <a:xfrm>
            <a:off x="6400800" y="2788920"/>
            <a:ext cx="914400" cy="0"/>
          </a:xfrm>
          <a:prstGeom prst="line">
            <a:avLst/>
          </a:prstGeom>
          <a:noFill/>
          <a:ln w="44450">
            <a:solidFill>
              <a:srgbClr val="1B1B1B"/>
            </a:solidFill>
            <a:prstDash val="solid"/>
          </a:ln>
        </p:spPr>
      </p:sp>
      <p:sp>
        <p:nvSpPr>
          <p:cNvPr id="27" name="Shape 23"/>
          <p:cNvSpPr/>
          <p:nvPr/>
        </p:nvSpPr>
        <p:spPr>
          <a:xfrm>
            <a:off x="7315200" y="2331720"/>
            <a:ext cx="731520" cy="566928"/>
          </a:xfrm>
          <a:prstGeom prst="roundRect">
            <a:avLst>
              <a:gd name="adj" fmla="val 8065"/>
            </a:avLst>
          </a:prstGeom>
          <a:solidFill>
            <a:srgbClr val="1F6FB2"/>
          </a:solidFill>
          <a:ln w="12700">
            <a:solidFill>
              <a:srgbClr val="16568C"/>
            </a:solidFill>
            <a:prstDash val="solid"/>
          </a:ln>
        </p:spPr>
      </p:sp>
      <p:sp>
        <p:nvSpPr>
          <p:cNvPr id="28" name="Shape 24"/>
          <p:cNvSpPr/>
          <p:nvPr/>
        </p:nvSpPr>
        <p:spPr>
          <a:xfrm>
            <a:off x="7168896" y="2423160"/>
            <a:ext cx="146304" cy="128016"/>
          </a:xfrm>
          <a:prstGeom prst="rect">
            <a:avLst/>
          </a:prstGeom>
          <a:solidFill>
            <a:srgbClr val="1F6FB2"/>
          </a:solidFill>
          <a:ln w="12700">
            <a:solidFill>
              <a:srgbClr val="16568C"/>
            </a:solidFill>
            <a:prstDash val="solid"/>
          </a:ln>
        </p:spPr>
      </p:sp>
      <p:sp>
        <p:nvSpPr>
          <p:cNvPr id="29" name="Shape 25"/>
          <p:cNvSpPr/>
          <p:nvPr/>
        </p:nvSpPr>
        <p:spPr>
          <a:xfrm>
            <a:off x="8046720" y="2423160"/>
            <a:ext cx="146304" cy="128016"/>
          </a:xfrm>
          <a:prstGeom prst="rect">
            <a:avLst/>
          </a:prstGeom>
          <a:solidFill>
            <a:srgbClr val="1F6FB2"/>
          </a:solidFill>
          <a:ln w="12700">
            <a:solidFill>
              <a:srgbClr val="16568C"/>
            </a:solidFill>
            <a:prstDash val="solid"/>
          </a:ln>
        </p:spPr>
      </p:sp>
      <p:sp>
        <p:nvSpPr>
          <p:cNvPr id="30" name="Shape 26"/>
          <p:cNvSpPr/>
          <p:nvPr/>
        </p:nvSpPr>
        <p:spPr>
          <a:xfrm>
            <a:off x="7434072" y="2350008"/>
            <a:ext cx="219456" cy="219456"/>
          </a:xfrm>
          <a:prstGeom prst="ellipse">
            <a:avLst/>
          </a:prstGeom>
          <a:solidFill>
            <a:srgbClr val="ECEFF1"/>
          </a:solidFill>
          <a:ln w="12700">
            <a:solidFill>
              <a:srgbClr val="90A4AE"/>
            </a:solidFill>
            <a:prstDash val="solid"/>
          </a:ln>
        </p:spPr>
      </p:sp>
      <p:sp>
        <p:nvSpPr>
          <p:cNvPr id="31" name="Shape 27"/>
          <p:cNvSpPr/>
          <p:nvPr/>
        </p:nvSpPr>
        <p:spPr>
          <a:xfrm>
            <a:off x="7543800" y="2459736"/>
            <a:ext cx="502920" cy="0"/>
          </a:xfrm>
          <a:prstGeom prst="line">
            <a:avLst/>
          </a:prstGeom>
          <a:noFill/>
          <a:ln w="76200">
            <a:solidFill>
              <a:srgbClr val="ECEFF1"/>
            </a:solidFill>
            <a:prstDash val="solid"/>
          </a:ln>
        </p:spPr>
      </p:sp>
      <p:sp>
        <p:nvSpPr>
          <p:cNvPr id="32" name="Shape 28"/>
          <p:cNvSpPr/>
          <p:nvPr/>
        </p:nvSpPr>
        <p:spPr>
          <a:xfrm>
            <a:off x="7498080" y="2414016"/>
            <a:ext cx="91440" cy="91440"/>
          </a:xfrm>
          <a:prstGeom prst="ellipse">
            <a:avLst/>
          </a:prstGeom>
          <a:solidFill>
            <a:srgbClr val="607D8B"/>
          </a:solidFill>
          <a:ln w="12700">
            <a:solidFill>
              <a:srgbClr val="607D8B"/>
            </a:solidFill>
            <a:prstDash val="solid"/>
          </a:ln>
        </p:spPr>
      </p:sp>
      <p:sp>
        <p:nvSpPr>
          <p:cNvPr id="33" name="Text 29"/>
          <p:cNvSpPr txBox="1"/>
          <p:nvPr/>
        </p:nvSpPr>
        <p:spPr>
          <a:xfrm>
            <a:off x="7223760" y="2935224"/>
            <a:ext cx="914400" cy="201168"/>
          </a:xfrm>
          <a:prstGeom prst="rect">
            <a:avLst/>
          </a:prstGeom>
          <a:noFill/>
          <a:ln/>
        </p:spPr>
        <p:txBody>
          <a:bodyPr wrap="square" lIns="0" tIns="0" rIns="0" bIns="0" rtlCol="0" anchor="ctr"/>
          <a:lstStyle/>
          <a:p>
            <a:pPr algn="ctr" indent="0" marL="0">
              <a:buNone/>
            </a:pPr>
            <a:r>
              <a:rPr lang="en-US" sz="1000" b="1" dirty="0">
                <a:solidFill>
                  <a:srgbClr val="1B1B1B"/>
                </a:solidFill>
              </a:rPr>
              <a:t>servo</a:t>
            </a:r>
            <a:endParaRPr lang="en-US" sz="1000" dirty="0"/>
          </a:p>
        </p:txBody>
      </p:sp>
      <p:sp>
        <p:nvSpPr>
          <p:cNvPr id="34" name="Text 30"/>
          <p:cNvSpPr txBox="1"/>
          <p:nvPr/>
        </p:nvSpPr>
        <p:spPr>
          <a:xfrm>
            <a:off x="5852160" y="1591056"/>
            <a:ext cx="640080" cy="182880"/>
          </a:xfrm>
          <a:prstGeom prst="rect">
            <a:avLst/>
          </a:prstGeom>
          <a:noFill/>
          <a:ln/>
        </p:spPr>
        <p:txBody>
          <a:bodyPr wrap="square" lIns="0" tIns="0" rIns="0" bIns="0" rtlCol="0" anchor="ctr"/>
          <a:lstStyle/>
          <a:p>
            <a:pPr indent="0" marL="0">
              <a:buNone/>
            </a:pPr>
            <a:r>
              <a:rPr lang="en-US" sz="1100" b="1" dirty="0">
                <a:solidFill>
                  <a:srgbClr val="D64545"/>
                </a:solidFill>
              </a:rPr>
              <a:t>red</a:t>
            </a:r>
            <a:endParaRPr lang="en-US" sz="1100" dirty="0"/>
          </a:p>
        </p:txBody>
      </p:sp>
      <p:sp>
        <p:nvSpPr>
          <p:cNvPr id="35" name="Text 31"/>
          <p:cNvSpPr txBox="1"/>
          <p:nvPr/>
        </p:nvSpPr>
        <p:spPr>
          <a:xfrm>
            <a:off x="5943600" y="2414016"/>
            <a:ext cx="731520" cy="182880"/>
          </a:xfrm>
          <a:prstGeom prst="rect">
            <a:avLst/>
          </a:prstGeom>
          <a:noFill/>
          <a:ln/>
        </p:spPr>
        <p:txBody>
          <a:bodyPr wrap="square" lIns="0" tIns="0" rIns="0" bIns="0" rtlCol="0" anchor="ctr"/>
          <a:lstStyle/>
          <a:p>
            <a:pPr indent="0" marL="0">
              <a:buNone/>
            </a:pPr>
            <a:r>
              <a:rPr lang="en-US" sz="1100" b="1" dirty="0">
                <a:solidFill>
                  <a:srgbClr val="8E44AD"/>
                </a:solidFill>
              </a:rPr>
              <a:t>orange</a:t>
            </a:r>
            <a:endParaRPr lang="en-US" sz="1100" dirty="0"/>
          </a:p>
        </p:txBody>
      </p:sp>
      <p:sp>
        <p:nvSpPr>
          <p:cNvPr id="36" name="Text 32"/>
          <p:cNvSpPr txBox="1"/>
          <p:nvPr/>
        </p:nvSpPr>
        <p:spPr>
          <a:xfrm>
            <a:off x="5669280" y="3419856"/>
            <a:ext cx="731520" cy="182880"/>
          </a:xfrm>
          <a:prstGeom prst="rect">
            <a:avLst/>
          </a:prstGeom>
          <a:noFill/>
          <a:ln/>
        </p:spPr>
        <p:txBody>
          <a:bodyPr wrap="square" lIns="0" tIns="0" rIns="0" bIns="0" rtlCol="0" anchor="ctr"/>
          <a:lstStyle/>
          <a:p>
            <a:pPr indent="0" marL="0">
              <a:buNone/>
            </a:pPr>
            <a:r>
              <a:rPr lang="en-US" sz="1100" b="1" dirty="0">
                <a:solidFill>
                  <a:srgbClr val="1B1B1B"/>
                </a:solidFill>
              </a:rPr>
              <a:t>brown</a:t>
            </a:r>
            <a:endParaRPr lang="en-US" sz="1100" dirty="0"/>
          </a:p>
        </p:txBody>
      </p:sp>
      <p:sp>
        <p:nvSpPr>
          <p:cNvPr id="37" name="Shape 33"/>
          <p:cNvSpPr/>
          <p:nvPr/>
        </p:nvSpPr>
        <p:spPr>
          <a:xfrm>
            <a:off x="4480560" y="4343400"/>
            <a:ext cx="4206240" cy="457200"/>
          </a:xfrm>
          <a:prstGeom prst="roundRect">
            <a:avLst>
              <a:gd name="adj" fmla="val 12000"/>
            </a:avLst>
          </a:prstGeom>
          <a:solidFill>
            <a:srgbClr val="FDECEC"/>
          </a:solidFill>
          <a:ln w="15875">
            <a:solidFill>
              <a:srgbClr val="D64545"/>
            </a:solidFill>
            <a:prstDash val="solid"/>
          </a:ln>
        </p:spPr>
      </p:sp>
      <p:sp>
        <p:nvSpPr>
          <p:cNvPr id="38" name="Text 34"/>
          <p:cNvSpPr txBox="1"/>
          <p:nvPr/>
        </p:nvSpPr>
        <p:spPr>
          <a:xfrm>
            <a:off x="4617720" y="4343400"/>
            <a:ext cx="3931920" cy="457200"/>
          </a:xfrm>
          <a:prstGeom prst="rect">
            <a:avLst/>
          </a:prstGeom>
          <a:noFill/>
          <a:ln/>
        </p:spPr>
        <p:txBody>
          <a:bodyPr wrap="square" lIns="0" tIns="0" rIns="0" bIns="0" rtlCol="0" anchor="ctr"/>
          <a:lstStyle/>
          <a:p>
            <a:pPr indent="0" marL="0">
              <a:buNone/>
            </a:pPr>
            <a:r>
              <a:rPr lang="en-US" sz="1300" b="1" dirty="0">
                <a:solidFill>
                  <a:srgbClr val="D64545"/>
                </a:solidFill>
              </a:rPr>
              <a:t>Red goes to 5V.  </a:t>
            </a:r>
            <a:pPr indent="0" marL="0">
              <a:buNone/>
            </a:pPr>
            <a:r>
              <a:rPr lang="en-US" sz="1300" dirty="0">
                <a:solidFill>
                  <a:srgbClr val="1B1B1B"/>
                </a:solidFill>
              </a:rPr>
              <a:t>On 3V3 the ESP32 resets when the servo moves.</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Step 1: make it move</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1</a:t>
            </a:r>
            <a:endParaRPr lang="en-US" sz="2000" dirty="0"/>
          </a:p>
        </p:txBody>
      </p:sp>
      <p:sp>
        <p:nvSpPr>
          <p:cNvPr id="6" name="Text 4"/>
          <p:cNvSpPr txBox="1"/>
          <p:nvPr/>
        </p:nvSpPr>
        <p:spPr>
          <a:xfrm>
            <a:off x="457200" y="960120"/>
            <a:ext cx="3931920" cy="365760"/>
          </a:xfrm>
          <a:prstGeom prst="rect">
            <a:avLst/>
          </a:prstGeom>
          <a:noFill/>
          <a:ln/>
        </p:spPr>
        <p:txBody>
          <a:bodyPr wrap="square" lIns="0" tIns="0" rIns="0" bIns="0" rtlCol="0" anchor="ctr"/>
          <a:lstStyle/>
          <a:p>
            <a:pPr indent="0" marL="0">
              <a:buNone/>
            </a:pPr>
            <a:r>
              <a:rPr lang="en-US" sz="1400" b="1" dirty="0">
                <a:solidFill>
                  <a:srgbClr val="0B3D2E"/>
                </a:solidFill>
              </a:rPr>
              <a:t>Upload step1_servo_sweep.py and run it without changing anything.</a:t>
            </a:r>
            <a:endParaRPr lang="en-US" sz="1400" dirty="0"/>
          </a:p>
        </p:txBody>
      </p:sp>
      <p:sp>
        <p:nvSpPr>
          <p:cNvPr id="7" name="Shape 5"/>
          <p:cNvSpPr/>
          <p:nvPr/>
        </p:nvSpPr>
        <p:spPr>
          <a:xfrm>
            <a:off x="457200" y="1371600"/>
            <a:ext cx="3931920" cy="2148840"/>
          </a:xfrm>
          <a:prstGeom prst="roundRect">
            <a:avLst>
              <a:gd name="adj" fmla="val 3404"/>
            </a:avLst>
          </a:prstGeom>
          <a:solidFill>
            <a:srgbClr val="14261F"/>
          </a:solidFill>
          <a:ln w="12700">
            <a:solidFill>
              <a:srgbClr val="14261F"/>
            </a:solidFill>
            <a:prstDash val="solid"/>
          </a:ln>
        </p:spPr>
      </p:sp>
      <p:sp>
        <p:nvSpPr>
          <p:cNvPr id="8" name="Text 6"/>
          <p:cNvSpPr txBox="1"/>
          <p:nvPr/>
        </p:nvSpPr>
        <p:spPr>
          <a:xfrm>
            <a:off x="594360" y="1435608"/>
            <a:ext cx="3657600" cy="219456"/>
          </a:xfrm>
          <a:prstGeom prst="rect">
            <a:avLst/>
          </a:prstGeom>
          <a:noFill/>
          <a:ln/>
        </p:spPr>
        <p:txBody>
          <a:bodyPr wrap="square" lIns="0" tIns="0" rIns="0" bIns="0" rtlCol="0" anchor="ctr"/>
          <a:lstStyle/>
          <a:p>
            <a:pPr indent="0" marL="0">
              <a:buNone/>
            </a:pPr>
            <a:r>
              <a:rPr lang="en-US" sz="1100" b="1" dirty="0">
                <a:solidFill>
                  <a:srgbClr val="F2A900"/>
                </a:solidFill>
              </a:rPr>
              <a:t>step1_servo_sweep.py</a:t>
            </a:r>
            <a:pPr indent="0" marL="0">
              <a:buNone/>
            </a:pPr>
            <a:r>
              <a:rPr lang="en-US" sz="1100" dirty="0">
                <a:solidFill>
                  <a:srgbClr val="9FB8AD"/>
                </a:solidFill>
              </a:rPr>
              <a:t>  ·  lines 20–34</a:t>
            </a:r>
            <a:endParaRPr lang="en-US" sz="1100" dirty="0"/>
          </a:p>
        </p:txBody>
      </p:sp>
      <p:sp>
        <p:nvSpPr>
          <p:cNvPr id="9" name="Shape 7"/>
          <p:cNvSpPr/>
          <p:nvPr/>
        </p:nvSpPr>
        <p:spPr>
          <a:xfrm>
            <a:off x="566928" y="1691640"/>
            <a:ext cx="3712464" cy="0"/>
          </a:xfrm>
          <a:prstGeom prst="line">
            <a:avLst/>
          </a:prstGeom>
          <a:noFill/>
          <a:ln w="12700">
            <a:solidFill>
              <a:srgbClr val="2F4A3F"/>
            </a:solidFill>
            <a:prstDash val="solid"/>
          </a:ln>
        </p:spPr>
      </p:sp>
      <p:sp>
        <p:nvSpPr>
          <p:cNvPr id="10" name="Text 8"/>
          <p:cNvSpPr txBox="1"/>
          <p:nvPr/>
        </p:nvSpPr>
        <p:spPr>
          <a:xfrm>
            <a:off x="548640" y="1755648"/>
            <a:ext cx="3749040" cy="1691640"/>
          </a:xfrm>
          <a:prstGeom prst="rect">
            <a:avLst/>
          </a:prstGeom>
          <a:noFill/>
          <a:ln/>
        </p:spPr>
        <p:txBody>
          <a:bodyPr wrap="square" lIns="0" tIns="0" rIns="0" bIns="0" rtlCol="0" anchor="t"/>
          <a:lstStyle/>
          <a:p>
            <a:pPr indent="0" marL="0">
              <a:buNone/>
            </a:pPr>
            <a:r>
              <a:rPr lang="en-US" sz="1200" dirty="0">
                <a:solidFill>
                  <a:srgbClr val="6F8A7F"/>
                </a:solidFill>
                <a:latin typeface="Courier New" pitchFamily="34" charset="0"/>
                <a:ea typeface="Courier New" pitchFamily="34" charset="-122"/>
                <a:cs typeface="Courier New" pitchFamily="34" charset="-120"/>
              </a:rPr>
              <a:t> 20  </a:t>
            </a:r>
            <a:pPr indent="0" marL="0">
              <a:buNone/>
            </a:pPr>
            <a:r>
              <a:rPr lang="en-US" sz="1200" dirty="0">
                <a:solidFill>
                  <a:srgbClr val="E6F2EC"/>
                </a:solidFill>
                <a:latin typeface="Courier New" pitchFamily="34" charset="0"/>
                <a:ea typeface="Courier New" pitchFamily="34" charset="-122"/>
                <a:cs typeface="Courier New" pitchFamily="34" charset="-120"/>
              </a:rPr>
              <a:t>servo = PWM(Pin(26))</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21  </a:t>
            </a:r>
            <a:pPr indent="0" marL="0">
              <a:buNone/>
            </a:pPr>
            <a:r>
              <a:rPr lang="en-US" sz="1200" dirty="0">
                <a:solidFill>
                  <a:srgbClr val="E6F2EC"/>
                </a:solidFill>
                <a:latin typeface="Courier New" pitchFamily="34" charset="0"/>
                <a:ea typeface="Courier New" pitchFamily="34" charset="-122"/>
                <a:cs typeface="Courier New" pitchFamily="34" charset="-120"/>
              </a:rPr>
              <a:t>servo.freq(50)</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29  </a:t>
            </a:r>
            <a:pPr indent="0" marL="0">
              <a:buNone/>
            </a:pPr>
            <a:r>
              <a:rPr lang="en-US" sz="1200" dirty="0">
                <a:solidFill>
                  <a:srgbClr val="E6F2EC"/>
                </a:solidFill>
                <a:latin typeface="Courier New" pitchFamily="34" charset="0"/>
                <a:ea typeface="Courier New" pitchFamily="34" charset="-122"/>
                <a:cs typeface="Courier New" pitchFamily="34" charset="-120"/>
              </a:rPr>
              <a:t>    servo.duty_u16(1638)</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30  </a:t>
            </a:r>
            <a:pPr indent="0" marL="0">
              <a:buNone/>
            </a:pPr>
            <a:r>
              <a:rPr lang="en-US" sz="1200" dirty="0">
                <a:solidFill>
                  <a:srgbClr val="E6F2EC"/>
                </a:solidFill>
                <a:latin typeface="Courier New" pitchFamily="34" charset="0"/>
                <a:ea typeface="Courier New" pitchFamily="34" charset="-122"/>
                <a:cs typeface="Courier New" pitchFamily="34" charset="-120"/>
              </a:rPr>
              <a:t>    print("0 degrees")</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31  </a:t>
            </a:r>
            <a:pPr indent="0" marL="0">
              <a:buNone/>
            </a:pPr>
            <a:r>
              <a:rPr lang="en-US" sz="1200" dirty="0">
                <a:solidFill>
                  <a:srgbClr val="E6F2EC"/>
                </a:solidFill>
                <a:latin typeface="Courier New" pitchFamily="34" charset="0"/>
                <a:ea typeface="Courier New" pitchFamily="34" charset="-122"/>
                <a:cs typeface="Courier New" pitchFamily="34" charset="-120"/>
              </a:rPr>
              <a:t>    time.sleep(1)</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32  </a:t>
            </a:r>
            <a:pPr indent="0" marL="0">
              <a:buNone/>
            </a:pP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33  </a:t>
            </a:r>
            <a:pPr indent="0" marL="0">
              <a:buNone/>
            </a:pPr>
            <a:r>
              <a:rPr lang="en-US" sz="1200" dirty="0">
                <a:solidFill>
                  <a:srgbClr val="E6F2EC"/>
                </a:solidFill>
                <a:latin typeface="Courier New" pitchFamily="34" charset="0"/>
                <a:ea typeface="Courier New" pitchFamily="34" charset="-122"/>
                <a:cs typeface="Courier New" pitchFamily="34" charset="-120"/>
              </a:rPr>
              <a:t>    servo.duty_u16(4915)</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34  </a:t>
            </a:r>
            <a:pPr indent="0" marL="0">
              <a:buNone/>
            </a:pPr>
            <a:r>
              <a:rPr lang="en-US" sz="1200" dirty="0">
                <a:solidFill>
                  <a:srgbClr val="E6F2EC"/>
                </a:solidFill>
                <a:latin typeface="Courier New" pitchFamily="34" charset="0"/>
                <a:ea typeface="Courier New" pitchFamily="34" charset="-122"/>
                <a:cs typeface="Courier New" pitchFamily="34" charset="-120"/>
              </a:rPr>
              <a:t>    print("90 degrees")</a:t>
            </a:r>
            <a:endParaRPr lang="en-US" sz="1200" dirty="0"/>
          </a:p>
        </p:txBody>
      </p:sp>
      <p:sp>
        <p:nvSpPr>
          <p:cNvPr id="11" name="Shape 9"/>
          <p:cNvSpPr/>
          <p:nvPr/>
        </p:nvSpPr>
        <p:spPr>
          <a:xfrm>
            <a:off x="457200" y="3611880"/>
            <a:ext cx="3931920" cy="502920"/>
          </a:xfrm>
          <a:prstGeom prst="roundRect">
            <a:avLst>
              <a:gd name="adj" fmla="val 14545"/>
            </a:avLst>
          </a:prstGeom>
          <a:solidFill>
            <a:srgbClr val="DDF3E9"/>
          </a:solidFill>
          <a:ln w="15875">
            <a:solidFill>
              <a:srgbClr val="1F8A70"/>
            </a:solidFill>
            <a:prstDash val="solid"/>
          </a:ln>
        </p:spPr>
      </p:sp>
      <p:sp>
        <p:nvSpPr>
          <p:cNvPr id="12" name="Text 10"/>
          <p:cNvSpPr txBox="1"/>
          <p:nvPr/>
        </p:nvSpPr>
        <p:spPr>
          <a:xfrm>
            <a:off x="594360" y="3611880"/>
            <a:ext cx="3657600" cy="50292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The horn jumps to three positions, then back.</a:t>
            </a:r>
            <a:endParaRPr lang="en-US" sz="1400" dirty="0"/>
          </a:p>
        </p:txBody>
      </p:sp>
      <p:sp>
        <p:nvSpPr>
          <p:cNvPr id="13" name="Shape 11"/>
          <p:cNvSpPr/>
          <p:nvPr/>
        </p:nvSpPr>
        <p:spPr>
          <a:xfrm>
            <a:off x="457200" y="4206240"/>
            <a:ext cx="3931920" cy="457200"/>
          </a:xfrm>
          <a:prstGeom prst="roundRect">
            <a:avLst>
              <a:gd name="adj" fmla="val 16000"/>
            </a:avLst>
          </a:prstGeom>
          <a:solidFill>
            <a:srgbClr val="FFF4D6"/>
          </a:solidFill>
          <a:ln w="12700">
            <a:solidFill>
              <a:srgbClr val="E0A800"/>
            </a:solidFill>
            <a:prstDash val="solid"/>
          </a:ln>
        </p:spPr>
      </p:sp>
      <p:sp>
        <p:nvSpPr>
          <p:cNvPr id="14" name="Text 12"/>
          <p:cNvSpPr txBox="1"/>
          <p:nvPr/>
        </p:nvSpPr>
        <p:spPr>
          <a:xfrm>
            <a:off x="594360" y="4206240"/>
            <a:ext cx="365760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Nothing moves? Check orange on IO26, red on 5V.</a:t>
            </a:r>
            <a:endParaRPr lang="en-US" sz="1400" dirty="0"/>
          </a:p>
        </p:txBody>
      </p:sp>
      <p:sp>
        <p:nvSpPr>
          <p:cNvPr id="15" name="Shape 13"/>
          <p:cNvSpPr/>
          <p:nvPr/>
        </p:nvSpPr>
        <p:spPr>
          <a:xfrm>
            <a:off x="4480560" y="1234440"/>
            <a:ext cx="1188720" cy="3017520"/>
          </a:xfrm>
          <a:prstGeom prst="roundRect">
            <a:avLst>
              <a:gd name="adj" fmla="val 6154"/>
            </a:avLst>
          </a:prstGeom>
          <a:solidFill>
            <a:srgbClr val="263238"/>
          </a:solidFill>
          <a:ln w="12700">
            <a:solidFill>
              <a:srgbClr val="263238"/>
            </a:solidFill>
            <a:prstDash val="solid"/>
          </a:ln>
        </p:spPr>
      </p:sp>
      <p:sp>
        <p:nvSpPr>
          <p:cNvPr id="16" name="Text 14"/>
          <p:cNvSpPr txBox="1"/>
          <p:nvPr/>
        </p:nvSpPr>
        <p:spPr>
          <a:xfrm>
            <a:off x="4572000" y="1307592"/>
            <a:ext cx="1005840" cy="228600"/>
          </a:xfrm>
          <a:prstGeom prst="rect">
            <a:avLst/>
          </a:prstGeom>
          <a:noFill/>
          <a:ln/>
        </p:spPr>
        <p:txBody>
          <a:bodyPr wrap="square" lIns="0" tIns="0" rIns="0" bIns="0" rtlCol="0" anchor="ctr"/>
          <a:lstStyle/>
          <a:p>
            <a:pPr indent="0" marL="0">
              <a:buNone/>
            </a:pPr>
            <a:r>
              <a:rPr lang="en-US" sz="1100" b="1" dirty="0">
                <a:solidFill>
                  <a:srgbClr val="B0BEC5"/>
                </a:solidFill>
              </a:rPr>
              <a:t>ESP32</a:t>
            </a:r>
            <a:endParaRPr lang="en-US" sz="1100" dirty="0"/>
          </a:p>
        </p:txBody>
      </p:sp>
      <p:sp>
        <p:nvSpPr>
          <p:cNvPr id="17" name="Shape 15"/>
          <p:cNvSpPr/>
          <p:nvPr/>
        </p:nvSpPr>
        <p:spPr>
          <a:xfrm>
            <a:off x="5605272" y="1764792"/>
            <a:ext cx="128016" cy="128016"/>
          </a:xfrm>
          <a:prstGeom prst="rect">
            <a:avLst/>
          </a:prstGeom>
          <a:solidFill>
            <a:srgbClr val="FFD54F"/>
          </a:solidFill>
          <a:ln w="6350">
            <a:solidFill>
              <a:srgbClr val="37474F"/>
            </a:solidFill>
            <a:prstDash val="solid"/>
          </a:ln>
        </p:spPr>
      </p:sp>
      <p:sp>
        <p:nvSpPr>
          <p:cNvPr id="18" name="Text 16"/>
          <p:cNvSpPr txBox="1"/>
          <p:nvPr/>
        </p:nvSpPr>
        <p:spPr>
          <a:xfrm>
            <a:off x="4526280" y="172821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5V</a:t>
            </a:r>
            <a:endParaRPr lang="en-US" sz="1100" dirty="0"/>
          </a:p>
        </p:txBody>
      </p:sp>
      <p:sp>
        <p:nvSpPr>
          <p:cNvPr id="19" name="Shape 17"/>
          <p:cNvSpPr/>
          <p:nvPr/>
        </p:nvSpPr>
        <p:spPr>
          <a:xfrm>
            <a:off x="5605272" y="2587752"/>
            <a:ext cx="128016" cy="128016"/>
          </a:xfrm>
          <a:prstGeom prst="rect">
            <a:avLst/>
          </a:prstGeom>
          <a:solidFill>
            <a:srgbClr val="FFD54F"/>
          </a:solidFill>
          <a:ln w="6350">
            <a:solidFill>
              <a:srgbClr val="37474F"/>
            </a:solidFill>
            <a:prstDash val="solid"/>
          </a:ln>
        </p:spPr>
      </p:sp>
      <p:sp>
        <p:nvSpPr>
          <p:cNvPr id="20" name="Text 18"/>
          <p:cNvSpPr txBox="1"/>
          <p:nvPr/>
        </p:nvSpPr>
        <p:spPr>
          <a:xfrm>
            <a:off x="4526280" y="255117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GPIO26</a:t>
            </a:r>
            <a:endParaRPr lang="en-US" sz="1100" dirty="0"/>
          </a:p>
        </p:txBody>
      </p:sp>
      <p:sp>
        <p:nvSpPr>
          <p:cNvPr id="21" name="Shape 19"/>
          <p:cNvSpPr/>
          <p:nvPr/>
        </p:nvSpPr>
        <p:spPr>
          <a:xfrm>
            <a:off x="5605272" y="3593592"/>
            <a:ext cx="128016" cy="128016"/>
          </a:xfrm>
          <a:prstGeom prst="rect">
            <a:avLst/>
          </a:prstGeom>
          <a:solidFill>
            <a:srgbClr val="FFD54F"/>
          </a:solidFill>
          <a:ln w="6350">
            <a:solidFill>
              <a:srgbClr val="37474F"/>
            </a:solidFill>
            <a:prstDash val="solid"/>
          </a:ln>
        </p:spPr>
      </p:sp>
      <p:sp>
        <p:nvSpPr>
          <p:cNvPr id="22" name="Text 20"/>
          <p:cNvSpPr txBox="1"/>
          <p:nvPr/>
        </p:nvSpPr>
        <p:spPr>
          <a:xfrm>
            <a:off x="4526280" y="355701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GND</a:t>
            </a:r>
            <a:endParaRPr lang="en-US" sz="1100" dirty="0"/>
          </a:p>
        </p:txBody>
      </p:sp>
      <p:sp>
        <p:nvSpPr>
          <p:cNvPr id="23" name="Shape 21"/>
          <p:cNvSpPr/>
          <p:nvPr/>
        </p:nvSpPr>
        <p:spPr>
          <a:xfrm>
            <a:off x="5733288" y="1828800"/>
            <a:ext cx="850392" cy="0"/>
          </a:xfrm>
          <a:prstGeom prst="line">
            <a:avLst/>
          </a:prstGeom>
          <a:noFill/>
          <a:ln w="44450">
            <a:solidFill>
              <a:srgbClr val="D64545"/>
            </a:solidFill>
            <a:prstDash val="solid"/>
          </a:ln>
        </p:spPr>
      </p:sp>
      <p:sp>
        <p:nvSpPr>
          <p:cNvPr id="24" name="Shape 22"/>
          <p:cNvSpPr/>
          <p:nvPr/>
        </p:nvSpPr>
        <p:spPr>
          <a:xfrm>
            <a:off x="6583680" y="1828800"/>
            <a:ext cx="0" cy="704088"/>
          </a:xfrm>
          <a:prstGeom prst="line">
            <a:avLst/>
          </a:prstGeom>
          <a:noFill/>
          <a:ln w="44450">
            <a:solidFill>
              <a:srgbClr val="D64545"/>
            </a:solidFill>
            <a:prstDash val="solid"/>
          </a:ln>
        </p:spPr>
      </p:sp>
      <p:sp>
        <p:nvSpPr>
          <p:cNvPr id="25" name="Shape 23"/>
          <p:cNvSpPr/>
          <p:nvPr/>
        </p:nvSpPr>
        <p:spPr>
          <a:xfrm>
            <a:off x="6583680" y="2532888"/>
            <a:ext cx="731520" cy="0"/>
          </a:xfrm>
          <a:prstGeom prst="line">
            <a:avLst/>
          </a:prstGeom>
          <a:noFill/>
          <a:ln w="44450">
            <a:solidFill>
              <a:srgbClr val="D64545"/>
            </a:solidFill>
            <a:prstDash val="solid"/>
          </a:ln>
        </p:spPr>
      </p:sp>
      <p:sp>
        <p:nvSpPr>
          <p:cNvPr id="26" name="Shape 24"/>
          <p:cNvSpPr/>
          <p:nvPr/>
        </p:nvSpPr>
        <p:spPr>
          <a:xfrm>
            <a:off x="5733288" y="2651760"/>
            <a:ext cx="1078992" cy="0"/>
          </a:xfrm>
          <a:prstGeom prst="line">
            <a:avLst/>
          </a:prstGeom>
          <a:noFill/>
          <a:ln w="44450">
            <a:solidFill>
              <a:srgbClr val="8E44AD"/>
            </a:solidFill>
            <a:prstDash val="solid"/>
          </a:ln>
        </p:spPr>
      </p:sp>
      <p:sp>
        <p:nvSpPr>
          <p:cNvPr id="27" name="Shape 25"/>
          <p:cNvSpPr/>
          <p:nvPr/>
        </p:nvSpPr>
        <p:spPr>
          <a:xfrm>
            <a:off x="6812280" y="2651760"/>
            <a:ext cx="0" cy="9144"/>
          </a:xfrm>
          <a:prstGeom prst="line">
            <a:avLst/>
          </a:prstGeom>
          <a:noFill/>
          <a:ln w="44450">
            <a:solidFill>
              <a:srgbClr val="8E44AD"/>
            </a:solidFill>
            <a:prstDash val="solid"/>
          </a:ln>
        </p:spPr>
      </p:sp>
      <p:sp>
        <p:nvSpPr>
          <p:cNvPr id="28" name="Shape 26"/>
          <p:cNvSpPr/>
          <p:nvPr/>
        </p:nvSpPr>
        <p:spPr>
          <a:xfrm>
            <a:off x="6812280" y="2660904"/>
            <a:ext cx="502920" cy="0"/>
          </a:xfrm>
          <a:prstGeom prst="line">
            <a:avLst/>
          </a:prstGeom>
          <a:noFill/>
          <a:ln w="44450">
            <a:solidFill>
              <a:srgbClr val="8E44AD"/>
            </a:solidFill>
            <a:prstDash val="solid"/>
          </a:ln>
        </p:spPr>
      </p:sp>
      <p:sp>
        <p:nvSpPr>
          <p:cNvPr id="29" name="Shape 27"/>
          <p:cNvSpPr/>
          <p:nvPr/>
        </p:nvSpPr>
        <p:spPr>
          <a:xfrm>
            <a:off x="5733288" y="3657600"/>
            <a:ext cx="667512" cy="0"/>
          </a:xfrm>
          <a:prstGeom prst="line">
            <a:avLst/>
          </a:prstGeom>
          <a:noFill/>
          <a:ln w="44450">
            <a:solidFill>
              <a:srgbClr val="1B1B1B"/>
            </a:solidFill>
            <a:prstDash val="solid"/>
          </a:ln>
        </p:spPr>
      </p:sp>
      <p:sp>
        <p:nvSpPr>
          <p:cNvPr id="30" name="Shape 28"/>
          <p:cNvSpPr/>
          <p:nvPr/>
        </p:nvSpPr>
        <p:spPr>
          <a:xfrm>
            <a:off x="6400800" y="2788920"/>
            <a:ext cx="0" cy="868680"/>
          </a:xfrm>
          <a:prstGeom prst="line">
            <a:avLst/>
          </a:prstGeom>
          <a:noFill/>
          <a:ln w="44450">
            <a:solidFill>
              <a:srgbClr val="1B1B1B"/>
            </a:solidFill>
            <a:prstDash val="solid"/>
          </a:ln>
        </p:spPr>
      </p:sp>
      <p:sp>
        <p:nvSpPr>
          <p:cNvPr id="31" name="Shape 29"/>
          <p:cNvSpPr/>
          <p:nvPr/>
        </p:nvSpPr>
        <p:spPr>
          <a:xfrm>
            <a:off x="6400800" y="2788920"/>
            <a:ext cx="914400" cy="0"/>
          </a:xfrm>
          <a:prstGeom prst="line">
            <a:avLst/>
          </a:prstGeom>
          <a:noFill/>
          <a:ln w="44450">
            <a:solidFill>
              <a:srgbClr val="1B1B1B"/>
            </a:solidFill>
            <a:prstDash val="solid"/>
          </a:ln>
        </p:spPr>
      </p:sp>
      <p:sp>
        <p:nvSpPr>
          <p:cNvPr id="32" name="Shape 30"/>
          <p:cNvSpPr/>
          <p:nvPr/>
        </p:nvSpPr>
        <p:spPr>
          <a:xfrm>
            <a:off x="7315200" y="2331720"/>
            <a:ext cx="731520" cy="566928"/>
          </a:xfrm>
          <a:prstGeom prst="roundRect">
            <a:avLst>
              <a:gd name="adj" fmla="val 8065"/>
            </a:avLst>
          </a:prstGeom>
          <a:solidFill>
            <a:srgbClr val="1F6FB2"/>
          </a:solidFill>
          <a:ln w="12700">
            <a:solidFill>
              <a:srgbClr val="16568C"/>
            </a:solidFill>
            <a:prstDash val="solid"/>
          </a:ln>
        </p:spPr>
      </p:sp>
      <p:sp>
        <p:nvSpPr>
          <p:cNvPr id="33" name="Shape 31"/>
          <p:cNvSpPr/>
          <p:nvPr/>
        </p:nvSpPr>
        <p:spPr>
          <a:xfrm>
            <a:off x="7168896" y="2423160"/>
            <a:ext cx="146304" cy="128016"/>
          </a:xfrm>
          <a:prstGeom prst="rect">
            <a:avLst/>
          </a:prstGeom>
          <a:solidFill>
            <a:srgbClr val="1F6FB2"/>
          </a:solidFill>
          <a:ln w="12700">
            <a:solidFill>
              <a:srgbClr val="16568C"/>
            </a:solidFill>
            <a:prstDash val="solid"/>
          </a:ln>
        </p:spPr>
      </p:sp>
      <p:sp>
        <p:nvSpPr>
          <p:cNvPr id="34" name="Shape 32"/>
          <p:cNvSpPr/>
          <p:nvPr/>
        </p:nvSpPr>
        <p:spPr>
          <a:xfrm>
            <a:off x="8046720" y="2423160"/>
            <a:ext cx="146304" cy="128016"/>
          </a:xfrm>
          <a:prstGeom prst="rect">
            <a:avLst/>
          </a:prstGeom>
          <a:solidFill>
            <a:srgbClr val="1F6FB2"/>
          </a:solidFill>
          <a:ln w="12700">
            <a:solidFill>
              <a:srgbClr val="16568C"/>
            </a:solidFill>
            <a:prstDash val="solid"/>
          </a:ln>
        </p:spPr>
      </p:sp>
      <p:sp>
        <p:nvSpPr>
          <p:cNvPr id="35" name="Shape 33"/>
          <p:cNvSpPr/>
          <p:nvPr/>
        </p:nvSpPr>
        <p:spPr>
          <a:xfrm>
            <a:off x="7434072" y="2350008"/>
            <a:ext cx="219456" cy="219456"/>
          </a:xfrm>
          <a:prstGeom prst="ellipse">
            <a:avLst/>
          </a:prstGeom>
          <a:solidFill>
            <a:srgbClr val="ECEFF1"/>
          </a:solidFill>
          <a:ln w="12700">
            <a:solidFill>
              <a:srgbClr val="90A4AE"/>
            </a:solidFill>
            <a:prstDash val="solid"/>
          </a:ln>
        </p:spPr>
      </p:sp>
      <p:sp>
        <p:nvSpPr>
          <p:cNvPr id="36" name="Shape 34"/>
          <p:cNvSpPr/>
          <p:nvPr/>
        </p:nvSpPr>
        <p:spPr>
          <a:xfrm>
            <a:off x="7543800" y="1956816"/>
            <a:ext cx="0" cy="502920"/>
          </a:xfrm>
          <a:prstGeom prst="line">
            <a:avLst/>
          </a:prstGeom>
          <a:noFill/>
          <a:ln w="76200">
            <a:solidFill>
              <a:srgbClr val="ECEFF1"/>
            </a:solidFill>
            <a:prstDash val="solid"/>
          </a:ln>
        </p:spPr>
      </p:sp>
      <p:sp>
        <p:nvSpPr>
          <p:cNvPr id="37" name="Shape 35"/>
          <p:cNvSpPr/>
          <p:nvPr/>
        </p:nvSpPr>
        <p:spPr>
          <a:xfrm>
            <a:off x="7498080" y="2414016"/>
            <a:ext cx="91440" cy="91440"/>
          </a:xfrm>
          <a:prstGeom prst="ellipse">
            <a:avLst/>
          </a:prstGeom>
          <a:solidFill>
            <a:srgbClr val="607D8B"/>
          </a:solidFill>
          <a:ln w="12700">
            <a:solidFill>
              <a:srgbClr val="607D8B"/>
            </a:solidFill>
            <a:prstDash val="solid"/>
          </a:ln>
        </p:spPr>
      </p:sp>
      <p:sp>
        <p:nvSpPr>
          <p:cNvPr id="38" name="Text 36"/>
          <p:cNvSpPr txBox="1"/>
          <p:nvPr/>
        </p:nvSpPr>
        <p:spPr>
          <a:xfrm>
            <a:off x="7223760" y="2935224"/>
            <a:ext cx="914400" cy="201168"/>
          </a:xfrm>
          <a:prstGeom prst="rect">
            <a:avLst/>
          </a:prstGeom>
          <a:noFill/>
          <a:ln/>
        </p:spPr>
        <p:txBody>
          <a:bodyPr wrap="square" lIns="0" tIns="0" rIns="0" bIns="0" rtlCol="0" anchor="ctr"/>
          <a:lstStyle/>
          <a:p>
            <a:pPr algn="ctr" indent="0" marL="0">
              <a:buNone/>
            </a:pPr>
            <a:r>
              <a:rPr lang="en-US" sz="1000" b="1" dirty="0">
                <a:solidFill>
                  <a:srgbClr val="1B1B1B"/>
                </a:solidFill>
              </a:rPr>
              <a:t>servo</a:t>
            </a:r>
            <a:endParaRPr lang="en-US" sz="1000" dirty="0"/>
          </a:p>
        </p:txBody>
      </p:sp>
      <p:sp>
        <p:nvSpPr>
          <p:cNvPr id="39" name="Text 37"/>
          <p:cNvSpPr txBox="1"/>
          <p:nvPr/>
        </p:nvSpPr>
        <p:spPr>
          <a:xfrm>
            <a:off x="5852160" y="1591056"/>
            <a:ext cx="640080" cy="182880"/>
          </a:xfrm>
          <a:prstGeom prst="rect">
            <a:avLst/>
          </a:prstGeom>
          <a:noFill/>
          <a:ln/>
        </p:spPr>
        <p:txBody>
          <a:bodyPr wrap="square" lIns="0" tIns="0" rIns="0" bIns="0" rtlCol="0" anchor="ctr"/>
          <a:lstStyle/>
          <a:p>
            <a:pPr indent="0" marL="0">
              <a:buNone/>
            </a:pPr>
            <a:r>
              <a:rPr lang="en-US" sz="1100" b="1" dirty="0">
                <a:solidFill>
                  <a:srgbClr val="D64545"/>
                </a:solidFill>
              </a:rPr>
              <a:t>red</a:t>
            </a:r>
            <a:endParaRPr lang="en-US" sz="1100" dirty="0"/>
          </a:p>
        </p:txBody>
      </p:sp>
      <p:sp>
        <p:nvSpPr>
          <p:cNvPr id="40" name="Text 38"/>
          <p:cNvSpPr txBox="1"/>
          <p:nvPr/>
        </p:nvSpPr>
        <p:spPr>
          <a:xfrm>
            <a:off x="5943600" y="2414016"/>
            <a:ext cx="731520" cy="182880"/>
          </a:xfrm>
          <a:prstGeom prst="rect">
            <a:avLst/>
          </a:prstGeom>
          <a:noFill/>
          <a:ln/>
        </p:spPr>
        <p:txBody>
          <a:bodyPr wrap="square" lIns="0" tIns="0" rIns="0" bIns="0" rtlCol="0" anchor="ctr"/>
          <a:lstStyle/>
          <a:p>
            <a:pPr indent="0" marL="0">
              <a:buNone/>
            </a:pPr>
            <a:r>
              <a:rPr lang="en-US" sz="1100" b="1" dirty="0">
                <a:solidFill>
                  <a:srgbClr val="8E44AD"/>
                </a:solidFill>
              </a:rPr>
              <a:t>orange</a:t>
            </a:r>
            <a:endParaRPr lang="en-US" sz="1100" dirty="0"/>
          </a:p>
        </p:txBody>
      </p:sp>
      <p:sp>
        <p:nvSpPr>
          <p:cNvPr id="41" name="Text 39"/>
          <p:cNvSpPr txBox="1"/>
          <p:nvPr/>
        </p:nvSpPr>
        <p:spPr>
          <a:xfrm>
            <a:off x="5669280" y="3419856"/>
            <a:ext cx="731520" cy="182880"/>
          </a:xfrm>
          <a:prstGeom prst="rect">
            <a:avLst/>
          </a:prstGeom>
          <a:noFill/>
          <a:ln/>
        </p:spPr>
        <p:txBody>
          <a:bodyPr wrap="square" lIns="0" tIns="0" rIns="0" bIns="0" rtlCol="0" anchor="ctr"/>
          <a:lstStyle/>
          <a:p>
            <a:pPr indent="0" marL="0">
              <a:buNone/>
            </a:pPr>
            <a:r>
              <a:rPr lang="en-US" sz="1100" b="1" dirty="0">
                <a:solidFill>
                  <a:srgbClr val="1B1B1B"/>
                </a:solidFill>
              </a:rPr>
              <a:t>brown</a:t>
            </a:r>
            <a:endParaRPr lang="en-US" sz="1100" dirty="0"/>
          </a:p>
        </p:txBody>
      </p:sp>
      <p:sp>
        <p:nvSpPr>
          <p:cNvPr id="42" name="Shape 40"/>
          <p:cNvSpPr/>
          <p:nvPr/>
        </p:nvSpPr>
        <p:spPr>
          <a:xfrm>
            <a:off x="4480560" y="4343400"/>
            <a:ext cx="4206240" cy="457200"/>
          </a:xfrm>
          <a:prstGeom prst="roundRect">
            <a:avLst>
              <a:gd name="adj" fmla="val 12000"/>
            </a:avLst>
          </a:prstGeom>
          <a:solidFill>
            <a:srgbClr val="FDECEC"/>
          </a:solidFill>
          <a:ln w="15875">
            <a:solidFill>
              <a:srgbClr val="D64545"/>
            </a:solidFill>
            <a:prstDash val="solid"/>
          </a:ln>
        </p:spPr>
      </p:sp>
      <p:sp>
        <p:nvSpPr>
          <p:cNvPr id="43" name="Text 41"/>
          <p:cNvSpPr txBox="1"/>
          <p:nvPr/>
        </p:nvSpPr>
        <p:spPr>
          <a:xfrm>
            <a:off x="4617720" y="4343400"/>
            <a:ext cx="3931920" cy="457200"/>
          </a:xfrm>
          <a:prstGeom prst="rect">
            <a:avLst/>
          </a:prstGeom>
          <a:noFill/>
          <a:ln/>
        </p:spPr>
        <p:txBody>
          <a:bodyPr wrap="square" lIns="0" tIns="0" rIns="0" bIns="0" rtlCol="0" anchor="ctr"/>
          <a:lstStyle/>
          <a:p>
            <a:pPr indent="0" marL="0">
              <a:buNone/>
            </a:pPr>
            <a:r>
              <a:rPr lang="en-US" sz="1300" b="1" dirty="0">
                <a:solidFill>
                  <a:srgbClr val="D64545"/>
                </a:solidFill>
              </a:rPr>
              <a:t>Red goes to 5V.  </a:t>
            </a:r>
            <a:pPr indent="0" marL="0">
              <a:buNone/>
            </a:pPr>
            <a:r>
              <a:rPr lang="en-US" sz="1300" dirty="0">
                <a:solidFill>
                  <a:srgbClr val="1B1B1B"/>
                </a:solidFill>
              </a:rPr>
              <a:t>On 3V3 the ESP32 resets when the servo moves.</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Read the code: Step 1</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1</a:t>
            </a:r>
            <a:endParaRPr lang="en-US" sz="2000" dirty="0"/>
          </a:p>
        </p:txBody>
      </p:sp>
      <p:sp>
        <p:nvSpPr>
          <p:cNvPr id="6" name="Shape 4"/>
          <p:cNvSpPr/>
          <p:nvPr/>
        </p:nvSpPr>
        <p:spPr>
          <a:xfrm>
            <a:off x="457200" y="1051560"/>
            <a:ext cx="4023360" cy="2286000"/>
          </a:xfrm>
          <a:prstGeom prst="roundRect">
            <a:avLst>
              <a:gd name="adj" fmla="val 3200"/>
            </a:avLst>
          </a:prstGeom>
          <a:solidFill>
            <a:srgbClr val="14261F"/>
          </a:solidFill>
          <a:ln w="12700">
            <a:solidFill>
              <a:srgbClr val="14261F"/>
            </a:solidFill>
            <a:prstDash val="solid"/>
          </a:ln>
        </p:spPr>
      </p:sp>
      <p:sp>
        <p:nvSpPr>
          <p:cNvPr id="7" name="Text 5"/>
          <p:cNvSpPr txBox="1"/>
          <p:nvPr/>
        </p:nvSpPr>
        <p:spPr>
          <a:xfrm>
            <a:off x="594360" y="1115568"/>
            <a:ext cx="3749040" cy="219456"/>
          </a:xfrm>
          <a:prstGeom prst="rect">
            <a:avLst/>
          </a:prstGeom>
          <a:noFill/>
          <a:ln/>
        </p:spPr>
        <p:txBody>
          <a:bodyPr wrap="square" lIns="0" tIns="0" rIns="0" bIns="0" rtlCol="0" anchor="ctr"/>
          <a:lstStyle/>
          <a:p>
            <a:pPr indent="0" marL="0">
              <a:buNone/>
            </a:pPr>
            <a:r>
              <a:rPr lang="en-US" sz="1100" b="1" dirty="0">
                <a:solidFill>
                  <a:srgbClr val="F2A900"/>
                </a:solidFill>
              </a:rPr>
              <a:t>step1_servo_sweep.py</a:t>
            </a:r>
            <a:pPr indent="0" marL="0">
              <a:buNone/>
            </a:pPr>
            <a:r>
              <a:rPr lang="en-US" sz="1100" dirty="0">
                <a:solidFill>
                  <a:srgbClr val="9FB8AD"/>
                </a:solidFill>
              </a:rPr>
              <a:t>  ·  lines 17–26</a:t>
            </a:r>
            <a:endParaRPr lang="en-US" sz="1100" dirty="0"/>
          </a:p>
        </p:txBody>
      </p:sp>
      <p:sp>
        <p:nvSpPr>
          <p:cNvPr id="8" name="Shape 6"/>
          <p:cNvSpPr/>
          <p:nvPr/>
        </p:nvSpPr>
        <p:spPr>
          <a:xfrm>
            <a:off x="566928" y="1371600"/>
            <a:ext cx="3803904" cy="0"/>
          </a:xfrm>
          <a:prstGeom prst="line">
            <a:avLst/>
          </a:prstGeom>
          <a:noFill/>
          <a:ln w="12700">
            <a:solidFill>
              <a:srgbClr val="2F4A3F"/>
            </a:solidFill>
            <a:prstDash val="solid"/>
          </a:ln>
        </p:spPr>
      </p:sp>
      <p:sp>
        <p:nvSpPr>
          <p:cNvPr id="9" name="Text 7"/>
          <p:cNvSpPr txBox="1"/>
          <p:nvPr/>
        </p:nvSpPr>
        <p:spPr>
          <a:xfrm>
            <a:off x="548640" y="1435608"/>
            <a:ext cx="3840480" cy="1828800"/>
          </a:xfrm>
          <a:prstGeom prst="rect">
            <a:avLst/>
          </a:prstGeom>
          <a:noFill/>
          <a:ln/>
        </p:spPr>
        <p:txBody>
          <a:bodyPr wrap="square" lIns="0" tIns="0" rIns="0" bIns="0" rtlCol="0" anchor="t"/>
          <a:lstStyle/>
          <a:p>
            <a:pPr indent="0" marL="0">
              <a:buNone/>
            </a:pPr>
            <a:r>
              <a:rPr lang="en-US" sz="1200" dirty="0">
                <a:solidFill>
                  <a:srgbClr val="6F8A7F"/>
                </a:solidFill>
                <a:latin typeface="Courier New" pitchFamily="34" charset="0"/>
                <a:ea typeface="Courier New" pitchFamily="34" charset="-122"/>
                <a:cs typeface="Courier New" pitchFamily="34" charset="-120"/>
              </a:rPr>
              <a:t> 17  </a:t>
            </a:r>
            <a:pPr indent="0" marL="0">
              <a:buNone/>
            </a:pPr>
            <a:r>
              <a:rPr lang="en-US" sz="1200" dirty="0">
                <a:solidFill>
                  <a:srgbClr val="E6F2EC"/>
                </a:solidFill>
                <a:latin typeface="Courier New" pitchFamily="34" charset="0"/>
                <a:ea typeface="Courier New" pitchFamily="34" charset="-122"/>
                <a:cs typeface="Courier New" pitchFamily="34" charset="-120"/>
              </a:rPr>
              <a:t>from machine import Pin, PWM</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18  </a:t>
            </a:r>
            <a:pPr indent="0" marL="0">
              <a:buNone/>
            </a:pPr>
            <a:r>
              <a:rPr lang="en-US" sz="1200" dirty="0">
                <a:solidFill>
                  <a:srgbClr val="E6F2EC"/>
                </a:solidFill>
                <a:latin typeface="Courier New" pitchFamily="34" charset="0"/>
                <a:ea typeface="Courier New" pitchFamily="34" charset="-122"/>
                <a:cs typeface="Courier New" pitchFamily="34" charset="-120"/>
              </a:rPr>
              <a:t>import time</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19  </a:t>
            </a:r>
            <a:pPr indent="0" marL="0">
              <a:buNone/>
            </a:pP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20  </a:t>
            </a:r>
            <a:pPr indent="0" marL="0">
              <a:buNone/>
            </a:pPr>
            <a:r>
              <a:rPr lang="en-US" sz="1200" dirty="0">
                <a:solidFill>
                  <a:srgbClr val="E6F2EC"/>
                </a:solidFill>
                <a:latin typeface="Courier New" pitchFamily="34" charset="0"/>
                <a:ea typeface="Courier New" pitchFamily="34" charset="-122"/>
                <a:cs typeface="Courier New" pitchFamily="34" charset="-120"/>
              </a:rPr>
              <a:t>servo = PWM(Pin(26))</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21  </a:t>
            </a:r>
            <a:pPr indent="0" marL="0">
              <a:buNone/>
            </a:pPr>
            <a:r>
              <a:rPr lang="en-US" sz="1200" dirty="0">
                <a:solidFill>
                  <a:srgbClr val="E6F2EC"/>
                </a:solidFill>
                <a:latin typeface="Courier New" pitchFamily="34" charset="0"/>
                <a:ea typeface="Courier New" pitchFamily="34" charset="-122"/>
                <a:cs typeface="Courier New" pitchFamily="34" charset="-120"/>
              </a:rPr>
              <a:t>servo.freq(50)</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22  </a:t>
            </a:r>
            <a:pPr indent="0" marL="0">
              <a:buNone/>
            </a:pPr>
            <a:r>
              <a:rPr lang="en-US" sz="1200" dirty="0">
                <a:solidFill>
                  <a:srgbClr val="E6F2EC"/>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23  </a:t>
            </a:r>
            <a:pPr indent="0" marL="0">
              <a:buNone/>
            </a:pPr>
            <a:r>
              <a:rPr lang="en-US" sz="1200" dirty="0">
                <a:solidFill>
                  <a:srgbClr val="9FB8AD"/>
                </a:solidFill>
                <a:latin typeface="Courier New" pitchFamily="34" charset="0"/>
                <a:ea typeface="Courier New" pitchFamily="34" charset="-122"/>
                <a:cs typeface="Courier New" pitchFamily="34" charset="-120"/>
              </a:rPr>
              <a:t>#   angle    duty_u16</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24  </a:t>
            </a:r>
            <a:pPr indent="0" marL="0">
              <a:buNone/>
            </a:pPr>
            <a:r>
              <a:rPr lang="en-US" sz="1200" dirty="0">
                <a:solidFill>
                  <a:srgbClr val="9FB8AD"/>
                </a:solidFill>
                <a:latin typeface="Courier New" pitchFamily="34" charset="0"/>
                <a:ea typeface="Courier New" pitchFamily="34" charset="-122"/>
                <a:cs typeface="Courier New" pitchFamily="34" charset="-120"/>
              </a:rPr>
              <a:t>#      0       1638</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25  </a:t>
            </a:r>
            <a:pPr indent="0" marL="0">
              <a:buNone/>
            </a:pPr>
            <a:r>
              <a:rPr lang="en-US" sz="1200" dirty="0">
                <a:solidFill>
                  <a:srgbClr val="9FB8AD"/>
                </a:solidFill>
                <a:latin typeface="Courier New" pitchFamily="34" charset="0"/>
                <a:ea typeface="Courier New" pitchFamily="34" charset="-122"/>
                <a:cs typeface="Courier New" pitchFamily="34" charset="-120"/>
              </a:rPr>
              <a:t>#     90       4915</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26  </a:t>
            </a:r>
            <a:pPr indent="0" marL="0">
              <a:buNone/>
            </a:pPr>
            <a:r>
              <a:rPr lang="en-US" sz="1200" dirty="0">
                <a:solidFill>
                  <a:srgbClr val="9FB8AD"/>
                </a:solidFill>
                <a:latin typeface="Courier New" pitchFamily="34" charset="0"/>
                <a:ea typeface="Courier New" pitchFamily="34" charset="-122"/>
                <a:cs typeface="Courier New" pitchFamily="34" charset="-120"/>
              </a:rPr>
              <a:t>#    180       8100</a:t>
            </a:r>
            <a:endParaRPr lang="en-US" sz="1200" dirty="0"/>
          </a:p>
        </p:txBody>
      </p:sp>
      <p:sp>
        <p:nvSpPr>
          <p:cNvPr id="10" name="Shape 8"/>
          <p:cNvSpPr/>
          <p:nvPr/>
        </p:nvSpPr>
        <p:spPr>
          <a:xfrm>
            <a:off x="4754880" y="1097280"/>
            <a:ext cx="868680" cy="292608"/>
          </a:xfrm>
          <a:prstGeom prst="roundRect">
            <a:avLst>
              <a:gd name="adj" fmla="val 18750"/>
            </a:avLst>
          </a:prstGeom>
          <a:solidFill>
            <a:srgbClr val="FFF1C2"/>
          </a:solidFill>
          <a:ln w="9525">
            <a:solidFill>
              <a:srgbClr val="E0A800"/>
            </a:solidFill>
            <a:prstDash val="solid"/>
          </a:ln>
        </p:spPr>
      </p:sp>
      <p:sp>
        <p:nvSpPr>
          <p:cNvPr id="11" name="Text 9"/>
          <p:cNvSpPr txBox="1"/>
          <p:nvPr/>
        </p:nvSpPr>
        <p:spPr>
          <a:xfrm>
            <a:off x="4754880" y="109728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20</a:t>
            </a:r>
            <a:endParaRPr lang="en-US" sz="1100" dirty="0"/>
          </a:p>
        </p:txBody>
      </p:sp>
      <p:sp>
        <p:nvSpPr>
          <p:cNvPr id="12" name="Text 10"/>
          <p:cNvSpPr txBox="1"/>
          <p:nvPr/>
        </p:nvSpPr>
        <p:spPr>
          <a:xfrm>
            <a:off x="5760720" y="1060704"/>
            <a:ext cx="2926080" cy="713232"/>
          </a:xfrm>
          <a:prstGeom prst="rect">
            <a:avLst/>
          </a:prstGeom>
          <a:noFill/>
          <a:ln/>
        </p:spPr>
        <p:txBody>
          <a:bodyPr wrap="square" lIns="0" tIns="0" rIns="0" bIns="0" rtlCol="0" anchor="t"/>
          <a:lstStyle/>
          <a:p>
            <a:pPr indent="0" marL="0">
              <a:buNone/>
            </a:pPr>
            <a:r>
              <a:rPr lang="en-US" sz="1400" dirty="0">
                <a:solidFill>
                  <a:srgbClr val="1B1B1B"/>
                </a:solidFill>
              </a:rPr>
              <a:t>PWM switches GPIO26 on and off. Same tool as the LED brightness and the buzzer pitch.</a:t>
            </a:r>
            <a:endParaRPr lang="en-US" sz="1400" dirty="0"/>
          </a:p>
        </p:txBody>
      </p:sp>
      <p:sp>
        <p:nvSpPr>
          <p:cNvPr id="13" name="Shape 11"/>
          <p:cNvSpPr/>
          <p:nvPr/>
        </p:nvSpPr>
        <p:spPr>
          <a:xfrm>
            <a:off x="4754880" y="1847088"/>
            <a:ext cx="868680" cy="292608"/>
          </a:xfrm>
          <a:prstGeom prst="roundRect">
            <a:avLst>
              <a:gd name="adj" fmla="val 18750"/>
            </a:avLst>
          </a:prstGeom>
          <a:solidFill>
            <a:srgbClr val="FFF1C2"/>
          </a:solidFill>
          <a:ln w="9525">
            <a:solidFill>
              <a:srgbClr val="E0A800"/>
            </a:solidFill>
            <a:prstDash val="solid"/>
          </a:ln>
        </p:spPr>
      </p:sp>
      <p:sp>
        <p:nvSpPr>
          <p:cNvPr id="14" name="Text 12"/>
          <p:cNvSpPr txBox="1"/>
          <p:nvPr/>
        </p:nvSpPr>
        <p:spPr>
          <a:xfrm>
            <a:off x="4754880" y="1847088"/>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21</a:t>
            </a:r>
            <a:endParaRPr lang="en-US" sz="1100" dirty="0"/>
          </a:p>
        </p:txBody>
      </p:sp>
      <p:sp>
        <p:nvSpPr>
          <p:cNvPr id="15" name="Text 13"/>
          <p:cNvSpPr txBox="1"/>
          <p:nvPr/>
        </p:nvSpPr>
        <p:spPr>
          <a:xfrm>
            <a:off x="5760720" y="1810512"/>
            <a:ext cx="2926080" cy="713232"/>
          </a:xfrm>
          <a:prstGeom prst="rect">
            <a:avLst/>
          </a:prstGeom>
          <a:noFill/>
          <a:ln/>
        </p:spPr>
        <p:txBody>
          <a:bodyPr wrap="square" lIns="0" tIns="0" rIns="0" bIns="0" rtlCol="0" anchor="t"/>
          <a:lstStyle/>
          <a:p>
            <a:pPr indent="0" marL="0">
              <a:buNone/>
            </a:pPr>
            <a:r>
              <a:rPr lang="en-US" sz="1400" dirty="0">
                <a:solidFill>
                  <a:srgbClr val="1B1B1B"/>
                </a:solidFill>
              </a:rPr>
              <a:t>50 times a second. A servo only listens at this speed.</a:t>
            </a:r>
            <a:endParaRPr lang="en-US" sz="1400" dirty="0"/>
          </a:p>
        </p:txBody>
      </p:sp>
      <p:sp>
        <p:nvSpPr>
          <p:cNvPr id="16" name="Shape 14"/>
          <p:cNvSpPr/>
          <p:nvPr/>
        </p:nvSpPr>
        <p:spPr>
          <a:xfrm>
            <a:off x="4754880" y="2596896"/>
            <a:ext cx="868680" cy="292608"/>
          </a:xfrm>
          <a:prstGeom prst="roundRect">
            <a:avLst>
              <a:gd name="adj" fmla="val 18750"/>
            </a:avLst>
          </a:prstGeom>
          <a:solidFill>
            <a:srgbClr val="FFF1C2"/>
          </a:solidFill>
          <a:ln w="9525">
            <a:solidFill>
              <a:srgbClr val="E0A800"/>
            </a:solidFill>
            <a:prstDash val="solid"/>
          </a:ln>
        </p:spPr>
      </p:sp>
      <p:sp>
        <p:nvSpPr>
          <p:cNvPr id="17" name="Text 15"/>
          <p:cNvSpPr txBox="1"/>
          <p:nvPr/>
        </p:nvSpPr>
        <p:spPr>
          <a:xfrm>
            <a:off x="4754880" y="2596896"/>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23–26</a:t>
            </a:r>
            <a:endParaRPr lang="en-US" sz="1100" dirty="0"/>
          </a:p>
        </p:txBody>
      </p:sp>
      <p:sp>
        <p:nvSpPr>
          <p:cNvPr id="18" name="Text 16"/>
          <p:cNvSpPr txBox="1"/>
          <p:nvPr/>
        </p:nvSpPr>
        <p:spPr>
          <a:xfrm>
            <a:off x="5760720" y="2560320"/>
            <a:ext cx="2926080" cy="713232"/>
          </a:xfrm>
          <a:prstGeom prst="rect">
            <a:avLst/>
          </a:prstGeom>
          <a:noFill/>
          <a:ln/>
        </p:spPr>
        <p:txBody>
          <a:bodyPr wrap="square" lIns="0" tIns="0" rIns="0" bIns="0" rtlCol="0" anchor="t"/>
          <a:lstStyle/>
          <a:p>
            <a:pPr indent="0" marL="0">
              <a:buNone/>
            </a:pPr>
            <a:r>
              <a:rPr lang="en-US" sz="1400" dirty="0">
                <a:solidFill>
                  <a:srgbClr val="1B1B1B"/>
                </a:solidFill>
              </a:rPr>
              <a:t>The duty number that means each angle. Nobody remembers these.</a:t>
            </a:r>
            <a:endParaRPr lang="en-US" sz="1400" dirty="0"/>
          </a:p>
        </p:txBody>
      </p:sp>
      <p:sp>
        <p:nvSpPr>
          <p:cNvPr id="19" name="Shape 17"/>
          <p:cNvSpPr/>
          <p:nvPr/>
        </p:nvSpPr>
        <p:spPr>
          <a:xfrm>
            <a:off x="4754880" y="3346704"/>
            <a:ext cx="868680" cy="292608"/>
          </a:xfrm>
          <a:prstGeom prst="roundRect">
            <a:avLst>
              <a:gd name="adj" fmla="val 18750"/>
            </a:avLst>
          </a:prstGeom>
          <a:solidFill>
            <a:srgbClr val="FFF1C2"/>
          </a:solidFill>
          <a:ln w="9525">
            <a:solidFill>
              <a:srgbClr val="E0A800"/>
            </a:solidFill>
            <a:prstDash val="solid"/>
          </a:ln>
        </p:spPr>
      </p:sp>
      <p:sp>
        <p:nvSpPr>
          <p:cNvPr id="20" name="Text 18"/>
          <p:cNvSpPr txBox="1"/>
          <p:nvPr/>
        </p:nvSpPr>
        <p:spPr>
          <a:xfrm>
            <a:off x="4754880" y="3346704"/>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29</a:t>
            </a:r>
            <a:endParaRPr lang="en-US" sz="1100" dirty="0"/>
          </a:p>
        </p:txBody>
      </p:sp>
      <p:sp>
        <p:nvSpPr>
          <p:cNvPr id="21" name="Text 19"/>
          <p:cNvSpPr txBox="1"/>
          <p:nvPr/>
        </p:nvSpPr>
        <p:spPr>
          <a:xfrm>
            <a:off x="5760720" y="3310128"/>
            <a:ext cx="2926080" cy="713232"/>
          </a:xfrm>
          <a:prstGeom prst="rect">
            <a:avLst/>
          </a:prstGeom>
          <a:noFill/>
          <a:ln/>
        </p:spPr>
        <p:txBody>
          <a:bodyPr wrap="square" lIns="0" tIns="0" rIns="0" bIns="0" rtlCol="0" anchor="t"/>
          <a:lstStyle/>
          <a:p>
            <a:pPr indent="0" marL="0">
              <a:buNone/>
            </a:pPr>
            <a:r>
              <a:rPr lang="en-US" sz="1400" dirty="0">
                <a:solidFill>
                  <a:srgbClr val="1B1B1B"/>
                </a:solidFill>
              </a:rPr>
              <a:t>duty_u16(1638): go to 0 degrees and hold.</a:t>
            </a:r>
            <a:endParaRPr lang="en-US" sz="1400" dirty="0"/>
          </a:p>
        </p:txBody>
      </p:sp>
      <p:sp>
        <p:nvSpPr>
          <p:cNvPr id="22" name="Shape 20"/>
          <p:cNvSpPr/>
          <p:nvPr/>
        </p:nvSpPr>
        <p:spPr>
          <a:xfrm>
            <a:off x="457200" y="3520440"/>
            <a:ext cx="4023360" cy="960120"/>
          </a:xfrm>
          <a:prstGeom prst="roundRect">
            <a:avLst>
              <a:gd name="adj" fmla="val 7619"/>
            </a:avLst>
          </a:prstGeom>
          <a:solidFill>
            <a:srgbClr val="EEF5F1"/>
          </a:solidFill>
          <a:ln w="12700">
            <a:solidFill>
              <a:srgbClr val="D3E4DB"/>
            </a:solidFill>
            <a:prstDash val="solid"/>
          </a:ln>
        </p:spPr>
      </p:sp>
      <p:sp>
        <p:nvSpPr>
          <p:cNvPr id="23" name="Text 21"/>
          <p:cNvSpPr txBox="1"/>
          <p:nvPr/>
        </p:nvSpPr>
        <p:spPr>
          <a:xfrm>
            <a:off x="640080" y="3584448"/>
            <a:ext cx="3657600" cy="274320"/>
          </a:xfrm>
          <a:prstGeom prst="rect">
            <a:avLst/>
          </a:prstGeom>
          <a:noFill/>
          <a:ln/>
        </p:spPr>
        <p:txBody>
          <a:bodyPr wrap="square" lIns="0" tIns="0" rIns="0" bIns="0" rtlCol="0" anchor="ctr"/>
          <a:lstStyle/>
          <a:p>
            <a:pPr indent="0" marL="0">
              <a:buNone/>
            </a:pPr>
            <a:r>
              <a:rPr lang="en-US" sz="1500" b="1" dirty="0">
                <a:solidFill>
                  <a:srgbClr val="0B3D2E"/>
                </a:solidFill>
              </a:rPr>
              <a:t>Predict, then try</a:t>
            </a:r>
            <a:endParaRPr lang="en-US" sz="1500" dirty="0"/>
          </a:p>
        </p:txBody>
      </p:sp>
      <p:sp>
        <p:nvSpPr>
          <p:cNvPr id="24" name="Text 22"/>
          <p:cNvSpPr txBox="1"/>
          <p:nvPr/>
        </p:nvSpPr>
        <p:spPr>
          <a:xfrm>
            <a:off x="640080" y="3886200"/>
            <a:ext cx="3657600" cy="548640"/>
          </a:xfrm>
          <a:prstGeom prst="rect">
            <a:avLst/>
          </a:prstGeom>
          <a:noFill/>
          <a:ln/>
        </p:spPr>
        <p:txBody>
          <a:bodyPr wrap="square" lIns="0" tIns="0" rIns="0" bIns="0" rtlCol="0" anchor="t"/>
          <a:lstStyle/>
          <a:p>
            <a:pPr indent="0" marL="0">
              <a:buNone/>
            </a:pPr>
            <a:r>
              <a:rPr lang="en-US" sz="1400" dirty="0">
                <a:solidFill>
                  <a:srgbClr val="1B1B1B"/>
                </a:solidFill>
              </a:rPr>
              <a:t>Which number would send it to 45 degrees? Try your guess on line 29.</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Step 2: say the angle, not the number</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2</a:t>
            </a:r>
            <a:endParaRPr lang="en-US" sz="2000" dirty="0"/>
          </a:p>
        </p:txBody>
      </p:sp>
      <p:sp>
        <p:nvSpPr>
          <p:cNvPr id="6" name="Text 4"/>
          <p:cNvSpPr txBox="1"/>
          <p:nvPr/>
        </p:nvSpPr>
        <p:spPr>
          <a:xfrm>
            <a:off x="457200" y="960120"/>
            <a:ext cx="4206240" cy="320040"/>
          </a:xfrm>
          <a:prstGeom prst="rect">
            <a:avLst/>
          </a:prstGeom>
          <a:noFill/>
          <a:ln/>
        </p:spPr>
        <p:txBody>
          <a:bodyPr wrap="square" lIns="0" tIns="0" rIns="0" bIns="0" rtlCol="0" anchor="ctr"/>
          <a:lstStyle/>
          <a:p>
            <a:pPr indent="0" marL="0">
              <a:buNone/>
            </a:pPr>
            <a:r>
              <a:rPr lang="en-US" sz="1400" b="1" dirty="0">
                <a:solidFill>
                  <a:srgbClr val="0B3D2E"/>
                </a:solidFill>
              </a:rPr>
              <a:t>No rewiring. Upload step2_servo_angle.py and run it.</a:t>
            </a:r>
            <a:endParaRPr lang="en-US" sz="1400" dirty="0"/>
          </a:p>
        </p:txBody>
      </p:sp>
      <p:sp>
        <p:nvSpPr>
          <p:cNvPr id="7" name="Shape 5"/>
          <p:cNvSpPr/>
          <p:nvPr/>
        </p:nvSpPr>
        <p:spPr>
          <a:xfrm>
            <a:off x="457200" y="1325880"/>
            <a:ext cx="4206240" cy="1691640"/>
          </a:xfrm>
          <a:prstGeom prst="roundRect">
            <a:avLst>
              <a:gd name="adj" fmla="val 4324"/>
            </a:avLst>
          </a:prstGeom>
          <a:solidFill>
            <a:srgbClr val="14261F"/>
          </a:solidFill>
          <a:ln w="12700">
            <a:solidFill>
              <a:srgbClr val="14261F"/>
            </a:solidFill>
            <a:prstDash val="solid"/>
          </a:ln>
        </p:spPr>
      </p:sp>
      <p:sp>
        <p:nvSpPr>
          <p:cNvPr id="8" name="Text 6"/>
          <p:cNvSpPr txBox="1"/>
          <p:nvPr/>
        </p:nvSpPr>
        <p:spPr>
          <a:xfrm>
            <a:off x="594360" y="1389888"/>
            <a:ext cx="3931920" cy="219456"/>
          </a:xfrm>
          <a:prstGeom prst="rect">
            <a:avLst/>
          </a:prstGeom>
          <a:noFill/>
          <a:ln/>
        </p:spPr>
        <p:txBody>
          <a:bodyPr wrap="square" lIns="0" tIns="0" rIns="0" bIns="0" rtlCol="0" anchor="ctr"/>
          <a:lstStyle/>
          <a:p>
            <a:pPr indent="0" marL="0">
              <a:buNone/>
            </a:pPr>
            <a:r>
              <a:rPr lang="en-US" sz="1100" b="1" dirty="0">
                <a:solidFill>
                  <a:srgbClr val="F2A900"/>
                </a:solidFill>
              </a:rPr>
              <a:t>step2_servo_angle.py</a:t>
            </a:r>
            <a:pPr indent="0" marL="0">
              <a:buNone/>
            </a:pPr>
            <a:r>
              <a:rPr lang="en-US" sz="1100" dirty="0">
                <a:solidFill>
                  <a:srgbClr val="9FB8AD"/>
                </a:solidFill>
              </a:rPr>
              <a:t>  ·  lines 21–27</a:t>
            </a:r>
            <a:endParaRPr lang="en-US" sz="1100" dirty="0"/>
          </a:p>
        </p:txBody>
      </p:sp>
      <p:sp>
        <p:nvSpPr>
          <p:cNvPr id="9" name="Shape 7"/>
          <p:cNvSpPr/>
          <p:nvPr/>
        </p:nvSpPr>
        <p:spPr>
          <a:xfrm>
            <a:off x="566928" y="1645920"/>
            <a:ext cx="3986784" cy="0"/>
          </a:xfrm>
          <a:prstGeom prst="line">
            <a:avLst/>
          </a:prstGeom>
          <a:noFill/>
          <a:ln w="12700">
            <a:solidFill>
              <a:srgbClr val="2F4A3F"/>
            </a:solidFill>
            <a:prstDash val="solid"/>
          </a:ln>
        </p:spPr>
      </p:sp>
      <p:sp>
        <p:nvSpPr>
          <p:cNvPr id="10" name="Text 8"/>
          <p:cNvSpPr txBox="1"/>
          <p:nvPr/>
        </p:nvSpPr>
        <p:spPr>
          <a:xfrm>
            <a:off x="548640" y="1709928"/>
            <a:ext cx="4023360" cy="1234440"/>
          </a:xfrm>
          <a:prstGeom prst="rect">
            <a:avLst/>
          </a:prstGeom>
          <a:noFill/>
          <a:ln/>
        </p:spPr>
        <p:txBody>
          <a:bodyPr wrap="square" lIns="0" tIns="0" rIns="0" bIns="0" rtlCol="0" anchor="t"/>
          <a:lstStyle/>
          <a:p>
            <a:pPr indent="0" marL="0">
              <a:buNone/>
            </a:pPr>
            <a:r>
              <a:rPr lang="en-US" sz="1050" dirty="0">
                <a:solidFill>
                  <a:srgbClr val="6F8A7F"/>
                </a:solidFill>
                <a:latin typeface="Courier New" pitchFamily="34" charset="0"/>
                <a:ea typeface="Courier New" pitchFamily="34" charset="-122"/>
                <a:cs typeface="Courier New" pitchFamily="34" charset="-120"/>
              </a:rPr>
              <a:t> 21  </a:t>
            </a:r>
            <a:pPr indent="0" marL="0">
              <a:buNone/>
            </a:pPr>
            <a:r>
              <a:rPr lang="en-US" sz="1050" dirty="0">
                <a:solidFill>
                  <a:srgbClr val="E6F2EC"/>
                </a:solidFill>
                <a:latin typeface="Courier New" pitchFamily="34" charset="0"/>
                <a:ea typeface="Courier New" pitchFamily="34" charset="-122"/>
                <a:cs typeface="Courier New" pitchFamily="34" charset="-120"/>
              </a:rPr>
              <a:t>def set_angle(deg):</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22  </a:t>
            </a:r>
            <a:pPr indent="0" marL="0">
              <a:buNone/>
            </a:pPr>
            <a:r>
              <a:rPr lang="en-US" sz="1050" dirty="0">
                <a:solidFill>
                  <a:srgbClr val="E6F2EC"/>
                </a:solidFill>
                <a:latin typeface="Courier New" pitchFamily="34" charset="0"/>
                <a:ea typeface="Courier New" pitchFamily="34" charset="-122"/>
                <a:cs typeface="Courier New" pitchFamily="34" charset="-120"/>
              </a:rPr>
              <a:t>    if deg &lt; 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23  </a:t>
            </a:r>
            <a:pPr indent="0" marL="0">
              <a:buNone/>
            </a:pPr>
            <a:r>
              <a:rPr lang="en-US" sz="1050" dirty="0">
                <a:solidFill>
                  <a:srgbClr val="E6F2EC"/>
                </a:solidFill>
                <a:latin typeface="Courier New" pitchFamily="34" charset="0"/>
                <a:ea typeface="Courier New" pitchFamily="34" charset="-122"/>
                <a:cs typeface="Courier New" pitchFamily="34" charset="-120"/>
              </a:rPr>
              <a:t>        deg = 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24  </a:t>
            </a:r>
            <a:pPr indent="0" marL="0">
              <a:buNone/>
            </a:pPr>
            <a:r>
              <a:rPr lang="en-US" sz="1050" dirty="0">
                <a:solidFill>
                  <a:srgbClr val="E6F2EC"/>
                </a:solidFill>
                <a:latin typeface="Courier New" pitchFamily="34" charset="0"/>
                <a:ea typeface="Courier New" pitchFamily="34" charset="-122"/>
                <a:cs typeface="Courier New" pitchFamily="34" charset="-120"/>
              </a:rPr>
              <a:t>    if deg &gt; 180: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25  </a:t>
            </a:r>
            <a:pPr indent="0" marL="0">
              <a:buNone/>
            </a:pPr>
            <a:r>
              <a:rPr lang="en-US" sz="1050" dirty="0">
                <a:solidFill>
                  <a:srgbClr val="E6F2EC"/>
                </a:solidFill>
                <a:latin typeface="Courier New" pitchFamily="34" charset="0"/>
                <a:ea typeface="Courier New" pitchFamily="34" charset="-122"/>
                <a:cs typeface="Courier New" pitchFamily="34" charset="-120"/>
              </a:rPr>
              <a:t>        deg = 180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26  </a:t>
            </a:r>
            <a:pPr indent="0" marL="0">
              <a:buNone/>
            </a:pPr>
            <a:r>
              <a:rPr lang="en-US" sz="1050" dirty="0">
                <a:solidFill>
                  <a:srgbClr val="E6F2EC"/>
                </a:solidFill>
                <a:latin typeface="Courier New" pitchFamily="34" charset="0"/>
                <a:ea typeface="Courier New" pitchFamily="34" charset="-122"/>
                <a:cs typeface="Courier New" pitchFamily="34" charset="-120"/>
              </a:rPr>
              <a:t>    duty = MIN_DUTY + deg * STEP_PER_DEGREE</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27  </a:t>
            </a:r>
            <a:pPr indent="0" marL="0">
              <a:buNone/>
            </a:pPr>
            <a:r>
              <a:rPr lang="en-US" sz="1050" dirty="0">
                <a:solidFill>
                  <a:srgbClr val="E6F2EC"/>
                </a:solidFill>
                <a:latin typeface="Courier New" pitchFamily="34" charset="0"/>
                <a:ea typeface="Courier New" pitchFamily="34" charset="-122"/>
                <a:cs typeface="Courier New" pitchFamily="34" charset="-120"/>
              </a:rPr>
              <a:t>    servo.duty_u16(int(duty))</a:t>
            </a:r>
            <a:endParaRPr lang="en-US" sz="1050" dirty="0"/>
          </a:p>
        </p:txBody>
      </p:sp>
      <p:sp>
        <p:nvSpPr>
          <p:cNvPr id="11" name="Shape 9"/>
          <p:cNvSpPr/>
          <p:nvPr/>
        </p:nvSpPr>
        <p:spPr>
          <a:xfrm>
            <a:off x="457200" y="3108960"/>
            <a:ext cx="4206240" cy="1005840"/>
          </a:xfrm>
          <a:prstGeom prst="roundRect">
            <a:avLst>
              <a:gd name="adj" fmla="val 7273"/>
            </a:avLst>
          </a:prstGeom>
          <a:solidFill>
            <a:srgbClr val="14261F"/>
          </a:solidFill>
          <a:ln w="12700">
            <a:solidFill>
              <a:srgbClr val="14261F"/>
            </a:solidFill>
            <a:prstDash val="solid"/>
          </a:ln>
        </p:spPr>
      </p:sp>
      <p:sp>
        <p:nvSpPr>
          <p:cNvPr id="12" name="Text 10"/>
          <p:cNvSpPr txBox="1"/>
          <p:nvPr/>
        </p:nvSpPr>
        <p:spPr>
          <a:xfrm>
            <a:off x="594360" y="3172968"/>
            <a:ext cx="3931920" cy="219456"/>
          </a:xfrm>
          <a:prstGeom prst="rect">
            <a:avLst/>
          </a:prstGeom>
          <a:noFill/>
          <a:ln/>
        </p:spPr>
        <p:txBody>
          <a:bodyPr wrap="square" lIns="0" tIns="0" rIns="0" bIns="0" rtlCol="0" anchor="ctr"/>
          <a:lstStyle/>
          <a:p>
            <a:pPr indent="0" marL="0">
              <a:buNone/>
            </a:pPr>
            <a:r>
              <a:rPr lang="en-US" sz="1100" b="1" dirty="0">
                <a:solidFill>
                  <a:srgbClr val="F2A900"/>
                </a:solidFill>
              </a:rPr>
              <a:t>step2_servo_angle.py</a:t>
            </a:r>
            <a:pPr indent="0" marL="0">
              <a:buNone/>
            </a:pPr>
            <a:r>
              <a:rPr lang="en-US" sz="1100" dirty="0">
                <a:solidFill>
                  <a:srgbClr val="9FB8AD"/>
                </a:solidFill>
              </a:rPr>
              <a:t>  ·  lines 32–34</a:t>
            </a:r>
            <a:endParaRPr lang="en-US" sz="1100" dirty="0"/>
          </a:p>
        </p:txBody>
      </p:sp>
      <p:sp>
        <p:nvSpPr>
          <p:cNvPr id="13" name="Shape 11"/>
          <p:cNvSpPr/>
          <p:nvPr/>
        </p:nvSpPr>
        <p:spPr>
          <a:xfrm>
            <a:off x="566928" y="3429000"/>
            <a:ext cx="3986784" cy="0"/>
          </a:xfrm>
          <a:prstGeom prst="line">
            <a:avLst/>
          </a:prstGeom>
          <a:noFill/>
          <a:ln w="12700">
            <a:solidFill>
              <a:srgbClr val="2F4A3F"/>
            </a:solidFill>
            <a:prstDash val="solid"/>
          </a:ln>
        </p:spPr>
      </p:sp>
      <p:sp>
        <p:nvSpPr>
          <p:cNvPr id="14" name="Text 12"/>
          <p:cNvSpPr txBox="1"/>
          <p:nvPr/>
        </p:nvSpPr>
        <p:spPr>
          <a:xfrm>
            <a:off x="548640" y="3493008"/>
            <a:ext cx="4023360" cy="548640"/>
          </a:xfrm>
          <a:prstGeom prst="rect">
            <a:avLst/>
          </a:prstGeom>
          <a:noFill/>
          <a:ln/>
        </p:spPr>
        <p:txBody>
          <a:bodyPr wrap="square" lIns="0" tIns="0" rIns="0" bIns="0" rtlCol="0" anchor="t"/>
          <a:lstStyle/>
          <a:p>
            <a:pPr indent="0" marL="0">
              <a:buNone/>
            </a:pPr>
            <a:r>
              <a:rPr lang="en-US" sz="1200" dirty="0">
                <a:solidFill>
                  <a:srgbClr val="6F8A7F"/>
                </a:solidFill>
                <a:latin typeface="Courier New" pitchFamily="34" charset="0"/>
                <a:ea typeface="Courier New" pitchFamily="34" charset="-122"/>
                <a:cs typeface="Courier New" pitchFamily="34" charset="-120"/>
              </a:rPr>
              <a:t> 32  </a:t>
            </a:r>
            <a:pPr indent="0" marL="0">
              <a:buNone/>
            </a:pPr>
            <a:r>
              <a:rPr lang="en-US" sz="1200" dirty="0">
                <a:solidFill>
                  <a:srgbClr val="E6F2EC"/>
                </a:solidFill>
                <a:latin typeface="Courier New" pitchFamily="34" charset="0"/>
                <a:ea typeface="Courier New" pitchFamily="34" charset="-122"/>
                <a:cs typeface="Courier New" pitchFamily="34" charset="-120"/>
              </a:rPr>
              <a:t>print("angle:", angle)</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33  </a:t>
            </a:r>
            <a:pPr indent="0" marL="0">
              <a:buNone/>
            </a:pPr>
            <a:r>
              <a:rPr lang="en-US" sz="1200" dirty="0">
                <a:solidFill>
                  <a:srgbClr val="E6F2EC"/>
                </a:solidFill>
                <a:latin typeface="Courier New" pitchFamily="34" charset="0"/>
                <a:ea typeface="Courier New" pitchFamily="34" charset="-122"/>
                <a:cs typeface="Courier New" pitchFamily="34" charset="-120"/>
              </a:rPr>
              <a:t>set_angle(angle)</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34  </a:t>
            </a:r>
            <a:pPr indent="0" marL="0">
              <a:buNone/>
            </a:pPr>
            <a:r>
              <a:rPr lang="en-US" sz="1200" dirty="0">
                <a:solidFill>
                  <a:srgbClr val="E6F2EC"/>
                </a:solidFill>
                <a:latin typeface="Courier New" pitchFamily="34" charset="0"/>
                <a:ea typeface="Courier New" pitchFamily="34" charset="-122"/>
                <a:cs typeface="Courier New" pitchFamily="34" charset="-120"/>
              </a:rPr>
              <a:t>time.sleep(0.8)</a:t>
            </a:r>
            <a:endParaRPr lang="en-US" sz="1200" dirty="0"/>
          </a:p>
        </p:txBody>
      </p:sp>
      <p:sp>
        <p:nvSpPr>
          <p:cNvPr id="15" name="Shape 13"/>
          <p:cNvSpPr/>
          <p:nvPr/>
        </p:nvSpPr>
        <p:spPr>
          <a:xfrm>
            <a:off x="457200" y="4206240"/>
            <a:ext cx="4206240" cy="457200"/>
          </a:xfrm>
          <a:prstGeom prst="roundRect">
            <a:avLst>
              <a:gd name="adj" fmla="val 16000"/>
            </a:avLst>
          </a:prstGeom>
          <a:solidFill>
            <a:srgbClr val="DDF3E9"/>
          </a:solidFill>
          <a:ln w="15875">
            <a:solidFill>
              <a:srgbClr val="1F8A70"/>
            </a:solidFill>
            <a:prstDash val="solid"/>
          </a:ln>
        </p:spPr>
      </p:sp>
      <p:sp>
        <p:nvSpPr>
          <p:cNvPr id="16" name="Text 14"/>
          <p:cNvSpPr txBox="1"/>
          <p:nvPr/>
        </p:nvSpPr>
        <p:spPr>
          <a:xfrm>
            <a:off x="594360" y="4206240"/>
            <a:ext cx="3931920" cy="45720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It stops at every angle in your list.</a:t>
            </a:r>
            <a:endParaRPr lang="en-US" sz="1400" dirty="0"/>
          </a:p>
        </p:txBody>
      </p:sp>
      <p:sp>
        <p:nvSpPr>
          <p:cNvPr id="17" name="Text 15"/>
          <p:cNvSpPr txBox="1"/>
          <p:nvPr/>
        </p:nvSpPr>
        <p:spPr>
          <a:xfrm>
            <a:off x="4937760" y="1051560"/>
            <a:ext cx="3749040" cy="320040"/>
          </a:xfrm>
          <a:prstGeom prst="rect">
            <a:avLst/>
          </a:prstGeom>
          <a:noFill/>
          <a:ln/>
        </p:spPr>
        <p:txBody>
          <a:bodyPr wrap="square" lIns="0" tIns="0" rIns="0" bIns="0" rtlCol="0" anchor="ctr"/>
          <a:lstStyle/>
          <a:p>
            <a:pPr indent="0" marL="0">
              <a:buNone/>
            </a:pPr>
            <a:r>
              <a:rPr lang="en-US" sz="1700" b="1" dirty="0">
                <a:solidFill>
                  <a:srgbClr val="0B3D2E"/>
                </a:solidFill>
              </a:rPr>
              <a:t>Why bother?</a:t>
            </a:r>
            <a:endParaRPr lang="en-US" sz="1700" dirty="0"/>
          </a:p>
        </p:txBody>
      </p:sp>
      <p:sp>
        <p:nvSpPr>
          <p:cNvPr id="18" name="Shape 16"/>
          <p:cNvSpPr/>
          <p:nvPr/>
        </p:nvSpPr>
        <p:spPr>
          <a:xfrm>
            <a:off x="4937760" y="1463040"/>
            <a:ext cx="3749040" cy="914400"/>
          </a:xfrm>
          <a:prstGeom prst="roundRect">
            <a:avLst>
              <a:gd name="adj" fmla="val 8000"/>
            </a:avLst>
          </a:prstGeom>
          <a:solidFill>
            <a:srgbClr val="2B2F33"/>
          </a:solidFill>
          <a:ln w="12700">
            <a:solidFill>
              <a:srgbClr val="2B2F33"/>
            </a:solidFill>
            <a:prstDash val="solid"/>
          </a:ln>
        </p:spPr>
      </p:sp>
      <p:sp>
        <p:nvSpPr>
          <p:cNvPr id="19" name="Text 17"/>
          <p:cNvSpPr txBox="1"/>
          <p:nvPr/>
        </p:nvSpPr>
        <p:spPr>
          <a:xfrm>
            <a:off x="5074920" y="1527048"/>
            <a:ext cx="3474720" cy="219456"/>
          </a:xfrm>
          <a:prstGeom prst="rect">
            <a:avLst/>
          </a:prstGeom>
          <a:noFill/>
          <a:ln/>
        </p:spPr>
        <p:txBody>
          <a:bodyPr wrap="square" lIns="0" tIns="0" rIns="0" bIns="0" rtlCol="0" anchor="ctr"/>
          <a:lstStyle/>
          <a:p>
            <a:pPr indent="0" marL="0">
              <a:buNone/>
            </a:pPr>
            <a:r>
              <a:rPr lang="en-US" sz="1100" i="1" dirty="0">
                <a:solidFill>
                  <a:srgbClr val="C9CED3"/>
                </a:solidFill>
              </a:rPr>
              <a:t>Before</a:t>
            </a:r>
            <a:endParaRPr lang="en-US" sz="1100" dirty="0"/>
          </a:p>
        </p:txBody>
      </p:sp>
      <p:sp>
        <p:nvSpPr>
          <p:cNvPr id="20" name="Shape 18"/>
          <p:cNvSpPr/>
          <p:nvPr/>
        </p:nvSpPr>
        <p:spPr>
          <a:xfrm>
            <a:off x="5047488" y="1783080"/>
            <a:ext cx="3529584" cy="0"/>
          </a:xfrm>
          <a:prstGeom prst="line">
            <a:avLst/>
          </a:prstGeom>
          <a:noFill/>
          <a:ln w="12700">
            <a:solidFill>
              <a:srgbClr val="454B51"/>
            </a:solidFill>
            <a:prstDash val="solid"/>
          </a:ln>
        </p:spPr>
      </p:sp>
      <p:sp>
        <p:nvSpPr>
          <p:cNvPr id="21" name="Text 19"/>
          <p:cNvSpPr txBox="1"/>
          <p:nvPr/>
        </p:nvSpPr>
        <p:spPr>
          <a:xfrm>
            <a:off x="5102352" y="1847088"/>
            <a:ext cx="3419856" cy="457200"/>
          </a:xfrm>
          <a:prstGeom prst="rect">
            <a:avLst/>
          </a:prstGeom>
          <a:noFill/>
          <a:ln/>
        </p:spPr>
        <p:txBody>
          <a:bodyPr wrap="square" lIns="0" tIns="0" rIns="0" bIns="0" rtlCol="0" anchor="t"/>
          <a:lstStyle/>
          <a:p>
            <a:pPr indent="0" marL="0">
              <a:buNone/>
            </a:pPr>
            <a:r>
              <a:rPr lang="en-US" sz="1400" dirty="0">
                <a:solidFill>
                  <a:srgbClr val="E8EAED"/>
                </a:solidFill>
                <a:latin typeface="Courier New" pitchFamily="34" charset="0"/>
                <a:ea typeface="Courier New" pitchFamily="34" charset="-122"/>
                <a:cs typeface="Courier New" pitchFamily="34" charset="-120"/>
              </a:rPr>
              <a:t>servo.duty_u16(4915)</a:t>
            </a:r>
            <a:endParaRPr lang="en-US" sz="1400" dirty="0"/>
          </a:p>
        </p:txBody>
      </p:sp>
      <p:sp>
        <p:nvSpPr>
          <p:cNvPr id="22" name="Shape 20"/>
          <p:cNvSpPr/>
          <p:nvPr/>
        </p:nvSpPr>
        <p:spPr>
          <a:xfrm>
            <a:off x="4937760" y="2514600"/>
            <a:ext cx="3749040" cy="914400"/>
          </a:xfrm>
          <a:prstGeom prst="roundRect">
            <a:avLst>
              <a:gd name="adj" fmla="val 8000"/>
            </a:avLst>
          </a:prstGeom>
          <a:solidFill>
            <a:srgbClr val="2B2F33"/>
          </a:solidFill>
          <a:ln w="12700">
            <a:solidFill>
              <a:srgbClr val="2B2F33"/>
            </a:solidFill>
            <a:prstDash val="solid"/>
          </a:ln>
        </p:spPr>
      </p:sp>
      <p:sp>
        <p:nvSpPr>
          <p:cNvPr id="23" name="Text 21"/>
          <p:cNvSpPr txBox="1"/>
          <p:nvPr/>
        </p:nvSpPr>
        <p:spPr>
          <a:xfrm>
            <a:off x="5074920" y="2578608"/>
            <a:ext cx="3474720" cy="219456"/>
          </a:xfrm>
          <a:prstGeom prst="rect">
            <a:avLst/>
          </a:prstGeom>
          <a:noFill/>
          <a:ln/>
        </p:spPr>
        <p:txBody>
          <a:bodyPr wrap="square" lIns="0" tIns="0" rIns="0" bIns="0" rtlCol="0" anchor="ctr"/>
          <a:lstStyle/>
          <a:p>
            <a:pPr indent="0" marL="0">
              <a:buNone/>
            </a:pPr>
            <a:r>
              <a:rPr lang="en-US" sz="1100" i="1" dirty="0">
                <a:solidFill>
                  <a:srgbClr val="C9CED3"/>
                </a:solidFill>
              </a:rPr>
              <a:t>After</a:t>
            </a:r>
            <a:endParaRPr lang="en-US" sz="1100" dirty="0"/>
          </a:p>
        </p:txBody>
      </p:sp>
      <p:sp>
        <p:nvSpPr>
          <p:cNvPr id="24" name="Shape 22"/>
          <p:cNvSpPr/>
          <p:nvPr/>
        </p:nvSpPr>
        <p:spPr>
          <a:xfrm>
            <a:off x="5047488" y="2834640"/>
            <a:ext cx="3529584" cy="0"/>
          </a:xfrm>
          <a:prstGeom prst="line">
            <a:avLst/>
          </a:prstGeom>
          <a:noFill/>
          <a:ln w="12700">
            <a:solidFill>
              <a:srgbClr val="454B51"/>
            </a:solidFill>
            <a:prstDash val="solid"/>
          </a:ln>
        </p:spPr>
      </p:sp>
      <p:sp>
        <p:nvSpPr>
          <p:cNvPr id="25" name="Text 23"/>
          <p:cNvSpPr txBox="1"/>
          <p:nvPr/>
        </p:nvSpPr>
        <p:spPr>
          <a:xfrm>
            <a:off x="5102352" y="2898648"/>
            <a:ext cx="3419856" cy="457200"/>
          </a:xfrm>
          <a:prstGeom prst="rect">
            <a:avLst/>
          </a:prstGeom>
          <a:noFill/>
          <a:ln/>
        </p:spPr>
        <p:txBody>
          <a:bodyPr wrap="square" lIns="0" tIns="0" rIns="0" bIns="0" rtlCol="0" anchor="t"/>
          <a:lstStyle/>
          <a:p>
            <a:pPr indent="0" marL="0">
              <a:buNone/>
            </a:pPr>
            <a:r>
              <a:rPr lang="en-US" sz="1400" dirty="0">
                <a:solidFill>
                  <a:srgbClr val="E8EAED"/>
                </a:solidFill>
                <a:latin typeface="Courier New" pitchFamily="34" charset="0"/>
                <a:ea typeface="Courier New" pitchFamily="34" charset="-122"/>
                <a:cs typeface="Courier New" pitchFamily="34" charset="-120"/>
              </a:rPr>
              <a:t>set_angle(90)</a:t>
            </a:r>
            <a:endParaRPr lang="en-US" sz="1400" dirty="0"/>
          </a:p>
        </p:txBody>
      </p:sp>
      <p:sp>
        <p:nvSpPr>
          <p:cNvPr id="26" name="Text 24"/>
          <p:cNvSpPr txBox="1"/>
          <p:nvPr/>
        </p:nvSpPr>
        <p:spPr>
          <a:xfrm>
            <a:off x="4937760" y="3566160"/>
            <a:ext cx="3749040" cy="731520"/>
          </a:xfrm>
          <a:prstGeom prst="rect">
            <a:avLst/>
          </a:prstGeom>
          <a:noFill/>
          <a:ln/>
        </p:spPr>
        <p:txBody>
          <a:bodyPr wrap="square" lIns="0" tIns="0" rIns="0" bIns="0" rtlCol="0" anchor="t"/>
          <a:lstStyle/>
          <a:p>
            <a:pPr indent="0" marL="0">
              <a:buNone/>
            </a:pPr>
            <a:r>
              <a:rPr lang="en-US" sz="1400" dirty="0">
                <a:solidFill>
                  <a:srgbClr val="1B1B1B"/>
                </a:solidFill>
              </a:rPr>
              <a:t>Both do the same thing. Only one of them can be read by a human six weeks later.</a:t>
            </a:r>
            <a:endParaRPr lang="en-US" sz="1400" dirty="0"/>
          </a:p>
        </p:txBody>
      </p:sp>
      <p:sp>
        <p:nvSpPr>
          <p:cNvPr id="27" name="Shape 25"/>
          <p:cNvSpPr/>
          <p:nvPr/>
        </p:nvSpPr>
        <p:spPr>
          <a:xfrm>
            <a:off x="4937760" y="4206240"/>
            <a:ext cx="3749040" cy="457200"/>
          </a:xfrm>
          <a:prstGeom prst="roundRect">
            <a:avLst>
              <a:gd name="adj" fmla="val 16000"/>
            </a:avLst>
          </a:prstGeom>
          <a:solidFill>
            <a:srgbClr val="FFF4D6"/>
          </a:solidFill>
          <a:ln w="12700">
            <a:solidFill>
              <a:srgbClr val="E0A800"/>
            </a:solidFill>
            <a:prstDash val="solid"/>
          </a:ln>
        </p:spPr>
      </p:sp>
      <p:sp>
        <p:nvSpPr>
          <p:cNvPr id="28" name="Text 26"/>
          <p:cNvSpPr txBox="1"/>
          <p:nvPr/>
        </p:nvSpPr>
        <p:spPr>
          <a:xfrm>
            <a:off x="5074920" y="4206240"/>
            <a:ext cx="347472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Buzzing and stuck? Free the horn.</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Read the code: set_angle()</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2</a:t>
            </a:r>
            <a:endParaRPr lang="en-US" sz="2000" dirty="0"/>
          </a:p>
        </p:txBody>
      </p:sp>
      <p:sp>
        <p:nvSpPr>
          <p:cNvPr id="6" name="Shape 4"/>
          <p:cNvSpPr/>
          <p:nvPr/>
        </p:nvSpPr>
        <p:spPr>
          <a:xfrm>
            <a:off x="457200" y="1051560"/>
            <a:ext cx="4206240" cy="2148840"/>
          </a:xfrm>
          <a:prstGeom prst="roundRect">
            <a:avLst>
              <a:gd name="adj" fmla="val 3404"/>
            </a:avLst>
          </a:prstGeom>
          <a:solidFill>
            <a:srgbClr val="14261F"/>
          </a:solidFill>
          <a:ln w="12700">
            <a:solidFill>
              <a:srgbClr val="14261F"/>
            </a:solidFill>
            <a:prstDash val="solid"/>
          </a:ln>
        </p:spPr>
      </p:sp>
      <p:sp>
        <p:nvSpPr>
          <p:cNvPr id="7" name="Text 5"/>
          <p:cNvSpPr txBox="1"/>
          <p:nvPr/>
        </p:nvSpPr>
        <p:spPr>
          <a:xfrm>
            <a:off x="594360" y="1115568"/>
            <a:ext cx="3931920" cy="219456"/>
          </a:xfrm>
          <a:prstGeom prst="rect">
            <a:avLst/>
          </a:prstGeom>
          <a:noFill/>
          <a:ln/>
        </p:spPr>
        <p:txBody>
          <a:bodyPr wrap="square" lIns="0" tIns="0" rIns="0" bIns="0" rtlCol="0" anchor="ctr"/>
          <a:lstStyle/>
          <a:p>
            <a:pPr indent="0" marL="0">
              <a:buNone/>
            </a:pPr>
            <a:r>
              <a:rPr lang="en-US" sz="1100" b="1" dirty="0">
                <a:solidFill>
                  <a:srgbClr val="F2A900"/>
                </a:solidFill>
              </a:rPr>
              <a:t>step2_servo_angle.py</a:t>
            </a:r>
            <a:pPr indent="0" marL="0">
              <a:buNone/>
            </a:pPr>
            <a:r>
              <a:rPr lang="en-US" sz="1100" dirty="0">
                <a:solidFill>
                  <a:srgbClr val="9FB8AD"/>
                </a:solidFill>
              </a:rPr>
              <a:t>  ·  lines 17–27</a:t>
            </a:r>
            <a:endParaRPr lang="en-US" sz="1100" dirty="0"/>
          </a:p>
        </p:txBody>
      </p:sp>
      <p:sp>
        <p:nvSpPr>
          <p:cNvPr id="8" name="Shape 6"/>
          <p:cNvSpPr/>
          <p:nvPr/>
        </p:nvSpPr>
        <p:spPr>
          <a:xfrm>
            <a:off x="566928" y="1371600"/>
            <a:ext cx="3986784" cy="0"/>
          </a:xfrm>
          <a:prstGeom prst="line">
            <a:avLst/>
          </a:prstGeom>
          <a:noFill/>
          <a:ln w="12700">
            <a:solidFill>
              <a:srgbClr val="2F4A3F"/>
            </a:solidFill>
            <a:prstDash val="solid"/>
          </a:ln>
        </p:spPr>
      </p:sp>
      <p:sp>
        <p:nvSpPr>
          <p:cNvPr id="9" name="Text 7"/>
          <p:cNvSpPr txBox="1"/>
          <p:nvPr/>
        </p:nvSpPr>
        <p:spPr>
          <a:xfrm>
            <a:off x="548640" y="1435608"/>
            <a:ext cx="4023360" cy="1691640"/>
          </a:xfrm>
          <a:prstGeom prst="rect">
            <a:avLst/>
          </a:prstGeom>
          <a:noFill/>
          <a:ln/>
        </p:spPr>
        <p:txBody>
          <a:bodyPr wrap="square" lIns="0" tIns="0" rIns="0" bIns="0" rtlCol="0" anchor="t"/>
          <a:lstStyle/>
          <a:p>
            <a:pPr indent="0" marL="0">
              <a:buNone/>
            </a:pPr>
            <a:r>
              <a:rPr lang="en-US" sz="1050" dirty="0">
                <a:solidFill>
                  <a:srgbClr val="6F8A7F"/>
                </a:solidFill>
                <a:latin typeface="Courier New" pitchFamily="34" charset="0"/>
                <a:ea typeface="Courier New" pitchFamily="34" charset="-122"/>
                <a:cs typeface="Courier New" pitchFamily="34" charset="-120"/>
              </a:rPr>
              <a:t> 17  </a:t>
            </a:r>
            <a:pPr indent="0" marL="0">
              <a:buNone/>
            </a:pPr>
            <a:r>
              <a:rPr lang="en-US" sz="1050" dirty="0">
                <a:solidFill>
                  <a:srgbClr val="E6F2EC"/>
                </a:solidFill>
                <a:latin typeface="Courier New" pitchFamily="34" charset="0"/>
                <a:ea typeface="Courier New" pitchFamily="34" charset="-122"/>
                <a:cs typeface="Courier New" pitchFamily="34" charset="-120"/>
              </a:rPr>
              <a:t>MIN_DUTY = 1638</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18  </a:t>
            </a:r>
            <a:pPr indent="0" marL="0">
              <a:buNone/>
            </a:pPr>
            <a:r>
              <a:rPr lang="en-US" sz="1050" dirty="0">
                <a:solidFill>
                  <a:srgbClr val="E6F2EC"/>
                </a:solidFill>
                <a:latin typeface="Courier New" pitchFamily="34" charset="0"/>
                <a:ea typeface="Courier New" pitchFamily="34" charset="-122"/>
                <a:cs typeface="Courier New" pitchFamily="34" charset="-120"/>
              </a:rPr>
              <a:t>STEP_PER_DEGREE = 36.4</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19  </a:t>
            </a:r>
            <a:pPr indent="0" marL="0">
              <a:buNone/>
            </a:pPr>
            <a:r>
              <a:rPr lang="en-US" sz="1050" dirty="0">
                <a:solidFill>
                  <a:srgbClr val="E6F2EC"/>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20  </a:t>
            </a:r>
            <a:pPr indent="0" marL="0">
              <a:buNone/>
            </a:pPr>
            <a:r>
              <a:rPr lang="en-US" sz="1050" dirty="0">
                <a:solidFill>
                  <a:srgbClr val="E6F2EC"/>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21  </a:t>
            </a:r>
            <a:pPr indent="0" marL="0">
              <a:buNone/>
            </a:pPr>
            <a:r>
              <a:rPr lang="en-US" sz="1050" dirty="0">
                <a:solidFill>
                  <a:srgbClr val="E6F2EC"/>
                </a:solidFill>
                <a:latin typeface="Courier New" pitchFamily="34" charset="0"/>
                <a:ea typeface="Courier New" pitchFamily="34" charset="-122"/>
                <a:cs typeface="Courier New" pitchFamily="34" charset="-120"/>
              </a:rPr>
              <a:t>def set_angle(deg):</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22  </a:t>
            </a:r>
            <a:pPr indent="0" marL="0">
              <a:buNone/>
            </a:pPr>
            <a:r>
              <a:rPr lang="en-US" sz="1050" dirty="0">
                <a:solidFill>
                  <a:srgbClr val="E6F2EC"/>
                </a:solidFill>
                <a:latin typeface="Courier New" pitchFamily="34" charset="0"/>
                <a:ea typeface="Courier New" pitchFamily="34" charset="-122"/>
                <a:cs typeface="Courier New" pitchFamily="34" charset="-120"/>
              </a:rPr>
              <a:t>    if deg &lt; 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23  </a:t>
            </a:r>
            <a:pPr indent="0" marL="0">
              <a:buNone/>
            </a:pPr>
            <a:r>
              <a:rPr lang="en-US" sz="1050" dirty="0">
                <a:solidFill>
                  <a:srgbClr val="E6F2EC"/>
                </a:solidFill>
                <a:latin typeface="Courier New" pitchFamily="34" charset="0"/>
                <a:ea typeface="Courier New" pitchFamily="34" charset="-122"/>
                <a:cs typeface="Courier New" pitchFamily="34" charset="-120"/>
              </a:rPr>
              <a:t>        deg = 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24  </a:t>
            </a:r>
            <a:pPr indent="0" marL="0">
              <a:buNone/>
            </a:pPr>
            <a:r>
              <a:rPr lang="en-US" sz="1050" dirty="0">
                <a:solidFill>
                  <a:srgbClr val="E6F2EC"/>
                </a:solidFill>
                <a:latin typeface="Courier New" pitchFamily="34" charset="0"/>
                <a:ea typeface="Courier New" pitchFamily="34" charset="-122"/>
                <a:cs typeface="Courier New" pitchFamily="34" charset="-120"/>
              </a:rPr>
              <a:t>    if deg &gt; 180: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25  </a:t>
            </a:r>
            <a:pPr indent="0" marL="0">
              <a:buNone/>
            </a:pPr>
            <a:r>
              <a:rPr lang="en-US" sz="1050" dirty="0">
                <a:solidFill>
                  <a:srgbClr val="E6F2EC"/>
                </a:solidFill>
                <a:latin typeface="Courier New" pitchFamily="34" charset="0"/>
                <a:ea typeface="Courier New" pitchFamily="34" charset="-122"/>
                <a:cs typeface="Courier New" pitchFamily="34" charset="-120"/>
              </a:rPr>
              <a:t>        deg = 180</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26  </a:t>
            </a:r>
            <a:pPr indent="0" marL="0">
              <a:buNone/>
            </a:pPr>
            <a:r>
              <a:rPr lang="en-US" sz="1050" dirty="0">
                <a:solidFill>
                  <a:srgbClr val="E6F2EC"/>
                </a:solidFill>
                <a:latin typeface="Courier New" pitchFamily="34" charset="0"/>
                <a:ea typeface="Courier New" pitchFamily="34" charset="-122"/>
                <a:cs typeface="Courier New" pitchFamily="34" charset="-120"/>
              </a:rPr>
              <a:t>    duty = MIN_DUTY + deg * STEP_PER_DEGREE</a:t>
            </a:r>
            <a:endParaRPr lang="en-US" sz="1050" dirty="0"/>
          </a:p>
          <a:p>
            <a:pPr indent="0" marL="0">
              <a:buNone/>
            </a:pPr>
            <a:r>
              <a:rPr lang="en-US" sz="1050" dirty="0">
                <a:solidFill>
                  <a:srgbClr val="6F8A7F"/>
                </a:solidFill>
                <a:latin typeface="Courier New" pitchFamily="34" charset="0"/>
                <a:ea typeface="Courier New" pitchFamily="34" charset="-122"/>
                <a:cs typeface="Courier New" pitchFamily="34" charset="-120"/>
              </a:rPr>
              <a:t> 27  </a:t>
            </a:r>
            <a:pPr indent="0" marL="0">
              <a:buNone/>
            </a:pPr>
            <a:r>
              <a:rPr lang="en-US" sz="1050" dirty="0">
                <a:solidFill>
                  <a:srgbClr val="E6F2EC"/>
                </a:solidFill>
                <a:latin typeface="Courier New" pitchFamily="34" charset="0"/>
                <a:ea typeface="Courier New" pitchFamily="34" charset="-122"/>
                <a:cs typeface="Courier New" pitchFamily="34" charset="-120"/>
              </a:rPr>
              <a:t>    servo.duty_u16(int(duty))</a:t>
            </a:r>
            <a:endParaRPr lang="en-US" sz="1050" dirty="0"/>
          </a:p>
        </p:txBody>
      </p:sp>
      <p:sp>
        <p:nvSpPr>
          <p:cNvPr id="10" name="Shape 8"/>
          <p:cNvSpPr/>
          <p:nvPr/>
        </p:nvSpPr>
        <p:spPr>
          <a:xfrm>
            <a:off x="4846320" y="1097280"/>
            <a:ext cx="868680" cy="292608"/>
          </a:xfrm>
          <a:prstGeom prst="roundRect">
            <a:avLst>
              <a:gd name="adj" fmla="val 18750"/>
            </a:avLst>
          </a:prstGeom>
          <a:solidFill>
            <a:srgbClr val="FFF1C2"/>
          </a:solidFill>
          <a:ln w="9525">
            <a:solidFill>
              <a:srgbClr val="E0A800"/>
            </a:solidFill>
            <a:prstDash val="solid"/>
          </a:ln>
        </p:spPr>
      </p:sp>
      <p:sp>
        <p:nvSpPr>
          <p:cNvPr id="11" name="Text 9"/>
          <p:cNvSpPr txBox="1"/>
          <p:nvPr/>
        </p:nvSpPr>
        <p:spPr>
          <a:xfrm>
            <a:off x="4846320" y="109728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17</a:t>
            </a:r>
            <a:endParaRPr lang="en-US" sz="1100" dirty="0"/>
          </a:p>
        </p:txBody>
      </p:sp>
      <p:sp>
        <p:nvSpPr>
          <p:cNvPr id="12" name="Text 10"/>
          <p:cNvSpPr txBox="1"/>
          <p:nvPr/>
        </p:nvSpPr>
        <p:spPr>
          <a:xfrm>
            <a:off x="5852160" y="1060704"/>
            <a:ext cx="2834640" cy="694944"/>
          </a:xfrm>
          <a:prstGeom prst="rect">
            <a:avLst/>
          </a:prstGeom>
          <a:noFill/>
          <a:ln/>
        </p:spPr>
        <p:txBody>
          <a:bodyPr wrap="square" lIns="0" tIns="0" rIns="0" bIns="0" rtlCol="0" anchor="t"/>
          <a:lstStyle/>
          <a:p>
            <a:pPr indent="0" marL="0">
              <a:buNone/>
            </a:pPr>
            <a:r>
              <a:rPr lang="en-US" sz="1400" dirty="0">
                <a:solidFill>
                  <a:srgbClr val="1B1B1B"/>
                </a:solidFill>
              </a:rPr>
              <a:t>1638 is 0 degrees: the smallest signal the servo accepts.</a:t>
            </a:r>
            <a:endParaRPr lang="en-US" sz="1400" dirty="0"/>
          </a:p>
        </p:txBody>
      </p:sp>
      <p:sp>
        <p:nvSpPr>
          <p:cNvPr id="13" name="Shape 11"/>
          <p:cNvSpPr/>
          <p:nvPr/>
        </p:nvSpPr>
        <p:spPr>
          <a:xfrm>
            <a:off x="4846320" y="1828800"/>
            <a:ext cx="868680" cy="292608"/>
          </a:xfrm>
          <a:prstGeom prst="roundRect">
            <a:avLst>
              <a:gd name="adj" fmla="val 18750"/>
            </a:avLst>
          </a:prstGeom>
          <a:solidFill>
            <a:srgbClr val="FFF1C2"/>
          </a:solidFill>
          <a:ln w="9525">
            <a:solidFill>
              <a:srgbClr val="E0A800"/>
            </a:solidFill>
            <a:prstDash val="solid"/>
          </a:ln>
        </p:spPr>
      </p:sp>
      <p:sp>
        <p:nvSpPr>
          <p:cNvPr id="14" name="Text 12"/>
          <p:cNvSpPr txBox="1"/>
          <p:nvPr/>
        </p:nvSpPr>
        <p:spPr>
          <a:xfrm>
            <a:off x="4846320" y="182880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18</a:t>
            </a:r>
            <a:endParaRPr lang="en-US" sz="1100" dirty="0"/>
          </a:p>
        </p:txBody>
      </p:sp>
      <p:sp>
        <p:nvSpPr>
          <p:cNvPr id="15" name="Text 13"/>
          <p:cNvSpPr txBox="1"/>
          <p:nvPr/>
        </p:nvSpPr>
        <p:spPr>
          <a:xfrm>
            <a:off x="5852160" y="1792224"/>
            <a:ext cx="2834640" cy="694944"/>
          </a:xfrm>
          <a:prstGeom prst="rect">
            <a:avLst/>
          </a:prstGeom>
          <a:noFill/>
          <a:ln/>
        </p:spPr>
        <p:txBody>
          <a:bodyPr wrap="square" lIns="0" tIns="0" rIns="0" bIns="0" rtlCol="0" anchor="t"/>
          <a:lstStyle/>
          <a:p>
            <a:pPr indent="0" marL="0">
              <a:buNone/>
            </a:pPr>
            <a:r>
              <a:rPr lang="en-US" sz="1400" dirty="0">
                <a:solidFill>
                  <a:srgbClr val="1B1B1B"/>
                </a:solidFill>
              </a:rPr>
              <a:t>Every degree adds 36.4. So 90 degrees adds about 3276.</a:t>
            </a:r>
            <a:endParaRPr lang="en-US" sz="1400" dirty="0"/>
          </a:p>
        </p:txBody>
      </p:sp>
      <p:sp>
        <p:nvSpPr>
          <p:cNvPr id="16" name="Shape 14"/>
          <p:cNvSpPr/>
          <p:nvPr/>
        </p:nvSpPr>
        <p:spPr>
          <a:xfrm>
            <a:off x="4846320" y="2560320"/>
            <a:ext cx="868680" cy="292608"/>
          </a:xfrm>
          <a:prstGeom prst="roundRect">
            <a:avLst>
              <a:gd name="adj" fmla="val 18750"/>
            </a:avLst>
          </a:prstGeom>
          <a:solidFill>
            <a:srgbClr val="FFF1C2"/>
          </a:solidFill>
          <a:ln w="9525">
            <a:solidFill>
              <a:srgbClr val="E0A800"/>
            </a:solidFill>
            <a:prstDash val="solid"/>
          </a:ln>
        </p:spPr>
      </p:sp>
      <p:sp>
        <p:nvSpPr>
          <p:cNvPr id="17" name="Text 15"/>
          <p:cNvSpPr txBox="1"/>
          <p:nvPr/>
        </p:nvSpPr>
        <p:spPr>
          <a:xfrm>
            <a:off x="4846320" y="256032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22–25</a:t>
            </a:r>
            <a:endParaRPr lang="en-US" sz="1100" dirty="0"/>
          </a:p>
        </p:txBody>
      </p:sp>
      <p:sp>
        <p:nvSpPr>
          <p:cNvPr id="18" name="Text 16"/>
          <p:cNvSpPr txBox="1"/>
          <p:nvPr/>
        </p:nvSpPr>
        <p:spPr>
          <a:xfrm>
            <a:off x="5852160" y="2523744"/>
            <a:ext cx="2834640" cy="694944"/>
          </a:xfrm>
          <a:prstGeom prst="rect">
            <a:avLst/>
          </a:prstGeom>
          <a:noFill/>
          <a:ln/>
        </p:spPr>
        <p:txBody>
          <a:bodyPr wrap="square" lIns="0" tIns="0" rIns="0" bIns="0" rtlCol="0" anchor="t"/>
          <a:lstStyle/>
          <a:p>
            <a:pPr indent="0" marL="0">
              <a:buNone/>
            </a:pPr>
            <a:r>
              <a:rPr lang="en-US" sz="1400" dirty="0">
                <a:solidFill>
                  <a:srgbClr val="1B1B1B"/>
                </a:solidFill>
              </a:rPr>
              <a:t>Guard rails: nothing below 0, nothing above 180.</a:t>
            </a:r>
            <a:endParaRPr lang="en-US" sz="1400" dirty="0"/>
          </a:p>
        </p:txBody>
      </p:sp>
      <p:sp>
        <p:nvSpPr>
          <p:cNvPr id="19" name="Shape 17"/>
          <p:cNvSpPr/>
          <p:nvPr/>
        </p:nvSpPr>
        <p:spPr>
          <a:xfrm>
            <a:off x="4846320" y="3291840"/>
            <a:ext cx="868680" cy="292608"/>
          </a:xfrm>
          <a:prstGeom prst="roundRect">
            <a:avLst>
              <a:gd name="adj" fmla="val 18750"/>
            </a:avLst>
          </a:prstGeom>
          <a:solidFill>
            <a:srgbClr val="FFF1C2"/>
          </a:solidFill>
          <a:ln w="9525">
            <a:solidFill>
              <a:srgbClr val="E0A800"/>
            </a:solidFill>
            <a:prstDash val="solid"/>
          </a:ln>
        </p:spPr>
      </p:sp>
      <p:sp>
        <p:nvSpPr>
          <p:cNvPr id="20" name="Text 18"/>
          <p:cNvSpPr txBox="1"/>
          <p:nvPr/>
        </p:nvSpPr>
        <p:spPr>
          <a:xfrm>
            <a:off x="4846320" y="3291840"/>
            <a:ext cx="868680" cy="292608"/>
          </a:xfrm>
          <a:prstGeom prst="rect">
            <a:avLst/>
          </a:prstGeom>
          <a:noFill/>
          <a:ln/>
        </p:spPr>
        <p:txBody>
          <a:bodyPr wrap="square" lIns="0" tIns="0" rIns="0" bIns="0" rtlCol="0" anchor="ctr"/>
          <a:lstStyle/>
          <a:p>
            <a:pPr algn="ctr" indent="0" marL="0">
              <a:buNone/>
            </a:pPr>
            <a:r>
              <a:rPr lang="en-US" sz="1100" b="1" dirty="0">
                <a:solidFill>
                  <a:srgbClr val="7A5600"/>
                </a:solidFill>
              </a:rPr>
              <a:t>Line 26–27</a:t>
            </a:r>
            <a:endParaRPr lang="en-US" sz="1100" dirty="0"/>
          </a:p>
        </p:txBody>
      </p:sp>
      <p:sp>
        <p:nvSpPr>
          <p:cNvPr id="21" name="Text 19"/>
          <p:cNvSpPr txBox="1"/>
          <p:nvPr/>
        </p:nvSpPr>
        <p:spPr>
          <a:xfrm>
            <a:off x="5852160" y="3255264"/>
            <a:ext cx="2834640" cy="694944"/>
          </a:xfrm>
          <a:prstGeom prst="rect">
            <a:avLst/>
          </a:prstGeom>
          <a:noFill/>
          <a:ln/>
        </p:spPr>
        <p:txBody>
          <a:bodyPr wrap="square" lIns="0" tIns="0" rIns="0" bIns="0" rtlCol="0" anchor="t"/>
          <a:lstStyle/>
          <a:p>
            <a:pPr indent="0" marL="0">
              <a:buNone/>
            </a:pPr>
            <a:r>
              <a:rPr lang="en-US" sz="1400" dirty="0">
                <a:solidFill>
                  <a:srgbClr val="1B1B1B"/>
                </a:solidFill>
              </a:rPr>
              <a:t>int() because duty_u16 only takes whole numbers.</a:t>
            </a:r>
            <a:endParaRPr lang="en-US" sz="1400" dirty="0"/>
          </a:p>
        </p:txBody>
      </p:sp>
      <p:sp>
        <p:nvSpPr>
          <p:cNvPr id="22" name="Shape 20"/>
          <p:cNvSpPr/>
          <p:nvPr/>
        </p:nvSpPr>
        <p:spPr>
          <a:xfrm>
            <a:off x="457200" y="3291840"/>
            <a:ext cx="4206240" cy="1188720"/>
          </a:xfrm>
          <a:prstGeom prst="roundRect">
            <a:avLst>
              <a:gd name="adj" fmla="val 6154"/>
            </a:avLst>
          </a:prstGeom>
          <a:solidFill>
            <a:srgbClr val="EEF5F1"/>
          </a:solidFill>
          <a:ln w="12700">
            <a:solidFill>
              <a:srgbClr val="D3E4DB"/>
            </a:solidFill>
            <a:prstDash val="solid"/>
          </a:ln>
        </p:spPr>
      </p:sp>
      <p:sp>
        <p:nvSpPr>
          <p:cNvPr id="23" name="Text 21"/>
          <p:cNvSpPr txBox="1"/>
          <p:nvPr/>
        </p:nvSpPr>
        <p:spPr>
          <a:xfrm>
            <a:off x="640080" y="3364992"/>
            <a:ext cx="3840480" cy="274320"/>
          </a:xfrm>
          <a:prstGeom prst="rect">
            <a:avLst/>
          </a:prstGeom>
          <a:noFill/>
          <a:ln/>
        </p:spPr>
        <p:txBody>
          <a:bodyPr wrap="square" lIns="0" tIns="0" rIns="0" bIns="0" rtlCol="0" anchor="ctr"/>
          <a:lstStyle/>
          <a:p>
            <a:pPr indent="0" marL="0">
              <a:buNone/>
            </a:pPr>
            <a:r>
              <a:rPr lang="en-US" sz="1500" b="1" dirty="0">
                <a:solidFill>
                  <a:srgbClr val="0B3D2E"/>
                </a:solidFill>
              </a:rPr>
              <a:t>Work it out</a:t>
            </a:r>
            <a:endParaRPr lang="en-US" sz="1500" dirty="0"/>
          </a:p>
        </p:txBody>
      </p:sp>
      <p:sp>
        <p:nvSpPr>
          <p:cNvPr id="24" name="Text 22"/>
          <p:cNvSpPr txBox="1"/>
          <p:nvPr/>
        </p:nvSpPr>
        <p:spPr>
          <a:xfrm>
            <a:off x="640080" y="3657600"/>
            <a:ext cx="3840480" cy="7772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1B1B1B"/>
                </a:solidFill>
              </a:rPr>
              <a:t>1638 + 90 × 36.4 = ?   Compare it with the table in Step 1.</a:t>
            </a:r>
            <a:endParaRPr lang="en-US" sz="1400" dirty="0"/>
          </a:p>
          <a:p>
            <a:pPr marL="342900" indent="-342900">
              <a:spcAft>
                <a:spcPts val="600"/>
              </a:spcAft>
              <a:buSzPct val="100000"/>
              <a:buChar char="•"/>
            </a:pPr>
            <a:r>
              <a:rPr lang="en-US" sz="1400" dirty="0">
                <a:solidFill>
                  <a:srgbClr val="1B1B1B"/>
                </a:solidFill>
              </a:rPr>
              <a:t>What does set_angle(500) do? Why does nothing break?</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How should the door behave?</a:t>
            </a:r>
            <a:endParaRPr lang="en-US" sz="3000" dirty="0"/>
          </a:p>
        </p:txBody>
      </p:sp>
      <p:sp>
        <p:nvSpPr>
          <p:cNvPr id="3" name="Shape 1"/>
          <p:cNvSpPr/>
          <p:nvPr/>
        </p:nvSpPr>
        <p:spPr>
          <a:xfrm>
            <a:off x="548640" y="2377440"/>
            <a:ext cx="2103120" cy="0"/>
          </a:xfrm>
          <a:prstGeom prst="line">
            <a:avLst/>
          </a:prstGeom>
          <a:noFill/>
          <a:ln w="25400">
            <a:solidFill>
              <a:srgbClr val="9AA0A6"/>
            </a:solidFill>
            <a:prstDash val="solid"/>
          </a:ln>
        </p:spPr>
      </p:sp>
      <p:sp>
        <p:nvSpPr>
          <p:cNvPr id="4" name="Shape 2"/>
          <p:cNvSpPr/>
          <p:nvPr/>
        </p:nvSpPr>
        <p:spPr>
          <a:xfrm>
            <a:off x="640080" y="1097280"/>
            <a:ext cx="128016" cy="1280160"/>
          </a:xfrm>
          <a:prstGeom prst="rect">
            <a:avLst/>
          </a:prstGeom>
          <a:solidFill>
            <a:srgbClr val="546E7A"/>
          </a:solidFill>
          <a:ln w="12700">
            <a:solidFill>
              <a:srgbClr val="37474F"/>
            </a:solidFill>
            <a:prstDash val="solid"/>
          </a:ln>
        </p:spPr>
      </p:sp>
      <p:sp>
        <p:nvSpPr>
          <p:cNvPr id="5" name="Shape 3"/>
          <p:cNvSpPr/>
          <p:nvPr/>
        </p:nvSpPr>
        <p:spPr>
          <a:xfrm>
            <a:off x="2432304" y="1097280"/>
            <a:ext cx="128016" cy="1280160"/>
          </a:xfrm>
          <a:prstGeom prst="rect">
            <a:avLst/>
          </a:prstGeom>
          <a:solidFill>
            <a:srgbClr val="546E7A"/>
          </a:solidFill>
          <a:ln w="12700">
            <a:solidFill>
              <a:srgbClr val="37474F"/>
            </a:solidFill>
            <a:prstDash val="solid"/>
          </a:ln>
        </p:spPr>
      </p:sp>
      <p:sp>
        <p:nvSpPr>
          <p:cNvPr id="6" name="Shape 4"/>
          <p:cNvSpPr/>
          <p:nvPr/>
        </p:nvSpPr>
        <p:spPr>
          <a:xfrm>
            <a:off x="704088" y="1554480"/>
            <a:ext cx="1783080" cy="0"/>
          </a:xfrm>
          <a:prstGeom prst="line">
            <a:avLst/>
          </a:prstGeom>
          <a:noFill/>
          <a:ln w="88900">
            <a:solidFill>
              <a:srgbClr val="F2A900"/>
            </a:solidFill>
            <a:prstDash val="solid"/>
          </a:ln>
        </p:spPr>
      </p:sp>
      <p:sp>
        <p:nvSpPr>
          <p:cNvPr id="7" name="Shape 5"/>
          <p:cNvSpPr/>
          <p:nvPr/>
        </p:nvSpPr>
        <p:spPr>
          <a:xfrm>
            <a:off x="630936" y="1481328"/>
            <a:ext cx="146304" cy="146304"/>
          </a:xfrm>
          <a:prstGeom prst="ellipse">
            <a:avLst/>
          </a:prstGeom>
          <a:solidFill>
            <a:srgbClr val="37474F"/>
          </a:solidFill>
          <a:ln w="12700">
            <a:solidFill>
              <a:srgbClr val="37474F"/>
            </a:solidFill>
            <a:prstDash val="solid"/>
          </a:ln>
        </p:spPr>
      </p:sp>
      <p:sp>
        <p:nvSpPr>
          <p:cNvPr id="8" name="Text 6"/>
          <p:cNvSpPr txBox="1"/>
          <p:nvPr/>
        </p:nvSpPr>
        <p:spPr>
          <a:xfrm>
            <a:off x="548640" y="1874520"/>
            <a:ext cx="2103120" cy="274320"/>
          </a:xfrm>
          <a:prstGeom prst="rect">
            <a:avLst/>
          </a:prstGeom>
          <a:noFill/>
          <a:ln/>
        </p:spPr>
        <p:txBody>
          <a:bodyPr wrap="square" lIns="0" tIns="0" rIns="0" bIns="0" rtlCol="0" anchor="ctr"/>
          <a:lstStyle/>
          <a:p>
            <a:pPr algn="ctr" indent="0" marL="0">
              <a:buNone/>
            </a:pPr>
            <a:r>
              <a:rPr lang="en-US" sz="1400" b="1" dirty="0">
                <a:solidFill>
                  <a:srgbClr val="6B7280"/>
                </a:solidFill>
              </a:rPr>
              <a:t>SHUT  ·  0°</a:t>
            </a:r>
            <a:endParaRPr lang="en-US" sz="1400" dirty="0"/>
          </a:p>
        </p:txBody>
      </p:sp>
      <p:sp>
        <p:nvSpPr>
          <p:cNvPr id="9" name="Text 7"/>
          <p:cNvSpPr txBox="1"/>
          <p:nvPr/>
        </p:nvSpPr>
        <p:spPr>
          <a:xfrm>
            <a:off x="548640" y="2450592"/>
            <a:ext cx="2103120" cy="274320"/>
          </a:xfrm>
          <a:prstGeom prst="rect">
            <a:avLst/>
          </a:prstGeom>
          <a:noFill/>
          <a:ln/>
        </p:spPr>
        <p:txBody>
          <a:bodyPr wrap="square" lIns="0" tIns="0" rIns="0" bIns="0" rtlCol="0" anchor="ctr"/>
          <a:lstStyle/>
          <a:p>
            <a:pPr algn="ctr" indent="0" marL="0">
              <a:buNone/>
            </a:pPr>
            <a:r>
              <a:rPr lang="en-US" sz="1300" dirty="0">
                <a:solidFill>
                  <a:srgbClr val="1B1B1B"/>
                </a:solidFill>
              </a:rPr>
              <a:t>Nobody there</a:t>
            </a:r>
            <a:endParaRPr lang="en-US" sz="1300" dirty="0"/>
          </a:p>
        </p:txBody>
      </p:sp>
      <p:sp>
        <p:nvSpPr>
          <p:cNvPr id="10" name="Shape 8"/>
          <p:cNvSpPr/>
          <p:nvPr/>
        </p:nvSpPr>
        <p:spPr>
          <a:xfrm>
            <a:off x="3108960" y="2377440"/>
            <a:ext cx="2103120" cy="0"/>
          </a:xfrm>
          <a:prstGeom prst="line">
            <a:avLst/>
          </a:prstGeom>
          <a:noFill/>
          <a:ln w="25400">
            <a:solidFill>
              <a:srgbClr val="9AA0A6"/>
            </a:solidFill>
            <a:prstDash val="solid"/>
          </a:ln>
        </p:spPr>
      </p:sp>
      <p:sp>
        <p:nvSpPr>
          <p:cNvPr id="11" name="Shape 9"/>
          <p:cNvSpPr/>
          <p:nvPr/>
        </p:nvSpPr>
        <p:spPr>
          <a:xfrm>
            <a:off x="3200400" y="1097280"/>
            <a:ext cx="128016" cy="1280160"/>
          </a:xfrm>
          <a:prstGeom prst="rect">
            <a:avLst/>
          </a:prstGeom>
          <a:solidFill>
            <a:srgbClr val="546E7A"/>
          </a:solidFill>
          <a:ln w="12700">
            <a:solidFill>
              <a:srgbClr val="37474F"/>
            </a:solidFill>
            <a:prstDash val="solid"/>
          </a:ln>
        </p:spPr>
      </p:sp>
      <p:sp>
        <p:nvSpPr>
          <p:cNvPr id="12" name="Shape 10"/>
          <p:cNvSpPr/>
          <p:nvPr/>
        </p:nvSpPr>
        <p:spPr>
          <a:xfrm>
            <a:off x="4992624" y="1097280"/>
            <a:ext cx="128016" cy="1280160"/>
          </a:xfrm>
          <a:prstGeom prst="rect">
            <a:avLst/>
          </a:prstGeom>
          <a:solidFill>
            <a:srgbClr val="546E7A"/>
          </a:solidFill>
          <a:ln w="12700">
            <a:solidFill>
              <a:srgbClr val="37474F"/>
            </a:solidFill>
            <a:prstDash val="solid"/>
          </a:ln>
        </p:spPr>
      </p:sp>
      <p:sp>
        <p:nvSpPr>
          <p:cNvPr id="13" name="Shape 11"/>
          <p:cNvSpPr/>
          <p:nvPr/>
        </p:nvSpPr>
        <p:spPr>
          <a:xfrm flipV="1">
            <a:off x="3264408" y="1078992"/>
            <a:ext cx="274320" cy="475488"/>
          </a:xfrm>
          <a:prstGeom prst="line">
            <a:avLst/>
          </a:prstGeom>
          <a:noFill/>
          <a:ln w="88900">
            <a:solidFill>
              <a:srgbClr val="F2A900"/>
            </a:solidFill>
            <a:prstDash val="solid"/>
          </a:ln>
        </p:spPr>
      </p:sp>
      <p:sp>
        <p:nvSpPr>
          <p:cNvPr id="14" name="Shape 12"/>
          <p:cNvSpPr/>
          <p:nvPr/>
        </p:nvSpPr>
        <p:spPr>
          <a:xfrm>
            <a:off x="3191256" y="1481328"/>
            <a:ext cx="146304" cy="146304"/>
          </a:xfrm>
          <a:prstGeom prst="ellipse">
            <a:avLst/>
          </a:prstGeom>
          <a:solidFill>
            <a:srgbClr val="37474F"/>
          </a:solidFill>
          <a:ln w="12700">
            <a:solidFill>
              <a:srgbClr val="37474F"/>
            </a:solidFill>
            <a:prstDash val="solid"/>
          </a:ln>
        </p:spPr>
      </p:sp>
      <p:sp>
        <p:nvSpPr>
          <p:cNvPr id="15" name="Text 13"/>
          <p:cNvSpPr txBox="1"/>
          <p:nvPr/>
        </p:nvSpPr>
        <p:spPr>
          <a:xfrm>
            <a:off x="3108960" y="1874520"/>
            <a:ext cx="2103120" cy="274320"/>
          </a:xfrm>
          <a:prstGeom prst="rect">
            <a:avLst/>
          </a:prstGeom>
          <a:noFill/>
          <a:ln/>
        </p:spPr>
        <p:txBody>
          <a:bodyPr wrap="square" lIns="0" tIns="0" rIns="0" bIns="0" rtlCol="0" anchor="ctr"/>
          <a:lstStyle/>
          <a:p>
            <a:pPr algn="ctr" indent="0" marL="0">
              <a:buNone/>
            </a:pPr>
            <a:r>
              <a:rPr lang="en-US" sz="1400" b="1" dirty="0">
                <a:solidFill>
                  <a:srgbClr val="1F8A70"/>
                </a:solidFill>
              </a:rPr>
              <a:t>OPEN  ·  90°</a:t>
            </a:r>
            <a:endParaRPr lang="en-US" sz="1400" dirty="0"/>
          </a:p>
        </p:txBody>
      </p:sp>
      <p:sp>
        <p:nvSpPr>
          <p:cNvPr id="16" name="Text 14"/>
          <p:cNvSpPr txBox="1"/>
          <p:nvPr/>
        </p:nvSpPr>
        <p:spPr>
          <a:xfrm>
            <a:off x="3108960" y="2450592"/>
            <a:ext cx="2103120" cy="274320"/>
          </a:xfrm>
          <a:prstGeom prst="rect">
            <a:avLst/>
          </a:prstGeom>
          <a:noFill/>
          <a:ln/>
        </p:spPr>
        <p:txBody>
          <a:bodyPr wrap="square" lIns="0" tIns="0" rIns="0" bIns="0" rtlCol="0" anchor="ctr"/>
          <a:lstStyle/>
          <a:p>
            <a:pPr algn="ctr" indent="0" marL="0">
              <a:buNone/>
            </a:pPr>
            <a:r>
              <a:rPr lang="en-US" sz="1300" dirty="0">
                <a:solidFill>
                  <a:srgbClr val="1B1B1B"/>
                </a:solidFill>
              </a:rPr>
              <a:t>Somebody within 15 cm</a:t>
            </a:r>
            <a:endParaRPr lang="en-US" sz="1300" dirty="0"/>
          </a:p>
        </p:txBody>
      </p:sp>
      <p:sp>
        <p:nvSpPr>
          <p:cNvPr id="17" name="Shape 15"/>
          <p:cNvSpPr/>
          <p:nvPr/>
        </p:nvSpPr>
        <p:spPr>
          <a:xfrm>
            <a:off x="5669280" y="2377440"/>
            <a:ext cx="2103120" cy="0"/>
          </a:xfrm>
          <a:prstGeom prst="line">
            <a:avLst/>
          </a:prstGeom>
          <a:noFill/>
          <a:ln w="25400">
            <a:solidFill>
              <a:srgbClr val="9AA0A6"/>
            </a:solidFill>
            <a:prstDash val="solid"/>
          </a:ln>
        </p:spPr>
      </p:sp>
      <p:sp>
        <p:nvSpPr>
          <p:cNvPr id="18" name="Shape 16"/>
          <p:cNvSpPr/>
          <p:nvPr/>
        </p:nvSpPr>
        <p:spPr>
          <a:xfrm>
            <a:off x="5760720" y="1097280"/>
            <a:ext cx="128016" cy="1280160"/>
          </a:xfrm>
          <a:prstGeom prst="rect">
            <a:avLst/>
          </a:prstGeom>
          <a:solidFill>
            <a:srgbClr val="546E7A"/>
          </a:solidFill>
          <a:ln w="12700">
            <a:solidFill>
              <a:srgbClr val="37474F"/>
            </a:solidFill>
            <a:prstDash val="solid"/>
          </a:ln>
        </p:spPr>
      </p:sp>
      <p:sp>
        <p:nvSpPr>
          <p:cNvPr id="19" name="Shape 17"/>
          <p:cNvSpPr/>
          <p:nvPr/>
        </p:nvSpPr>
        <p:spPr>
          <a:xfrm>
            <a:off x="7552944" y="1097280"/>
            <a:ext cx="128016" cy="1280160"/>
          </a:xfrm>
          <a:prstGeom prst="rect">
            <a:avLst/>
          </a:prstGeom>
          <a:solidFill>
            <a:srgbClr val="546E7A"/>
          </a:solidFill>
          <a:ln w="12700">
            <a:solidFill>
              <a:srgbClr val="37474F"/>
            </a:solidFill>
            <a:prstDash val="solid"/>
          </a:ln>
        </p:spPr>
      </p:sp>
      <p:sp>
        <p:nvSpPr>
          <p:cNvPr id="20" name="Shape 18"/>
          <p:cNvSpPr/>
          <p:nvPr/>
        </p:nvSpPr>
        <p:spPr>
          <a:xfrm flipV="1">
            <a:off x="5824728" y="1078992"/>
            <a:ext cx="274320" cy="475488"/>
          </a:xfrm>
          <a:prstGeom prst="line">
            <a:avLst/>
          </a:prstGeom>
          <a:noFill/>
          <a:ln w="88900">
            <a:solidFill>
              <a:srgbClr val="F2A900"/>
            </a:solidFill>
            <a:prstDash val="solid"/>
          </a:ln>
        </p:spPr>
      </p:sp>
      <p:sp>
        <p:nvSpPr>
          <p:cNvPr id="21" name="Shape 19"/>
          <p:cNvSpPr/>
          <p:nvPr/>
        </p:nvSpPr>
        <p:spPr>
          <a:xfrm>
            <a:off x="5751576" y="1481328"/>
            <a:ext cx="146304" cy="146304"/>
          </a:xfrm>
          <a:prstGeom prst="ellipse">
            <a:avLst/>
          </a:prstGeom>
          <a:solidFill>
            <a:srgbClr val="37474F"/>
          </a:solidFill>
          <a:ln w="12700">
            <a:solidFill>
              <a:srgbClr val="37474F"/>
            </a:solidFill>
            <a:prstDash val="solid"/>
          </a:ln>
        </p:spPr>
      </p:sp>
      <p:sp>
        <p:nvSpPr>
          <p:cNvPr id="22" name="Text 20"/>
          <p:cNvSpPr txBox="1"/>
          <p:nvPr/>
        </p:nvSpPr>
        <p:spPr>
          <a:xfrm>
            <a:off x="5669280" y="1874520"/>
            <a:ext cx="2103120" cy="274320"/>
          </a:xfrm>
          <a:prstGeom prst="rect">
            <a:avLst/>
          </a:prstGeom>
          <a:noFill/>
          <a:ln/>
        </p:spPr>
        <p:txBody>
          <a:bodyPr wrap="square" lIns="0" tIns="0" rIns="0" bIns="0" rtlCol="0" anchor="ctr"/>
          <a:lstStyle/>
          <a:p>
            <a:pPr algn="ctr" indent="0" marL="0">
              <a:buNone/>
            </a:pPr>
            <a:r>
              <a:rPr lang="en-US" sz="1400" b="1" dirty="0">
                <a:solidFill>
                  <a:srgbClr val="1F8A70"/>
                </a:solidFill>
              </a:rPr>
              <a:t>OPEN  ·  90°</a:t>
            </a:r>
            <a:endParaRPr lang="en-US" sz="1400" dirty="0"/>
          </a:p>
        </p:txBody>
      </p:sp>
      <p:sp>
        <p:nvSpPr>
          <p:cNvPr id="23" name="Text 21"/>
          <p:cNvSpPr txBox="1"/>
          <p:nvPr/>
        </p:nvSpPr>
        <p:spPr>
          <a:xfrm>
            <a:off x="5669280" y="2450592"/>
            <a:ext cx="2103120" cy="274320"/>
          </a:xfrm>
          <a:prstGeom prst="rect">
            <a:avLst/>
          </a:prstGeom>
          <a:noFill/>
          <a:ln/>
        </p:spPr>
        <p:txBody>
          <a:bodyPr wrap="square" lIns="0" tIns="0" rIns="0" bIns="0" rtlCol="0" anchor="ctr"/>
          <a:lstStyle/>
          <a:p>
            <a:pPr algn="ctr" indent="0" marL="0">
              <a:buNone/>
            </a:pPr>
            <a:r>
              <a:rPr lang="en-US" sz="1300" dirty="0">
                <a:solidFill>
                  <a:srgbClr val="1B1B1B"/>
                </a:solidFill>
              </a:rPr>
              <a:t>They passed: open 2 s more</a:t>
            </a:r>
            <a:endParaRPr lang="en-US" sz="1300" dirty="0"/>
          </a:p>
        </p:txBody>
      </p:sp>
      <p:sp>
        <p:nvSpPr>
          <p:cNvPr id="24" name="Shape 22"/>
          <p:cNvSpPr/>
          <p:nvPr/>
        </p:nvSpPr>
        <p:spPr>
          <a:xfrm>
            <a:off x="548640" y="3291840"/>
            <a:ext cx="8046720" cy="0"/>
          </a:xfrm>
          <a:prstGeom prst="line">
            <a:avLst/>
          </a:prstGeom>
          <a:noFill/>
          <a:ln w="25400">
            <a:solidFill>
              <a:srgbClr val="9AA0A6"/>
            </a:solidFill>
            <a:prstDash val="solid"/>
          </a:ln>
        </p:spPr>
      </p:sp>
      <p:sp>
        <p:nvSpPr>
          <p:cNvPr id="25" name="Shape 23"/>
          <p:cNvSpPr/>
          <p:nvPr/>
        </p:nvSpPr>
        <p:spPr>
          <a:xfrm>
            <a:off x="1399032" y="3227832"/>
            <a:ext cx="128016" cy="128016"/>
          </a:xfrm>
          <a:prstGeom prst="ellipse">
            <a:avLst/>
          </a:prstGeom>
          <a:solidFill>
            <a:srgbClr val="F2A900"/>
          </a:solidFill>
          <a:ln w="12700">
            <a:solidFill>
              <a:srgbClr val="F2A900"/>
            </a:solidFill>
            <a:prstDash val="solid"/>
          </a:ln>
        </p:spPr>
      </p:sp>
      <p:sp>
        <p:nvSpPr>
          <p:cNvPr id="26" name="Text 24"/>
          <p:cNvSpPr txBox="1"/>
          <p:nvPr/>
        </p:nvSpPr>
        <p:spPr>
          <a:xfrm>
            <a:off x="777240" y="3401568"/>
            <a:ext cx="1371600" cy="274320"/>
          </a:xfrm>
          <a:prstGeom prst="rect">
            <a:avLst/>
          </a:prstGeom>
          <a:noFill/>
          <a:ln/>
        </p:spPr>
        <p:txBody>
          <a:bodyPr wrap="square" lIns="0" tIns="0" rIns="0" bIns="0" rtlCol="0" anchor="ctr"/>
          <a:lstStyle/>
          <a:p>
            <a:pPr algn="ctr" indent="0" marL="0">
              <a:buNone/>
            </a:pPr>
            <a:r>
              <a:rPr lang="en-US" sz="1200" dirty="0">
                <a:solidFill>
                  <a:srgbClr val="1B1B1B"/>
                </a:solidFill>
              </a:rPr>
              <a:t>approach</a:t>
            </a:r>
            <a:endParaRPr lang="en-US" sz="1200" dirty="0"/>
          </a:p>
        </p:txBody>
      </p:sp>
      <p:sp>
        <p:nvSpPr>
          <p:cNvPr id="27" name="Shape 25"/>
          <p:cNvSpPr/>
          <p:nvPr/>
        </p:nvSpPr>
        <p:spPr>
          <a:xfrm>
            <a:off x="3227832" y="3227832"/>
            <a:ext cx="128016" cy="128016"/>
          </a:xfrm>
          <a:prstGeom prst="ellipse">
            <a:avLst/>
          </a:prstGeom>
          <a:solidFill>
            <a:srgbClr val="F2A900"/>
          </a:solidFill>
          <a:ln w="12700">
            <a:solidFill>
              <a:srgbClr val="F2A900"/>
            </a:solidFill>
            <a:prstDash val="solid"/>
          </a:ln>
        </p:spPr>
      </p:sp>
      <p:sp>
        <p:nvSpPr>
          <p:cNvPr id="28" name="Text 26"/>
          <p:cNvSpPr txBox="1"/>
          <p:nvPr/>
        </p:nvSpPr>
        <p:spPr>
          <a:xfrm>
            <a:off x="2606040" y="3401568"/>
            <a:ext cx="1371600" cy="274320"/>
          </a:xfrm>
          <a:prstGeom prst="rect">
            <a:avLst/>
          </a:prstGeom>
          <a:noFill/>
          <a:ln/>
        </p:spPr>
        <p:txBody>
          <a:bodyPr wrap="square" lIns="0" tIns="0" rIns="0" bIns="0" rtlCol="0" anchor="ctr"/>
          <a:lstStyle/>
          <a:p>
            <a:pPr algn="ctr" indent="0" marL="0">
              <a:buNone/>
            </a:pPr>
            <a:r>
              <a:rPr lang="en-US" sz="1200" dirty="0">
                <a:solidFill>
                  <a:srgbClr val="1B1B1B"/>
                </a:solidFill>
              </a:rPr>
              <a:t>open</a:t>
            </a:r>
            <a:endParaRPr lang="en-US" sz="1200" dirty="0"/>
          </a:p>
        </p:txBody>
      </p:sp>
      <p:sp>
        <p:nvSpPr>
          <p:cNvPr id="29" name="Shape 27"/>
          <p:cNvSpPr/>
          <p:nvPr/>
        </p:nvSpPr>
        <p:spPr>
          <a:xfrm>
            <a:off x="5056632" y="3227832"/>
            <a:ext cx="128016" cy="128016"/>
          </a:xfrm>
          <a:prstGeom prst="ellipse">
            <a:avLst/>
          </a:prstGeom>
          <a:solidFill>
            <a:srgbClr val="F2A900"/>
          </a:solidFill>
          <a:ln w="12700">
            <a:solidFill>
              <a:srgbClr val="F2A900"/>
            </a:solidFill>
            <a:prstDash val="solid"/>
          </a:ln>
        </p:spPr>
      </p:sp>
      <p:sp>
        <p:nvSpPr>
          <p:cNvPr id="30" name="Text 28"/>
          <p:cNvSpPr txBox="1"/>
          <p:nvPr/>
        </p:nvSpPr>
        <p:spPr>
          <a:xfrm>
            <a:off x="4434840" y="3401568"/>
            <a:ext cx="1371600" cy="274320"/>
          </a:xfrm>
          <a:prstGeom prst="rect">
            <a:avLst/>
          </a:prstGeom>
          <a:noFill/>
          <a:ln/>
        </p:spPr>
        <p:txBody>
          <a:bodyPr wrap="square" lIns="0" tIns="0" rIns="0" bIns="0" rtlCol="0" anchor="ctr"/>
          <a:lstStyle/>
          <a:p>
            <a:pPr algn="ctr" indent="0" marL="0">
              <a:buNone/>
            </a:pPr>
            <a:r>
              <a:rPr lang="en-US" sz="1200" dirty="0">
                <a:solidFill>
                  <a:srgbClr val="1B1B1B"/>
                </a:solidFill>
              </a:rPr>
              <a:t>walk through</a:t>
            </a:r>
            <a:endParaRPr lang="en-US" sz="1200" dirty="0"/>
          </a:p>
        </p:txBody>
      </p:sp>
      <p:sp>
        <p:nvSpPr>
          <p:cNvPr id="31" name="Shape 29"/>
          <p:cNvSpPr/>
          <p:nvPr/>
        </p:nvSpPr>
        <p:spPr>
          <a:xfrm>
            <a:off x="6519672" y="3227832"/>
            <a:ext cx="128016" cy="128016"/>
          </a:xfrm>
          <a:prstGeom prst="ellipse">
            <a:avLst/>
          </a:prstGeom>
          <a:solidFill>
            <a:srgbClr val="F2A900"/>
          </a:solidFill>
          <a:ln w="12700">
            <a:solidFill>
              <a:srgbClr val="F2A900"/>
            </a:solidFill>
            <a:prstDash val="solid"/>
          </a:ln>
        </p:spPr>
      </p:sp>
      <p:sp>
        <p:nvSpPr>
          <p:cNvPr id="32" name="Text 30"/>
          <p:cNvSpPr txBox="1"/>
          <p:nvPr/>
        </p:nvSpPr>
        <p:spPr>
          <a:xfrm>
            <a:off x="5897880" y="3401568"/>
            <a:ext cx="1371600" cy="274320"/>
          </a:xfrm>
          <a:prstGeom prst="rect">
            <a:avLst/>
          </a:prstGeom>
          <a:noFill/>
          <a:ln/>
        </p:spPr>
        <p:txBody>
          <a:bodyPr wrap="square" lIns="0" tIns="0" rIns="0" bIns="0" rtlCol="0" anchor="ctr"/>
          <a:lstStyle/>
          <a:p>
            <a:pPr algn="ctr" indent="0" marL="0">
              <a:buNone/>
            </a:pPr>
            <a:r>
              <a:rPr lang="en-US" sz="1200" dirty="0">
                <a:solidFill>
                  <a:srgbClr val="1B1B1B"/>
                </a:solidFill>
              </a:rPr>
              <a:t>wait 2 s</a:t>
            </a:r>
            <a:endParaRPr lang="en-US" sz="1200" dirty="0"/>
          </a:p>
        </p:txBody>
      </p:sp>
      <p:sp>
        <p:nvSpPr>
          <p:cNvPr id="33" name="Shape 31"/>
          <p:cNvSpPr/>
          <p:nvPr/>
        </p:nvSpPr>
        <p:spPr>
          <a:xfrm>
            <a:off x="7982712" y="3227832"/>
            <a:ext cx="128016" cy="128016"/>
          </a:xfrm>
          <a:prstGeom prst="ellipse">
            <a:avLst/>
          </a:prstGeom>
          <a:solidFill>
            <a:srgbClr val="F2A900"/>
          </a:solidFill>
          <a:ln w="12700">
            <a:solidFill>
              <a:srgbClr val="F2A900"/>
            </a:solidFill>
            <a:prstDash val="solid"/>
          </a:ln>
        </p:spPr>
      </p:sp>
      <p:sp>
        <p:nvSpPr>
          <p:cNvPr id="34" name="Text 32"/>
          <p:cNvSpPr txBox="1"/>
          <p:nvPr/>
        </p:nvSpPr>
        <p:spPr>
          <a:xfrm>
            <a:off x="7360920" y="3401568"/>
            <a:ext cx="1371600" cy="274320"/>
          </a:xfrm>
          <a:prstGeom prst="rect">
            <a:avLst/>
          </a:prstGeom>
          <a:noFill/>
          <a:ln/>
        </p:spPr>
        <p:txBody>
          <a:bodyPr wrap="square" lIns="0" tIns="0" rIns="0" bIns="0" rtlCol="0" anchor="ctr"/>
          <a:lstStyle/>
          <a:p>
            <a:pPr algn="ctr" indent="0" marL="0">
              <a:buNone/>
            </a:pPr>
            <a:r>
              <a:rPr lang="en-US" sz="1200" dirty="0">
                <a:solidFill>
                  <a:srgbClr val="1B1B1B"/>
                </a:solidFill>
              </a:rPr>
              <a:t>shut</a:t>
            </a:r>
            <a:endParaRPr lang="en-US" sz="1200" dirty="0"/>
          </a:p>
        </p:txBody>
      </p:sp>
      <p:sp>
        <p:nvSpPr>
          <p:cNvPr id="35" name="Shape 33"/>
          <p:cNvSpPr/>
          <p:nvPr/>
        </p:nvSpPr>
        <p:spPr>
          <a:xfrm>
            <a:off x="548640" y="3840480"/>
            <a:ext cx="8046720" cy="685800"/>
          </a:xfrm>
          <a:prstGeom prst="roundRect">
            <a:avLst>
              <a:gd name="adj" fmla="val 10667"/>
            </a:avLst>
          </a:prstGeom>
          <a:solidFill>
            <a:srgbClr val="FFF4D6"/>
          </a:solidFill>
          <a:ln w="15875">
            <a:solidFill>
              <a:srgbClr val="E0A800"/>
            </a:solidFill>
            <a:prstDash val="solid"/>
          </a:ln>
        </p:spPr>
      </p:sp>
      <p:sp>
        <p:nvSpPr>
          <p:cNvPr id="36" name="Text 34"/>
          <p:cNvSpPr txBox="1"/>
          <p:nvPr/>
        </p:nvSpPr>
        <p:spPr>
          <a:xfrm>
            <a:off x="731520" y="3840480"/>
            <a:ext cx="7680960" cy="685800"/>
          </a:xfrm>
          <a:prstGeom prst="rect">
            <a:avLst/>
          </a:prstGeom>
          <a:noFill/>
          <a:ln/>
        </p:spPr>
        <p:txBody>
          <a:bodyPr wrap="square" lIns="0" tIns="0" rIns="0" bIns="0" rtlCol="0" anchor="ctr"/>
          <a:lstStyle/>
          <a:p>
            <a:pPr indent="0" marL="0">
              <a:buNone/>
            </a:pPr>
            <a:r>
              <a:rPr lang="en-US" sz="1500" b="1" dirty="0">
                <a:solidFill>
                  <a:srgbClr val="9A6B00"/>
                </a:solidFill>
              </a:rPr>
              <a:t>Think:  </a:t>
            </a:r>
            <a:pPr indent="0" marL="0">
              <a:buNone/>
            </a:pPr>
            <a:r>
              <a:rPr lang="en-US" sz="1500" dirty="0">
                <a:solidFill>
                  <a:srgbClr val="1B1B1B"/>
                </a:solidFill>
              </a:rPr>
              <a:t>why must the door wait before it shuts? What happens to a slow walker if it shuts the instant the sensor stops seeing them?</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Step 3: you write angle_for()</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3</a:t>
            </a:r>
            <a:endParaRPr lang="en-US" sz="2000" dirty="0"/>
          </a:p>
        </p:txBody>
      </p:sp>
      <p:sp>
        <p:nvSpPr>
          <p:cNvPr id="6" name="Shape 4"/>
          <p:cNvSpPr/>
          <p:nvPr/>
        </p:nvSpPr>
        <p:spPr>
          <a:xfrm>
            <a:off x="457200" y="1005840"/>
            <a:ext cx="4572000" cy="1325880"/>
          </a:xfrm>
          <a:prstGeom prst="roundRect">
            <a:avLst>
              <a:gd name="adj" fmla="val 5517"/>
            </a:avLst>
          </a:prstGeom>
          <a:solidFill>
            <a:srgbClr val="14261F"/>
          </a:solidFill>
          <a:ln w="12700">
            <a:solidFill>
              <a:srgbClr val="14261F"/>
            </a:solidFill>
            <a:prstDash val="solid"/>
          </a:ln>
        </p:spPr>
      </p:sp>
      <p:sp>
        <p:nvSpPr>
          <p:cNvPr id="7" name="Text 5"/>
          <p:cNvSpPr txBox="1"/>
          <p:nvPr/>
        </p:nvSpPr>
        <p:spPr>
          <a:xfrm>
            <a:off x="594360" y="1069848"/>
            <a:ext cx="4297680" cy="219456"/>
          </a:xfrm>
          <a:prstGeom prst="rect">
            <a:avLst/>
          </a:prstGeom>
          <a:noFill/>
          <a:ln/>
        </p:spPr>
        <p:txBody>
          <a:bodyPr wrap="square" lIns="0" tIns="0" rIns="0" bIns="0" rtlCol="0" anchor="ctr"/>
          <a:lstStyle/>
          <a:p>
            <a:pPr indent="0" marL="0">
              <a:buNone/>
            </a:pPr>
            <a:r>
              <a:rPr lang="en-US" sz="1100" b="1" dirty="0">
                <a:solidFill>
                  <a:srgbClr val="F2A900"/>
                </a:solidFill>
              </a:rPr>
              <a:t>step3_auto_gate.py</a:t>
            </a:r>
            <a:pPr indent="0" marL="0">
              <a:buNone/>
            </a:pPr>
            <a:r>
              <a:rPr lang="en-US" sz="1100" dirty="0">
                <a:solidFill>
                  <a:srgbClr val="9FB8AD"/>
                </a:solidFill>
              </a:rPr>
              <a:t>  ·  lines 32–35</a:t>
            </a:r>
            <a:endParaRPr lang="en-US" sz="1100" dirty="0"/>
          </a:p>
        </p:txBody>
      </p:sp>
      <p:sp>
        <p:nvSpPr>
          <p:cNvPr id="8" name="Shape 6"/>
          <p:cNvSpPr/>
          <p:nvPr/>
        </p:nvSpPr>
        <p:spPr>
          <a:xfrm>
            <a:off x="566928" y="1325880"/>
            <a:ext cx="4352544" cy="0"/>
          </a:xfrm>
          <a:prstGeom prst="line">
            <a:avLst/>
          </a:prstGeom>
          <a:noFill/>
          <a:ln w="12700">
            <a:solidFill>
              <a:srgbClr val="2F4A3F"/>
            </a:solidFill>
            <a:prstDash val="solid"/>
          </a:ln>
        </p:spPr>
      </p:sp>
      <p:sp>
        <p:nvSpPr>
          <p:cNvPr id="9" name="Text 7"/>
          <p:cNvSpPr txBox="1"/>
          <p:nvPr/>
        </p:nvSpPr>
        <p:spPr>
          <a:xfrm>
            <a:off x="548640" y="1389888"/>
            <a:ext cx="4389120" cy="868680"/>
          </a:xfrm>
          <a:prstGeom prst="rect">
            <a:avLst/>
          </a:prstGeom>
          <a:noFill/>
          <a:ln/>
        </p:spPr>
        <p:txBody>
          <a:bodyPr wrap="square" lIns="0" tIns="0" rIns="0" bIns="0" rtlCol="0" anchor="t"/>
          <a:lstStyle/>
          <a:p>
            <a:pPr indent="0" marL="0">
              <a:buNone/>
            </a:pPr>
            <a:r>
              <a:rPr lang="en-US" sz="1200" dirty="0">
                <a:solidFill>
                  <a:srgbClr val="6F8A7F"/>
                </a:solidFill>
                <a:latin typeface="Courier New" pitchFamily="34" charset="0"/>
                <a:ea typeface="Courier New" pitchFamily="34" charset="-122"/>
                <a:cs typeface="Courier New" pitchFamily="34" charset="-120"/>
              </a:rPr>
              <a:t> 32  </a:t>
            </a:r>
            <a:pPr indent="0" marL="0">
              <a:buNone/>
            </a:pPr>
            <a:r>
              <a:rPr lang="en-US" sz="1200" dirty="0">
                <a:solidFill>
                  <a:srgbClr val="E6F2EC"/>
                </a:solidFill>
                <a:latin typeface="Courier New" pitchFamily="34" charset="0"/>
                <a:ea typeface="Courier New" pitchFamily="34" charset="-122"/>
                <a:cs typeface="Courier New" pitchFamily="34" charset="-120"/>
              </a:rPr>
              <a:t>OPEN_ANGLE = 90</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33  </a:t>
            </a:r>
            <a:pPr indent="0" marL="0">
              <a:buNone/>
            </a:pPr>
            <a:r>
              <a:rPr lang="en-US" sz="1200" dirty="0">
                <a:solidFill>
                  <a:srgbClr val="E6F2EC"/>
                </a:solidFill>
                <a:latin typeface="Courier New" pitchFamily="34" charset="0"/>
                <a:ea typeface="Courier New" pitchFamily="34" charset="-122"/>
                <a:cs typeface="Courier New" pitchFamily="34" charset="-120"/>
              </a:rPr>
              <a:t>CLOSED_ANGLE = 0</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34  </a:t>
            </a:r>
            <a:pPr indent="0" marL="0">
              <a:buNone/>
            </a:pPr>
            <a:r>
              <a:rPr lang="en-US" sz="1200" dirty="0">
                <a:solidFill>
                  <a:srgbClr val="E6F2EC"/>
                </a:solidFill>
                <a:latin typeface="Courier New" pitchFamily="34" charset="0"/>
                <a:ea typeface="Courier New" pitchFamily="34" charset="-122"/>
                <a:cs typeface="Courier New" pitchFamily="34" charset="-120"/>
              </a:rPr>
              <a:t>NEAR_CM = 15</a:t>
            </a:r>
            <a:endParaRPr lang="en-US" sz="1200" dirty="0"/>
          </a:p>
          <a:p>
            <a:pPr indent="0" marL="0">
              <a:buNone/>
            </a:pPr>
            <a:r>
              <a:rPr lang="en-US" sz="1200" dirty="0">
                <a:solidFill>
                  <a:srgbClr val="6F8A7F"/>
                </a:solidFill>
                <a:latin typeface="Courier New" pitchFamily="34" charset="0"/>
                <a:ea typeface="Courier New" pitchFamily="34" charset="-122"/>
                <a:cs typeface="Courier New" pitchFamily="34" charset="-120"/>
              </a:rPr>
              <a:t> 35  </a:t>
            </a:r>
            <a:pPr indent="0" marL="0">
              <a:buNone/>
            </a:pPr>
            <a:r>
              <a:rPr lang="en-US" sz="1200" dirty="0">
                <a:solidFill>
                  <a:srgbClr val="E6F2EC"/>
                </a:solidFill>
                <a:latin typeface="Courier New" pitchFamily="34" charset="0"/>
                <a:ea typeface="Courier New" pitchFamily="34" charset="-122"/>
                <a:cs typeface="Courier New" pitchFamily="34" charset="-120"/>
              </a:rPr>
              <a:t>HOLD_LOOPS = 20</a:t>
            </a:r>
            <a:endParaRPr lang="en-US" sz="1200" dirty="0"/>
          </a:p>
        </p:txBody>
      </p:sp>
      <p:sp>
        <p:nvSpPr>
          <p:cNvPr id="10" name="Shape 8"/>
          <p:cNvSpPr/>
          <p:nvPr/>
        </p:nvSpPr>
        <p:spPr>
          <a:xfrm>
            <a:off x="457200" y="2423160"/>
            <a:ext cx="4572000" cy="1828800"/>
          </a:xfrm>
          <a:prstGeom prst="roundRect">
            <a:avLst>
              <a:gd name="adj" fmla="val 4000"/>
            </a:avLst>
          </a:prstGeom>
          <a:solidFill>
            <a:srgbClr val="14261F"/>
          </a:solidFill>
          <a:ln w="12700">
            <a:solidFill>
              <a:srgbClr val="14261F"/>
            </a:solidFill>
            <a:prstDash val="solid"/>
          </a:ln>
        </p:spPr>
      </p:sp>
      <p:sp>
        <p:nvSpPr>
          <p:cNvPr id="11" name="Text 9"/>
          <p:cNvSpPr txBox="1"/>
          <p:nvPr/>
        </p:nvSpPr>
        <p:spPr>
          <a:xfrm>
            <a:off x="594360" y="2487168"/>
            <a:ext cx="4297680" cy="219456"/>
          </a:xfrm>
          <a:prstGeom prst="rect">
            <a:avLst/>
          </a:prstGeom>
          <a:noFill/>
          <a:ln/>
        </p:spPr>
        <p:txBody>
          <a:bodyPr wrap="square" lIns="0" tIns="0" rIns="0" bIns="0" rtlCol="0" anchor="ctr"/>
          <a:lstStyle/>
          <a:p>
            <a:pPr indent="0" marL="0">
              <a:buNone/>
            </a:pPr>
            <a:r>
              <a:rPr lang="en-US" sz="1100" b="1" dirty="0">
                <a:solidFill>
                  <a:srgbClr val="F2A900"/>
                </a:solidFill>
              </a:rPr>
              <a:t>step3_auto_gate.py</a:t>
            </a:r>
            <a:pPr indent="0" marL="0">
              <a:buNone/>
            </a:pPr>
            <a:r>
              <a:rPr lang="en-US" sz="1100" dirty="0">
                <a:solidFill>
                  <a:srgbClr val="9FB8AD"/>
                </a:solidFill>
              </a:rPr>
              <a:t>  ·  lines 71–82</a:t>
            </a:r>
            <a:endParaRPr lang="en-US" sz="1100" dirty="0"/>
          </a:p>
        </p:txBody>
      </p:sp>
      <p:sp>
        <p:nvSpPr>
          <p:cNvPr id="12" name="Shape 10"/>
          <p:cNvSpPr/>
          <p:nvPr/>
        </p:nvSpPr>
        <p:spPr>
          <a:xfrm>
            <a:off x="566928" y="2743200"/>
            <a:ext cx="4352544" cy="0"/>
          </a:xfrm>
          <a:prstGeom prst="line">
            <a:avLst/>
          </a:prstGeom>
          <a:noFill/>
          <a:ln w="12700">
            <a:solidFill>
              <a:srgbClr val="2F4A3F"/>
            </a:solidFill>
            <a:prstDash val="solid"/>
          </a:ln>
        </p:spPr>
      </p:sp>
      <p:sp>
        <p:nvSpPr>
          <p:cNvPr id="13" name="Text 11"/>
          <p:cNvSpPr txBox="1"/>
          <p:nvPr/>
        </p:nvSpPr>
        <p:spPr>
          <a:xfrm>
            <a:off x="548640" y="2807208"/>
            <a:ext cx="4389120" cy="1371600"/>
          </a:xfrm>
          <a:prstGeom prst="rect">
            <a:avLst/>
          </a:prstGeom>
          <a:noFill/>
          <a:ln/>
        </p:spPr>
        <p:txBody>
          <a:bodyPr wrap="square" lIns="0" tIns="0" rIns="0" bIns="0" rtlCol="0" anchor="t"/>
          <a:lstStyle/>
          <a:p>
            <a:pPr indent="0" marL="0">
              <a:buNone/>
            </a:pPr>
            <a:r>
              <a:rPr lang="en-US" sz="900" dirty="0">
                <a:solidFill>
                  <a:srgbClr val="6F8A7F"/>
                </a:solidFill>
                <a:latin typeface="Courier New" pitchFamily="34" charset="0"/>
                <a:ea typeface="Courier New" pitchFamily="34" charset="-122"/>
                <a:cs typeface="Courier New" pitchFamily="34" charset="-120"/>
              </a:rPr>
              <a:t> 71  </a:t>
            </a:r>
            <a:pPr indent="0" marL="0">
              <a:buNone/>
            </a:pPr>
            <a:r>
              <a:rPr lang="en-US" sz="900" dirty="0">
                <a:solidFill>
                  <a:srgbClr val="E6F2EC"/>
                </a:solidFill>
                <a:latin typeface="Courier New" pitchFamily="34" charset="0"/>
                <a:ea typeface="Courier New" pitchFamily="34" charset="-122"/>
                <a:cs typeface="Courier New" pitchFamily="34" charset="-120"/>
              </a:rPr>
              <a:t>def angle_for(distance):</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76  </a:t>
            </a:r>
            <a:pPr indent="0" marL="0">
              <a:buNone/>
            </a:pPr>
            <a:r>
              <a:rPr lang="en-US" sz="900" dirty="0">
                <a:solidFill>
                  <a:srgbClr val="9FB8AD"/>
                </a:solidFill>
                <a:latin typeface="Courier New" pitchFamily="34" charset="0"/>
                <a:ea typeface="Courier New" pitchFamily="34" charset="-122"/>
                <a:cs typeface="Courier New" pitchFamily="34" charset="-120"/>
              </a:rPr>
              <a:t>    # ----- YOUR CODE STARTS HERE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80  </a:t>
            </a:r>
            <a:pPr indent="0" marL="0">
              <a:buNone/>
            </a:pPr>
            <a:r>
              <a:rPr lang="en-US" sz="900" dirty="0">
                <a:solidFill>
                  <a:srgbClr val="9FB8AD"/>
                </a:solidFill>
                <a:latin typeface="Courier New" pitchFamily="34" charset="0"/>
                <a:ea typeface="Courier New" pitchFamily="34" charset="-122"/>
                <a:cs typeface="Courier New" pitchFamily="34" charset="-120"/>
              </a:rPr>
              <a:t>    # Use OPEN_ANGLE and CLOSED_ANGLE, not 90 and 0.</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81  </a:t>
            </a:r>
            <a:pPr indent="0" marL="0">
              <a:buNone/>
            </a:pPr>
            <a:r>
              <a:rPr lang="en-US" sz="900" dirty="0">
                <a:solidFill>
                  <a:srgbClr val="E6F2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6F8A7F"/>
                </a:solidFill>
                <a:latin typeface="Courier New" pitchFamily="34" charset="0"/>
                <a:ea typeface="Courier New" pitchFamily="34" charset="-122"/>
                <a:cs typeface="Courier New" pitchFamily="34" charset="-120"/>
              </a:rPr>
              <a:t> 82  </a:t>
            </a:r>
            <a:pPr indent="0" marL="0">
              <a:buNone/>
            </a:pPr>
            <a:r>
              <a:rPr lang="en-US" sz="900" dirty="0">
                <a:solidFill>
                  <a:srgbClr val="E6F2EC"/>
                </a:solidFill>
                <a:latin typeface="Courier New" pitchFamily="34" charset="0"/>
                <a:ea typeface="Courier New" pitchFamily="34" charset="-122"/>
                <a:cs typeface="Courier New" pitchFamily="34" charset="-120"/>
              </a:rPr>
              <a:t>    return CLOSED_ANGLE               # replace this line</a:t>
            </a:r>
            <a:endParaRPr lang="en-US" sz="900" dirty="0"/>
          </a:p>
        </p:txBody>
      </p:sp>
      <p:sp>
        <p:nvSpPr>
          <p:cNvPr id="14" name="Text 12"/>
          <p:cNvSpPr txBox="1"/>
          <p:nvPr/>
        </p:nvSpPr>
        <p:spPr>
          <a:xfrm>
            <a:off x="457200" y="4315968"/>
            <a:ext cx="4572000" cy="274320"/>
          </a:xfrm>
          <a:prstGeom prst="rect">
            <a:avLst/>
          </a:prstGeom>
          <a:noFill/>
          <a:ln/>
        </p:spPr>
        <p:txBody>
          <a:bodyPr wrap="square" lIns="0" tIns="0" rIns="0" bIns="0" rtlCol="0" anchor="ctr"/>
          <a:lstStyle/>
          <a:p>
            <a:pPr indent="0" marL="0">
              <a:buNone/>
            </a:pPr>
            <a:r>
              <a:rPr lang="en-US" sz="1300" b="1" dirty="0">
                <a:solidFill>
                  <a:srgbClr val="C25E00"/>
                </a:solidFill>
              </a:rPr>
              <a:t>Replace line 82 only. Do not change any other line.</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212080" y="1005840"/>
          <a:ext cx="3474720" cy="914400"/>
        </p:xfrm>
        <a:graphic>
          <a:graphicData uri="http://schemas.openxmlformats.org/drawingml/2006/table">
            <a:tbl>
              <a:tblPr/>
              <a:tblGrid>
                <a:gridCol w="1828800"/>
                <a:gridCol w="164592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distance</a:t>
                      </a:r>
                      <a:endParaRPr lang="en-US" sz="1400" dirty="0">
                        <a:latin typeface="Calibri" charset="0"/>
                        <a:ea typeface="Calibri" charset="0"/>
                        <a:cs typeface="Calibri"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angle_for() gives back</a:t>
                      </a:r>
                      <a:endParaRPr lang="en-US" sz="1400" dirty="0">
                        <a:latin typeface="Calibri" charset="0"/>
                        <a:ea typeface="Calibri" charset="0"/>
                        <a:cs typeface="Calibri"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0B3D2E"/>
                    </a:solidFill>
                  </a:tcPr>
                </a:tc>
              </a:tr>
              <a:tr h="411480">
                <a:tc>
                  <a:txBody>
                    <a:bodyPr/>
                    <a:lstStyle/>
                    <a:p>
                      <a:pPr indent="0" marL="0">
                        <a:buNone/>
                      </a:pPr>
                      <a:r>
                        <a:rPr lang="en-US" sz="1200" dirty="0">
                          <a:solidFill>
                            <a:srgbClr val="1B1B1B"/>
                          </a:solidFill>
                          <a:latin typeface="Courier New" pitchFamily="34" charset="0"/>
                          <a:ea typeface="Courier New" pitchFamily="34" charset="-122"/>
                          <a:cs typeface="Courier New" pitchFamily="34" charset="-120"/>
                        </a:rPr>
                        <a:t>None  (sensor saw nothing)</a:t>
                      </a:r>
                      <a:endParaRPr lang="en-US" sz="1200" dirty="0">
                        <a:latin typeface="Courier New" charset="0"/>
                        <a:ea typeface="Courier New" charset="0"/>
                        <a:cs typeface="Courier New"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200" dirty="0">
                          <a:solidFill>
                            <a:srgbClr val="1B1B1B"/>
                          </a:solidFill>
                          <a:latin typeface="Courier New" pitchFamily="34" charset="0"/>
                          <a:ea typeface="Courier New" pitchFamily="34" charset="-122"/>
                          <a:cs typeface="Courier New" pitchFamily="34" charset="-120"/>
                        </a:rPr>
                        <a:t>CLOSED_ANGLE</a:t>
                      </a:r>
                      <a:endParaRPr lang="en-US" sz="1200" dirty="0">
                        <a:latin typeface="Courier New" charset="0"/>
                        <a:ea typeface="Courier New" charset="0"/>
                        <a:cs typeface="Courier New"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r h="411480">
                <a:tc>
                  <a:txBody>
                    <a:bodyPr/>
                    <a:lstStyle/>
                    <a:p>
                      <a:pPr indent="0" marL="0">
                        <a:buNone/>
                      </a:pPr>
                      <a:r>
                        <a:rPr lang="en-US" sz="1200" dirty="0">
                          <a:solidFill>
                            <a:srgbClr val="1B1B1B"/>
                          </a:solidFill>
                          <a:latin typeface="Courier New" pitchFamily="34" charset="0"/>
                          <a:ea typeface="Courier New" pitchFamily="34" charset="-122"/>
                          <a:cs typeface="Courier New" pitchFamily="34" charset="-120"/>
                        </a:rPr>
                        <a:t>less than NEAR_CM</a:t>
                      </a:r>
                      <a:endParaRPr lang="en-US" sz="1200" dirty="0">
                        <a:latin typeface="Courier New" charset="0"/>
                        <a:ea typeface="Courier New" charset="0"/>
                        <a:cs typeface="Courier New"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c>
                  <a:txBody>
                    <a:bodyPr/>
                    <a:lstStyle/>
                    <a:p>
                      <a:pPr indent="0" marL="0">
                        <a:buNone/>
                      </a:pPr>
                      <a:r>
                        <a:rPr lang="en-US" sz="1200" dirty="0">
                          <a:solidFill>
                            <a:srgbClr val="1B1B1B"/>
                          </a:solidFill>
                          <a:latin typeface="Courier New" pitchFamily="34" charset="0"/>
                          <a:ea typeface="Courier New" pitchFamily="34" charset="-122"/>
                          <a:cs typeface="Courier New" pitchFamily="34" charset="-120"/>
                        </a:rPr>
                        <a:t>OPEN_ANGLE</a:t>
                      </a:r>
                      <a:endParaRPr lang="en-US" sz="1200" dirty="0">
                        <a:latin typeface="Courier New" charset="0"/>
                        <a:ea typeface="Courier New" charset="0"/>
                        <a:cs typeface="Courier New"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B1B"/>
                          </a:solidFill>
                          <a:latin typeface="Courier New" pitchFamily="34" charset="0"/>
                          <a:ea typeface="Courier New" pitchFamily="34" charset="-122"/>
                          <a:cs typeface="Courier New" pitchFamily="34" charset="-120"/>
                        </a:rPr>
                        <a:t>anything else</a:t>
                      </a:r>
                      <a:endParaRPr lang="en-US" sz="1200" dirty="0">
                        <a:latin typeface="Courier New" charset="0"/>
                        <a:ea typeface="Courier New" charset="0"/>
                        <a:cs typeface="Courier New"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c>
                  <a:txBody>
                    <a:bodyPr/>
                    <a:lstStyle/>
                    <a:p>
                      <a:pPr indent="0" marL="0">
                        <a:buNone/>
                      </a:pPr>
                      <a:r>
                        <a:rPr lang="en-US" sz="1200" dirty="0">
                          <a:solidFill>
                            <a:srgbClr val="1B1B1B"/>
                          </a:solidFill>
                          <a:latin typeface="Courier New" pitchFamily="34" charset="0"/>
                          <a:ea typeface="Courier New" pitchFamily="34" charset="-122"/>
                          <a:cs typeface="Courier New" pitchFamily="34" charset="-120"/>
                        </a:rPr>
                        <a:t>CLOSED_ANGLE</a:t>
                      </a:r>
                      <a:endParaRPr lang="en-US" sz="1200" dirty="0">
                        <a:latin typeface="Courier New" charset="0"/>
                        <a:ea typeface="Courier New" charset="0"/>
                        <a:cs typeface="Courier New" charset="0"/>
                      </a:endParaRPr>
                    </a:p>
                  </a:txBody>
                  <a:tcPr marL="73152" marR="73152" marT="0" marB="0" anchor="ctr">
                    <a:lnL w="9525" cap="flat" cmpd="sng" algn="ctr">
                      <a:solidFill>
                        <a:srgbClr val="D3E4DB"/>
                      </a:solidFill>
                      <a:prstDash val="solid"/>
                      <a:round/>
                      <a:headEnd type="none" w="med" len="med"/>
                      <a:tailEnd type="none" w="med" len="med"/>
                    </a:lnL>
                    <a:lnR w="9525" cap="flat" cmpd="sng" algn="ctr">
                      <a:solidFill>
                        <a:srgbClr val="D3E4DB"/>
                      </a:solidFill>
                      <a:prstDash val="solid"/>
                      <a:round/>
                      <a:headEnd type="none" w="med" len="med"/>
                      <a:tailEnd type="none" w="med" len="med"/>
                    </a:lnR>
                    <a:lnT w="9525" cap="flat" cmpd="sng" algn="ctr">
                      <a:solidFill>
                        <a:srgbClr val="D3E4DB"/>
                      </a:solidFill>
                      <a:prstDash val="solid"/>
                      <a:round/>
                      <a:headEnd type="none" w="med" len="med"/>
                      <a:tailEnd type="none" w="med" len="med"/>
                    </a:lnT>
                    <a:lnB w="9525" cap="flat" cmpd="sng" algn="ctr">
                      <a:solidFill>
                        <a:srgbClr val="D3E4DB"/>
                      </a:solidFill>
                      <a:prstDash val="solid"/>
                      <a:round/>
                      <a:headEnd type="none" w="med" len="med"/>
                      <a:tailEnd type="none" w="med" len="med"/>
                    </a:lnB>
                    <a:solidFill>
                      <a:srgbClr val="EEF5F1"/>
                    </a:solidFill>
                  </a:tcPr>
                </a:tc>
              </a:tr>
            </a:tbl>
          </a:graphicData>
        </a:graphic>
      </p:graphicFrame>
      <p:sp>
        <p:nvSpPr>
          <p:cNvPr id="16" name="Shape 13"/>
          <p:cNvSpPr/>
          <p:nvPr/>
        </p:nvSpPr>
        <p:spPr>
          <a:xfrm>
            <a:off x="5212080" y="2788920"/>
            <a:ext cx="3474720" cy="731520"/>
          </a:xfrm>
          <a:prstGeom prst="roundRect">
            <a:avLst>
              <a:gd name="adj" fmla="val 10000"/>
            </a:avLst>
          </a:prstGeom>
          <a:solidFill>
            <a:srgbClr val="FDECEC"/>
          </a:solidFill>
          <a:ln w="15875">
            <a:solidFill>
              <a:srgbClr val="D64545"/>
            </a:solidFill>
            <a:prstDash val="solid"/>
          </a:ln>
        </p:spPr>
      </p:sp>
      <p:sp>
        <p:nvSpPr>
          <p:cNvPr id="17" name="Text 14"/>
          <p:cNvSpPr txBox="1"/>
          <p:nvPr/>
        </p:nvSpPr>
        <p:spPr>
          <a:xfrm>
            <a:off x="5394960" y="2788920"/>
            <a:ext cx="3108960" cy="731520"/>
          </a:xfrm>
          <a:prstGeom prst="rect">
            <a:avLst/>
          </a:prstGeom>
          <a:noFill/>
          <a:ln/>
        </p:spPr>
        <p:txBody>
          <a:bodyPr wrap="square" lIns="0" tIns="0" rIns="0" bIns="0" rtlCol="0" anchor="ctr"/>
          <a:lstStyle/>
          <a:p>
            <a:pPr indent="0" marL="0">
              <a:buNone/>
            </a:pPr>
            <a:r>
              <a:rPr lang="en-US" sz="1300" b="1" dirty="0">
                <a:solidFill>
                  <a:srgbClr val="D64545"/>
                </a:solidFill>
              </a:rPr>
              <a:t>Watch out:  </a:t>
            </a:r>
            <a:pPr indent="0" marL="0">
              <a:buNone/>
            </a:pPr>
            <a:r>
              <a:rPr lang="en-US" sz="1300" dirty="0">
                <a:solidFill>
                  <a:srgbClr val="1B1B1B"/>
                </a:solidFill>
              </a:rPr>
              <a:t>the sensor gives None sometimes. Test for it FIRST or the program crashes.</a:t>
            </a:r>
            <a:endParaRPr lang="en-US" sz="1300" dirty="0"/>
          </a:p>
        </p:txBody>
      </p:sp>
      <p:sp>
        <p:nvSpPr>
          <p:cNvPr id="18" name="Shape 15"/>
          <p:cNvSpPr/>
          <p:nvPr/>
        </p:nvSpPr>
        <p:spPr>
          <a:xfrm>
            <a:off x="5212080" y="3611880"/>
            <a:ext cx="3474720" cy="548640"/>
          </a:xfrm>
          <a:prstGeom prst="roundRect">
            <a:avLst>
              <a:gd name="adj" fmla="val 13333"/>
            </a:avLst>
          </a:prstGeom>
          <a:solidFill>
            <a:srgbClr val="DDF3E9"/>
          </a:solidFill>
          <a:ln w="15875">
            <a:solidFill>
              <a:srgbClr val="1F8A70"/>
            </a:solidFill>
            <a:prstDash val="solid"/>
          </a:ln>
        </p:spPr>
      </p:sp>
      <p:sp>
        <p:nvSpPr>
          <p:cNvPr id="19" name="Text 16"/>
          <p:cNvSpPr txBox="1"/>
          <p:nvPr/>
        </p:nvSpPr>
        <p:spPr>
          <a:xfrm>
            <a:off x="5349240" y="3611880"/>
            <a:ext cx="3200400" cy="54864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Hand near: opens. Hand away: shuts 2 s later.</a:t>
            </a:r>
            <a:endParaRPr lang="en-US" sz="1400" dirty="0"/>
          </a:p>
        </p:txBody>
      </p:sp>
      <p:sp>
        <p:nvSpPr>
          <p:cNvPr id="20" name="Shape 17"/>
          <p:cNvSpPr/>
          <p:nvPr/>
        </p:nvSpPr>
        <p:spPr>
          <a:xfrm>
            <a:off x="5212080" y="4251960"/>
            <a:ext cx="3474720" cy="457200"/>
          </a:xfrm>
          <a:prstGeom prst="roundRect">
            <a:avLst>
              <a:gd name="adj" fmla="val 16000"/>
            </a:avLst>
          </a:prstGeom>
          <a:solidFill>
            <a:srgbClr val="FFF4D6"/>
          </a:solidFill>
          <a:ln w="12700">
            <a:solidFill>
              <a:srgbClr val="E0A800"/>
            </a:solidFill>
            <a:prstDash val="solid"/>
          </a:ln>
        </p:spPr>
      </p:sp>
      <p:sp>
        <p:nvSpPr>
          <p:cNvPr id="21" name="Text 18"/>
          <p:cNvSpPr txBox="1"/>
          <p:nvPr/>
        </p:nvSpPr>
        <p:spPr>
          <a:xfrm>
            <a:off x="5349240" y="4251960"/>
            <a:ext cx="320040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Never opens? Line 82 is still CLOSED_ANGLE.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Read the code: what the loop does</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3</a:t>
            </a:r>
            <a:endParaRPr lang="en-US" sz="2000" dirty="0"/>
          </a:p>
        </p:txBody>
      </p:sp>
      <p:sp>
        <p:nvSpPr>
          <p:cNvPr id="6" name="Shape 4"/>
          <p:cNvSpPr/>
          <p:nvPr/>
        </p:nvSpPr>
        <p:spPr>
          <a:xfrm>
            <a:off x="457200" y="1051560"/>
            <a:ext cx="2103120" cy="457200"/>
          </a:xfrm>
          <a:prstGeom prst="roundRect">
            <a:avLst>
              <a:gd name="adj" fmla="val 16000"/>
            </a:avLst>
          </a:prstGeom>
          <a:solidFill>
            <a:srgbClr val="EEF5F1"/>
          </a:solidFill>
          <a:ln w="15875">
            <a:solidFill>
              <a:srgbClr val="B7D3C6"/>
            </a:solidFill>
            <a:prstDash val="solid"/>
          </a:ln>
        </p:spPr>
      </p:sp>
      <p:sp>
        <p:nvSpPr>
          <p:cNvPr id="7" name="Text 5"/>
          <p:cNvSpPr txBox="1"/>
          <p:nvPr/>
        </p:nvSpPr>
        <p:spPr>
          <a:xfrm>
            <a:off x="548640" y="1051560"/>
            <a:ext cx="1920240" cy="457200"/>
          </a:xfrm>
          <a:prstGeom prst="rect">
            <a:avLst/>
          </a:prstGeom>
          <a:noFill/>
          <a:ln/>
        </p:spPr>
        <p:txBody>
          <a:bodyPr wrap="square" lIns="0" tIns="0" rIns="0" bIns="0" rtlCol="0" anchor="ctr"/>
          <a:lstStyle/>
          <a:p>
            <a:pPr algn="ctr" indent="0" marL="0">
              <a:buNone/>
            </a:pPr>
            <a:r>
              <a:rPr lang="en-US" sz="1300" b="1" dirty="0">
                <a:solidFill>
                  <a:srgbClr val="1B1B1B"/>
                </a:solidFill>
              </a:rPr>
              <a:t>Measure distance</a:t>
            </a:r>
            <a:endParaRPr lang="en-US" sz="1300" dirty="0"/>
          </a:p>
        </p:txBody>
      </p:sp>
      <p:sp>
        <p:nvSpPr>
          <p:cNvPr id="8" name="Text 6"/>
          <p:cNvSpPr txBox="1"/>
          <p:nvPr/>
        </p:nvSpPr>
        <p:spPr>
          <a:xfrm>
            <a:off x="457200" y="1527048"/>
            <a:ext cx="2103120" cy="201168"/>
          </a:xfrm>
          <a:prstGeom prst="rect">
            <a:avLst/>
          </a:prstGeom>
          <a:noFill/>
          <a:ln/>
        </p:spPr>
        <p:txBody>
          <a:bodyPr wrap="square" lIns="0" tIns="0" rIns="0" bIns="0" rtlCol="0" anchor="ctr"/>
          <a:lstStyle/>
          <a:p>
            <a:pPr algn="ctr" indent="0" marL="0">
              <a:buNone/>
            </a:pPr>
            <a:r>
              <a:rPr lang="en-US" sz="1000" dirty="0">
                <a:solidFill>
                  <a:srgbClr val="6B7280"/>
                </a:solidFill>
              </a:rPr>
              <a:t>line 90</a:t>
            </a:r>
            <a:endParaRPr lang="en-US" sz="1000" dirty="0"/>
          </a:p>
        </p:txBody>
      </p:sp>
      <p:sp>
        <p:nvSpPr>
          <p:cNvPr id="9" name="Shape 7"/>
          <p:cNvSpPr/>
          <p:nvPr/>
        </p:nvSpPr>
        <p:spPr>
          <a:xfrm>
            <a:off x="1508760" y="1709928"/>
            <a:ext cx="0" cy="164592"/>
          </a:xfrm>
          <a:prstGeom prst="line">
            <a:avLst/>
          </a:prstGeom>
          <a:noFill/>
          <a:ln w="19050">
            <a:solidFill>
              <a:srgbClr val="6B7280"/>
            </a:solidFill>
            <a:prstDash val="solid"/>
            <a:tailEnd type="triangle"/>
          </a:ln>
        </p:spPr>
      </p:sp>
      <p:sp>
        <p:nvSpPr>
          <p:cNvPr id="10" name="Shape 8"/>
          <p:cNvSpPr/>
          <p:nvPr/>
        </p:nvSpPr>
        <p:spPr>
          <a:xfrm>
            <a:off x="457200" y="1874520"/>
            <a:ext cx="2103120" cy="457200"/>
          </a:xfrm>
          <a:prstGeom prst="roundRect">
            <a:avLst>
              <a:gd name="adj" fmla="val 16000"/>
            </a:avLst>
          </a:prstGeom>
          <a:solidFill>
            <a:srgbClr val="EEF5F1"/>
          </a:solidFill>
          <a:ln w="15875">
            <a:solidFill>
              <a:srgbClr val="B7D3C6"/>
            </a:solidFill>
            <a:prstDash val="solid"/>
          </a:ln>
        </p:spPr>
      </p:sp>
      <p:sp>
        <p:nvSpPr>
          <p:cNvPr id="11" name="Text 9"/>
          <p:cNvSpPr txBox="1"/>
          <p:nvPr/>
        </p:nvSpPr>
        <p:spPr>
          <a:xfrm>
            <a:off x="548640" y="1874520"/>
            <a:ext cx="1920240" cy="457200"/>
          </a:xfrm>
          <a:prstGeom prst="rect">
            <a:avLst/>
          </a:prstGeom>
          <a:noFill/>
          <a:ln/>
        </p:spPr>
        <p:txBody>
          <a:bodyPr wrap="square" lIns="0" tIns="0" rIns="0" bIns="0" rtlCol="0" anchor="ctr"/>
          <a:lstStyle/>
          <a:p>
            <a:pPr algn="ctr" indent="0" marL="0">
              <a:buNone/>
            </a:pPr>
            <a:r>
              <a:rPr lang="en-US" sz="1300" b="1" dirty="0">
                <a:solidFill>
                  <a:srgbClr val="1B1B1B"/>
                </a:solidFill>
              </a:rPr>
              <a:t>Show LED bar</a:t>
            </a:r>
            <a:endParaRPr lang="en-US" sz="1300" dirty="0"/>
          </a:p>
        </p:txBody>
      </p:sp>
      <p:sp>
        <p:nvSpPr>
          <p:cNvPr id="12" name="Text 10"/>
          <p:cNvSpPr txBox="1"/>
          <p:nvPr/>
        </p:nvSpPr>
        <p:spPr>
          <a:xfrm>
            <a:off x="457200" y="2350008"/>
            <a:ext cx="2103120" cy="201168"/>
          </a:xfrm>
          <a:prstGeom prst="rect">
            <a:avLst/>
          </a:prstGeom>
          <a:noFill/>
          <a:ln/>
        </p:spPr>
        <p:txBody>
          <a:bodyPr wrap="square" lIns="0" tIns="0" rIns="0" bIns="0" rtlCol="0" anchor="ctr"/>
          <a:lstStyle/>
          <a:p>
            <a:pPr algn="ctr" indent="0" marL="0">
              <a:buNone/>
            </a:pPr>
            <a:r>
              <a:rPr lang="en-US" sz="1000" dirty="0">
                <a:solidFill>
                  <a:srgbClr val="6B7280"/>
                </a:solidFill>
              </a:rPr>
              <a:t>line 91</a:t>
            </a:r>
            <a:endParaRPr lang="en-US" sz="1000" dirty="0"/>
          </a:p>
        </p:txBody>
      </p:sp>
      <p:sp>
        <p:nvSpPr>
          <p:cNvPr id="13" name="Shape 11"/>
          <p:cNvSpPr/>
          <p:nvPr/>
        </p:nvSpPr>
        <p:spPr>
          <a:xfrm>
            <a:off x="1508760" y="2532888"/>
            <a:ext cx="0" cy="164592"/>
          </a:xfrm>
          <a:prstGeom prst="line">
            <a:avLst/>
          </a:prstGeom>
          <a:noFill/>
          <a:ln w="19050">
            <a:solidFill>
              <a:srgbClr val="6B7280"/>
            </a:solidFill>
            <a:prstDash val="solid"/>
            <a:tailEnd type="triangle"/>
          </a:ln>
        </p:spPr>
      </p:sp>
      <p:sp>
        <p:nvSpPr>
          <p:cNvPr id="14" name="Shape 12"/>
          <p:cNvSpPr/>
          <p:nvPr/>
        </p:nvSpPr>
        <p:spPr>
          <a:xfrm>
            <a:off x="457200" y="2697480"/>
            <a:ext cx="2103120" cy="548640"/>
          </a:xfrm>
          <a:prstGeom prst="roundRect">
            <a:avLst>
              <a:gd name="adj" fmla="val 13333"/>
            </a:avLst>
          </a:prstGeom>
          <a:solidFill>
            <a:srgbClr val="FFF1C2"/>
          </a:solidFill>
          <a:ln w="15875">
            <a:solidFill>
              <a:srgbClr val="E0A800"/>
            </a:solidFill>
            <a:prstDash val="solid"/>
          </a:ln>
        </p:spPr>
      </p:sp>
      <p:sp>
        <p:nvSpPr>
          <p:cNvPr id="15" name="Text 13"/>
          <p:cNvSpPr txBox="1"/>
          <p:nvPr/>
        </p:nvSpPr>
        <p:spPr>
          <a:xfrm>
            <a:off x="548640" y="2697480"/>
            <a:ext cx="1920240" cy="548640"/>
          </a:xfrm>
          <a:prstGeom prst="rect">
            <a:avLst/>
          </a:prstGeom>
          <a:noFill/>
          <a:ln/>
        </p:spPr>
        <p:txBody>
          <a:bodyPr wrap="square" lIns="0" tIns="0" rIns="0" bIns="0" rtlCol="0" anchor="ctr"/>
          <a:lstStyle/>
          <a:p>
            <a:pPr algn="ctr" indent="0" marL="0">
              <a:buNone/>
            </a:pPr>
            <a:r>
              <a:rPr lang="en-US" sz="1300" b="1" dirty="0">
                <a:solidFill>
                  <a:srgbClr val="1B1B1B"/>
                </a:solidFill>
              </a:rPr>
              <a:t>angle_for(distance)</a:t>
            </a:r>
            <a:endParaRPr lang="en-US" sz="1300" dirty="0"/>
          </a:p>
        </p:txBody>
      </p:sp>
      <p:sp>
        <p:nvSpPr>
          <p:cNvPr id="16" name="Text 14"/>
          <p:cNvSpPr txBox="1"/>
          <p:nvPr/>
        </p:nvSpPr>
        <p:spPr>
          <a:xfrm>
            <a:off x="457200" y="3264408"/>
            <a:ext cx="2103120" cy="201168"/>
          </a:xfrm>
          <a:prstGeom prst="rect">
            <a:avLst/>
          </a:prstGeom>
          <a:noFill/>
          <a:ln/>
        </p:spPr>
        <p:txBody>
          <a:bodyPr wrap="square" lIns="0" tIns="0" rIns="0" bIns="0" rtlCol="0" anchor="ctr"/>
          <a:lstStyle/>
          <a:p>
            <a:pPr algn="ctr" indent="0" marL="0">
              <a:buNone/>
            </a:pPr>
            <a:r>
              <a:rPr lang="en-US" sz="1000" dirty="0">
                <a:solidFill>
                  <a:srgbClr val="6B7280"/>
                </a:solidFill>
              </a:rPr>
              <a:t>line 93 - YOURS</a:t>
            </a:r>
            <a:endParaRPr lang="en-US" sz="1000" dirty="0"/>
          </a:p>
        </p:txBody>
      </p:sp>
      <p:sp>
        <p:nvSpPr>
          <p:cNvPr id="17" name="Shape 15"/>
          <p:cNvSpPr/>
          <p:nvPr/>
        </p:nvSpPr>
        <p:spPr>
          <a:xfrm>
            <a:off x="1508760" y="3447288"/>
            <a:ext cx="0" cy="164592"/>
          </a:xfrm>
          <a:prstGeom prst="line">
            <a:avLst/>
          </a:prstGeom>
          <a:noFill/>
          <a:ln w="19050">
            <a:solidFill>
              <a:srgbClr val="6B7280"/>
            </a:solidFill>
            <a:prstDash val="solid"/>
            <a:tailEnd type="triangle"/>
          </a:ln>
        </p:spPr>
      </p:sp>
      <p:sp>
        <p:nvSpPr>
          <p:cNvPr id="18" name="Shape 16"/>
          <p:cNvSpPr/>
          <p:nvPr/>
        </p:nvSpPr>
        <p:spPr>
          <a:xfrm>
            <a:off x="457200" y="3611880"/>
            <a:ext cx="2103120" cy="548640"/>
          </a:xfrm>
          <a:prstGeom prst="roundRect">
            <a:avLst>
              <a:gd name="adj" fmla="val 13333"/>
            </a:avLst>
          </a:prstGeom>
          <a:solidFill>
            <a:srgbClr val="FFF1C2"/>
          </a:solidFill>
          <a:ln w="15875">
            <a:solidFill>
              <a:srgbClr val="E0A800"/>
            </a:solidFill>
            <a:prstDash val="solid"/>
          </a:ln>
        </p:spPr>
      </p:sp>
      <p:sp>
        <p:nvSpPr>
          <p:cNvPr id="19" name="Text 17"/>
          <p:cNvSpPr txBox="1"/>
          <p:nvPr/>
        </p:nvSpPr>
        <p:spPr>
          <a:xfrm>
            <a:off x="548640" y="3611880"/>
            <a:ext cx="1920240" cy="548640"/>
          </a:xfrm>
          <a:prstGeom prst="rect">
            <a:avLst/>
          </a:prstGeom>
          <a:noFill/>
          <a:ln/>
        </p:spPr>
        <p:txBody>
          <a:bodyPr wrap="square" lIns="0" tIns="0" rIns="0" bIns="0" rtlCol="0" anchor="ctr"/>
          <a:lstStyle/>
          <a:p>
            <a:pPr algn="ctr" indent="0" marL="0">
              <a:buNone/>
            </a:pPr>
            <a:r>
              <a:rPr lang="en-US" sz="1300" b="1" dirty="0">
                <a:solidFill>
                  <a:srgbClr val="1B1B1B"/>
                </a:solidFill>
              </a:rPr>
              <a:t>open? reset hold = 20</a:t>
            </a:r>
            <a:endParaRPr lang="en-US" sz="1300" dirty="0"/>
          </a:p>
        </p:txBody>
      </p:sp>
      <p:sp>
        <p:nvSpPr>
          <p:cNvPr id="20" name="Text 18"/>
          <p:cNvSpPr txBox="1"/>
          <p:nvPr/>
        </p:nvSpPr>
        <p:spPr>
          <a:xfrm>
            <a:off x="457200" y="4178808"/>
            <a:ext cx="2103120" cy="201168"/>
          </a:xfrm>
          <a:prstGeom prst="rect">
            <a:avLst/>
          </a:prstGeom>
          <a:noFill/>
          <a:ln/>
        </p:spPr>
        <p:txBody>
          <a:bodyPr wrap="square" lIns="0" tIns="0" rIns="0" bIns="0" rtlCol="0" anchor="ctr"/>
          <a:lstStyle/>
          <a:p>
            <a:pPr algn="ctr" indent="0" marL="0">
              <a:buNone/>
            </a:pPr>
            <a:r>
              <a:rPr lang="en-US" sz="1000" dirty="0">
                <a:solidFill>
                  <a:srgbClr val="6B7280"/>
                </a:solidFill>
              </a:rPr>
              <a:t>line 94</a:t>
            </a:r>
            <a:endParaRPr lang="en-US" sz="1000" dirty="0"/>
          </a:p>
        </p:txBody>
      </p:sp>
      <p:sp>
        <p:nvSpPr>
          <p:cNvPr id="21" name="Shape 19"/>
          <p:cNvSpPr/>
          <p:nvPr/>
        </p:nvSpPr>
        <p:spPr>
          <a:xfrm>
            <a:off x="2560320" y="3886200"/>
            <a:ext cx="457200" cy="0"/>
          </a:xfrm>
          <a:prstGeom prst="line">
            <a:avLst/>
          </a:prstGeom>
          <a:noFill/>
          <a:ln w="19050">
            <a:solidFill>
              <a:srgbClr val="6B7280"/>
            </a:solidFill>
            <a:prstDash val="solid"/>
          </a:ln>
        </p:spPr>
      </p:sp>
      <p:sp>
        <p:nvSpPr>
          <p:cNvPr id="22" name="Shape 20"/>
          <p:cNvSpPr/>
          <p:nvPr/>
        </p:nvSpPr>
        <p:spPr>
          <a:xfrm>
            <a:off x="3017520" y="2194560"/>
            <a:ext cx="0" cy="1691640"/>
          </a:xfrm>
          <a:prstGeom prst="line">
            <a:avLst/>
          </a:prstGeom>
          <a:noFill/>
          <a:ln w="19050">
            <a:solidFill>
              <a:srgbClr val="6B7280"/>
            </a:solidFill>
            <a:prstDash val="solid"/>
          </a:ln>
        </p:spPr>
      </p:sp>
      <p:sp>
        <p:nvSpPr>
          <p:cNvPr id="23" name="Shape 21"/>
          <p:cNvSpPr/>
          <p:nvPr/>
        </p:nvSpPr>
        <p:spPr>
          <a:xfrm>
            <a:off x="3017520" y="2194560"/>
            <a:ext cx="320040" cy="0"/>
          </a:xfrm>
          <a:prstGeom prst="line">
            <a:avLst/>
          </a:prstGeom>
          <a:noFill/>
          <a:ln w="19050">
            <a:solidFill>
              <a:srgbClr val="6B7280"/>
            </a:solidFill>
            <a:prstDash val="solid"/>
            <a:tailEnd type="triangle"/>
          </a:ln>
        </p:spPr>
      </p:sp>
      <p:sp>
        <p:nvSpPr>
          <p:cNvPr id="24" name="Shape 22"/>
          <p:cNvSpPr/>
          <p:nvPr/>
        </p:nvSpPr>
        <p:spPr>
          <a:xfrm>
            <a:off x="3429000" y="1920240"/>
            <a:ext cx="2103120" cy="548640"/>
          </a:xfrm>
          <a:prstGeom prst="roundRect">
            <a:avLst>
              <a:gd name="adj" fmla="val 13333"/>
            </a:avLst>
          </a:prstGeom>
          <a:solidFill>
            <a:srgbClr val="FFF1C2"/>
          </a:solidFill>
          <a:ln w="15875">
            <a:solidFill>
              <a:srgbClr val="E0A800"/>
            </a:solidFill>
            <a:prstDash val="solid"/>
          </a:ln>
        </p:spPr>
      </p:sp>
      <p:sp>
        <p:nvSpPr>
          <p:cNvPr id="25" name="Text 23"/>
          <p:cNvSpPr txBox="1"/>
          <p:nvPr/>
        </p:nvSpPr>
        <p:spPr>
          <a:xfrm>
            <a:off x="3520440" y="1920240"/>
            <a:ext cx="1920240" cy="548640"/>
          </a:xfrm>
          <a:prstGeom prst="rect">
            <a:avLst/>
          </a:prstGeom>
          <a:noFill/>
          <a:ln/>
        </p:spPr>
        <p:txBody>
          <a:bodyPr wrap="square" lIns="0" tIns="0" rIns="0" bIns="0" rtlCol="0" anchor="ctr"/>
          <a:lstStyle/>
          <a:p>
            <a:pPr algn="ctr" indent="0" marL="0">
              <a:buNone/>
            </a:pPr>
            <a:r>
              <a:rPr lang="en-US" sz="1300" b="1" dirty="0">
                <a:solidFill>
                  <a:srgbClr val="1B1B1B"/>
                </a:solidFill>
              </a:rPr>
              <a:t>hold bigger than 0?</a:t>
            </a:r>
            <a:endParaRPr lang="en-US" sz="1300" dirty="0"/>
          </a:p>
        </p:txBody>
      </p:sp>
      <p:sp>
        <p:nvSpPr>
          <p:cNvPr id="26" name="Text 24"/>
          <p:cNvSpPr txBox="1"/>
          <p:nvPr/>
        </p:nvSpPr>
        <p:spPr>
          <a:xfrm>
            <a:off x="3429000" y="2487168"/>
            <a:ext cx="2103120" cy="201168"/>
          </a:xfrm>
          <a:prstGeom prst="rect">
            <a:avLst/>
          </a:prstGeom>
          <a:noFill/>
          <a:ln/>
        </p:spPr>
        <p:txBody>
          <a:bodyPr wrap="square" lIns="0" tIns="0" rIns="0" bIns="0" rtlCol="0" anchor="ctr"/>
          <a:lstStyle/>
          <a:p>
            <a:pPr algn="ctr" indent="0" marL="0">
              <a:buNone/>
            </a:pPr>
            <a:r>
              <a:rPr lang="en-US" sz="1000" dirty="0">
                <a:solidFill>
                  <a:srgbClr val="6B7280"/>
                </a:solidFill>
              </a:rPr>
              <a:t>line 96</a:t>
            </a:r>
            <a:endParaRPr lang="en-US" sz="1000" dirty="0"/>
          </a:p>
        </p:txBody>
      </p:sp>
      <p:sp>
        <p:nvSpPr>
          <p:cNvPr id="27" name="Shape 25"/>
          <p:cNvSpPr/>
          <p:nvPr/>
        </p:nvSpPr>
        <p:spPr>
          <a:xfrm>
            <a:off x="5943600" y="1234440"/>
            <a:ext cx="2651760" cy="548640"/>
          </a:xfrm>
          <a:prstGeom prst="roundRect">
            <a:avLst>
              <a:gd name="adj" fmla="val 13333"/>
            </a:avLst>
          </a:prstGeom>
          <a:solidFill>
            <a:srgbClr val="DDF3E9"/>
          </a:solidFill>
          <a:ln w="15875">
            <a:solidFill>
              <a:srgbClr val="1F8A70"/>
            </a:solidFill>
            <a:prstDash val="solid"/>
          </a:ln>
        </p:spPr>
      </p:sp>
      <p:sp>
        <p:nvSpPr>
          <p:cNvPr id="28" name="Text 26"/>
          <p:cNvSpPr txBox="1"/>
          <p:nvPr/>
        </p:nvSpPr>
        <p:spPr>
          <a:xfrm>
            <a:off x="6035040" y="1234440"/>
            <a:ext cx="2468880" cy="548640"/>
          </a:xfrm>
          <a:prstGeom prst="rect">
            <a:avLst/>
          </a:prstGeom>
          <a:noFill/>
          <a:ln/>
        </p:spPr>
        <p:txBody>
          <a:bodyPr wrap="square" lIns="0" tIns="0" rIns="0" bIns="0" rtlCol="0" anchor="ctr"/>
          <a:lstStyle/>
          <a:p>
            <a:pPr algn="ctr" indent="0" marL="0">
              <a:buNone/>
            </a:pPr>
            <a:r>
              <a:rPr lang="en-US" sz="1300" b="1" dirty="0">
                <a:solidFill>
                  <a:srgbClr val="1B1B1B"/>
                </a:solidFill>
              </a:rPr>
              <a:t>Door OPEN, hold = hold - 1</a:t>
            </a:r>
            <a:endParaRPr lang="en-US" sz="1300" dirty="0"/>
          </a:p>
        </p:txBody>
      </p:sp>
      <p:sp>
        <p:nvSpPr>
          <p:cNvPr id="29" name="Text 27"/>
          <p:cNvSpPr txBox="1"/>
          <p:nvPr/>
        </p:nvSpPr>
        <p:spPr>
          <a:xfrm>
            <a:off x="5943600" y="1801368"/>
            <a:ext cx="2651760" cy="201168"/>
          </a:xfrm>
          <a:prstGeom prst="rect">
            <a:avLst/>
          </a:prstGeom>
          <a:noFill/>
          <a:ln/>
        </p:spPr>
        <p:txBody>
          <a:bodyPr wrap="square" lIns="0" tIns="0" rIns="0" bIns="0" rtlCol="0" anchor="ctr"/>
          <a:lstStyle/>
          <a:p>
            <a:pPr algn="ctr" indent="0" marL="0">
              <a:buNone/>
            </a:pPr>
            <a:r>
              <a:rPr lang="en-US" sz="1000" dirty="0">
                <a:solidFill>
                  <a:srgbClr val="6B7280"/>
                </a:solidFill>
              </a:rPr>
              <a:t>lines 97-98</a:t>
            </a:r>
            <a:endParaRPr lang="en-US" sz="1000" dirty="0"/>
          </a:p>
        </p:txBody>
      </p:sp>
      <p:sp>
        <p:nvSpPr>
          <p:cNvPr id="30" name="Shape 28"/>
          <p:cNvSpPr/>
          <p:nvPr/>
        </p:nvSpPr>
        <p:spPr>
          <a:xfrm>
            <a:off x="5943600" y="2514600"/>
            <a:ext cx="2651760" cy="548640"/>
          </a:xfrm>
          <a:prstGeom prst="roundRect">
            <a:avLst>
              <a:gd name="adj" fmla="val 13333"/>
            </a:avLst>
          </a:prstGeom>
          <a:solidFill>
            <a:srgbClr val="EEF5F1"/>
          </a:solidFill>
          <a:ln w="15875">
            <a:solidFill>
              <a:srgbClr val="B7D3C6"/>
            </a:solidFill>
            <a:prstDash val="solid"/>
          </a:ln>
        </p:spPr>
      </p:sp>
      <p:sp>
        <p:nvSpPr>
          <p:cNvPr id="31" name="Text 29"/>
          <p:cNvSpPr txBox="1"/>
          <p:nvPr/>
        </p:nvSpPr>
        <p:spPr>
          <a:xfrm>
            <a:off x="6035040" y="2514600"/>
            <a:ext cx="2468880" cy="548640"/>
          </a:xfrm>
          <a:prstGeom prst="rect">
            <a:avLst/>
          </a:prstGeom>
          <a:noFill/>
          <a:ln/>
        </p:spPr>
        <p:txBody>
          <a:bodyPr wrap="square" lIns="0" tIns="0" rIns="0" bIns="0" rtlCol="0" anchor="ctr"/>
          <a:lstStyle/>
          <a:p>
            <a:pPr algn="ctr" indent="0" marL="0">
              <a:buNone/>
            </a:pPr>
            <a:r>
              <a:rPr lang="en-US" sz="1300" b="1" dirty="0">
                <a:solidFill>
                  <a:srgbClr val="1B1B1B"/>
                </a:solidFill>
              </a:rPr>
              <a:t>Door SHUT</a:t>
            </a:r>
            <a:endParaRPr lang="en-US" sz="1300" dirty="0"/>
          </a:p>
        </p:txBody>
      </p:sp>
      <p:sp>
        <p:nvSpPr>
          <p:cNvPr id="32" name="Text 30"/>
          <p:cNvSpPr txBox="1"/>
          <p:nvPr/>
        </p:nvSpPr>
        <p:spPr>
          <a:xfrm>
            <a:off x="5943600" y="3081528"/>
            <a:ext cx="2651760" cy="201168"/>
          </a:xfrm>
          <a:prstGeom prst="rect">
            <a:avLst/>
          </a:prstGeom>
          <a:noFill/>
          <a:ln/>
        </p:spPr>
        <p:txBody>
          <a:bodyPr wrap="square" lIns="0" tIns="0" rIns="0" bIns="0" rtlCol="0" anchor="ctr"/>
          <a:lstStyle/>
          <a:p>
            <a:pPr algn="ctr" indent="0" marL="0">
              <a:buNone/>
            </a:pPr>
            <a:r>
              <a:rPr lang="en-US" sz="1000" dirty="0">
                <a:solidFill>
                  <a:srgbClr val="6B7280"/>
                </a:solidFill>
              </a:rPr>
              <a:t>line 100</a:t>
            </a:r>
            <a:endParaRPr lang="en-US" sz="1000" dirty="0"/>
          </a:p>
        </p:txBody>
      </p:sp>
      <p:sp>
        <p:nvSpPr>
          <p:cNvPr id="33" name="Shape 31"/>
          <p:cNvSpPr/>
          <p:nvPr/>
        </p:nvSpPr>
        <p:spPr>
          <a:xfrm>
            <a:off x="5532120" y="1508760"/>
            <a:ext cx="411480" cy="594360"/>
          </a:xfrm>
          <a:prstGeom prst="line">
            <a:avLst/>
          </a:prstGeom>
          <a:noFill/>
          <a:ln w="19050">
            <a:solidFill>
              <a:srgbClr val="6B7280"/>
            </a:solidFill>
            <a:prstDash val="solid"/>
            <a:tailEnd type="triangle"/>
          </a:ln>
        </p:spPr>
      </p:sp>
      <p:sp>
        <p:nvSpPr>
          <p:cNvPr id="34" name="Shape 32"/>
          <p:cNvSpPr/>
          <p:nvPr/>
        </p:nvSpPr>
        <p:spPr>
          <a:xfrm>
            <a:off x="5532120" y="2286000"/>
            <a:ext cx="411480" cy="502920"/>
          </a:xfrm>
          <a:prstGeom prst="line">
            <a:avLst/>
          </a:prstGeom>
          <a:noFill/>
          <a:ln w="19050">
            <a:solidFill>
              <a:srgbClr val="6B7280"/>
            </a:solidFill>
            <a:prstDash val="solid"/>
            <a:tailEnd type="triangle"/>
          </a:ln>
        </p:spPr>
      </p:sp>
      <p:sp>
        <p:nvSpPr>
          <p:cNvPr id="35" name="Text 33"/>
          <p:cNvSpPr txBox="1"/>
          <p:nvPr/>
        </p:nvSpPr>
        <p:spPr>
          <a:xfrm>
            <a:off x="5532120" y="1572768"/>
            <a:ext cx="457200" cy="228600"/>
          </a:xfrm>
          <a:prstGeom prst="rect">
            <a:avLst/>
          </a:prstGeom>
          <a:noFill/>
          <a:ln/>
        </p:spPr>
        <p:txBody>
          <a:bodyPr wrap="square" lIns="0" tIns="0" rIns="0" bIns="0" rtlCol="0" anchor="ctr"/>
          <a:lstStyle/>
          <a:p>
            <a:pPr indent="0" marL="0">
              <a:buNone/>
            </a:pPr>
            <a:r>
              <a:rPr lang="en-US" sz="1100" b="1" dirty="0">
                <a:solidFill>
                  <a:srgbClr val="1F8A70"/>
                </a:solidFill>
              </a:rPr>
              <a:t>yes</a:t>
            </a:r>
            <a:endParaRPr lang="en-US" sz="1100" dirty="0"/>
          </a:p>
        </p:txBody>
      </p:sp>
      <p:sp>
        <p:nvSpPr>
          <p:cNvPr id="36" name="Text 34"/>
          <p:cNvSpPr txBox="1"/>
          <p:nvPr/>
        </p:nvSpPr>
        <p:spPr>
          <a:xfrm>
            <a:off x="5532120" y="2340864"/>
            <a:ext cx="457200" cy="228600"/>
          </a:xfrm>
          <a:prstGeom prst="rect">
            <a:avLst/>
          </a:prstGeom>
          <a:noFill/>
          <a:ln/>
        </p:spPr>
        <p:txBody>
          <a:bodyPr wrap="square" lIns="0" tIns="0" rIns="0" bIns="0" rtlCol="0" anchor="ctr"/>
          <a:lstStyle/>
          <a:p>
            <a:pPr indent="0" marL="0">
              <a:buNone/>
            </a:pPr>
            <a:r>
              <a:rPr lang="en-US" sz="1100" b="1" dirty="0">
                <a:solidFill>
                  <a:srgbClr val="6B7280"/>
                </a:solidFill>
              </a:rPr>
              <a:t>no</a:t>
            </a:r>
            <a:endParaRPr lang="en-US" sz="1100" dirty="0"/>
          </a:p>
        </p:txBody>
      </p:sp>
      <p:sp>
        <p:nvSpPr>
          <p:cNvPr id="37" name="Shape 35"/>
          <p:cNvSpPr/>
          <p:nvPr/>
        </p:nvSpPr>
        <p:spPr>
          <a:xfrm>
            <a:off x="3429000" y="3429000"/>
            <a:ext cx="5166360" cy="914400"/>
          </a:xfrm>
          <a:prstGeom prst="roundRect">
            <a:avLst>
              <a:gd name="adj" fmla="val 8000"/>
            </a:avLst>
          </a:prstGeom>
          <a:solidFill>
            <a:srgbClr val="EEF5F1"/>
          </a:solidFill>
          <a:ln w="12700">
            <a:solidFill>
              <a:srgbClr val="D3E4DB"/>
            </a:solidFill>
            <a:prstDash val="solid"/>
          </a:ln>
        </p:spPr>
      </p:sp>
      <p:sp>
        <p:nvSpPr>
          <p:cNvPr id="38" name="Text 36"/>
          <p:cNvSpPr txBox="1"/>
          <p:nvPr/>
        </p:nvSpPr>
        <p:spPr>
          <a:xfrm>
            <a:off x="3611880" y="3456432"/>
            <a:ext cx="4800600" cy="868680"/>
          </a:xfrm>
          <a:prstGeom prst="rect">
            <a:avLst/>
          </a:prstGeom>
          <a:noFill/>
          <a:ln/>
        </p:spPr>
        <p:txBody>
          <a:bodyPr wrap="square" lIns="0" tIns="0" rIns="0" bIns="0" rtlCol="0" anchor="ctr"/>
          <a:lstStyle/>
          <a:p>
            <a:pPr indent="0" marL="0">
              <a:spcAft>
                <a:spcPts val="400"/>
              </a:spcAft>
              <a:buNone/>
            </a:pPr>
            <a:r>
              <a:rPr lang="en-US" sz="1400" dirty="0">
                <a:solidFill>
                  <a:srgbClr val="1B1B1B"/>
                </a:solidFill>
              </a:rPr>
              <a:t>hold counts down 20 times, and the loop waits 0.1 s each time.</a:t>
            </a:r>
            <a:endParaRPr lang="en-US" sz="1400" dirty="0"/>
          </a:p>
          <a:p>
            <a:pPr indent="0" marL="0">
              <a:spcAft>
                <a:spcPts val="400"/>
              </a:spcAft>
              <a:buNone/>
            </a:pPr>
            <a:r>
              <a:rPr lang="en-US" sz="1400" b="1" dirty="0">
                <a:solidFill>
                  <a:srgbClr val="1B1B1B"/>
                </a:solidFill>
              </a:rPr>
              <a:t>20 × 0.1 s = 2 seconds of staying open.</a:t>
            </a:r>
            <a:endParaRPr lang="en-US" sz="1400" dirty="0"/>
          </a:p>
        </p:txBody>
      </p:sp>
      <p:sp>
        <p:nvSpPr>
          <p:cNvPr id="39" name="Text 37"/>
          <p:cNvSpPr txBox="1"/>
          <p:nvPr/>
        </p:nvSpPr>
        <p:spPr>
          <a:xfrm>
            <a:off x="457200" y="4315968"/>
            <a:ext cx="4572000" cy="274320"/>
          </a:xfrm>
          <a:prstGeom prst="rect">
            <a:avLst/>
          </a:prstGeom>
          <a:noFill/>
          <a:ln/>
        </p:spPr>
        <p:txBody>
          <a:bodyPr wrap="square" lIns="0" tIns="0" rIns="0" bIns="0" rtlCol="0" anchor="ctr"/>
          <a:lstStyle/>
          <a:p>
            <a:pPr indent="0" marL="0">
              <a:buNone/>
            </a:pPr>
            <a:r>
              <a:rPr lang="en-US" sz="1300" i="1" dirty="0">
                <a:solidFill>
                  <a:srgbClr val="0B3D2E"/>
                </a:solidFill>
              </a:rPr>
              <a:t>Your function is used in one place only: line 93.</a:t>
            </a:r>
            <a:endParaRPr lang="en-US" sz="13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The whole circuit</a:t>
            </a:r>
            <a:endParaRPr lang="en-US" sz="3000" dirty="0"/>
          </a:p>
        </p:txBody>
      </p:sp>
      <p:sp>
        <p:nvSpPr>
          <p:cNvPr id="3" name="Shape 1"/>
          <p:cNvSpPr/>
          <p:nvPr/>
        </p:nvSpPr>
        <p:spPr>
          <a:xfrm>
            <a:off x="365760" y="914400"/>
            <a:ext cx="1188720" cy="3657600"/>
          </a:xfrm>
          <a:prstGeom prst="roundRect">
            <a:avLst>
              <a:gd name="adj" fmla="val 6154"/>
            </a:avLst>
          </a:prstGeom>
          <a:solidFill>
            <a:srgbClr val="263238"/>
          </a:solidFill>
          <a:ln w="12700">
            <a:solidFill>
              <a:srgbClr val="263238"/>
            </a:solidFill>
            <a:prstDash val="solid"/>
          </a:ln>
        </p:spPr>
      </p:sp>
      <p:sp>
        <p:nvSpPr>
          <p:cNvPr id="4" name="Text 2"/>
          <p:cNvSpPr txBox="1"/>
          <p:nvPr/>
        </p:nvSpPr>
        <p:spPr>
          <a:xfrm>
            <a:off x="457200" y="987552"/>
            <a:ext cx="1005840" cy="228600"/>
          </a:xfrm>
          <a:prstGeom prst="rect">
            <a:avLst/>
          </a:prstGeom>
          <a:noFill/>
          <a:ln/>
        </p:spPr>
        <p:txBody>
          <a:bodyPr wrap="square" lIns="0" tIns="0" rIns="0" bIns="0" rtlCol="0" anchor="ctr"/>
          <a:lstStyle/>
          <a:p>
            <a:pPr indent="0" marL="0">
              <a:buNone/>
            </a:pPr>
            <a:r>
              <a:rPr lang="en-US" sz="1100" b="1" dirty="0">
                <a:solidFill>
                  <a:srgbClr val="B0BEC5"/>
                </a:solidFill>
              </a:rPr>
              <a:t>ESP32</a:t>
            </a:r>
            <a:endParaRPr lang="en-US" sz="1100" dirty="0"/>
          </a:p>
        </p:txBody>
      </p:sp>
      <p:sp>
        <p:nvSpPr>
          <p:cNvPr id="5" name="Shape 3"/>
          <p:cNvSpPr/>
          <p:nvPr/>
        </p:nvSpPr>
        <p:spPr>
          <a:xfrm>
            <a:off x="1490472" y="987552"/>
            <a:ext cx="128016" cy="128016"/>
          </a:xfrm>
          <a:prstGeom prst="rect">
            <a:avLst/>
          </a:prstGeom>
          <a:solidFill>
            <a:srgbClr val="FFD54F"/>
          </a:solidFill>
          <a:ln w="6350">
            <a:solidFill>
              <a:srgbClr val="37474F"/>
            </a:solidFill>
            <a:prstDash val="solid"/>
          </a:ln>
        </p:spPr>
      </p:sp>
      <p:sp>
        <p:nvSpPr>
          <p:cNvPr id="6" name="Text 4"/>
          <p:cNvSpPr txBox="1"/>
          <p:nvPr/>
        </p:nvSpPr>
        <p:spPr>
          <a:xfrm>
            <a:off x="411480" y="95097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5V</a:t>
            </a:r>
            <a:endParaRPr lang="en-US" sz="1100" dirty="0"/>
          </a:p>
        </p:txBody>
      </p:sp>
      <p:sp>
        <p:nvSpPr>
          <p:cNvPr id="7" name="Shape 5"/>
          <p:cNvSpPr/>
          <p:nvPr/>
        </p:nvSpPr>
        <p:spPr>
          <a:xfrm>
            <a:off x="1490472" y="1261872"/>
            <a:ext cx="128016" cy="128016"/>
          </a:xfrm>
          <a:prstGeom prst="rect">
            <a:avLst/>
          </a:prstGeom>
          <a:solidFill>
            <a:srgbClr val="FFD54F"/>
          </a:solidFill>
          <a:ln w="6350">
            <a:solidFill>
              <a:srgbClr val="37474F"/>
            </a:solidFill>
            <a:prstDash val="solid"/>
          </a:ln>
        </p:spPr>
      </p:sp>
      <p:sp>
        <p:nvSpPr>
          <p:cNvPr id="8" name="Text 6"/>
          <p:cNvSpPr txBox="1"/>
          <p:nvPr/>
        </p:nvSpPr>
        <p:spPr>
          <a:xfrm>
            <a:off x="411480" y="122529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GPIO13</a:t>
            </a:r>
            <a:endParaRPr lang="en-US" sz="1100" dirty="0"/>
          </a:p>
        </p:txBody>
      </p:sp>
      <p:sp>
        <p:nvSpPr>
          <p:cNvPr id="9" name="Shape 7"/>
          <p:cNvSpPr/>
          <p:nvPr/>
        </p:nvSpPr>
        <p:spPr>
          <a:xfrm>
            <a:off x="1490472" y="1536192"/>
            <a:ext cx="128016" cy="128016"/>
          </a:xfrm>
          <a:prstGeom prst="rect">
            <a:avLst/>
          </a:prstGeom>
          <a:solidFill>
            <a:srgbClr val="FFD54F"/>
          </a:solidFill>
          <a:ln w="6350">
            <a:solidFill>
              <a:srgbClr val="37474F"/>
            </a:solidFill>
            <a:prstDash val="solid"/>
          </a:ln>
        </p:spPr>
      </p:sp>
      <p:sp>
        <p:nvSpPr>
          <p:cNvPr id="10" name="Text 8"/>
          <p:cNvSpPr txBox="1"/>
          <p:nvPr/>
        </p:nvSpPr>
        <p:spPr>
          <a:xfrm>
            <a:off x="411480" y="149961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GPIO14</a:t>
            </a:r>
            <a:endParaRPr lang="en-US" sz="1100" dirty="0"/>
          </a:p>
        </p:txBody>
      </p:sp>
      <p:sp>
        <p:nvSpPr>
          <p:cNvPr id="11" name="Shape 9"/>
          <p:cNvSpPr/>
          <p:nvPr/>
        </p:nvSpPr>
        <p:spPr>
          <a:xfrm>
            <a:off x="1490472" y="1810512"/>
            <a:ext cx="128016" cy="128016"/>
          </a:xfrm>
          <a:prstGeom prst="rect">
            <a:avLst/>
          </a:prstGeom>
          <a:solidFill>
            <a:srgbClr val="FFD54F"/>
          </a:solidFill>
          <a:ln w="6350">
            <a:solidFill>
              <a:srgbClr val="37474F"/>
            </a:solidFill>
            <a:prstDash val="solid"/>
          </a:ln>
        </p:spPr>
      </p:sp>
      <p:sp>
        <p:nvSpPr>
          <p:cNvPr id="12" name="Text 10"/>
          <p:cNvSpPr txBox="1"/>
          <p:nvPr/>
        </p:nvSpPr>
        <p:spPr>
          <a:xfrm>
            <a:off x="411480" y="177393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GND</a:t>
            </a:r>
            <a:endParaRPr lang="en-US" sz="1100" dirty="0"/>
          </a:p>
        </p:txBody>
      </p:sp>
      <p:sp>
        <p:nvSpPr>
          <p:cNvPr id="13" name="Shape 11"/>
          <p:cNvSpPr/>
          <p:nvPr/>
        </p:nvSpPr>
        <p:spPr>
          <a:xfrm>
            <a:off x="1490472" y="2176272"/>
            <a:ext cx="128016" cy="128016"/>
          </a:xfrm>
          <a:prstGeom prst="rect">
            <a:avLst/>
          </a:prstGeom>
          <a:solidFill>
            <a:srgbClr val="FFD54F"/>
          </a:solidFill>
          <a:ln w="6350">
            <a:solidFill>
              <a:srgbClr val="37474F"/>
            </a:solidFill>
            <a:prstDash val="solid"/>
          </a:ln>
        </p:spPr>
      </p:sp>
      <p:sp>
        <p:nvSpPr>
          <p:cNvPr id="14" name="Text 12"/>
          <p:cNvSpPr txBox="1"/>
          <p:nvPr/>
        </p:nvSpPr>
        <p:spPr>
          <a:xfrm>
            <a:off x="411480" y="213969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GPIO26</a:t>
            </a:r>
            <a:endParaRPr lang="en-US" sz="1100" dirty="0"/>
          </a:p>
        </p:txBody>
      </p:sp>
      <p:sp>
        <p:nvSpPr>
          <p:cNvPr id="15" name="Shape 13"/>
          <p:cNvSpPr/>
          <p:nvPr/>
        </p:nvSpPr>
        <p:spPr>
          <a:xfrm>
            <a:off x="1490472" y="2633472"/>
            <a:ext cx="128016" cy="128016"/>
          </a:xfrm>
          <a:prstGeom prst="rect">
            <a:avLst/>
          </a:prstGeom>
          <a:solidFill>
            <a:srgbClr val="FFD54F"/>
          </a:solidFill>
          <a:ln w="6350">
            <a:solidFill>
              <a:srgbClr val="37474F"/>
            </a:solidFill>
            <a:prstDash val="solid"/>
          </a:ln>
        </p:spPr>
      </p:sp>
      <p:sp>
        <p:nvSpPr>
          <p:cNvPr id="16" name="Text 14"/>
          <p:cNvSpPr txBox="1"/>
          <p:nvPr/>
        </p:nvSpPr>
        <p:spPr>
          <a:xfrm>
            <a:off x="411480" y="2596896"/>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GPIO16</a:t>
            </a:r>
            <a:endParaRPr lang="en-US" sz="1100" dirty="0"/>
          </a:p>
        </p:txBody>
      </p:sp>
      <p:sp>
        <p:nvSpPr>
          <p:cNvPr id="17" name="Shape 15"/>
          <p:cNvSpPr/>
          <p:nvPr/>
        </p:nvSpPr>
        <p:spPr>
          <a:xfrm>
            <a:off x="1490472" y="2971800"/>
            <a:ext cx="128016" cy="128016"/>
          </a:xfrm>
          <a:prstGeom prst="rect">
            <a:avLst/>
          </a:prstGeom>
          <a:solidFill>
            <a:srgbClr val="FFD54F"/>
          </a:solidFill>
          <a:ln w="6350">
            <a:solidFill>
              <a:srgbClr val="37474F"/>
            </a:solidFill>
            <a:prstDash val="solid"/>
          </a:ln>
        </p:spPr>
      </p:sp>
      <p:sp>
        <p:nvSpPr>
          <p:cNvPr id="18" name="Text 16"/>
          <p:cNvSpPr txBox="1"/>
          <p:nvPr/>
        </p:nvSpPr>
        <p:spPr>
          <a:xfrm>
            <a:off x="411480" y="2935224"/>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GPIO17</a:t>
            </a:r>
            <a:endParaRPr lang="en-US" sz="1100" dirty="0"/>
          </a:p>
        </p:txBody>
      </p:sp>
      <p:sp>
        <p:nvSpPr>
          <p:cNvPr id="19" name="Shape 17"/>
          <p:cNvSpPr/>
          <p:nvPr/>
        </p:nvSpPr>
        <p:spPr>
          <a:xfrm>
            <a:off x="1490472" y="3310128"/>
            <a:ext cx="128016" cy="128016"/>
          </a:xfrm>
          <a:prstGeom prst="rect">
            <a:avLst/>
          </a:prstGeom>
          <a:solidFill>
            <a:srgbClr val="FFD54F"/>
          </a:solidFill>
          <a:ln w="6350">
            <a:solidFill>
              <a:srgbClr val="37474F"/>
            </a:solidFill>
            <a:prstDash val="solid"/>
          </a:ln>
        </p:spPr>
      </p:sp>
      <p:sp>
        <p:nvSpPr>
          <p:cNvPr id="20" name="Text 18"/>
          <p:cNvSpPr txBox="1"/>
          <p:nvPr/>
        </p:nvSpPr>
        <p:spPr>
          <a:xfrm>
            <a:off x="411480" y="3273552"/>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GPIO18</a:t>
            </a:r>
            <a:endParaRPr lang="en-US" sz="1100" dirty="0"/>
          </a:p>
        </p:txBody>
      </p:sp>
      <p:sp>
        <p:nvSpPr>
          <p:cNvPr id="21" name="Shape 19"/>
          <p:cNvSpPr/>
          <p:nvPr/>
        </p:nvSpPr>
        <p:spPr>
          <a:xfrm>
            <a:off x="1490472" y="3648456"/>
            <a:ext cx="128016" cy="128016"/>
          </a:xfrm>
          <a:prstGeom prst="rect">
            <a:avLst/>
          </a:prstGeom>
          <a:solidFill>
            <a:srgbClr val="FFD54F"/>
          </a:solidFill>
          <a:ln w="6350">
            <a:solidFill>
              <a:srgbClr val="37474F"/>
            </a:solidFill>
            <a:prstDash val="solid"/>
          </a:ln>
        </p:spPr>
      </p:sp>
      <p:sp>
        <p:nvSpPr>
          <p:cNvPr id="22" name="Text 20"/>
          <p:cNvSpPr txBox="1"/>
          <p:nvPr/>
        </p:nvSpPr>
        <p:spPr>
          <a:xfrm>
            <a:off x="411480" y="3611880"/>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GPIO19</a:t>
            </a:r>
            <a:endParaRPr lang="en-US" sz="1100" dirty="0"/>
          </a:p>
        </p:txBody>
      </p:sp>
      <p:sp>
        <p:nvSpPr>
          <p:cNvPr id="23" name="Shape 21"/>
          <p:cNvSpPr/>
          <p:nvPr/>
        </p:nvSpPr>
        <p:spPr>
          <a:xfrm>
            <a:off x="1490472" y="3986784"/>
            <a:ext cx="128016" cy="128016"/>
          </a:xfrm>
          <a:prstGeom prst="rect">
            <a:avLst/>
          </a:prstGeom>
          <a:solidFill>
            <a:srgbClr val="FFD54F"/>
          </a:solidFill>
          <a:ln w="6350">
            <a:solidFill>
              <a:srgbClr val="37474F"/>
            </a:solidFill>
            <a:prstDash val="solid"/>
          </a:ln>
        </p:spPr>
      </p:sp>
      <p:sp>
        <p:nvSpPr>
          <p:cNvPr id="24" name="Text 22"/>
          <p:cNvSpPr txBox="1"/>
          <p:nvPr/>
        </p:nvSpPr>
        <p:spPr>
          <a:xfrm>
            <a:off x="411480" y="3950208"/>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GPIO23</a:t>
            </a:r>
            <a:endParaRPr lang="en-US" sz="1100" dirty="0"/>
          </a:p>
        </p:txBody>
      </p:sp>
      <p:sp>
        <p:nvSpPr>
          <p:cNvPr id="25" name="Shape 23"/>
          <p:cNvSpPr/>
          <p:nvPr/>
        </p:nvSpPr>
        <p:spPr>
          <a:xfrm>
            <a:off x="1490472" y="4306824"/>
            <a:ext cx="128016" cy="128016"/>
          </a:xfrm>
          <a:prstGeom prst="rect">
            <a:avLst/>
          </a:prstGeom>
          <a:solidFill>
            <a:srgbClr val="FFD54F"/>
          </a:solidFill>
          <a:ln w="6350">
            <a:solidFill>
              <a:srgbClr val="37474F"/>
            </a:solidFill>
            <a:prstDash val="solid"/>
          </a:ln>
        </p:spPr>
      </p:sp>
      <p:sp>
        <p:nvSpPr>
          <p:cNvPr id="26" name="Text 24"/>
          <p:cNvSpPr txBox="1"/>
          <p:nvPr/>
        </p:nvSpPr>
        <p:spPr>
          <a:xfrm>
            <a:off x="411480" y="4270248"/>
            <a:ext cx="1033272" cy="201168"/>
          </a:xfrm>
          <a:prstGeom prst="rect">
            <a:avLst/>
          </a:prstGeom>
          <a:noFill/>
          <a:ln/>
        </p:spPr>
        <p:txBody>
          <a:bodyPr wrap="square" lIns="0" tIns="0" rIns="0" bIns="0" rtlCol="0" anchor="ctr"/>
          <a:lstStyle/>
          <a:p>
            <a:pPr algn="r" indent="0" marL="0">
              <a:buNone/>
            </a:pPr>
            <a:r>
              <a:rPr lang="en-US" sz="1100" b="1" dirty="0">
                <a:solidFill>
                  <a:srgbClr val="FFFFFF"/>
                </a:solidFill>
              </a:rPr>
              <a:t>GND </a:t>
            </a:r>
            <a:endParaRPr lang="en-US" sz="1100" dirty="0"/>
          </a:p>
        </p:txBody>
      </p:sp>
      <p:sp>
        <p:nvSpPr>
          <p:cNvPr id="27" name="Shape 25"/>
          <p:cNvSpPr/>
          <p:nvPr/>
        </p:nvSpPr>
        <p:spPr>
          <a:xfrm>
            <a:off x="2697480" y="822960"/>
            <a:ext cx="1554480" cy="1280160"/>
          </a:xfrm>
          <a:prstGeom prst="roundRect">
            <a:avLst>
              <a:gd name="adj" fmla="val 4286"/>
            </a:avLst>
          </a:prstGeom>
          <a:solidFill>
            <a:srgbClr val="1E5AA8"/>
          </a:solidFill>
          <a:ln w="12700">
            <a:solidFill>
              <a:srgbClr val="174A8B"/>
            </a:solidFill>
            <a:prstDash val="solid"/>
          </a:ln>
        </p:spPr>
      </p:sp>
      <p:sp>
        <p:nvSpPr>
          <p:cNvPr id="28" name="Shape 26"/>
          <p:cNvSpPr/>
          <p:nvPr/>
        </p:nvSpPr>
        <p:spPr>
          <a:xfrm>
            <a:off x="3200400" y="1110996"/>
            <a:ext cx="502920" cy="502920"/>
          </a:xfrm>
          <a:prstGeom prst="ellipse">
            <a:avLst/>
          </a:prstGeom>
          <a:solidFill>
            <a:srgbClr val="CFD8DC"/>
          </a:solidFill>
          <a:ln w="19050">
            <a:solidFill>
              <a:srgbClr val="90A4AE"/>
            </a:solidFill>
            <a:prstDash val="solid"/>
          </a:ln>
        </p:spPr>
      </p:sp>
      <p:sp>
        <p:nvSpPr>
          <p:cNvPr id="29" name="Shape 27"/>
          <p:cNvSpPr/>
          <p:nvPr/>
        </p:nvSpPr>
        <p:spPr>
          <a:xfrm>
            <a:off x="3326130" y="1236726"/>
            <a:ext cx="251460" cy="251460"/>
          </a:xfrm>
          <a:prstGeom prst="ellipse">
            <a:avLst/>
          </a:prstGeom>
          <a:solidFill>
            <a:srgbClr val="37474F"/>
          </a:solidFill>
          <a:ln w="12700">
            <a:solidFill>
              <a:srgbClr val="37474F"/>
            </a:solidFill>
            <a:prstDash val="solid"/>
          </a:ln>
        </p:spPr>
      </p:sp>
      <p:sp>
        <p:nvSpPr>
          <p:cNvPr id="30" name="Shape 28"/>
          <p:cNvSpPr/>
          <p:nvPr/>
        </p:nvSpPr>
        <p:spPr>
          <a:xfrm>
            <a:off x="3794760" y="1110996"/>
            <a:ext cx="502920" cy="502920"/>
          </a:xfrm>
          <a:prstGeom prst="ellipse">
            <a:avLst/>
          </a:prstGeom>
          <a:solidFill>
            <a:srgbClr val="CFD8DC"/>
          </a:solidFill>
          <a:ln w="19050">
            <a:solidFill>
              <a:srgbClr val="90A4AE"/>
            </a:solidFill>
            <a:prstDash val="solid"/>
          </a:ln>
        </p:spPr>
      </p:sp>
      <p:sp>
        <p:nvSpPr>
          <p:cNvPr id="31" name="Shape 29"/>
          <p:cNvSpPr/>
          <p:nvPr/>
        </p:nvSpPr>
        <p:spPr>
          <a:xfrm>
            <a:off x="3920490" y="1236726"/>
            <a:ext cx="251460" cy="251460"/>
          </a:xfrm>
          <a:prstGeom prst="ellipse">
            <a:avLst/>
          </a:prstGeom>
          <a:solidFill>
            <a:srgbClr val="37474F"/>
          </a:solidFill>
          <a:ln w="12700">
            <a:solidFill>
              <a:srgbClr val="37474F"/>
            </a:solidFill>
            <a:prstDash val="solid"/>
          </a:ln>
        </p:spPr>
      </p:sp>
      <p:sp>
        <p:nvSpPr>
          <p:cNvPr id="32" name="Shape 30"/>
          <p:cNvSpPr/>
          <p:nvPr/>
        </p:nvSpPr>
        <p:spPr>
          <a:xfrm>
            <a:off x="2633472" y="987552"/>
            <a:ext cx="128016" cy="128016"/>
          </a:xfrm>
          <a:prstGeom prst="rect">
            <a:avLst/>
          </a:prstGeom>
          <a:solidFill>
            <a:srgbClr val="FFD54F"/>
          </a:solidFill>
          <a:ln w="6350">
            <a:solidFill>
              <a:srgbClr val="37474F"/>
            </a:solidFill>
            <a:prstDash val="solid"/>
          </a:ln>
        </p:spPr>
      </p:sp>
      <p:sp>
        <p:nvSpPr>
          <p:cNvPr id="33" name="Text 31"/>
          <p:cNvSpPr txBox="1"/>
          <p:nvPr/>
        </p:nvSpPr>
        <p:spPr>
          <a:xfrm>
            <a:off x="2788920" y="960120"/>
            <a:ext cx="384048" cy="182880"/>
          </a:xfrm>
          <a:prstGeom prst="rect">
            <a:avLst/>
          </a:prstGeom>
          <a:noFill/>
          <a:ln/>
        </p:spPr>
        <p:txBody>
          <a:bodyPr wrap="square" lIns="0" tIns="0" rIns="0" bIns="0" rtlCol="0" anchor="ctr"/>
          <a:lstStyle/>
          <a:p>
            <a:pPr indent="0" marL="0">
              <a:buNone/>
            </a:pPr>
            <a:r>
              <a:rPr lang="en-US" sz="900" b="1" dirty="0">
                <a:solidFill>
                  <a:srgbClr val="FFFFFF"/>
                </a:solidFill>
              </a:rPr>
              <a:t>VCC</a:t>
            </a:r>
            <a:endParaRPr lang="en-US" sz="900" dirty="0"/>
          </a:p>
        </p:txBody>
      </p:sp>
      <p:sp>
        <p:nvSpPr>
          <p:cNvPr id="34" name="Shape 32"/>
          <p:cNvSpPr/>
          <p:nvPr/>
        </p:nvSpPr>
        <p:spPr>
          <a:xfrm>
            <a:off x="2633472" y="1261872"/>
            <a:ext cx="128016" cy="128016"/>
          </a:xfrm>
          <a:prstGeom prst="rect">
            <a:avLst/>
          </a:prstGeom>
          <a:solidFill>
            <a:srgbClr val="FFD54F"/>
          </a:solidFill>
          <a:ln w="6350">
            <a:solidFill>
              <a:srgbClr val="37474F"/>
            </a:solidFill>
            <a:prstDash val="solid"/>
          </a:ln>
        </p:spPr>
      </p:sp>
      <p:sp>
        <p:nvSpPr>
          <p:cNvPr id="35" name="Text 33"/>
          <p:cNvSpPr txBox="1"/>
          <p:nvPr/>
        </p:nvSpPr>
        <p:spPr>
          <a:xfrm>
            <a:off x="2788920" y="1234440"/>
            <a:ext cx="384048" cy="182880"/>
          </a:xfrm>
          <a:prstGeom prst="rect">
            <a:avLst/>
          </a:prstGeom>
          <a:noFill/>
          <a:ln/>
        </p:spPr>
        <p:txBody>
          <a:bodyPr wrap="square" lIns="0" tIns="0" rIns="0" bIns="0" rtlCol="0" anchor="ctr"/>
          <a:lstStyle/>
          <a:p>
            <a:pPr indent="0" marL="0">
              <a:buNone/>
            </a:pPr>
            <a:r>
              <a:rPr lang="en-US" sz="900" b="1" dirty="0">
                <a:solidFill>
                  <a:srgbClr val="FFFFFF"/>
                </a:solidFill>
              </a:rPr>
              <a:t>Trig</a:t>
            </a:r>
            <a:endParaRPr lang="en-US" sz="900" dirty="0"/>
          </a:p>
        </p:txBody>
      </p:sp>
      <p:sp>
        <p:nvSpPr>
          <p:cNvPr id="36" name="Shape 34"/>
          <p:cNvSpPr/>
          <p:nvPr/>
        </p:nvSpPr>
        <p:spPr>
          <a:xfrm>
            <a:off x="2633472" y="1536192"/>
            <a:ext cx="128016" cy="128016"/>
          </a:xfrm>
          <a:prstGeom prst="rect">
            <a:avLst/>
          </a:prstGeom>
          <a:solidFill>
            <a:srgbClr val="FFD54F"/>
          </a:solidFill>
          <a:ln w="6350">
            <a:solidFill>
              <a:srgbClr val="37474F"/>
            </a:solidFill>
            <a:prstDash val="solid"/>
          </a:ln>
        </p:spPr>
      </p:sp>
      <p:sp>
        <p:nvSpPr>
          <p:cNvPr id="37" name="Text 35"/>
          <p:cNvSpPr txBox="1"/>
          <p:nvPr/>
        </p:nvSpPr>
        <p:spPr>
          <a:xfrm>
            <a:off x="2788920" y="1508760"/>
            <a:ext cx="384048" cy="182880"/>
          </a:xfrm>
          <a:prstGeom prst="rect">
            <a:avLst/>
          </a:prstGeom>
          <a:noFill/>
          <a:ln/>
        </p:spPr>
        <p:txBody>
          <a:bodyPr wrap="square" lIns="0" tIns="0" rIns="0" bIns="0" rtlCol="0" anchor="ctr"/>
          <a:lstStyle/>
          <a:p>
            <a:pPr indent="0" marL="0">
              <a:buNone/>
            </a:pPr>
            <a:r>
              <a:rPr lang="en-US" sz="900" b="1" dirty="0">
                <a:solidFill>
                  <a:srgbClr val="FFFFFF"/>
                </a:solidFill>
              </a:rPr>
              <a:t>Echo</a:t>
            </a:r>
            <a:endParaRPr lang="en-US" sz="900" dirty="0"/>
          </a:p>
        </p:txBody>
      </p:sp>
      <p:sp>
        <p:nvSpPr>
          <p:cNvPr id="38" name="Shape 36"/>
          <p:cNvSpPr/>
          <p:nvPr/>
        </p:nvSpPr>
        <p:spPr>
          <a:xfrm>
            <a:off x="2633472" y="1810512"/>
            <a:ext cx="128016" cy="128016"/>
          </a:xfrm>
          <a:prstGeom prst="rect">
            <a:avLst/>
          </a:prstGeom>
          <a:solidFill>
            <a:srgbClr val="FFD54F"/>
          </a:solidFill>
          <a:ln w="6350">
            <a:solidFill>
              <a:srgbClr val="37474F"/>
            </a:solidFill>
            <a:prstDash val="solid"/>
          </a:ln>
        </p:spPr>
      </p:sp>
      <p:sp>
        <p:nvSpPr>
          <p:cNvPr id="39" name="Text 37"/>
          <p:cNvSpPr txBox="1"/>
          <p:nvPr/>
        </p:nvSpPr>
        <p:spPr>
          <a:xfrm>
            <a:off x="2788920" y="1783080"/>
            <a:ext cx="384048" cy="182880"/>
          </a:xfrm>
          <a:prstGeom prst="rect">
            <a:avLst/>
          </a:prstGeom>
          <a:noFill/>
          <a:ln/>
        </p:spPr>
        <p:txBody>
          <a:bodyPr wrap="square" lIns="0" tIns="0" rIns="0" bIns="0" rtlCol="0" anchor="ctr"/>
          <a:lstStyle/>
          <a:p>
            <a:pPr indent="0" marL="0">
              <a:buNone/>
            </a:pPr>
            <a:r>
              <a:rPr lang="en-US" sz="900" b="1" dirty="0">
                <a:solidFill>
                  <a:srgbClr val="FFFFFF"/>
                </a:solidFill>
              </a:rPr>
              <a:t>GND</a:t>
            </a:r>
            <a:endParaRPr lang="en-US" sz="900" dirty="0"/>
          </a:p>
        </p:txBody>
      </p:sp>
      <p:sp>
        <p:nvSpPr>
          <p:cNvPr id="40" name="Text 38"/>
          <p:cNvSpPr txBox="1"/>
          <p:nvPr/>
        </p:nvSpPr>
        <p:spPr>
          <a:xfrm>
            <a:off x="3200400" y="1865376"/>
            <a:ext cx="1005840" cy="182880"/>
          </a:xfrm>
          <a:prstGeom prst="rect">
            <a:avLst/>
          </a:prstGeom>
          <a:noFill/>
          <a:ln/>
        </p:spPr>
        <p:txBody>
          <a:bodyPr wrap="square" lIns="0" tIns="0" rIns="0" bIns="0" rtlCol="0" anchor="ctr"/>
          <a:lstStyle/>
          <a:p>
            <a:pPr indent="0" marL="0">
              <a:buNone/>
            </a:pPr>
            <a:r>
              <a:rPr lang="en-US" sz="900" b="1" dirty="0">
                <a:solidFill>
                  <a:srgbClr val="CFE0F5"/>
                </a:solidFill>
              </a:rPr>
              <a:t>HC-SR04</a:t>
            </a:r>
            <a:endParaRPr lang="en-US" sz="900" dirty="0"/>
          </a:p>
        </p:txBody>
      </p:sp>
      <p:sp>
        <p:nvSpPr>
          <p:cNvPr id="41" name="Shape 39"/>
          <p:cNvSpPr/>
          <p:nvPr/>
        </p:nvSpPr>
        <p:spPr>
          <a:xfrm>
            <a:off x="1618488" y="1051560"/>
            <a:ext cx="1014984" cy="0"/>
          </a:xfrm>
          <a:prstGeom prst="line">
            <a:avLst/>
          </a:prstGeom>
          <a:noFill/>
          <a:ln w="31750">
            <a:solidFill>
              <a:srgbClr val="D64545"/>
            </a:solidFill>
            <a:prstDash val="solid"/>
          </a:ln>
        </p:spPr>
      </p:sp>
      <p:sp>
        <p:nvSpPr>
          <p:cNvPr id="42" name="Shape 40"/>
          <p:cNvSpPr/>
          <p:nvPr/>
        </p:nvSpPr>
        <p:spPr>
          <a:xfrm>
            <a:off x="1618488" y="1325880"/>
            <a:ext cx="1014984" cy="0"/>
          </a:xfrm>
          <a:prstGeom prst="line">
            <a:avLst/>
          </a:prstGeom>
          <a:noFill/>
          <a:ln w="31750">
            <a:solidFill>
              <a:srgbClr val="00A3A3"/>
            </a:solidFill>
            <a:prstDash val="solid"/>
          </a:ln>
        </p:spPr>
      </p:sp>
      <p:sp>
        <p:nvSpPr>
          <p:cNvPr id="43" name="Shape 41"/>
          <p:cNvSpPr/>
          <p:nvPr/>
        </p:nvSpPr>
        <p:spPr>
          <a:xfrm>
            <a:off x="1618488" y="1600200"/>
            <a:ext cx="1014984" cy="0"/>
          </a:xfrm>
          <a:prstGeom prst="line">
            <a:avLst/>
          </a:prstGeom>
          <a:noFill/>
          <a:ln w="31750">
            <a:solidFill>
              <a:srgbClr val="C2185B"/>
            </a:solidFill>
            <a:prstDash val="solid"/>
          </a:ln>
        </p:spPr>
      </p:sp>
      <p:sp>
        <p:nvSpPr>
          <p:cNvPr id="44" name="Shape 42"/>
          <p:cNvSpPr/>
          <p:nvPr/>
        </p:nvSpPr>
        <p:spPr>
          <a:xfrm>
            <a:off x="1618488" y="1874520"/>
            <a:ext cx="1014984" cy="0"/>
          </a:xfrm>
          <a:prstGeom prst="line">
            <a:avLst/>
          </a:prstGeom>
          <a:noFill/>
          <a:ln w="31750">
            <a:solidFill>
              <a:srgbClr val="1B1B1B"/>
            </a:solidFill>
            <a:prstDash val="solid"/>
          </a:ln>
        </p:spPr>
      </p:sp>
      <p:sp>
        <p:nvSpPr>
          <p:cNvPr id="45" name="Shape 43"/>
          <p:cNvSpPr/>
          <p:nvPr/>
        </p:nvSpPr>
        <p:spPr>
          <a:xfrm>
            <a:off x="1618488" y="2697480"/>
            <a:ext cx="274320" cy="0"/>
          </a:xfrm>
          <a:prstGeom prst="line">
            <a:avLst/>
          </a:prstGeom>
          <a:noFill/>
          <a:ln w="25400">
            <a:solidFill>
              <a:srgbClr val="F28C28"/>
            </a:solidFill>
            <a:prstDash val="solid"/>
          </a:ln>
        </p:spPr>
      </p:sp>
      <p:sp>
        <p:nvSpPr>
          <p:cNvPr id="46" name="Shape 44"/>
          <p:cNvSpPr/>
          <p:nvPr/>
        </p:nvSpPr>
        <p:spPr>
          <a:xfrm>
            <a:off x="1892808" y="2697480"/>
            <a:ext cx="155448" cy="0"/>
          </a:xfrm>
          <a:prstGeom prst="line">
            <a:avLst/>
          </a:prstGeom>
          <a:noFill/>
          <a:ln w="25400">
            <a:solidFill>
              <a:srgbClr val="9AA0A6"/>
            </a:solidFill>
            <a:prstDash val="solid"/>
          </a:ln>
        </p:spPr>
      </p:sp>
      <p:sp>
        <p:nvSpPr>
          <p:cNvPr id="47" name="Shape 45"/>
          <p:cNvSpPr/>
          <p:nvPr/>
        </p:nvSpPr>
        <p:spPr>
          <a:xfrm>
            <a:off x="2423160" y="2697480"/>
            <a:ext cx="155448" cy="0"/>
          </a:xfrm>
          <a:prstGeom prst="line">
            <a:avLst/>
          </a:prstGeom>
          <a:noFill/>
          <a:ln w="25400">
            <a:solidFill>
              <a:srgbClr val="9AA0A6"/>
            </a:solidFill>
            <a:prstDash val="solid"/>
          </a:ln>
        </p:spPr>
      </p:sp>
      <p:sp>
        <p:nvSpPr>
          <p:cNvPr id="48" name="Shape 46"/>
          <p:cNvSpPr/>
          <p:nvPr/>
        </p:nvSpPr>
        <p:spPr>
          <a:xfrm>
            <a:off x="2048256" y="2615184"/>
            <a:ext cx="374904" cy="164592"/>
          </a:xfrm>
          <a:prstGeom prst="roundRect">
            <a:avLst>
              <a:gd name="adj" fmla="val 33333"/>
            </a:avLst>
          </a:prstGeom>
          <a:solidFill>
            <a:srgbClr val="E3C99A"/>
          </a:solidFill>
          <a:ln w="9525">
            <a:solidFill>
              <a:srgbClr val="B8986A"/>
            </a:solidFill>
            <a:prstDash val="solid"/>
          </a:ln>
        </p:spPr>
      </p:sp>
      <p:sp>
        <p:nvSpPr>
          <p:cNvPr id="49" name="Shape 47"/>
          <p:cNvSpPr/>
          <p:nvPr/>
        </p:nvSpPr>
        <p:spPr>
          <a:xfrm>
            <a:off x="2103120" y="2615184"/>
            <a:ext cx="32004" cy="164592"/>
          </a:xfrm>
          <a:prstGeom prst="rect">
            <a:avLst/>
          </a:prstGeom>
          <a:solidFill>
            <a:srgbClr val="D64545"/>
          </a:solidFill>
          <a:ln w="12700">
            <a:solidFill>
              <a:srgbClr val="D64545"/>
            </a:solidFill>
            <a:prstDash val="solid"/>
          </a:ln>
        </p:spPr>
      </p:sp>
      <p:sp>
        <p:nvSpPr>
          <p:cNvPr id="50" name="Shape 48"/>
          <p:cNvSpPr/>
          <p:nvPr/>
        </p:nvSpPr>
        <p:spPr>
          <a:xfrm>
            <a:off x="2170355" y="2615184"/>
            <a:ext cx="32004" cy="164592"/>
          </a:xfrm>
          <a:prstGeom prst="rect">
            <a:avLst/>
          </a:prstGeom>
          <a:solidFill>
            <a:srgbClr val="D64545"/>
          </a:solidFill>
          <a:ln w="12700">
            <a:solidFill>
              <a:srgbClr val="D64545"/>
            </a:solidFill>
            <a:prstDash val="solid"/>
          </a:ln>
        </p:spPr>
      </p:sp>
      <p:sp>
        <p:nvSpPr>
          <p:cNvPr id="51" name="Shape 49"/>
          <p:cNvSpPr/>
          <p:nvPr/>
        </p:nvSpPr>
        <p:spPr>
          <a:xfrm>
            <a:off x="2237591" y="2615184"/>
            <a:ext cx="32004" cy="164592"/>
          </a:xfrm>
          <a:prstGeom prst="rect">
            <a:avLst/>
          </a:prstGeom>
          <a:solidFill>
            <a:srgbClr val="8B4513"/>
          </a:solidFill>
          <a:ln w="12700">
            <a:solidFill>
              <a:srgbClr val="8B4513"/>
            </a:solidFill>
            <a:prstDash val="solid"/>
          </a:ln>
        </p:spPr>
      </p:sp>
      <p:sp>
        <p:nvSpPr>
          <p:cNvPr id="52" name="Shape 50"/>
          <p:cNvSpPr/>
          <p:nvPr/>
        </p:nvSpPr>
        <p:spPr>
          <a:xfrm>
            <a:off x="2341402" y="2615184"/>
            <a:ext cx="32004" cy="164592"/>
          </a:xfrm>
          <a:prstGeom prst="rect">
            <a:avLst/>
          </a:prstGeom>
          <a:solidFill>
            <a:srgbClr val="C9A227"/>
          </a:solidFill>
          <a:ln w="12700">
            <a:solidFill>
              <a:srgbClr val="C9A227"/>
            </a:solidFill>
            <a:prstDash val="solid"/>
          </a:ln>
        </p:spPr>
      </p:sp>
      <p:sp>
        <p:nvSpPr>
          <p:cNvPr id="53" name="Shape 51"/>
          <p:cNvSpPr/>
          <p:nvPr/>
        </p:nvSpPr>
        <p:spPr>
          <a:xfrm>
            <a:off x="2578608" y="2697480"/>
            <a:ext cx="73152" cy="0"/>
          </a:xfrm>
          <a:prstGeom prst="line">
            <a:avLst/>
          </a:prstGeom>
          <a:noFill/>
          <a:ln w="25400">
            <a:solidFill>
              <a:srgbClr val="9AA0A6"/>
            </a:solidFill>
            <a:prstDash val="solid"/>
          </a:ln>
        </p:spPr>
      </p:sp>
      <p:sp>
        <p:nvSpPr>
          <p:cNvPr id="54" name="Shape 52"/>
          <p:cNvSpPr/>
          <p:nvPr/>
        </p:nvSpPr>
        <p:spPr>
          <a:xfrm>
            <a:off x="2651760" y="2697480"/>
            <a:ext cx="219456" cy="0"/>
          </a:xfrm>
          <a:prstGeom prst="line">
            <a:avLst/>
          </a:prstGeom>
          <a:noFill/>
          <a:ln w="25400">
            <a:solidFill>
              <a:srgbClr val="9AA0A6"/>
            </a:solidFill>
            <a:prstDash val="solid"/>
          </a:ln>
        </p:spPr>
      </p:sp>
      <p:sp>
        <p:nvSpPr>
          <p:cNvPr id="55" name="Shape 53"/>
          <p:cNvSpPr/>
          <p:nvPr/>
        </p:nvSpPr>
        <p:spPr>
          <a:xfrm>
            <a:off x="3182112" y="2697480"/>
            <a:ext cx="109728" cy="0"/>
          </a:xfrm>
          <a:prstGeom prst="line">
            <a:avLst/>
          </a:prstGeom>
          <a:noFill/>
          <a:ln w="25400">
            <a:solidFill>
              <a:srgbClr val="9AA0A6"/>
            </a:solidFill>
            <a:prstDash val="solid"/>
          </a:ln>
        </p:spPr>
      </p:sp>
      <p:sp>
        <p:nvSpPr>
          <p:cNvPr id="56" name="Shape 54"/>
          <p:cNvSpPr/>
          <p:nvPr/>
        </p:nvSpPr>
        <p:spPr>
          <a:xfrm>
            <a:off x="2825496" y="2496312"/>
            <a:ext cx="402336" cy="402336"/>
          </a:xfrm>
          <a:prstGeom prst="ellipse">
            <a:avLst/>
          </a:prstGeom>
          <a:solidFill>
            <a:srgbClr val="F2A900">
              <a:alpha val="45000"/>
            </a:srgbClr>
          </a:solidFill>
          <a:ln w="12700">
            <a:solidFill>
              <a:srgbClr val="F2A900">
                <a:alpha val="0"/>
              </a:srgbClr>
            </a:solidFill>
            <a:prstDash val="solid"/>
          </a:ln>
        </p:spPr>
      </p:sp>
      <p:sp>
        <p:nvSpPr>
          <p:cNvPr id="57" name="Shape 55"/>
          <p:cNvSpPr/>
          <p:nvPr/>
        </p:nvSpPr>
        <p:spPr>
          <a:xfrm>
            <a:off x="2871216" y="2542032"/>
            <a:ext cx="310896" cy="310896"/>
          </a:xfrm>
          <a:prstGeom prst="ellipse">
            <a:avLst/>
          </a:prstGeom>
          <a:solidFill>
            <a:srgbClr val="D64545"/>
          </a:solidFill>
          <a:ln w="19050">
            <a:solidFill>
              <a:srgbClr val="D64545"/>
            </a:solidFill>
            <a:prstDash val="solid"/>
          </a:ln>
        </p:spPr>
      </p:sp>
      <p:sp>
        <p:nvSpPr>
          <p:cNvPr id="58" name="Shape 56"/>
          <p:cNvSpPr/>
          <p:nvPr/>
        </p:nvSpPr>
        <p:spPr>
          <a:xfrm>
            <a:off x="3291840" y="2697480"/>
            <a:ext cx="640080" cy="0"/>
          </a:xfrm>
          <a:prstGeom prst="line">
            <a:avLst/>
          </a:prstGeom>
          <a:noFill/>
          <a:ln w="25400">
            <a:solidFill>
              <a:srgbClr val="1B1B1B"/>
            </a:solidFill>
            <a:prstDash val="solid"/>
          </a:ln>
        </p:spPr>
      </p:sp>
      <p:sp>
        <p:nvSpPr>
          <p:cNvPr id="59" name="Shape 57"/>
          <p:cNvSpPr/>
          <p:nvPr/>
        </p:nvSpPr>
        <p:spPr>
          <a:xfrm>
            <a:off x="1618488" y="3035808"/>
            <a:ext cx="274320" cy="0"/>
          </a:xfrm>
          <a:prstGeom prst="line">
            <a:avLst/>
          </a:prstGeom>
          <a:noFill/>
          <a:ln w="25400">
            <a:solidFill>
              <a:srgbClr val="E0B000"/>
            </a:solidFill>
            <a:prstDash val="solid"/>
          </a:ln>
        </p:spPr>
      </p:sp>
      <p:sp>
        <p:nvSpPr>
          <p:cNvPr id="60" name="Shape 58"/>
          <p:cNvSpPr/>
          <p:nvPr/>
        </p:nvSpPr>
        <p:spPr>
          <a:xfrm>
            <a:off x="1892808" y="3035808"/>
            <a:ext cx="155448" cy="0"/>
          </a:xfrm>
          <a:prstGeom prst="line">
            <a:avLst/>
          </a:prstGeom>
          <a:noFill/>
          <a:ln w="25400">
            <a:solidFill>
              <a:srgbClr val="9AA0A6"/>
            </a:solidFill>
            <a:prstDash val="solid"/>
          </a:ln>
        </p:spPr>
      </p:sp>
      <p:sp>
        <p:nvSpPr>
          <p:cNvPr id="61" name="Shape 59"/>
          <p:cNvSpPr/>
          <p:nvPr/>
        </p:nvSpPr>
        <p:spPr>
          <a:xfrm>
            <a:off x="2423160" y="3035808"/>
            <a:ext cx="155448" cy="0"/>
          </a:xfrm>
          <a:prstGeom prst="line">
            <a:avLst/>
          </a:prstGeom>
          <a:noFill/>
          <a:ln w="25400">
            <a:solidFill>
              <a:srgbClr val="9AA0A6"/>
            </a:solidFill>
            <a:prstDash val="solid"/>
          </a:ln>
        </p:spPr>
      </p:sp>
      <p:sp>
        <p:nvSpPr>
          <p:cNvPr id="62" name="Shape 60"/>
          <p:cNvSpPr/>
          <p:nvPr/>
        </p:nvSpPr>
        <p:spPr>
          <a:xfrm>
            <a:off x="2048256" y="2953512"/>
            <a:ext cx="374904" cy="164592"/>
          </a:xfrm>
          <a:prstGeom prst="roundRect">
            <a:avLst>
              <a:gd name="adj" fmla="val 33333"/>
            </a:avLst>
          </a:prstGeom>
          <a:solidFill>
            <a:srgbClr val="E3C99A"/>
          </a:solidFill>
          <a:ln w="9525">
            <a:solidFill>
              <a:srgbClr val="B8986A"/>
            </a:solidFill>
            <a:prstDash val="solid"/>
          </a:ln>
        </p:spPr>
      </p:sp>
      <p:sp>
        <p:nvSpPr>
          <p:cNvPr id="63" name="Shape 61"/>
          <p:cNvSpPr/>
          <p:nvPr/>
        </p:nvSpPr>
        <p:spPr>
          <a:xfrm>
            <a:off x="2103120" y="2953512"/>
            <a:ext cx="32004" cy="164592"/>
          </a:xfrm>
          <a:prstGeom prst="rect">
            <a:avLst/>
          </a:prstGeom>
          <a:solidFill>
            <a:srgbClr val="D64545"/>
          </a:solidFill>
          <a:ln w="12700">
            <a:solidFill>
              <a:srgbClr val="D64545"/>
            </a:solidFill>
            <a:prstDash val="solid"/>
          </a:ln>
        </p:spPr>
      </p:sp>
      <p:sp>
        <p:nvSpPr>
          <p:cNvPr id="64" name="Shape 62"/>
          <p:cNvSpPr/>
          <p:nvPr/>
        </p:nvSpPr>
        <p:spPr>
          <a:xfrm>
            <a:off x="2170355" y="2953512"/>
            <a:ext cx="32004" cy="164592"/>
          </a:xfrm>
          <a:prstGeom prst="rect">
            <a:avLst/>
          </a:prstGeom>
          <a:solidFill>
            <a:srgbClr val="D64545"/>
          </a:solidFill>
          <a:ln w="12700">
            <a:solidFill>
              <a:srgbClr val="D64545"/>
            </a:solidFill>
            <a:prstDash val="solid"/>
          </a:ln>
        </p:spPr>
      </p:sp>
      <p:sp>
        <p:nvSpPr>
          <p:cNvPr id="65" name="Shape 63"/>
          <p:cNvSpPr/>
          <p:nvPr/>
        </p:nvSpPr>
        <p:spPr>
          <a:xfrm>
            <a:off x="2237591" y="2953512"/>
            <a:ext cx="32004" cy="164592"/>
          </a:xfrm>
          <a:prstGeom prst="rect">
            <a:avLst/>
          </a:prstGeom>
          <a:solidFill>
            <a:srgbClr val="8B4513"/>
          </a:solidFill>
          <a:ln w="12700">
            <a:solidFill>
              <a:srgbClr val="8B4513"/>
            </a:solidFill>
            <a:prstDash val="solid"/>
          </a:ln>
        </p:spPr>
      </p:sp>
      <p:sp>
        <p:nvSpPr>
          <p:cNvPr id="66" name="Shape 64"/>
          <p:cNvSpPr/>
          <p:nvPr/>
        </p:nvSpPr>
        <p:spPr>
          <a:xfrm>
            <a:off x="2341402" y="2953512"/>
            <a:ext cx="32004" cy="164592"/>
          </a:xfrm>
          <a:prstGeom prst="rect">
            <a:avLst/>
          </a:prstGeom>
          <a:solidFill>
            <a:srgbClr val="C9A227"/>
          </a:solidFill>
          <a:ln w="12700">
            <a:solidFill>
              <a:srgbClr val="C9A227"/>
            </a:solidFill>
            <a:prstDash val="solid"/>
          </a:ln>
        </p:spPr>
      </p:sp>
      <p:sp>
        <p:nvSpPr>
          <p:cNvPr id="67" name="Shape 65"/>
          <p:cNvSpPr/>
          <p:nvPr/>
        </p:nvSpPr>
        <p:spPr>
          <a:xfrm>
            <a:off x="2578608" y="3035808"/>
            <a:ext cx="73152" cy="0"/>
          </a:xfrm>
          <a:prstGeom prst="line">
            <a:avLst/>
          </a:prstGeom>
          <a:noFill/>
          <a:ln w="25400">
            <a:solidFill>
              <a:srgbClr val="9AA0A6"/>
            </a:solidFill>
            <a:prstDash val="solid"/>
          </a:ln>
        </p:spPr>
      </p:sp>
      <p:sp>
        <p:nvSpPr>
          <p:cNvPr id="68" name="Shape 66"/>
          <p:cNvSpPr/>
          <p:nvPr/>
        </p:nvSpPr>
        <p:spPr>
          <a:xfrm>
            <a:off x="2651760" y="3035808"/>
            <a:ext cx="219456" cy="0"/>
          </a:xfrm>
          <a:prstGeom prst="line">
            <a:avLst/>
          </a:prstGeom>
          <a:noFill/>
          <a:ln w="25400">
            <a:solidFill>
              <a:srgbClr val="9AA0A6"/>
            </a:solidFill>
            <a:prstDash val="solid"/>
          </a:ln>
        </p:spPr>
      </p:sp>
      <p:sp>
        <p:nvSpPr>
          <p:cNvPr id="69" name="Shape 67"/>
          <p:cNvSpPr/>
          <p:nvPr/>
        </p:nvSpPr>
        <p:spPr>
          <a:xfrm>
            <a:off x="3182112" y="3035808"/>
            <a:ext cx="109728" cy="0"/>
          </a:xfrm>
          <a:prstGeom prst="line">
            <a:avLst/>
          </a:prstGeom>
          <a:noFill/>
          <a:ln w="25400">
            <a:solidFill>
              <a:srgbClr val="9AA0A6"/>
            </a:solidFill>
            <a:prstDash val="solid"/>
          </a:ln>
        </p:spPr>
      </p:sp>
      <p:sp>
        <p:nvSpPr>
          <p:cNvPr id="70" name="Shape 68"/>
          <p:cNvSpPr/>
          <p:nvPr/>
        </p:nvSpPr>
        <p:spPr>
          <a:xfrm>
            <a:off x="2825496" y="2834640"/>
            <a:ext cx="402336" cy="402336"/>
          </a:xfrm>
          <a:prstGeom prst="ellipse">
            <a:avLst/>
          </a:prstGeom>
          <a:solidFill>
            <a:srgbClr val="F2A900">
              <a:alpha val="45000"/>
            </a:srgbClr>
          </a:solidFill>
          <a:ln w="12700">
            <a:solidFill>
              <a:srgbClr val="F2A900">
                <a:alpha val="0"/>
              </a:srgbClr>
            </a:solidFill>
            <a:prstDash val="solid"/>
          </a:ln>
        </p:spPr>
      </p:sp>
      <p:sp>
        <p:nvSpPr>
          <p:cNvPr id="71" name="Shape 69"/>
          <p:cNvSpPr/>
          <p:nvPr/>
        </p:nvSpPr>
        <p:spPr>
          <a:xfrm>
            <a:off x="2871216" y="2880360"/>
            <a:ext cx="310896" cy="310896"/>
          </a:xfrm>
          <a:prstGeom prst="ellipse">
            <a:avLst/>
          </a:prstGeom>
          <a:solidFill>
            <a:srgbClr val="D64545"/>
          </a:solidFill>
          <a:ln w="19050">
            <a:solidFill>
              <a:srgbClr val="D64545"/>
            </a:solidFill>
            <a:prstDash val="solid"/>
          </a:ln>
        </p:spPr>
      </p:sp>
      <p:sp>
        <p:nvSpPr>
          <p:cNvPr id="72" name="Shape 70"/>
          <p:cNvSpPr/>
          <p:nvPr/>
        </p:nvSpPr>
        <p:spPr>
          <a:xfrm>
            <a:off x="3291840" y="3035808"/>
            <a:ext cx="640080" cy="0"/>
          </a:xfrm>
          <a:prstGeom prst="line">
            <a:avLst/>
          </a:prstGeom>
          <a:noFill/>
          <a:ln w="25400">
            <a:solidFill>
              <a:srgbClr val="1B1B1B"/>
            </a:solidFill>
            <a:prstDash val="solid"/>
          </a:ln>
        </p:spPr>
      </p:sp>
      <p:sp>
        <p:nvSpPr>
          <p:cNvPr id="73" name="Shape 71"/>
          <p:cNvSpPr/>
          <p:nvPr/>
        </p:nvSpPr>
        <p:spPr>
          <a:xfrm>
            <a:off x="1618488" y="3374136"/>
            <a:ext cx="274320" cy="0"/>
          </a:xfrm>
          <a:prstGeom prst="line">
            <a:avLst/>
          </a:prstGeom>
          <a:noFill/>
          <a:ln w="25400">
            <a:solidFill>
              <a:srgbClr val="1F8A70"/>
            </a:solidFill>
            <a:prstDash val="solid"/>
          </a:ln>
        </p:spPr>
      </p:sp>
      <p:sp>
        <p:nvSpPr>
          <p:cNvPr id="74" name="Shape 72"/>
          <p:cNvSpPr/>
          <p:nvPr/>
        </p:nvSpPr>
        <p:spPr>
          <a:xfrm>
            <a:off x="1892808" y="3374136"/>
            <a:ext cx="155448" cy="0"/>
          </a:xfrm>
          <a:prstGeom prst="line">
            <a:avLst/>
          </a:prstGeom>
          <a:noFill/>
          <a:ln w="25400">
            <a:solidFill>
              <a:srgbClr val="9AA0A6"/>
            </a:solidFill>
            <a:prstDash val="solid"/>
          </a:ln>
        </p:spPr>
      </p:sp>
      <p:sp>
        <p:nvSpPr>
          <p:cNvPr id="75" name="Shape 73"/>
          <p:cNvSpPr/>
          <p:nvPr/>
        </p:nvSpPr>
        <p:spPr>
          <a:xfrm>
            <a:off x="2423160" y="3374136"/>
            <a:ext cx="155448" cy="0"/>
          </a:xfrm>
          <a:prstGeom prst="line">
            <a:avLst/>
          </a:prstGeom>
          <a:noFill/>
          <a:ln w="25400">
            <a:solidFill>
              <a:srgbClr val="9AA0A6"/>
            </a:solidFill>
            <a:prstDash val="solid"/>
          </a:ln>
        </p:spPr>
      </p:sp>
      <p:sp>
        <p:nvSpPr>
          <p:cNvPr id="76" name="Shape 74"/>
          <p:cNvSpPr/>
          <p:nvPr/>
        </p:nvSpPr>
        <p:spPr>
          <a:xfrm>
            <a:off x="2048256" y="3291840"/>
            <a:ext cx="374904" cy="164592"/>
          </a:xfrm>
          <a:prstGeom prst="roundRect">
            <a:avLst>
              <a:gd name="adj" fmla="val 33333"/>
            </a:avLst>
          </a:prstGeom>
          <a:solidFill>
            <a:srgbClr val="E3C99A"/>
          </a:solidFill>
          <a:ln w="9525">
            <a:solidFill>
              <a:srgbClr val="B8986A"/>
            </a:solidFill>
            <a:prstDash val="solid"/>
          </a:ln>
        </p:spPr>
      </p:sp>
      <p:sp>
        <p:nvSpPr>
          <p:cNvPr id="77" name="Shape 75"/>
          <p:cNvSpPr/>
          <p:nvPr/>
        </p:nvSpPr>
        <p:spPr>
          <a:xfrm>
            <a:off x="2103120" y="3291840"/>
            <a:ext cx="32004" cy="164592"/>
          </a:xfrm>
          <a:prstGeom prst="rect">
            <a:avLst/>
          </a:prstGeom>
          <a:solidFill>
            <a:srgbClr val="D64545"/>
          </a:solidFill>
          <a:ln w="12700">
            <a:solidFill>
              <a:srgbClr val="D64545"/>
            </a:solidFill>
            <a:prstDash val="solid"/>
          </a:ln>
        </p:spPr>
      </p:sp>
      <p:sp>
        <p:nvSpPr>
          <p:cNvPr id="78" name="Shape 76"/>
          <p:cNvSpPr/>
          <p:nvPr/>
        </p:nvSpPr>
        <p:spPr>
          <a:xfrm>
            <a:off x="2170355" y="3291840"/>
            <a:ext cx="32004" cy="164592"/>
          </a:xfrm>
          <a:prstGeom prst="rect">
            <a:avLst/>
          </a:prstGeom>
          <a:solidFill>
            <a:srgbClr val="D64545"/>
          </a:solidFill>
          <a:ln w="12700">
            <a:solidFill>
              <a:srgbClr val="D64545"/>
            </a:solidFill>
            <a:prstDash val="solid"/>
          </a:ln>
        </p:spPr>
      </p:sp>
      <p:sp>
        <p:nvSpPr>
          <p:cNvPr id="79" name="Shape 77"/>
          <p:cNvSpPr/>
          <p:nvPr/>
        </p:nvSpPr>
        <p:spPr>
          <a:xfrm>
            <a:off x="2237591" y="3291840"/>
            <a:ext cx="32004" cy="164592"/>
          </a:xfrm>
          <a:prstGeom prst="rect">
            <a:avLst/>
          </a:prstGeom>
          <a:solidFill>
            <a:srgbClr val="8B4513"/>
          </a:solidFill>
          <a:ln w="12700">
            <a:solidFill>
              <a:srgbClr val="8B4513"/>
            </a:solidFill>
            <a:prstDash val="solid"/>
          </a:ln>
        </p:spPr>
      </p:sp>
      <p:sp>
        <p:nvSpPr>
          <p:cNvPr id="80" name="Shape 78"/>
          <p:cNvSpPr/>
          <p:nvPr/>
        </p:nvSpPr>
        <p:spPr>
          <a:xfrm>
            <a:off x="2341402" y="3291840"/>
            <a:ext cx="32004" cy="164592"/>
          </a:xfrm>
          <a:prstGeom prst="rect">
            <a:avLst/>
          </a:prstGeom>
          <a:solidFill>
            <a:srgbClr val="C9A227"/>
          </a:solidFill>
          <a:ln w="12700">
            <a:solidFill>
              <a:srgbClr val="C9A227"/>
            </a:solidFill>
            <a:prstDash val="solid"/>
          </a:ln>
        </p:spPr>
      </p:sp>
      <p:sp>
        <p:nvSpPr>
          <p:cNvPr id="81" name="Shape 79"/>
          <p:cNvSpPr/>
          <p:nvPr/>
        </p:nvSpPr>
        <p:spPr>
          <a:xfrm>
            <a:off x="2578608" y="3374136"/>
            <a:ext cx="73152" cy="0"/>
          </a:xfrm>
          <a:prstGeom prst="line">
            <a:avLst/>
          </a:prstGeom>
          <a:noFill/>
          <a:ln w="25400">
            <a:solidFill>
              <a:srgbClr val="9AA0A6"/>
            </a:solidFill>
            <a:prstDash val="solid"/>
          </a:ln>
        </p:spPr>
      </p:sp>
      <p:sp>
        <p:nvSpPr>
          <p:cNvPr id="82" name="Shape 80"/>
          <p:cNvSpPr/>
          <p:nvPr/>
        </p:nvSpPr>
        <p:spPr>
          <a:xfrm>
            <a:off x="2651760" y="3374136"/>
            <a:ext cx="219456" cy="0"/>
          </a:xfrm>
          <a:prstGeom prst="line">
            <a:avLst/>
          </a:prstGeom>
          <a:noFill/>
          <a:ln w="25400">
            <a:solidFill>
              <a:srgbClr val="9AA0A6"/>
            </a:solidFill>
            <a:prstDash val="solid"/>
          </a:ln>
        </p:spPr>
      </p:sp>
      <p:sp>
        <p:nvSpPr>
          <p:cNvPr id="83" name="Shape 81"/>
          <p:cNvSpPr/>
          <p:nvPr/>
        </p:nvSpPr>
        <p:spPr>
          <a:xfrm>
            <a:off x="3182112" y="3374136"/>
            <a:ext cx="109728" cy="0"/>
          </a:xfrm>
          <a:prstGeom prst="line">
            <a:avLst/>
          </a:prstGeom>
          <a:noFill/>
          <a:ln w="25400">
            <a:solidFill>
              <a:srgbClr val="9AA0A6"/>
            </a:solidFill>
            <a:prstDash val="solid"/>
          </a:ln>
        </p:spPr>
      </p:sp>
      <p:sp>
        <p:nvSpPr>
          <p:cNvPr id="84" name="Shape 82"/>
          <p:cNvSpPr/>
          <p:nvPr/>
        </p:nvSpPr>
        <p:spPr>
          <a:xfrm>
            <a:off x="2825496" y="3172968"/>
            <a:ext cx="402336" cy="402336"/>
          </a:xfrm>
          <a:prstGeom prst="ellipse">
            <a:avLst/>
          </a:prstGeom>
          <a:solidFill>
            <a:srgbClr val="F2A900">
              <a:alpha val="45000"/>
            </a:srgbClr>
          </a:solidFill>
          <a:ln w="12700">
            <a:solidFill>
              <a:srgbClr val="F2A900">
                <a:alpha val="0"/>
              </a:srgbClr>
            </a:solidFill>
            <a:prstDash val="solid"/>
          </a:ln>
        </p:spPr>
      </p:sp>
      <p:sp>
        <p:nvSpPr>
          <p:cNvPr id="85" name="Shape 83"/>
          <p:cNvSpPr/>
          <p:nvPr/>
        </p:nvSpPr>
        <p:spPr>
          <a:xfrm>
            <a:off x="2871216" y="3218688"/>
            <a:ext cx="310896" cy="310896"/>
          </a:xfrm>
          <a:prstGeom prst="ellipse">
            <a:avLst/>
          </a:prstGeom>
          <a:solidFill>
            <a:srgbClr val="D64545"/>
          </a:solidFill>
          <a:ln w="19050">
            <a:solidFill>
              <a:srgbClr val="D64545"/>
            </a:solidFill>
            <a:prstDash val="solid"/>
          </a:ln>
        </p:spPr>
      </p:sp>
      <p:sp>
        <p:nvSpPr>
          <p:cNvPr id="86" name="Shape 84"/>
          <p:cNvSpPr/>
          <p:nvPr/>
        </p:nvSpPr>
        <p:spPr>
          <a:xfrm>
            <a:off x="3291840" y="3374136"/>
            <a:ext cx="640080" cy="0"/>
          </a:xfrm>
          <a:prstGeom prst="line">
            <a:avLst/>
          </a:prstGeom>
          <a:noFill/>
          <a:ln w="25400">
            <a:solidFill>
              <a:srgbClr val="1B1B1B"/>
            </a:solidFill>
            <a:prstDash val="solid"/>
          </a:ln>
        </p:spPr>
      </p:sp>
      <p:sp>
        <p:nvSpPr>
          <p:cNvPr id="87" name="Shape 85"/>
          <p:cNvSpPr/>
          <p:nvPr/>
        </p:nvSpPr>
        <p:spPr>
          <a:xfrm>
            <a:off x="1618488" y="3712464"/>
            <a:ext cx="274320" cy="0"/>
          </a:xfrm>
          <a:prstGeom prst="line">
            <a:avLst/>
          </a:prstGeom>
          <a:noFill/>
          <a:ln w="25400">
            <a:solidFill>
              <a:srgbClr val="2B6CB0"/>
            </a:solidFill>
            <a:prstDash val="solid"/>
          </a:ln>
        </p:spPr>
      </p:sp>
      <p:sp>
        <p:nvSpPr>
          <p:cNvPr id="88" name="Shape 86"/>
          <p:cNvSpPr/>
          <p:nvPr/>
        </p:nvSpPr>
        <p:spPr>
          <a:xfrm>
            <a:off x="1892808" y="3712464"/>
            <a:ext cx="155448" cy="0"/>
          </a:xfrm>
          <a:prstGeom prst="line">
            <a:avLst/>
          </a:prstGeom>
          <a:noFill/>
          <a:ln w="25400">
            <a:solidFill>
              <a:srgbClr val="9AA0A6"/>
            </a:solidFill>
            <a:prstDash val="solid"/>
          </a:ln>
        </p:spPr>
      </p:sp>
      <p:sp>
        <p:nvSpPr>
          <p:cNvPr id="89" name="Shape 87"/>
          <p:cNvSpPr/>
          <p:nvPr/>
        </p:nvSpPr>
        <p:spPr>
          <a:xfrm>
            <a:off x="2423160" y="3712464"/>
            <a:ext cx="155448" cy="0"/>
          </a:xfrm>
          <a:prstGeom prst="line">
            <a:avLst/>
          </a:prstGeom>
          <a:noFill/>
          <a:ln w="25400">
            <a:solidFill>
              <a:srgbClr val="9AA0A6"/>
            </a:solidFill>
            <a:prstDash val="solid"/>
          </a:ln>
        </p:spPr>
      </p:sp>
      <p:sp>
        <p:nvSpPr>
          <p:cNvPr id="90" name="Shape 88"/>
          <p:cNvSpPr/>
          <p:nvPr/>
        </p:nvSpPr>
        <p:spPr>
          <a:xfrm>
            <a:off x="2048256" y="3630168"/>
            <a:ext cx="374904" cy="164592"/>
          </a:xfrm>
          <a:prstGeom prst="roundRect">
            <a:avLst>
              <a:gd name="adj" fmla="val 33333"/>
            </a:avLst>
          </a:prstGeom>
          <a:solidFill>
            <a:srgbClr val="E3C99A"/>
          </a:solidFill>
          <a:ln w="9525">
            <a:solidFill>
              <a:srgbClr val="B8986A"/>
            </a:solidFill>
            <a:prstDash val="solid"/>
          </a:ln>
        </p:spPr>
      </p:sp>
      <p:sp>
        <p:nvSpPr>
          <p:cNvPr id="91" name="Shape 89"/>
          <p:cNvSpPr/>
          <p:nvPr/>
        </p:nvSpPr>
        <p:spPr>
          <a:xfrm>
            <a:off x="2103120" y="3630168"/>
            <a:ext cx="32004" cy="164592"/>
          </a:xfrm>
          <a:prstGeom prst="rect">
            <a:avLst/>
          </a:prstGeom>
          <a:solidFill>
            <a:srgbClr val="D64545"/>
          </a:solidFill>
          <a:ln w="12700">
            <a:solidFill>
              <a:srgbClr val="D64545"/>
            </a:solidFill>
            <a:prstDash val="solid"/>
          </a:ln>
        </p:spPr>
      </p:sp>
      <p:sp>
        <p:nvSpPr>
          <p:cNvPr id="92" name="Shape 90"/>
          <p:cNvSpPr/>
          <p:nvPr/>
        </p:nvSpPr>
        <p:spPr>
          <a:xfrm>
            <a:off x="2170355" y="3630168"/>
            <a:ext cx="32004" cy="164592"/>
          </a:xfrm>
          <a:prstGeom prst="rect">
            <a:avLst/>
          </a:prstGeom>
          <a:solidFill>
            <a:srgbClr val="D64545"/>
          </a:solidFill>
          <a:ln w="12700">
            <a:solidFill>
              <a:srgbClr val="D64545"/>
            </a:solidFill>
            <a:prstDash val="solid"/>
          </a:ln>
        </p:spPr>
      </p:sp>
      <p:sp>
        <p:nvSpPr>
          <p:cNvPr id="93" name="Shape 91"/>
          <p:cNvSpPr/>
          <p:nvPr/>
        </p:nvSpPr>
        <p:spPr>
          <a:xfrm>
            <a:off x="2237591" y="3630168"/>
            <a:ext cx="32004" cy="164592"/>
          </a:xfrm>
          <a:prstGeom prst="rect">
            <a:avLst/>
          </a:prstGeom>
          <a:solidFill>
            <a:srgbClr val="8B4513"/>
          </a:solidFill>
          <a:ln w="12700">
            <a:solidFill>
              <a:srgbClr val="8B4513"/>
            </a:solidFill>
            <a:prstDash val="solid"/>
          </a:ln>
        </p:spPr>
      </p:sp>
      <p:sp>
        <p:nvSpPr>
          <p:cNvPr id="94" name="Shape 92"/>
          <p:cNvSpPr/>
          <p:nvPr/>
        </p:nvSpPr>
        <p:spPr>
          <a:xfrm>
            <a:off x="2341402" y="3630168"/>
            <a:ext cx="32004" cy="164592"/>
          </a:xfrm>
          <a:prstGeom prst="rect">
            <a:avLst/>
          </a:prstGeom>
          <a:solidFill>
            <a:srgbClr val="C9A227"/>
          </a:solidFill>
          <a:ln w="12700">
            <a:solidFill>
              <a:srgbClr val="C9A227"/>
            </a:solidFill>
            <a:prstDash val="solid"/>
          </a:ln>
        </p:spPr>
      </p:sp>
      <p:sp>
        <p:nvSpPr>
          <p:cNvPr id="95" name="Shape 93"/>
          <p:cNvSpPr/>
          <p:nvPr/>
        </p:nvSpPr>
        <p:spPr>
          <a:xfrm>
            <a:off x="2578608" y="3712464"/>
            <a:ext cx="73152" cy="0"/>
          </a:xfrm>
          <a:prstGeom prst="line">
            <a:avLst/>
          </a:prstGeom>
          <a:noFill/>
          <a:ln w="25400">
            <a:solidFill>
              <a:srgbClr val="9AA0A6"/>
            </a:solidFill>
            <a:prstDash val="solid"/>
          </a:ln>
        </p:spPr>
      </p:sp>
      <p:sp>
        <p:nvSpPr>
          <p:cNvPr id="96" name="Shape 94"/>
          <p:cNvSpPr/>
          <p:nvPr/>
        </p:nvSpPr>
        <p:spPr>
          <a:xfrm>
            <a:off x="2651760" y="3712464"/>
            <a:ext cx="219456" cy="0"/>
          </a:xfrm>
          <a:prstGeom prst="line">
            <a:avLst/>
          </a:prstGeom>
          <a:noFill/>
          <a:ln w="25400">
            <a:solidFill>
              <a:srgbClr val="9AA0A6"/>
            </a:solidFill>
            <a:prstDash val="solid"/>
          </a:ln>
        </p:spPr>
      </p:sp>
      <p:sp>
        <p:nvSpPr>
          <p:cNvPr id="97" name="Shape 95"/>
          <p:cNvSpPr/>
          <p:nvPr/>
        </p:nvSpPr>
        <p:spPr>
          <a:xfrm>
            <a:off x="3182112" y="3712464"/>
            <a:ext cx="109728" cy="0"/>
          </a:xfrm>
          <a:prstGeom prst="line">
            <a:avLst/>
          </a:prstGeom>
          <a:noFill/>
          <a:ln w="25400">
            <a:solidFill>
              <a:srgbClr val="9AA0A6"/>
            </a:solidFill>
            <a:prstDash val="solid"/>
          </a:ln>
        </p:spPr>
      </p:sp>
      <p:sp>
        <p:nvSpPr>
          <p:cNvPr id="98" name="Shape 96"/>
          <p:cNvSpPr/>
          <p:nvPr/>
        </p:nvSpPr>
        <p:spPr>
          <a:xfrm>
            <a:off x="2871216" y="3557016"/>
            <a:ext cx="310896" cy="310896"/>
          </a:xfrm>
          <a:prstGeom prst="ellipse">
            <a:avLst/>
          </a:prstGeom>
          <a:solidFill>
            <a:srgbClr val="F3F3F3"/>
          </a:solidFill>
          <a:ln w="19050">
            <a:solidFill>
              <a:srgbClr val="D64545"/>
            </a:solidFill>
            <a:prstDash val="solid"/>
          </a:ln>
        </p:spPr>
      </p:sp>
      <p:sp>
        <p:nvSpPr>
          <p:cNvPr id="99" name="Shape 97"/>
          <p:cNvSpPr/>
          <p:nvPr/>
        </p:nvSpPr>
        <p:spPr>
          <a:xfrm>
            <a:off x="3291840" y="3712464"/>
            <a:ext cx="640080" cy="0"/>
          </a:xfrm>
          <a:prstGeom prst="line">
            <a:avLst/>
          </a:prstGeom>
          <a:noFill/>
          <a:ln w="25400">
            <a:solidFill>
              <a:srgbClr val="1B1B1B"/>
            </a:solidFill>
            <a:prstDash val="solid"/>
          </a:ln>
        </p:spPr>
      </p:sp>
      <p:sp>
        <p:nvSpPr>
          <p:cNvPr id="100" name="Shape 98"/>
          <p:cNvSpPr/>
          <p:nvPr/>
        </p:nvSpPr>
        <p:spPr>
          <a:xfrm>
            <a:off x="1618488" y="4050792"/>
            <a:ext cx="274320" cy="0"/>
          </a:xfrm>
          <a:prstGeom prst="line">
            <a:avLst/>
          </a:prstGeom>
          <a:noFill/>
          <a:ln w="25400">
            <a:solidFill>
              <a:srgbClr val="8E44AD"/>
            </a:solidFill>
            <a:prstDash val="solid"/>
          </a:ln>
        </p:spPr>
      </p:sp>
      <p:sp>
        <p:nvSpPr>
          <p:cNvPr id="101" name="Shape 99"/>
          <p:cNvSpPr/>
          <p:nvPr/>
        </p:nvSpPr>
        <p:spPr>
          <a:xfrm>
            <a:off x="1892808" y="4050792"/>
            <a:ext cx="155448" cy="0"/>
          </a:xfrm>
          <a:prstGeom prst="line">
            <a:avLst/>
          </a:prstGeom>
          <a:noFill/>
          <a:ln w="25400">
            <a:solidFill>
              <a:srgbClr val="9AA0A6"/>
            </a:solidFill>
            <a:prstDash val="solid"/>
          </a:ln>
        </p:spPr>
      </p:sp>
      <p:sp>
        <p:nvSpPr>
          <p:cNvPr id="102" name="Shape 100"/>
          <p:cNvSpPr/>
          <p:nvPr/>
        </p:nvSpPr>
        <p:spPr>
          <a:xfrm>
            <a:off x="2423160" y="4050792"/>
            <a:ext cx="155448" cy="0"/>
          </a:xfrm>
          <a:prstGeom prst="line">
            <a:avLst/>
          </a:prstGeom>
          <a:noFill/>
          <a:ln w="25400">
            <a:solidFill>
              <a:srgbClr val="9AA0A6"/>
            </a:solidFill>
            <a:prstDash val="solid"/>
          </a:ln>
        </p:spPr>
      </p:sp>
      <p:sp>
        <p:nvSpPr>
          <p:cNvPr id="103" name="Shape 101"/>
          <p:cNvSpPr/>
          <p:nvPr/>
        </p:nvSpPr>
        <p:spPr>
          <a:xfrm>
            <a:off x="2048256" y="3968496"/>
            <a:ext cx="374904" cy="164592"/>
          </a:xfrm>
          <a:prstGeom prst="roundRect">
            <a:avLst>
              <a:gd name="adj" fmla="val 33333"/>
            </a:avLst>
          </a:prstGeom>
          <a:solidFill>
            <a:srgbClr val="E3C99A"/>
          </a:solidFill>
          <a:ln w="9525">
            <a:solidFill>
              <a:srgbClr val="B8986A"/>
            </a:solidFill>
            <a:prstDash val="solid"/>
          </a:ln>
        </p:spPr>
      </p:sp>
      <p:sp>
        <p:nvSpPr>
          <p:cNvPr id="104" name="Shape 102"/>
          <p:cNvSpPr/>
          <p:nvPr/>
        </p:nvSpPr>
        <p:spPr>
          <a:xfrm>
            <a:off x="2103120" y="3968496"/>
            <a:ext cx="32004" cy="164592"/>
          </a:xfrm>
          <a:prstGeom prst="rect">
            <a:avLst/>
          </a:prstGeom>
          <a:solidFill>
            <a:srgbClr val="D64545"/>
          </a:solidFill>
          <a:ln w="12700">
            <a:solidFill>
              <a:srgbClr val="D64545"/>
            </a:solidFill>
            <a:prstDash val="solid"/>
          </a:ln>
        </p:spPr>
      </p:sp>
      <p:sp>
        <p:nvSpPr>
          <p:cNvPr id="105" name="Shape 103"/>
          <p:cNvSpPr/>
          <p:nvPr/>
        </p:nvSpPr>
        <p:spPr>
          <a:xfrm>
            <a:off x="2170355" y="3968496"/>
            <a:ext cx="32004" cy="164592"/>
          </a:xfrm>
          <a:prstGeom prst="rect">
            <a:avLst/>
          </a:prstGeom>
          <a:solidFill>
            <a:srgbClr val="D64545"/>
          </a:solidFill>
          <a:ln w="12700">
            <a:solidFill>
              <a:srgbClr val="D64545"/>
            </a:solidFill>
            <a:prstDash val="solid"/>
          </a:ln>
        </p:spPr>
      </p:sp>
      <p:sp>
        <p:nvSpPr>
          <p:cNvPr id="106" name="Shape 104"/>
          <p:cNvSpPr/>
          <p:nvPr/>
        </p:nvSpPr>
        <p:spPr>
          <a:xfrm>
            <a:off x="2237591" y="3968496"/>
            <a:ext cx="32004" cy="164592"/>
          </a:xfrm>
          <a:prstGeom prst="rect">
            <a:avLst/>
          </a:prstGeom>
          <a:solidFill>
            <a:srgbClr val="8B4513"/>
          </a:solidFill>
          <a:ln w="12700">
            <a:solidFill>
              <a:srgbClr val="8B4513"/>
            </a:solidFill>
            <a:prstDash val="solid"/>
          </a:ln>
        </p:spPr>
      </p:sp>
      <p:sp>
        <p:nvSpPr>
          <p:cNvPr id="107" name="Shape 105"/>
          <p:cNvSpPr/>
          <p:nvPr/>
        </p:nvSpPr>
        <p:spPr>
          <a:xfrm>
            <a:off x="2341402" y="3968496"/>
            <a:ext cx="32004" cy="164592"/>
          </a:xfrm>
          <a:prstGeom prst="rect">
            <a:avLst/>
          </a:prstGeom>
          <a:solidFill>
            <a:srgbClr val="C9A227"/>
          </a:solidFill>
          <a:ln w="12700">
            <a:solidFill>
              <a:srgbClr val="C9A227"/>
            </a:solidFill>
            <a:prstDash val="solid"/>
          </a:ln>
        </p:spPr>
      </p:sp>
      <p:sp>
        <p:nvSpPr>
          <p:cNvPr id="108" name="Shape 106"/>
          <p:cNvSpPr/>
          <p:nvPr/>
        </p:nvSpPr>
        <p:spPr>
          <a:xfrm>
            <a:off x="2578608" y="4050792"/>
            <a:ext cx="73152" cy="0"/>
          </a:xfrm>
          <a:prstGeom prst="line">
            <a:avLst/>
          </a:prstGeom>
          <a:noFill/>
          <a:ln w="25400">
            <a:solidFill>
              <a:srgbClr val="9AA0A6"/>
            </a:solidFill>
            <a:prstDash val="solid"/>
          </a:ln>
        </p:spPr>
      </p:sp>
      <p:sp>
        <p:nvSpPr>
          <p:cNvPr id="109" name="Shape 107"/>
          <p:cNvSpPr/>
          <p:nvPr/>
        </p:nvSpPr>
        <p:spPr>
          <a:xfrm>
            <a:off x="2651760" y="4050792"/>
            <a:ext cx="219456" cy="0"/>
          </a:xfrm>
          <a:prstGeom prst="line">
            <a:avLst/>
          </a:prstGeom>
          <a:noFill/>
          <a:ln w="25400">
            <a:solidFill>
              <a:srgbClr val="9AA0A6"/>
            </a:solidFill>
            <a:prstDash val="solid"/>
          </a:ln>
        </p:spPr>
      </p:sp>
      <p:sp>
        <p:nvSpPr>
          <p:cNvPr id="110" name="Shape 108"/>
          <p:cNvSpPr/>
          <p:nvPr/>
        </p:nvSpPr>
        <p:spPr>
          <a:xfrm>
            <a:off x="3182112" y="4050792"/>
            <a:ext cx="109728" cy="0"/>
          </a:xfrm>
          <a:prstGeom prst="line">
            <a:avLst/>
          </a:prstGeom>
          <a:noFill/>
          <a:ln w="25400">
            <a:solidFill>
              <a:srgbClr val="9AA0A6"/>
            </a:solidFill>
            <a:prstDash val="solid"/>
          </a:ln>
        </p:spPr>
      </p:sp>
      <p:sp>
        <p:nvSpPr>
          <p:cNvPr id="111" name="Shape 109"/>
          <p:cNvSpPr/>
          <p:nvPr/>
        </p:nvSpPr>
        <p:spPr>
          <a:xfrm>
            <a:off x="2871216" y="3895344"/>
            <a:ext cx="310896" cy="310896"/>
          </a:xfrm>
          <a:prstGeom prst="ellipse">
            <a:avLst/>
          </a:prstGeom>
          <a:solidFill>
            <a:srgbClr val="F3F3F3"/>
          </a:solidFill>
          <a:ln w="19050">
            <a:solidFill>
              <a:srgbClr val="D64545"/>
            </a:solidFill>
            <a:prstDash val="solid"/>
          </a:ln>
        </p:spPr>
      </p:sp>
      <p:sp>
        <p:nvSpPr>
          <p:cNvPr id="112" name="Shape 110"/>
          <p:cNvSpPr/>
          <p:nvPr/>
        </p:nvSpPr>
        <p:spPr>
          <a:xfrm>
            <a:off x="3291840" y="4050792"/>
            <a:ext cx="640080" cy="0"/>
          </a:xfrm>
          <a:prstGeom prst="line">
            <a:avLst/>
          </a:prstGeom>
          <a:noFill/>
          <a:ln w="25400">
            <a:solidFill>
              <a:srgbClr val="1B1B1B"/>
            </a:solidFill>
            <a:prstDash val="solid"/>
          </a:ln>
        </p:spPr>
      </p:sp>
      <p:sp>
        <p:nvSpPr>
          <p:cNvPr id="113" name="Shape 111"/>
          <p:cNvSpPr/>
          <p:nvPr/>
        </p:nvSpPr>
        <p:spPr>
          <a:xfrm>
            <a:off x="1618488" y="2240280"/>
            <a:ext cx="2724912" cy="0"/>
          </a:xfrm>
          <a:prstGeom prst="line">
            <a:avLst/>
          </a:prstGeom>
          <a:noFill/>
          <a:ln w="38100">
            <a:solidFill>
              <a:srgbClr val="8E44AD"/>
            </a:solidFill>
            <a:prstDash val="solid"/>
          </a:ln>
        </p:spPr>
      </p:sp>
      <p:sp>
        <p:nvSpPr>
          <p:cNvPr id="114" name="Shape 112"/>
          <p:cNvSpPr/>
          <p:nvPr/>
        </p:nvSpPr>
        <p:spPr>
          <a:xfrm>
            <a:off x="4343400" y="2240280"/>
            <a:ext cx="0" cy="1709928"/>
          </a:xfrm>
          <a:prstGeom prst="line">
            <a:avLst/>
          </a:prstGeom>
          <a:noFill/>
          <a:ln w="38100">
            <a:solidFill>
              <a:srgbClr val="8E44AD"/>
            </a:solidFill>
            <a:prstDash val="solid"/>
          </a:ln>
        </p:spPr>
      </p:sp>
      <p:sp>
        <p:nvSpPr>
          <p:cNvPr id="115" name="Shape 113"/>
          <p:cNvSpPr/>
          <p:nvPr/>
        </p:nvSpPr>
        <p:spPr>
          <a:xfrm>
            <a:off x="4343400" y="3950208"/>
            <a:ext cx="228600" cy="0"/>
          </a:xfrm>
          <a:prstGeom prst="line">
            <a:avLst/>
          </a:prstGeom>
          <a:noFill/>
          <a:ln w="38100">
            <a:solidFill>
              <a:srgbClr val="8E44AD"/>
            </a:solidFill>
            <a:prstDash val="solid"/>
          </a:ln>
        </p:spPr>
      </p:sp>
      <p:sp>
        <p:nvSpPr>
          <p:cNvPr id="116" name="Shape 114"/>
          <p:cNvSpPr/>
          <p:nvPr/>
        </p:nvSpPr>
        <p:spPr>
          <a:xfrm>
            <a:off x="4206240" y="3767328"/>
            <a:ext cx="365760" cy="0"/>
          </a:xfrm>
          <a:prstGeom prst="line">
            <a:avLst/>
          </a:prstGeom>
          <a:noFill/>
          <a:ln w="31750">
            <a:solidFill>
              <a:srgbClr val="D64545"/>
            </a:solidFill>
            <a:prstDash val="dash"/>
          </a:ln>
        </p:spPr>
      </p:sp>
      <p:sp>
        <p:nvSpPr>
          <p:cNvPr id="117" name="Shape 115"/>
          <p:cNvSpPr/>
          <p:nvPr/>
        </p:nvSpPr>
        <p:spPr>
          <a:xfrm>
            <a:off x="4169664" y="3730752"/>
            <a:ext cx="73152" cy="73152"/>
          </a:xfrm>
          <a:prstGeom prst="ellipse">
            <a:avLst/>
          </a:prstGeom>
          <a:solidFill>
            <a:srgbClr val="D64545"/>
          </a:solidFill>
          <a:ln w="12700">
            <a:solidFill>
              <a:srgbClr val="D64545"/>
            </a:solidFill>
            <a:prstDash val="solid"/>
          </a:ln>
        </p:spPr>
      </p:sp>
      <p:sp>
        <p:nvSpPr>
          <p:cNvPr id="118" name="Shape 116"/>
          <p:cNvSpPr/>
          <p:nvPr/>
        </p:nvSpPr>
        <p:spPr>
          <a:xfrm>
            <a:off x="3931920" y="4069080"/>
            <a:ext cx="640080" cy="0"/>
          </a:xfrm>
          <a:prstGeom prst="line">
            <a:avLst/>
          </a:prstGeom>
          <a:noFill/>
          <a:ln w="31750">
            <a:solidFill>
              <a:srgbClr val="1B1B1B"/>
            </a:solidFill>
            <a:prstDash val="solid"/>
          </a:ln>
        </p:spPr>
      </p:sp>
      <p:sp>
        <p:nvSpPr>
          <p:cNvPr id="119" name="Shape 117"/>
          <p:cNvSpPr/>
          <p:nvPr/>
        </p:nvSpPr>
        <p:spPr>
          <a:xfrm>
            <a:off x="4572000" y="3566160"/>
            <a:ext cx="731520" cy="566928"/>
          </a:xfrm>
          <a:prstGeom prst="roundRect">
            <a:avLst>
              <a:gd name="adj" fmla="val 8065"/>
            </a:avLst>
          </a:prstGeom>
          <a:solidFill>
            <a:srgbClr val="1F6FB2"/>
          </a:solidFill>
          <a:ln w="12700">
            <a:solidFill>
              <a:srgbClr val="16568C"/>
            </a:solidFill>
            <a:prstDash val="solid"/>
          </a:ln>
        </p:spPr>
      </p:sp>
      <p:sp>
        <p:nvSpPr>
          <p:cNvPr id="120" name="Shape 118"/>
          <p:cNvSpPr/>
          <p:nvPr/>
        </p:nvSpPr>
        <p:spPr>
          <a:xfrm>
            <a:off x="4425696" y="3657600"/>
            <a:ext cx="146304" cy="128016"/>
          </a:xfrm>
          <a:prstGeom prst="rect">
            <a:avLst/>
          </a:prstGeom>
          <a:solidFill>
            <a:srgbClr val="1F6FB2"/>
          </a:solidFill>
          <a:ln w="12700">
            <a:solidFill>
              <a:srgbClr val="16568C"/>
            </a:solidFill>
            <a:prstDash val="solid"/>
          </a:ln>
        </p:spPr>
      </p:sp>
      <p:sp>
        <p:nvSpPr>
          <p:cNvPr id="121" name="Shape 119"/>
          <p:cNvSpPr/>
          <p:nvPr/>
        </p:nvSpPr>
        <p:spPr>
          <a:xfrm>
            <a:off x="5303520" y="3657600"/>
            <a:ext cx="146304" cy="128016"/>
          </a:xfrm>
          <a:prstGeom prst="rect">
            <a:avLst/>
          </a:prstGeom>
          <a:solidFill>
            <a:srgbClr val="1F6FB2"/>
          </a:solidFill>
          <a:ln w="12700">
            <a:solidFill>
              <a:srgbClr val="16568C"/>
            </a:solidFill>
            <a:prstDash val="solid"/>
          </a:ln>
        </p:spPr>
      </p:sp>
      <p:sp>
        <p:nvSpPr>
          <p:cNvPr id="122" name="Shape 120"/>
          <p:cNvSpPr/>
          <p:nvPr/>
        </p:nvSpPr>
        <p:spPr>
          <a:xfrm>
            <a:off x="4690872" y="3584448"/>
            <a:ext cx="219456" cy="219456"/>
          </a:xfrm>
          <a:prstGeom prst="ellipse">
            <a:avLst/>
          </a:prstGeom>
          <a:solidFill>
            <a:srgbClr val="ECEFF1"/>
          </a:solidFill>
          <a:ln w="12700">
            <a:solidFill>
              <a:srgbClr val="90A4AE"/>
            </a:solidFill>
            <a:prstDash val="solid"/>
          </a:ln>
        </p:spPr>
      </p:sp>
      <p:sp>
        <p:nvSpPr>
          <p:cNvPr id="123" name="Shape 121"/>
          <p:cNvSpPr/>
          <p:nvPr/>
        </p:nvSpPr>
        <p:spPr>
          <a:xfrm>
            <a:off x="4800600" y="3191256"/>
            <a:ext cx="0" cy="502920"/>
          </a:xfrm>
          <a:prstGeom prst="line">
            <a:avLst/>
          </a:prstGeom>
          <a:noFill/>
          <a:ln w="76200">
            <a:solidFill>
              <a:srgbClr val="ECEFF1"/>
            </a:solidFill>
            <a:prstDash val="solid"/>
          </a:ln>
        </p:spPr>
      </p:sp>
      <p:sp>
        <p:nvSpPr>
          <p:cNvPr id="124" name="Shape 122"/>
          <p:cNvSpPr/>
          <p:nvPr/>
        </p:nvSpPr>
        <p:spPr>
          <a:xfrm>
            <a:off x="4754880" y="3648456"/>
            <a:ext cx="91440" cy="91440"/>
          </a:xfrm>
          <a:prstGeom prst="ellipse">
            <a:avLst/>
          </a:prstGeom>
          <a:solidFill>
            <a:srgbClr val="607D8B"/>
          </a:solidFill>
          <a:ln w="12700">
            <a:solidFill>
              <a:srgbClr val="607D8B"/>
            </a:solidFill>
            <a:prstDash val="solid"/>
          </a:ln>
        </p:spPr>
      </p:sp>
      <p:sp>
        <p:nvSpPr>
          <p:cNvPr id="125" name="Text 123"/>
          <p:cNvSpPr txBox="1"/>
          <p:nvPr/>
        </p:nvSpPr>
        <p:spPr>
          <a:xfrm>
            <a:off x="4526280" y="4169664"/>
            <a:ext cx="822960" cy="182880"/>
          </a:xfrm>
          <a:prstGeom prst="rect">
            <a:avLst/>
          </a:prstGeom>
          <a:noFill/>
          <a:ln/>
        </p:spPr>
        <p:txBody>
          <a:bodyPr wrap="square" lIns="0" tIns="0" rIns="0" bIns="0" rtlCol="0" anchor="ctr"/>
          <a:lstStyle/>
          <a:p>
            <a:pPr algn="ctr" indent="0" marL="0">
              <a:buNone/>
            </a:pPr>
            <a:r>
              <a:rPr lang="en-US" sz="1000" b="1" dirty="0">
                <a:solidFill>
                  <a:srgbClr val="1B1B1B"/>
                </a:solidFill>
              </a:rPr>
              <a:t>servo</a:t>
            </a:r>
            <a:endParaRPr lang="en-US" sz="1000" dirty="0"/>
          </a:p>
        </p:txBody>
      </p:sp>
      <p:sp>
        <p:nvSpPr>
          <p:cNvPr id="126" name="Shape 124"/>
          <p:cNvSpPr/>
          <p:nvPr/>
        </p:nvSpPr>
        <p:spPr>
          <a:xfrm>
            <a:off x="3931920" y="2697480"/>
            <a:ext cx="0" cy="1673352"/>
          </a:xfrm>
          <a:prstGeom prst="line">
            <a:avLst/>
          </a:prstGeom>
          <a:noFill/>
          <a:ln w="31750">
            <a:solidFill>
              <a:srgbClr val="1B1B1B"/>
            </a:solidFill>
            <a:prstDash val="solid"/>
          </a:ln>
        </p:spPr>
      </p:sp>
      <p:sp>
        <p:nvSpPr>
          <p:cNvPr id="127" name="Shape 125"/>
          <p:cNvSpPr/>
          <p:nvPr/>
        </p:nvSpPr>
        <p:spPr>
          <a:xfrm>
            <a:off x="1618488" y="4370832"/>
            <a:ext cx="2313432" cy="0"/>
          </a:xfrm>
          <a:prstGeom prst="line">
            <a:avLst/>
          </a:prstGeom>
          <a:noFill/>
          <a:ln w="31750">
            <a:solidFill>
              <a:srgbClr val="1B1B1B"/>
            </a:solidFill>
            <a:prstDash val="solid"/>
          </a:ln>
        </p:spPr>
      </p:sp>
      <p:sp>
        <p:nvSpPr>
          <p:cNvPr id="128" name="Text 126"/>
          <p:cNvSpPr txBox="1"/>
          <p:nvPr/>
        </p:nvSpPr>
        <p:spPr>
          <a:xfrm>
            <a:off x="365760" y="4526280"/>
            <a:ext cx="5303520" cy="228600"/>
          </a:xfrm>
          <a:prstGeom prst="rect">
            <a:avLst/>
          </a:prstGeom>
          <a:noFill/>
          <a:ln/>
        </p:spPr>
        <p:txBody>
          <a:bodyPr wrap="square" lIns="0" tIns="0" rIns="0" bIns="0" rtlCol="0" anchor="ctr"/>
          <a:lstStyle/>
          <a:p>
            <a:pPr indent="0" marL="0">
              <a:buNone/>
            </a:pPr>
            <a:r>
              <a:rPr lang="en-US" sz="1000" i="1" dirty="0">
                <a:solidFill>
                  <a:srgbClr val="6B7280"/>
                </a:solidFill>
              </a:rPr>
              <a:t>Dashed red: the servo's power wire goes to the breadboard's 5V rail, the same rail as the sensor.</a:t>
            </a:r>
            <a:endParaRPr lang="en-US" sz="1000" dirty="0"/>
          </a:p>
        </p:txBody>
      </p:sp>
      <p:pic>
        <p:nvPicPr>
          <p:cNvPr id="129" name="Image 0" descr="ESP32 pinout from Lesson 1">    </p:cNvPr>
          <p:cNvPicPr>
            <a:picLocks noChangeAspect="1"/>
          </p:cNvPicPr>
          <p:nvPr/>
        </p:nvPicPr>
        <p:blipFill>
          <a:blip r:embed="rId1"/>
          <a:stretch>
            <a:fillRect/>
          </a:stretch>
        </p:blipFill>
        <p:spPr>
          <a:xfrm>
            <a:off x="5897880" y="914400"/>
            <a:ext cx="2708910" cy="3611880"/>
          </a:xfrm>
          <a:prstGeom prst="rect">
            <a:avLst/>
          </a:prstGeom>
        </p:spPr>
      </p:pic>
      <p:sp>
        <p:nvSpPr>
          <p:cNvPr id="130" name="Shape 127"/>
          <p:cNvSpPr/>
          <p:nvPr/>
        </p:nvSpPr>
        <p:spPr>
          <a:xfrm>
            <a:off x="8262564" y="2914903"/>
            <a:ext cx="329260" cy="109753"/>
          </a:xfrm>
          <a:prstGeom prst="roundRect">
            <a:avLst>
              <a:gd name="adj" fmla="val 33326"/>
            </a:avLst>
          </a:prstGeom>
          <a:solidFill>
            <a:srgbClr val="C98C00">
              <a:alpha val="25000"/>
            </a:srgbClr>
          </a:solidFill>
          <a:ln w="25400">
            <a:solidFill>
              <a:srgbClr val="C98C00"/>
            </a:solidFill>
            <a:prstDash val="solid"/>
          </a:ln>
        </p:spPr>
      </p:sp>
      <p:sp>
        <p:nvSpPr>
          <p:cNvPr id="131" name="Shape 128"/>
          <p:cNvSpPr/>
          <p:nvPr/>
        </p:nvSpPr>
        <p:spPr>
          <a:xfrm>
            <a:off x="8262564" y="2805149"/>
            <a:ext cx="329260" cy="109753"/>
          </a:xfrm>
          <a:prstGeom prst="roundRect">
            <a:avLst>
              <a:gd name="adj" fmla="val 33326"/>
            </a:avLst>
          </a:prstGeom>
          <a:solidFill>
            <a:srgbClr val="C98C00">
              <a:alpha val="25000"/>
            </a:srgbClr>
          </a:solidFill>
          <a:ln w="25400">
            <a:solidFill>
              <a:srgbClr val="C98C00"/>
            </a:solidFill>
            <a:prstDash val="solid"/>
          </a:ln>
        </p:spPr>
      </p:sp>
      <p:sp>
        <p:nvSpPr>
          <p:cNvPr id="132" name="Shape 129"/>
          <p:cNvSpPr/>
          <p:nvPr/>
        </p:nvSpPr>
        <p:spPr>
          <a:xfrm>
            <a:off x="8262564" y="2590632"/>
            <a:ext cx="329260" cy="109753"/>
          </a:xfrm>
          <a:prstGeom prst="roundRect">
            <a:avLst>
              <a:gd name="adj" fmla="val 33326"/>
            </a:avLst>
          </a:prstGeom>
          <a:solidFill>
            <a:srgbClr val="C98C00">
              <a:alpha val="25000"/>
            </a:srgbClr>
          </a:solidFill>
          <a:ln w="25400">
            <a:solidFill>
              <a:srgbClr val="C98C00"/>
            </a:solidFill>
            <a:prstDash val="solid"/>
          </a:ln>
        </p:spPr>
      </p:sp>
      <p:sp>
        <p:nvSpPr>
          <p:cNvPr id="133" name="Shape 130"/>
          <p:cNvSpPr/>
          <p:nvPr/>
        </p:nvSpPr>
        <p:spPr>
          <a:xfrm>
            <a:off x="8262564" y="2485867"/>
            <a:ext cx="329260" cy="109753"/>
          </a:xfrm>
          <a:prstGeom prst="roundRect">
            <a:avLst>
              <a:gd name="adj" fmla="val 33326"/>
            </a:avLst>
          </a:prstGeom>
          <a:solidFill>
            <a:srgbClr val="C98C00">
              <a:alpha val="25000"/>
            </a:srgbClr>
          </a:solidFill>
          <a:ln w="25400">
            <a:solidFill>
              <a:srgbClr val="C98C00"/>
            </a:solidFill>
            <a:prstDash val="solid"/>
          </a:ln>
        </p:spPr>
      </p:sp>
      <p:sp>
        <p:nvSpPr>
          <p:cNvPr id="134" name="Shape 131"/>
          <p:cNvSpPr/>
          <p:nvPr/>
        </p:nvSpPr>
        <p:spPr>
          <a:xfrm>
            <a:off x="8262564" y="1837325"/>
            <a:ext cx="329260" cy="109753"/>
          </a:xfrm>
          <a:prstGeom prst="roundRect">
            <a:avLst>
              <a:gd name="adj" fmla="val 33326"/>
            </a:avLst>
          </a:prstGeom>
          <a:solidFill>
            <a:srgbClr val="C98C00">
              <a:alpha val="25000"/>
            </a:srgbClr>
          </a:solidFill>
          <a:ln w="25400">
            <a:solidFill>
              <a:srgbClr val="C98C00"/>
            </a:solidFill>
            <a:prstDash val="solid"/>
          </a:ln>
        </p:spPr>
      </p:sp>
      <p:sp>
        <p:nvSpPr>
          <p:cNvPr id="135" name="Shape 132"/>
          <p:cNvSpPr/>
          <p:nvPr/>
        </p:nvSpPr>
        <p:spPr>
          <a:xfrm>
            <a:off x="6207185" y="3688164"/>
            <a:ext cx="309305" cy="109753"/>
          </a:xfrm>
          <a:prstGeom prst="roundRect">
            <a:avLst>
              <a:gd name="adj" fmla="val 33326"/>
            </a:avLst>
          </a:prstGeom>
          <a:solidFill>
            <a:srgbClr val="D64545">
              <a:alpha val="25000"/>
            </a:srgbClr>
          </a:solidFill>
          <a:ln w="25400">
            <a:solidFill>
              <a:srgbClr val="D64545"/>
            </a:solidFill>
            <a:prstDash val="solid"/>
          </a:ln>
        </p:spPr>
      </p:sp>
      <p:sp>
        <p:nvSpPr>
          <p:cNvPr id="136" name="Shape 133"/>
          <p:cNvSpPr/>
          <p:nvPr/>
        </p:nvSpPr>
        <p:spPr>
          <a:xfrm>
            <a:off x="6207185" y="3254140"/>
            <a:ext cx="309305" cy="109753"/>
          </a:xfrm>
          <a:prstGeom prst="roundRect">
            <a:avLst>
              <a:gd name="adj" fmla="val 33326"/>
            </a:avLst>
          </a:prstGeom>
          <a:solidFill>
            <a:srgbClr val="00A3A3">
              <a:alpha val="25000"/>
            </a:srgbClr>
          </a:solidFill>
          <a:ln w="25400">
            <a:solidFill>
              <a:srgbClr val="00A3A3"/>
            </a:solidFill>
            <a:prstDash val="solid"/>
          </a:ln>
        </p:spPr>
      </p:sp>
      <p:sp>
        <p:nvSpPr>
          <p:cNvPr id="137" name="Shape 134"/>
          <p:cNvSpPr/>
          <p:nvPr/>
        </p:nvSpPr>
        <p:spPr>
          <a:xfrm>
            <a:off x="6207185" y="2924880"/>
            <a:ext cx="309305" cy="109753"/>
          </a:xfrm>
          <a:prstGeom prst="roundRect">
            <a:avLst>
              <a:gd name="adj" fmla="val 33326"/>
            </a:avLst>
          </a:prstGeom>
          <a:solidFill>
            <a:srgbClr val="C2185B">
              <a:alpha val="25000"/>
            </a:srgbClr>
          </a:solidFill>
          <a:ln w="25400">
            <a:solidFill>
              <a:srgbClr val="C2185B"/>
            </a:solidFill>
            <a:prstDash val="solid"/>
          </a:ln>
        </p:spPr>
      </p:sp>
      <p:sp>
        <p:nvSpPr>
          <p:cNvPr id="138" name="Shape 135"/>
          <p:cNvSpPr/>
          <p:nvPr/>
        </p:nvSpPr>
        <p:spPr>
          <a:xfrm>
            <a:off x="6207185" y="3149375"/>
            <a:ext cx="309305" cy="109753"/>
          </a:xfrm>
          <a:prstGeom prst="roundRect">
            <a:avLst>
              <a:gd name="adj" fmla="val 33326"/>
            </a:avLst>
          </a:prstGeom>
          <a:solidFill>
            <a:srgbClr val="1B1B1B">
              <a:alpha val="25000"/>
            </a:srgbClr>
          </a:solidFill>
          <a:ln w="25400">
            <a:solidFill>
              <a:srgbClr val="1B1B1B"/>
            </a:solidFill>
            <a:prstDash val="solid"/>
          </a:ln>
        </p:spPr>
      </p:sp>
      <p:sp>
        <p:nvSpPr>
          <p:cNvPr id="139" name="Shape 136"/>
          <p:cNvSpPr/>
          <p:nvPr/>
        </p:nvSpPr>
        <p:spPr>
          <a:xfrm>
            <a:off x="8262564" y="1617819"/>
            <a:ext cx="329260" cy="109753"/>
          </a:xfrm>
          <a:prstGeom prst="roundRect">
            <a:avLst>
              <a:gd name="adj" fmla="val 33326"/>
            </a:avLst>
          </a:prstGeom>
          <a:solidFill>
            <a:srgbClr val="1B1B1B">
              <a:alpha val="25000"/>
            </a:srgbClr>
          </a:solidFill>
          <a:ln w="25400">
            <a:solidFill>
              <a:srgbClr val="1B1B1B"/>
            </a:solidFill>
            <a:prstDash val="solid"/>
          </a:ln>
        </p:spPr>
      </p:sp>
      <p:sp>
        <p:nvSpPr>
          <p:cNvPr id="140" name="Shape 137"/>
          <p:cNvSpPr/>
          <p:nvPr/>
        </p:nvSpPr>
        <p:spPr>
          <a:xfrm>
            <a:off x="6207185" y="2710362"/>
            <a:ext cx="309305" cy="109753"/>
          </a:xfrm>
          <a:prstGeom prst="roundRect">
            <a:avLst>
              <a:gd name="adj" fmla="val 33326"/>
            </a:avLst>
          </a:prstGeom>
          <a:solidFill>
            <a:srgbClr val="8E44AD">
              <a:alpha val="25000"/>
            </a:srgbClr>
          </a:solidFill>
          <a:ln w="25400">
            <a:solidFill>
              <a:srgbClr val="8E44AD"/>
            </a:solidFill>
            <a:prstDash val="solid"/>
          </a:ln>
        </p:spPr>
      </p:sp>
      <p:sp>
        <p:nvSpPr>
          <p:cNvPr id="141" name="Text 138"/>
          <p:cNvSpPr txBox="1"/>
          <p:nvPr/>
        </p:nvSpPr>
        <p:spPr>
          <a:xfrm>
            <a:off x="5577840" y="4526280"/>
            <a:ext cx="3200400" cy="201168"/>
          </a:xfrm>
          <a:prstGeom prst="rect">
            <a:avLst/>
          </a:prstGeom>
          <a:noFill/>
          <a:ln/>
        </p:spPr>
        <p:txBody>
          <a:bodyPr wrap="square" lIns="0" tIns="0" rIns="0" bIns="0" rtlCol="0" anchor="ctr"/>
          <a:lstStyle/>
          <a:p>
            <a:pPr indent="0" marL="0">
              <a:buNone/>
            </a:pPr>
            <a:r>
              <a:rPr lang="en-US" sz="1000" i="1" dirty="0">
                <a:solidFill>
                  <a:srgbClr val="6B7280"/>
                </a:solidFill>
              </a:rPr>
              <a:t>Outlined: every pin used today. Purple = servo.</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Step 4: open it from your phone</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4</a:t>
            </a:r>
            <a:endParaRPr lang="en-US" sz="2000" dirty="0"/>
          </a:p>
        </p:txBody>
      </p:sp>
      <p:sp>
        <p:nvSpPr>
          <p:cNvPr id="6" name="Shape 4"/>
          <p:cNvSpPr/>
          <p:nvPr/>
        </p:nvSpPr>
        <p:spPr>
          <a:xfrm>
            <a:off x="457200" y="1188720"/>
            <a:ext cx="1371600" cy="640080"/>
          </a:xfrm>
          <a:prstGeom prst="roundRect">
            <a:avLst>
              <a:gd name="adj" fmla="val 11429"/>
            </a:avLst>
          </a:prstGeom>
          <a:solidFill>
            <a:srgbClr val="2B6CB0"/>
          </a:solidFill>
          <a:ln w="12700">
            <a:solidFill>
              <a:srgbClr val="2B6CB0"/>
            </a:solidFill>
            <a:prstDash val="solid"/>
          </a:ln>
        </p:spPr>
      </p:sp>
      <p:sp>
        <p:nvSpPr>
          <p:cNvPr id="7" name="Text 5"/>
          <p:cNvSpPr txBox="1"/>
          <p:nvPr/>
        </p:nvSpPr>
        <p:spPr>
          <a:xfrm>
            <a:off x="457200" y="118872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rPr>
              <a:t>Your phone</a:t>
            </a:r>
            <a:endParaRPr lang="en-US" sz="1300" dirty="0"/>
          </a:p>
        </p:txBody>
      </p:sp>
      <p:sp>
        <p:nvSpPr>
          <p:cNvPr id="8" name="Shape 6"/>
          <p:cNvSpPr/>
          <p:nvPr/>
        </p:nvSpPr>
        <p:spPr>
          <a:xfrm>
            <a:off x="1847088" y="1508760"/>
            <a:ext cx="182880" cy="0"/>
          </a:xfrm>
          <a:prstGeom prst="line">
            <a:avLst/>
          </a:prstGeom>
          <a:noFill/>
          <a:ln w="25400">
            <a:solidFill>
              <a:srgbClr val="6B7280"/>
            </a:solidFill>
            <a:prstDash val="solid"/>
            <a:tailEnd type="triangle"/>
          </a:ln>
        </p:spPr>
      </p:sp>
      <p:sp>
        <p:nvSpPr>
          <p:cNvPr id="9" name="Shape 7"/>
          <p:cNvSpPr/>
          <p:nvPr/>
        </p:nvSpPr>
        <p:spPr>
          <a:xfrm>
            <a:off x="2057400" y="1188720"/>
            <a:ext cx="1371600" cy="640080"/>
          </a:xfrm>
          <a:prstGeom prst="roundRect">
            <a:avLst>
              <a:gd name="adj" fmla="val 11429"/>
            </a:avLst>
          </a:prstGeom>
          <a:solidFill>
            <a:srgbClr val="6B7280"/>
          </a:solidFill>
          <a:ln w="12700">
            <a:solidFill>
              <a:srgbClr val="6B7280"/>
            </a:solidFill>
            <a:prstDash val="solid"/>
          </a:ln>
        </p:spPr>
      </p:sp>
      <p:sp>
        <p:nvSpPr>
          <p:cNvPr id="10" name="Text 8"/>
          <p:cNvSpPr txBox="1"/>
          <p:nvPr/>
        </p:nvSpPr>
        <p:spPr>
          <a:xfrm>
            <a:off x="2057400" y="118872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rPr>
              <a:t>class Wi-Fi</a:t>
            </a:r>
            <a:endParaRPr lang="en-US" sz="1300" dirty="0"/>
          </a:p>
        </p:txBody>
      </p:sp>
      <p:sp>
        <p:nvSpPr>
          <p:cNvPr id="11" name="Shape 9"/>
          <p:cNvSpPr/>
          <p:nvPr/>
        </p:nvSpPr>
        <p:spPr>
          <a:xfrm>
            <a:off x="3447288" y="1508760"/>
            <a:ext cx="182880" cy="0"/>
          </a:xfrm>
          <a:prstGeom prst="line">
            <a:avLst/>
          </a:prstGeom>
          <a:noFill/>
          <a:ln w="25400">
            <a:solidFill>
              <a:srgbClr val="6B7280"/>
            </a:solidFill>
            <a:prstDash val="solid"/>
            <a:tailEnd type="triangle"/>
          </a:ln>
        </p:spPr>
      </p:sp>
      <p:sp>
        <p:nvSpPr>
          <p:cNvPr id="12" name="Shape 10"/>
          <p:cNvSpPr/>
          <p:nvPr/>
        </p:nvSpPr>
        <p:spPr>
          <a:xfrm>
            <a:off x="3657600" y="1188720"/>
            <a:ext cx="1371600" cy="640080"/>
          </a:xfrm>
          <a:prstGeom prst="roundRect">
            <a:avLst>
              <a:gd name="adj" fmla="val 11429"/>
            </a:avLst>
          </a:prstGeom>
          <a:solidFill>
            <a:srgbClr val="0B3D2E"/>
          </a:solidFill>
          <a:ln w="12700">
            <a:solidFill>
              <a:srgbClr val="0B3D2E"/>
            </a:solidFill>
            <a:prstDash val="solid"/>
          </a:ln>
        </p:spPr>
      </p:sp>
      <p:sp>
        <p:nvSpPr>
          <p:cNvPr id="13" name="Text 11"/>
          <p:cNvSpPr txBox="1"/>
          <p:nvPr/>
        </p:nvSpPr>
        <p:spPr>
          <a:xfrm>
            <a:off x="3657600" y="118872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rPr>
              <a:t>your ESP32</a:t>
            </a:r>
            <a:endParaRPr lang="en-US" sz="1300" dirty="0"/>
          </a:p>
        </p:txBody>
      </p:sp>
      <p:sp>
        <p:nvSpPr>
          <p:cNvPr id="14" name="Shape 12"/>
          <p:cNvSpPr/>
          <p:nvPr/>
        </p:nvSpPr>
        <p:spPr>
          <a:xfrm>
            <a:off x="5047488" y="1508760"/>
            <a:ext cx="182880" cy="0"/>
          </a:xfrm>
          <a:prstGeom prst="line">
            <a:avLst/>
          </a:prstGeom>
          <a:noFill/>
          <a:ln w="25400">
            <a:solidFill>
              <a:srgbClr val="6B7280"/>
            </a:solidFill>
            <a:prstDash val="solid"/>
            <a:tailEnd type="triangle"/>
          </a:ln>
        </p:spPr>
      </p:sp>
      <p:sp>
        <p:nvSpPr>
          <p:cNvPr id="15" name="Shape 13"/>
          <p:cNvSpPr/>
          <p:nvPr/>
        </p:nvSpPr>
        <p:spPr>
          <a:xfrm>
            <a:off x="5257800" y="1188720"/>
            <a:ext cx="1371600" cy="640080"/>
          </a:xfrm>
          <a:prstGeom prst="roundRect">
            <a:avLst>
              <a:gd name="adj" fmla="val 11429"/>
            </a:avLst>
          </a:prstGeom>
          <a:solidFill>
            <a:srgbClr val="8E44AD"/>
          </a:solidFill>
          <a:ln w="12700">
            <a:solidFill>
              <a:srgbClr val="8E44AD"/>
            </a:solidFill>
            <a:prstDash val="solid"/>
          </a:ln>
        </p:spPr>
      </p:sp>
      <p:sp>
        <p:nvSpPr>
          <p:cNvPr id="16" name="Text 14"/>
          <p:cNvSpPr txBox="1"/>
          <p:nvPr/>
        </p:nvSpPr>
        <p:spPr>
          <a:xfrm>
            <a:off x="5257800" y="118872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rPr>
              <a:t>the servo</a:t>
            </a:r>
            <a:endParaRPr lang="en-US" sz="1300" dirty="0"/>
          </a:p>
        </p:txBody>
      </p:sp>
      <p:sp>
        <p:nvSpPr>
          <p:cNvPr id="17" name="Text 15"/>
          <p:cNvSpPr txBox="1"/>
          <p:nvPr/>
        </p:nvSpPr>
        <p:spPr>
          <a:xfrm>
            <a:off x="457200" y="2011680"/>
            <a:ext cx="5760720" cy="640080"/>
          </a:xfrm>
          <a:prstGeom prst="rect">
            <a:avLst/>
          </a:prstGeom>
          <a:noFill/>
          <a:ln/>
        </p:spPr>
        <p:txBody>
          <a:bodyPr wrap="square" lIns="0" tIns="0" rIns="0" bIns="0" rtlCol="0" anchor="t"/>
          <a:lstStyle/>
          <a:p>
            <a:pPr indent="0" marL="0">
              <a:buNone/>
            </a:pPr>
            <a:r>
              <a:rPr lang="en-US" sz="1500" dirty="0">
                <a:solidFill>
                  <a:srgbClr val="1B1B1B"/>
                </a:solidFill>
              </a:rPr>
              <a:t>Every board gets its own address, like 10.0.0.37. Yours is printed in the Shell when the program starts.</a:t>
            </a:r>
            <a:endParaRPr lang="en-US" sz="1500" dirty="0"/>
          </a:p>
        </p:txBody>
      </p:sp>
      <p:sp>
        <p:nvSpPr>
          <p:cNvPr id="18" name="Shape 16"/>
          <p:cNvSpPr/>
          <p:nvPr/>
        </p:nvSpPr>
        <p:spPr>
          <a:xfrm>
            <a:off x="457200" y="2697480"/>
            <a:ext cx="5760720" cy="914400"/>
          </a:xfrm>
          <a:prstGeom prst="roundRect">
            <a:avLst>
              <a:gd name="adj" fmla="val 8000"/>
            </a:avLst>
          </a:prstGeom>
          <a:solidFill>
            <a:srgbClr val="1E1E1E"/>
          </a:solidFill>
          <a:ln w="12700">
            <a:solidFill>
              <a:srgbClr val="3A3A3A"/>
            </a:solidFill>
            <a:prstDash val="solid"/>
          </a:ln>
        </p:spPr>
      </p:sp>
      <p:sp>
        <p:nvSpPr>
          <p:cNvPr id="19" name="Shape 17"/>
          <p:cNvSpPr/>
          <p:nvPr/>
        </p:nvSpPr>
        <p:spPr>
          <a:xfrm>
            <a:off x="594360" y="2788920"/>
            <a:ext cx="118872" cy="118872"/>
          </a:xfrm>
          <a:prstGeom prst="ellipse">
            <a:avLst/>
          </a:prstGeom>
          <a:solidFill>
            <a:srgbClr val="FF5F57"/>
          </a:solidFill>
          <a:ln w="12700">
            <a:solidFill>
              <a:srgbClr val="FF5F57"/>
            </a:solidFill>
            <a:prstDash val="solid"/>
          </a:ln>
        </p:spPr>
      </p:sp>
      <p:sp>
        <p:nvSpPr>
          <p:cNvPr id="20" name="Shape 18"/>
          <p:cNvSpPr/>
          <p:nvPr/>
        </p:nvSpPr>
        <p:spPr>
          <a:xfrm>
            <a:off x="777240" y="2788920"/>
            <a:ext cx="118872" cy="118872"/>
          </a:xfrm>
          <a:prstGeom prst="ellipse">
            <a:avLst/>
          </a:prstGeom>
          <a:solidFill>
            <a:srgbClr val="FEBC2E"/>
          </a:solidFill>
          <a:ln w="12700">
            <a:solidFill>
              <a:srgbClr val="FEBC2E"/>
            </a:solidFill>
            <a:prstDash val="solid"/>
          </a:ln>
        </p:spPr>
      </p:sp>
      <p:sp>
        <p:nvSpPr>
          <p:cNvPr id="21" name="Shape 19"/>
          <p:cNvSpPr/>
          <p:nvPr/>
        </p:nvSpPr>
        <p:spPr>
          <a:xfrm>
            <a:off x="960120" y="2788920"/>
            <a:ext cx="118872" cy="118872"/>
          </a:xfrm>
          <a:prstGeom prst="ellipse">
            <a:avLst/>
          </a:prstGeom>
          <a:solidFill>
            <a:srgbClr val="28C840"/>
          </a:solidFill>
          <a:ln w="12700">
            <a:solidFill>
              <a:srgbClr val="28C840"/>
            </a:solidFill>
            <a:prstDash val="solid"/>
          </a:ln>
        </p:spPr>
      </p:sp>
      <p:sp>
        <p:nvSpPr>
          <p:cNvPr id="22" name="Text 20"/>
          <p:cNvSpPr txBox="1"/>
          <p:nvPr/>
        </p:nvSpPr>
        <p:spPr>
          <a:xfrm>
            <a:off x="457200" y="2752344"/>
            <a:ext cx="5760720" cy="201168"/>
          </a:xfrm>
          <a:prstGeom prst="rect">
            <a:avLst/>
          </a:prstGeom>
          <a:noFill/>
          <a:ln/>
        </p:spPr>
        <p:txBody>
          <a:bodyPr wrap="square" lIns="0" tIns="0" rIns="0" bIns="0" rtlCol="0" anchor="ctr"/>
          <a:lstStyle/>
          <a:p>
            <a:pPr algn="ctr" indent="0" marL="0">
              <a:buNone/>
            </a:pPr>
            <a:r>
              <a:rPr lang="en-US" sz="1000" dirty="0">
                <a:solidFill>
                  <a:srgbClr val="9E9E9E"/>
                </a:solidFill>
              </a:rPr>
              <a:t>Terminal</a:t>
            </a:r>
            <a:endParaRPr lang="en-US" sz="1000" dirty="0"/>
          </a:p>
        </p:txBody>
      </p:sp>
      <p:sp>
        <p:nvSpPr>
          <p:cNvPr id="23" name="Text 21"/>
          <p:cNvSpPr txBox="1"/>
          <p:nvPr/>
        </p:nvSpPr>
        <p:spPr>
          <a:xfrm>
            <a:off x="621792" y="3044952"/>
            <a:ext cx="5431536" cy="457200"/>
          </a:xfrm>
          <a:prstGeom prst="rect">
            <a:avLst/>
          </a:prstGeom>
          <a:noFill/>
          <a:ln/>
        </p:spPr>
        <p:txBody>
          <a:bodyPr wrap="square" lIns="0" tIns="0" rIns="0" bIns="0" rtlCol="0" anchor="t"/>
          <a:lstStyle/>
          <a:p>
            <a:pPr indent="0" marL="0">
              <a:spcAft>
                <a:spcPts val="200"/>
              </a:spcAft>
              <a:buNone/>
            </a:pPr>
            <a:r>
              <a:rPr lang="en-US" sz="1100" dirty="0">
                <a:solidFill>
                  <a:srgbClr val="B9C7BF"/>
                </a:solidFill>
                <a:latin typeface="Courier New" pitchFamily="34" charset="0"/>
                <a:ea typeface="Courier New" pitchFamily="34" charset="-122"/>
                <a:cs typeface="Courier New" pitchFamily="34" charset="-120"/>
              </a:rPr>
              <a:t>Connecting to css_STEAM ...</a:t>
            </a:r>
            <a:endParaRPr lang="en-US" sz="1100" dirty="0"/>
          </a:p>
          <a:p>
            <a:pPr indent="0" marL="0">
              <a:spcAft>
                <a:spcPts val="200"/>
              </a:spcAft>
              <a:buNone/>
            </a:pPr>
            <a:r>
              <a:rPr lang="en-US" sz="1100" b="1" dirty="0">
                <a:solidFill>
                  <a:srgbClr val="F2A900"/>
                </a:solidFill>
                <a:latin typeface="Courier New" pitchFamily="34" charset="0"/>
                <a:ea typeface="Courier New" pitchFamily="34" charset="-122"/>
                <a:cs typeface="Courier New" pitchFamily="34" charset="-120"/>
              </a:rPr>
              <a:t>Connected. Open this on your phone:  http://10.0.0.37/</a:t>
            </a:r>
            <a:endParaRPr lang="en-US" sz="1100" dirty="0"/>
          </a:p>
        </p:txBody>
      </p:sp>
      <p:sp>
        <p:nvSpPr>
          <p:cNvPr id="24" name="Shape 22"/>
          <p:cNvSpPr/>
          <p:nvPr/>
        </p:nvSpPr>
        <p:spPr>
          <a:xfrm>
            <a:off x="457200" y="3749040"/>
            <a:ext cx="5760720" cy="777240"/>
          </a:xfrm>
          <a:prstGeom prst="roundRect">
            <a:avLst>
              <a:gd name="adj" fmla="val 9412"/>
            </a:avLst>
          </a:prstGeom>
          <a:solidFill>
            <a:srgbClr val="FFF4D6"/>
          </a:solidFill>
          <a:ln w="15875">
            <a:solidFill>
              <a:srgbClr val="E0A800"/>
            </a:solidFill>
            <a:prstDash val="solid"/>
          </a:ln>
        </p:spPr>
      </p:sp>
      <p:sp>
        <p:nvSpPr>
          <p:cNvPr id="25" name="Text 23"/>
          <p:cNvSpPr txBox="1"/>
          <p:nvPr/>
        </p:nvSpPr>
        <p:spPr>
          <a:xfrm>
            <a:off x="640080" y="3749040"/>
            <a:ext cx="5394960" cy="777240"/>
          </a:xfrm>
          <a:prstGeom prst="rect">
            <a:avLst/>
          </a:prstGeom>
          <a:noFill/>
          <a:ln/>
        </p:spPr>
        <p:txBody>
          <a:bodyPr wrap="square" lIns="0" tIns="0" rIns="0" bIns="0" rtlCol="0" anchor="ctr"/>
          <a:lstStyle/>
          <a:p>
            <a:pPr indent="0" marL="0">
              <a:buNone/>
            </a:pPr>
            <a:r>
              <a:rPr lang="en-US" sz="1400" b="1" dirty="0">
                <a:solidFill>
                  <a:srgbClr val="9A6B00"/>
                </a:solidFill>
              </a:rPr>
              <a:t>Your phone must be on the class Wi-Fi. </a:t>
            </a:r>
            <a:pPr indent="0" marL="0">
              <a:buNone/>
            </a:pPr>
            <a:r>
              <a:rPr lang="en-US" sz="1400" dirty="0">
                <a:solidFill>
                  <a:srgbClr val="1B1B1B"/>
                </a:solidFill>
              </a:rPr>
              <a:t>On mobile data the page will never load: the two are not on the same network.</a:t>
            </a:r>
            <a:endParaRPr lang="en-US" sz="1400" dirty="0"/>
          </a:p>
        </p:txBody>
      </p:sp>
      <p:sp>
        <p:nvSpPr>
          <p:cNvPr id="26" name="Shape 24"/>
          <p:cNvSpPr/>
          <p:nvPr/>
        </p:nvSpPr>
        <p:spPr>
          <a:xfrm>
            <a:off x="6675120" y="1097280"/>
            <a:ext cx="1645920" cy="3291840"/>
          </a:xfrm>
          <a:prstGeom prst="roundRect">
            <a:avLst>
              <a:gd name="adj" fmla="val 6667"/>
            </a:avLst>
          </a:prstGeom>
          <a:solidFill>
            <a:srgbClr val="1B1B1B"/>
          </a:solidFill>
          <a:ln w="12700">
            <a:solidFill>
              <a:srgbClr val="000000"/>
            </a:solidFill>
            <a:prstDash val="solid"/>
          </a:ln>
        </p:spPr>
      </p:sp>
      <p:sp>
        <p:nvSpPr>
          <p:cNvPr id="27" name="Shape 25"/>
          <p:cNvSpPr/>
          <p:nvPr/>
        </p:nvSpPr>
        <p:spPr>
          <a:xfrm>
            <a:off x="6739128" y="1261872"/>
            <a:ext cx="1517904" cy="2962656"/>
          </a:xfrm>
          <a:prstGeom prst="rect">
            <a:avLst/>
          </a:prstGeom>
          <a:solidFill>
            <a:srgbClr val="FFFFFF"/>
          </a:solidFill>
          <a:ln w="12700">
            <a:solidFill>
              <a:srgbClr val="FFFFFF"/>
            </a:solidFill>
            <a:prstDash val="solid"/>
          </a:ln>
        </p:spPr>
      </p:sp>
      <p:sp>
        <p:nvSpPr>
          <p:cNvPr id="28" name="Text 26"/>
          <p:cNvSpPr txBox="1"/>
          <p:nvPr/>
        </p:nvSpPr>
        <p:spPr>
          <a:xfrm>
            <a:off x="6784848" y="1371600"/>
            <a:ext cx="1426464" cy="365760"/>
          </a:xfrm>
          <a:prstGeom prst="rect">
            <a:avLst/>
          </a:prstGeom>
          <a:noFill/>
          <a:ln/>
        </p:spPr>
        <p:txBody>
          <a:bodyPr wrap="square" lIns="0" tIns="0" rIns="0" bIns="0" rtlCol="0" anchor="ctr"/>
          <a:lstStyle/>
          <a:p>
            <a:pPr algn="ctr" indent="0" marL="0">
              <a:buNone/>
            </a:pPr>
            <a:r>
              <a:rPr lang="en-US" sz="1300" b="1" dirty="0">
                <a:solidFill>
                  <a:srgbClr val="1B1B1B"/>
                </a:solidFill>
              </a:rPr>
              <a:t>The door is SHUT</a:t>
            </a:r>
            <a:endParaRPr lang="en-US" sz="1300" dirty="0"/>
          </a:p>
        </p:txBody>
      </p:sp>
      <p:sp>
        <p:nvSpPr>
          <p:cNvPr id="29" name="Text 27"/>
          <p:cNvSpPr txBox="1"/>
          <p:nvPr/>
        </p:nvSpPr>
        <p:spPr>
          <a:xfrm>
            <a:off x="6784848" y="1755648"/>
            <a:ext cx="1426464" cy="274320"/>
          </a:xfrm>
          <a:prstGeom prst="rect">
            <a:avLst/>
          </a:prstGeom>
          <a:noFill/>
          <a:ln/>
        </p:spPr>
        <p:txBody>
          <a:bodyPr wrap="square" lIns="0" tIns="0" rIns="0" bIns="0" rtlCol="0" anchor="ctr"/>
          <a:lstStyle/>
          <a:p>
            <a:pPr algn="ctr" indent="0" marL="0">
              <a:buNone/>
            </a:pPr>
            <a:r>
              <a:rPr lang="en-US" sz="1100" dirty="0">
                <a:solidFill>
                  <a:srgbClr val="6B7280"/>
                </a:solidFill>
              </a:rPr>
              <a:t>Sensor sees: 42 cm</a:t>
            </a:r>
            <a:endParaRPr lang="en-US" sz="1100" dirty="0"/>
          </a:p>
        </p:txBody>
      </p:sp>
      <p:sp>
        <p:nvSpPr>
          <p:cNvPr id="30" name="Text 28"/>
          <p:cNvSpPr txBox="1"/>
          <p:nvPr/>
        </p:nvSpPr>
        <p:spPr>
          <a:xfrm>
            <a:off x="6784848" y="2121408"/>
            <a:ext cx="1426464" cy="384048"/>
          </a:xfrm>
          <a:prstGeom prst="rect">
            <a:avLst/>
          </a:prstGeom>
          <a:noFill/>
          <a:ln/>
        </p:spPr>
        <p:txBody>
          <a:bodyPr wrap="square" lIns="0" tIns="0" rIns="0" bIns="0" rtlCol="0" anchor="ctr"/>
          <a:lstStyle/>
          <a:p>
            <a:pPr algn="ctr" indent="0" marL="0">
              <a:buNone/>
            </a:pPr>
            <a:r>
              <a:rPr lang="en-US" sz="1800" b="1" u="sng" dirty="0">
                <a:solidFill>
                  <a:srgbClr val="1A4FD6"/>
                </a:solidFill>
              </a:rPr>
              <a:t>OPEN</a:t>
            </a:r>
            <a:endParaRPr lang="en-US" sz="1800" dirty="0"/>
          </a:p>
        </p:txBody>
      </p:sp>
      <p:sp>
        <p:nvSpPr>
          <p:cNvPr id="31" name="Text 29"/>
          <p:cNvSpPr txBox="1"/>
          <p:nvPr/>
        </p:nvSpPr>
        <p:spPr>
          <a:xfrm>
            <a:off x="6784848" y="2596896"/>
            <a:ext cx="1426464" cy="384048"/>
          </a:xfrm>
          <a:prstGeom prst="rect">
            <a:avLst/>
          </a:prstGeom>
          <a:noFill/>
          <a:ln/>
        </p:spPr>
        <p:txBody>
          <a:bodyPr wrap="square" lIns="0" tIns="0" rIns="0" bIns="0" rtlCol="0" anchor="ctr"/>
          <a:lstStyle/>
          <a:p>
            <a:pPr algn="ctr" indent="0" marL="0">
              <a:buNone/>
            </a:pPr>
            <a:r>
              <a:rPr lang="en-US" sz="1800" b="1" u="sng" dirty="0">
                <a:solidFill>
                  <a:srgbClr val="1A4FD6"/>
                </a:solidFill>
              </a:rPr>
              <a:t>CLOSE</a:t>
            </a:r>
            <a:endParaRPr lang="en-US" sz="1800" dirty="0"/>
          </a:p>
        </p:txBody>
      </p:sp>
      <p:sp>
        <p:nvSpPr>
          <p:cNvPr id="32" name="Text 30"/>
          <p:cNvSpPr txBox="1"/>
          <p:nvPr/>
        </p:nvSpPr>
        <p:spPr>
          <a:xfrm>
            <a:off x="6784848" y="3913632"/>
            <a:ext cx="1426464" cy="228600"/>
          </a:xfrm>
          <a:prstGeom prst="rect">
            <a:avLst/>
          </a:prstGeom>
          <a:noFill/>
          <a:ln/>
        </p:spPr>
        <p:txBody>
          <a:bodyPr wrap="square" lIns="0" tIns="0" rIns="0" bIns="0" rtlCol="0" anchor="ctr"/>
          <a:lstStyle/>
          <a:p>
            <a:pPr algn="ctr" indent="0" marL="0">
              <a:buNone/>
            </a:pPr>
            <a:r>
              <a:rPr lang="en-US" sz="900" dirty="0">
                <a:solidFill>
                  <a:srgbClr val="6B7280"/>
                </a:solidFill>
              </a:rPr>
              <a:t>10.0.0.37</a:t>
            </a:r>
            <a:endParaRPr lang="en-US" sz="9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Step 4: type the Wi-Fi name yourself</a:t>
            </a:r>
            <a:endParaRPr lang="en-US" sz="3000" dirty="0"/>
          </a:p>
        </p:txBody>
      </p:sp>
      <p:sp>
        <p:nvSpPr>
          <p:cNvPr id="3" name="Shape 1"/>
          <p:cNvSpPr/>
          <p:nvPr/>
        </p:nvSpPr>
        <p:spPr>
          <a:xfrm>
            <a:off x="7818120" y="164592"/>
            <a:ext cx="868680" cy="868680"/>
          </a:xfrm>
          <a:prstGeom prst="ellipse">
            <a:avLst/>
          </a:prstGeom>
          <a:solidFill>
            <a:srgbClr val="F2A900">
              <a:alpha val="30000"/>
            </a:srgbClr>
          </a:solidFill>
          <a:ln w="12700">
            <a:solidFill>
              <a:srgbClr val="F2A900">
                <a:alpha val="0"/>
              </a:srgbClr>
            </a:solidFill>
            <a:prstDash val="solid"/>
          </a:ln>
        </p:spPr>
      </p:sp>
      <p:sp>
        <p:nvSpPr>
          <p:cNvPr id="4" name="Shape 2"/>
          <p:cNvSpPr/>
          <p:nvPr/>
        </p:nvSpPr>
        <p:spPr>
          <a:xfrm>
            <a:off x="7955280" y="301752"/>
            <a:ext cx="594360" cy="594360"/>
          </a:xfrm>
          <a:prstGeom prst="ellipse">
            <a:avLst/>
          </a:prstGeom>
          <a:solidFill>
            <a:srgbClr val="F2A900"/>
          </a:solidFill>
          <a:ln w="12700">
            <a:solidFill>
              <a:srgbClr val="C98C00"/>
            </a:solidFill>
            <a:prstDash val="solid"/>
          </a:ln>
        </p:spPr>
      </p:sp>
      <p:sp>
        <p:nvSpPr>
          <p:cNvPr id="5" name="Text 3"/>
          <p:cNvSpPr txBox="1"/>
          <p:nvPr/>
        </p:nvSpPr>
        <p:spPr>
          <a:xfrm>
            <a:off x="7955280" y="301752"/>
            <a:ext cx="594360" cy="594360"/>
          </a:xfrm>
          <a:prstGeom prst="rect">
            <a:avLst/>
          </a:prstGeom>
          <a:noFill/>
          <a:ln/>
        </p:spPr>
        <p:txBody>
          <a:bodyPr wrap="square" lIns="0" tIns="0" rIns="0" bIns="0" rtlCol="0" anchor="ctr"/>
          <a:lstStyle/>
          <a:p>
            <a:pPr algn="ctr" indent="0" marL="0">
              <a:buNone/>
            </a:pPr>
            <a:r>
              <a:rPr lang="en-US" sz="2000" b="1" dirty="0">
                <a:solidFill>
                  <a:srgbClr val="0B3D2E"/>
                </a:solidFill>
              </a:rPr>
              <a:t>4</a:t>
            </a:r>
            <a:endParaRPr lang="en-US" sz="2000" dirty="0"/>
          </a:p>
        </p:txBody>
      </p:sp>
      <p:sp>
        <p:nvSpPr>
          <p:cNvPr id="6" name="Shape 4"/>
          <p:cNvSpPr/>
          <p:nvPr/>
        </p:nvSpPr>
        <p:spPr>
          <a:xfrm>
            <a:off x="457200" y="1005840"/>
            <a:ext cx="4572000" cy="868680"/>
          </a:xfrm>
          <a:prstGeom prst="roundRect">
            <a:avLst>
              <a:gd name="adj" fmla="val 8421"/>
            </a:avLst>
          </a:prstGeom>
          <a:solidFill>
            <a:srgbClr val="14261F"/>
          </a:solidFill>
          <a:ln w="12700">
            <a:solidFill>
              <a:srgbClr val="14261F"/>
            </a:solidFill>
            <a:prstDash val="solid"/>
          </a:ln>
        </p:spPr>
      </p:sp>
      <p:sp>
        <p:nvSpPr>
          <p:cNvPr id="7" name="Text 5"/>
          <p:cNvSpPr txBox="1"/>
          <p:nvPr/>
        </p:nvSpPr>
        <p:spPr>
          <a:xfrm>
            <a:off x="594360" y="1069848"/>
            <a:ext cx="4297680" cy="219456"/>
          </a:xfrm>
          <a:prstGeom prst="rect">
            <a:avLst/>
          </a:prstGeom>
          <a:noFill/>
          <a:ln/>
        </p:spPr>
        <p:txBody>
          <a:bodyPr wrap="square" lIns="0" tIns="0" rIns="0" bIns="0" rtlCol="0" anchor="ctr"/>
          <a:lstStyle/>
          <a:p>
            <a:pPr indent="0" marL="0">
              <a:buNone/>
            </a:pPr>
            <a:r>
              <a:rPr lang="en-US" sz="1100" b="1" dirty="0">
                <a:solidFill>
                  <a:srgbClr val="F2A900"/>
                </a:solidFill>
              </a:rPr>
              <a:t>step4_web_gate.py</a:t>
            </a:r>
            <a:pPr indent="0" marL="0">
              <a:buNone/>
            </a:pPr>
            <a:r>
              <a:rPr lang="en-US" sz="1100" dirty="0">
                <a:solidFill>
                  <a:srgbClr val="9FB8AD"/>
                </a:solidFill>
              </a:rPr>
              <a:t>  ·  lines 16–17</a:t>
            </a:r>
            <a:endParaRPr lang="en-US" sz="1100" dirty="0"/>
          </a:p>
        </p:txBody>
      </p:sp>
      <p:sp>
        <p:nvSpPr>
          <p:cNvPr id="8" name="Shape 6"/>
          <p:cNvSpPr/>
          <p:nvPr/>
        </p:nvSpPr>
        <p:spPr>
          <a:xfrm>
            <a:off x="566928" y="1325880"/>
            <a:ext cx="4352544" cy="0"/>
          </a:xfrm>
          <a:prstGeom prst="line">
            <a:avLst/>
          </a:prstGeom>
          <a:noFill/>
          <a:ln w="12700">
            <a:solidFill>
              <a:srgbClr val="2F4A3F"/>
            </a:solidFill>
            <a:prstDash val="solid"/>
          </a:ln>
        </p:spPr>
      </p:sp>
      <p:sp>
        <p:nvSpPr>
          <p:cNvPr id="9" name="Text 7"/>
          <p:cNvSpPr txBox="1"/>
          <p:nvPr/>
        </p:nvSpPr>
        <p:spPr>
          <a:xfrm>
            <a:off x="548640" y="1389888"/>
            <a:ext cx="4389120" cy="411480"/>
          </a:xfrm>
          <a:prstGeom prst="rect">
            <a:avLst/>
          </a:prstGeom>
          <a:noFill/>
          <a:ln/>
        </p:spPr>
        <p:txBody>
          <a:bodyPr wrap="square" lIns="0" tIns="0" rIns="0" bIns="0" rtlCol="0" anchor="t"/>
          <a:lstStyle/>
          <a:p>
            <a:pPr indent="0" marL="0">
              <a:buNone/>
            </a:pPr>
            <a:r>
              <a:rPr lang="en-US" sz="1300" dirty="0">
                <a:solidFill>
                  <a:srgbClr val="6F8A7F"/>
                </a:solidFill>
                <a:latin typeface="Courier New" pitchFamily="34" charset="0"/>
                <a:ea typeface="Courier New" pitchFamily="34" charset="-122"/>
                <a:cs typeface="Courier New" pitchFamily="34" charset="-120"/>
              </a:rPr>
              <a:t> 16  </a:t>
            </a:r>
            <a:pPr indent="0" marL="0">
              <a:buNone/>
            </a:pPr>
            <a:r>
              <a:rPr lang="en-US" sz="1300" dirty="0">
                <a:solidFill>
                  <a:srgbClr val="E6F2EC"/>
                </a:solidFill>
                <a:latin typeface="Courier New" pitchFamily="34" charset="0"/>
                <a:ea typeface="Courier New" pitchFamily="34" charset="-122"/>
                <a:cs typeface="Courier New" pitchFamily="34" charset="-120"/>
              </a:rPr>
              <a:t>SSID = ""</a:t>
            </a:r>
            <a:endParaRPr lang="en-US" sz="1300" dirty="0"/>
          </a:p>
          <a:p>
            <a:pPr indent="0" marL="0">
              <a:buNone/>
            </a:pPr>
            <a:r>
              <a:rPr lang="en-US" sz="1300" dirty="0">
                <a:solidFill>
                  <a:srgbClr val="6F8A7F"/>
                </a:solidFill>
                <a:latin typeface="Courier New" pitchFamily="34" charset="0"/>
                <a:ea typeface="Courier New" pitchFamily="34" charset="-122"/>
                <a:cs typeface="Courier New" pitchFamily="34" charset="-120"/>
              </a:rPr>
              <a:t> 17  </a:t>
            </a:r>
            <a:pPr indent="0" marL="0">
              <a:buNone/>
            </a:pPr>
            <a:r>
              <a:rPr lang="en-US" sz="1300" dirty="0">
                <a:solidFill>
                  <a:srgbClr val="E6F2EC"/>
                </a:solidFill>
                <a:latin typeface="Courier New" pitchFamily="34" charset="0"/>
                <a:ea typeface="Courier New" pitchFamily="34" charset="-122"/>
                <a:cs typeface="Courier New" pitchFamily="34" charset="-120"/>
              </a:rPr>
              <a:t>PASSWORD = ""</a:t>
            </a:r>
            <a:endParaRPr lang="en-US" sz="1300" dirty="0"/>
          </a:p>
        </p:txBody>
      </p:sp>
      <p:sp>
        <p:nvSpPr>
          <p:cNvPr id="10" name="Shape 8"/>
          <p:cNvSpPr/>
          <p:nvPr/>
        </p:nvSpPr>
        <p:spPr>
          <a:xfrm>
            <a:off x="457200" y="1965960"/>
            <a:ext cx="4572000" cy="658368"/>
          </a:xfrm>
          <a:prstGeom prst="roundRect">
            <a:avLst>
              <a:gd name="adj" fmla="val 11111"/>
            </a:avLst>
          </a:prstGeom>
          <a:solidFill>
            <a:srgbClr val="FFF1C2"/>
          </a:solidFill>
          <a:ln w="15875">
            <a:solidFill>
              <a:srgbClr val="E0A800"/>
            </a:solidFill>
            <a:prstDash val="solid"/>
          </a:ln>
        </p:spPr>
      </p:sp>
      <p:sp>
        <p:nvSpPr>
          <p:cNvPr id="11" name="Text 9"/>
          <p:cNvSpPr txBox="1"/>
          <p:nvPr/>
        </p:nvSpPr>
        <p:spPr>
          <a:xfrm>
            <a:off x="640080" y="1965960"/>
            <a:ext cx="4297680" cy="658368"/>
          </a:xfrm>
          <a:prstGeom prst="rect">
            <a:avLst/>
          </a:prstGeom>
          <a:noFill/>
          <a:ln/>
        </p:spPr>
        <p:txBody>
          <a:bodyPr wrap="square" lIns="0" tIns="0" rIns="0" bIns="0" rtlCol="0" anchor="ctr"/>
          <a:lstStyle/>
          <a:p>
            <a:pPr indent="0" marL="0">
              <a:buNone/>
            </a:pPr>
            <a:r>
              <a:rPr lang="en-US" sz="1300" dirty="0">
                <a:solidFill>
                  <a:srgbClr val="6B7280"/>
                </a:solidFill>
                <a:latin typeface="Courier New" pitchFamily="34" charset="0"/>
                <a:ea typeface="Courier New" pitchFamily="34" charset="-122"/>
                <a:cs typeface="Courier New" pitchFamily="34" charset="-120"/>
              </a:rPr>
              <a:t>SSID = </a:t>
            </a:r>
            <a:pPr indent="0" marL="0">
              <a:buNone/>
            </a:pPr>
            <a:r>
              <a:rPr lang="en-US" sz="1300" b="1" dirty="0">
                <a:solidFill>
                  <a:srgbClr val="0B3D2E"/>
                </a:solidFill>
                <a:latin typeface="Courier New" pitchFamily="34" charset="0"/>
                <a:ea typeface="Courier New" pitchFamily="34" charset="-122"/>
                <a:cs typeface="Courier New" pitchFamily="34" charset="-120"/>
              </a:rPr>
              <a:t>"css_STEAM"</a:t>
            </a:r>
            <a:pPr indent="0" marL="0">
              <a:buNone/>
            </a:pPr>
            <a:r>
              <a:rPr lang="en-US" sz="1300" dirty="0">
                <a:solidFill>
                  <a:srgbClr val="6B7280"/>
                </a:solidFill>
                <a:latin typeface="Courier New" pitchFamily="34" charset="0"/>
                <a:ea typeface="Courier New" pitchFamily="34" charset="-122"/>
                <a:cs typeface="Courier New" pitchFamily="34" charset="-120"/>
              </a:rPr>
              <a:t>      PASSWORD = </a:t>
            </a:r>
            <a:pPr indent="0" marL="0">
              <a:buNone/>
            </a:pPr>
            <a:r>
              <a:rPr lang="en-US" sz="1300" b="1" dirty="0">
                <a:solidFill>
                  <a:srgbClr val="0B3D2E"/>
                </a:solidFill>
                <a:latin typeface="Courier New" pitchFamily="34" charset="0"/>
                <a:ea typeface="Courier New" pitchFamily="34" charset="-122"/>
                <a:cs typeface="Courier New" pitchFamily="34" charset="-120"/>
              </a:rPr>
              <a:t>"steam2026!"</a:t>
            </a:r>
            <a:endParaRPr lang="en-US" sz="1300" dirty="0"/>
          </a:p>
        </p:txBody>
      </p:sp>
      <p:sp>
        <p:nvSpPr>
          <p:cNvPr id="12" name="Shape 10"/>
          <p:cNvSpPr/>
          <p:nvPr/>
        </p:nvSpPr>
        <p:spPr>
          <a:xfrm>
            <a:off x="457200" y="2697480"/>
            <a:ext cx="4572000" cy="1691640"/>
          </a:xfrm>
          <a:prstGeom prst="roundRect">
            <a:avLst>
              <a:gd name="adj" fmla="val 4324"/>
            </a:avLst>
          </a:prstGeom>
          <a:solidFill>
            <a:srgbClr val="14261F"/>
          </a:solidFill>
          <a:ln w="12700">
            <a:solidFill>
              <a:srgbClr val="14261F"/>
            </a:solidFill>
            <a:prstDash val="solid"/>
          </a:ln>
        </p:spPr>
      </p:sp>
      <p:sp>
        <p:nvSpPr>
          <p:cNvPr id="13" name="Text 11"/>
          <p:cNvSpPr txBox="1"/>
          <p:nvPr/>
        </p:nvSpPr>
        <p:spPr>
          <a:xfrm>
            <a:off x="594360" y="2761488"/>
            <a:ext cx="4297680" cy="219456"/>
          </a:xfrm>
          <a:prstGeom prst="rect">
            <a:avLst/>
          </a:prstGeom>
          <a:noFill/>
          <a:ln/>
        </p:spPr>
        <p:txBody>
          <a:bodyPr wrap="square" lIns="0" tIns="0" rIns="0" bIns="0" rtlCol="0" anchor="ctr"/>
          <a:lstStyle/>
          <a:p>
            <a:pPr indent="0" marL="0">
              <a:buNone/>
            </a:pPr>
            <a:r>
              <a:rPr lang="en-US" sz="1100" b="1" dirty="0">
                <a:solidFill>
                  <a:srgbClr val="F2A900"/>
                </a:solidFill>
              </a:rPr>
              <a:t>step4_web_gate.py</a:t>
            </a:r>
            <a:pPr indent="0" marL="0">
              <a:buNone/>
            </a:pPr>
            <a:r>
              <a:rPr lang="en-US" sz="1100" dirty="0">
                <a:solidFill>
                  <a:srgbClr val="9FB8AD"/>
                </a:solidFill>
              </a:rPr>
              <a:t>  ·  lines 110–115</a:t>
            </a:r>
            <a:endParaRPr lang="en-US" sz="1100" dirty="0"/>
          </a:p>
        </p:txBody>
      </p:sp>
      <p:sp>
        <p:nvSpPr>
          <p:cNvPr id="14" name="Shape 12"/>
          <p:cNvSpPr/>
          <p:nvPr/>
        </p:nvSpPr>
        <p:spPr>
          <a:xfrm>
            <a:off x="566928" y="3017520"/>
            <a:ext cx="4352544" cy="0"/>
          </a:xfrm>
          <a:prstGeom prst="line">
            <a:avLst/>
          </a:prstGeom>
          <a:noFill/>
          <a:ln w="12700">
            <a:solidFill>
              <a:srgbClr val="2F4A3F"/>
            </a:solidFill>
            <a:prstDash val="solid"/>
          </a:ln>
        </p:spPr>
      </p:sp>
      <p:sp>
        <p:nvSpPr>
          <p:cNvPr id="15" name="Text 13"/>
          <p:cNvSpPr txBox="1"/>
          <p:nvPr/>
        </p:nvSpPr>
        <p:spPr>
          <a:xfrm>
            <a:off x="548640" y="3081528"/>
            <a:ext cx="4389120" cy="1234440"/>
          </a:xfrm>
          <a:prstGeom prst="rect">
            <a:avLst/>
          </a:prstGeom>
          <a:noFill/>
          <a:ln/>
        </p:spPr>
        <p:txBody>
          <a:bodyPr wrap="square" lIns="0" tIns="0" rIns="0" bIns="0" rtlCol="0" anchor="t"/>
          <a:lstStyle/>
          <a:p>
            <a:pPr indent="0" marL="0">
              <a:buNone/>
            </a:pPr>
            <a:r>
              <a:rPr lang="en-US" sz="1100" dirty="0">
                <a:solidFill>
                  <a:srgbClr val="6F8A7F"/>
                </a:solidFill>
                <a:latin typeface="Courier New" pitchFamily="34" charset="0"/>
                <a:ea typeface="Courier New" pitchFamily="34" charset="-122"/>
                <a:cs typeface="Courier New" pitchFamily="34" charset="-120"/>
              </a:rPr>
              <a:t>110  </a:t>
            </a:r>
            <a:pPr indent="0" marL="0">
              <a:buNone/>
            </a:pPr>
            <a:r>
              <a:rPr lang="en-US" sz="1100" dirty="0">
                <a:solidFill>
                  <a:srgbClr val="E6F2EC"/>
                </a:solidFill>
                <a:latin typeface="Courier New" pitchFamily="34" charset="0"/>
                <a:ea typeface="Courier New" pitchFamily="34" charset="-122"/>
                <a:cs typeface="Courier New" pitchFamily="34" charset="-120"/>
              </a:rPr>
              <a:t>while True:</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111  </a:t>
            </a:r>
            <a:pPr indent="0" marL="0">
              <a:buNone/>
            </a:pPr>
            <a:r>
              <a:rPr lang="en-US" sz="1100" dirty="0">
                <a:solidFill>
                  <a:srgbClr val="E6F2EC"/>
                </a:solidFill>
                <a:latin typeface="Courier New" pitchFamily="34" charset="0"/>
                <a:ea typeface="Courier New" pitchFamily="34" charset="-122"/>
                <a:cs typeface="Courier New" pitchFamily="34" charset="-120"/>
              </a:rPr>
              <a:t>    client, address = server.accept()</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112  </a:t>
            </a:r>
            <a:pPr indent="0" marL="0">
              <a:buNone/>
            </a:pPr>
            <a:r>
              <a:rPr lang="en-US" sz="1100" dirty="0">
                <a:solidFill>
                  <a:srgbClr val="E6F2EC"/>
                </a:solidFill>
                <a:latin typeface="Courier New" pitchFamily="34" charset="0"/>
                <a:ea typeface="Courier New" pitchFamily="34" charset="-122"/>
                <a:cs typeface="Courier New" pitchFamily="34" charset="-120"/>
              </a:rPr>
              <a:t>    request = client.recv(1024).decode()</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113  </a:t>
            </a:r>
            <a:pPr indent="0" marL="0">
              <a:buNone/>
            </a:pPr>
            <a:r>
              <a:rPr lang="en-US" sz="1100" dirty="0">
                <a:solidFill>
                  <a:srgbClr val="E6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114  </a:t>
            </a:r>
            <a:pPr indent="0" marL="0">
              <a:buNone/>
            </a:pPr>
            <a:r>
              <a:rPr lang="en-US" sz="1100" dirty="0">
                <a:solidFill>
                  <a:srgbClr val="E6F2EC"/>
                </a:solidFill>
                <a:latin typeface="Courier New" pitchFamily="34" charset="0"/>
                <a:ea typeface="Courier New" pitchFamily="34" charset="-122"/>
                <a:cs typeface="Courier New" pitchFamily="34" charset="-120"/>
              </a:rPr>
              <a:t>    if "GET /open" in request:</a:t>
            </a:r>
            <a:endParaRPr lang="en-US" sz="1100" dirty="0"/>
          </a:p>
          <a:p>
            <a:pPr indent="0" marL="0">
              <a:buNone/>
            </a:pPr>
            <a:r>
              <a:rPr lang="en-US" sz="1100" dirty="0">
                <a:solidFill>
                  <a:srgbClr val="6F8A7F"/>
                </a:solidFill>
                <a:latin typeface="Courier New" pitchFamily="34" charset="0"/>
                <a:ea typeface="Courier New" pitchFamily="34" charset="-122"/>
                <a:cs typeface="Courier New" pitchFamily="34" charset="-120"/>
              </a:rPr>
              <a:t>115  </a:t>
            </a:r>
            <a:pPr indent="0" marL="0">
              <a:buNone/>
            </a:pPr>
            <a:r>
              <a:rPr lang="en-US" sz="1100" dirty="0">
                <a:solidFill>
                  <a:srgbClr val="E6F2EC"/>
                </a:solidFill>
                <a:latin typeface="Courier New" pitchFamily="34" charset="0"/>
                <a:ea typeface="Courier New" pitchFamily="34" charset="-122"/>
                <a:cs typeface="Courier New" pitchFamily="34" charset="-120"/>
              </a:rPr>
              <a:t>        is_open = True</a:t>
            </a:r>
            <a:endParaRPr lang="en-US" sz="1100" dirty="0"/>
          </a:p>
        </p:txBody>
      </p:sp>
      <p:sp>
        <p:nvSpPr>
          <p:cNvPr id="16" name="Shape 14"/>
          <p:cNvSpPr/>
          <p:nvPr/>
        </p:nvSpPr>
        <p:spPr>
          <a:xfrm>
            <a:off x="5303520" y="1069848"/>
            <a:ext cx="329184" cy="329184"/>
          </a:xfrm>
          <a:prstGeom prst="ellipse">
            <a:avLst/>
          </a:prstGeom>
          <a:solidFill>
            <a:srgbClr val="F2A900"/>
          </a:solidFill>
          <a:ln w="12700">
            <a:solidFill>
              <a:srgbClr val="C98C00"/>
            </a:solidFill>
            <a:prstDash val="solid"/>
          </a:ln>
        </p:spPr>
      </p:sp>
      <p:sp>
        <p:nvSpPr>
          <p:cNvPr id="17" name="Text 15"/>
          <p:cNvSpPr txBox="1"/>
          <p:nvPr/>
        </p:nvSpPr>
        <p:spPr>
          <a:xfrm>
            <a:off x="5303520" y="106984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1</a:t>
            </a:r>
            <a:endParaRPr lang="en-US" sz="1300" dirty="0"/>
          </a:p>
        </p:txBody>
      </p:sp>
      <p:sp>
        <p:nvSpPr>
          <p:cNvPr id="18" name="Text 16"/>
          <p:cNvSpPr txBox="1"/>
          <p:nvPr/>
        </p:nvSpPr>
        <p:spPr>
          <a:xfrm>
            <a:off x="5760720" y="1051560"/>
            <a:ext cx="2926080" cy="384048"/>
          </a:xfrm>
          <a:prstGeom prst="rect">
            <a:avLst/>
          </a:prstGeom>
          <a:noFill/>
          <a:ln/>
        </p:spPr>
        <p:txBody>
          <a:bodyPr wrap="square" lIns="0" tIns="0" rIns="0" bIns="0" rtlCol="0" anchor="ctr"/>
          <a:lstStyle/>
          <a:p>
            <a:pPr indent="0" marL="0">
              <a:buNone/>
            </a:pPr>
            <a:r>
              <a:rPr lang="en-US" sz="1500" dirty="0">
                <a:solidFill>
                  <a:srgbClr val="1B1B1B"/>
                </a:solidFill>
              </a:rPr>
              <a:t>Open your copy under </a:t>
            </a:r>
            <a:pPr indent="0" marL="0">
              <a:buNone/>
            </a:pPr>
            <a:r>
              <a:rPr lang="en-US" sz="1500" b="1" dirty="0">
                <a:solidFill>
                  <a:srgbClr val="1B1B1B"/>
                </a:solidFill>
              </a:rPr>
              <a:t>MicroPython device</a:t>
            </a:r>
            <a:endParaRPr lang="en-US" sz="1500" dirty="0"/>
          </a:p>
        </p:txBody>
      </p:sp>
      <p:sp>
        <p:nvSpPr>
          <p:cNvPr id="19" name="Shape 17"/>
          <p:cNvSpPr/>
          <p:nvPr/>
        </p:nvSpPr>
        <p:spPr>
          <a:xfrm>
            <a:off x="5303520" y="1618488"/>
            <a:ext cx="329184" cy="329184"/>
          </a:xfrm>
          <a:prstGeom prst="ellipse">
            <a:avLst/>
          </a:prstGeom>
          <a:solidFill>
            <a:srgbClr val="F2A900"/>
          </a:solidFill>
          <a:ln w="12700">
            <a:solidFill>
              <a:srgbClr val="C98C00"/>
            </a:solidFill>
            <a:prstDash val="solid"/>
          </a:ln>
        </p:spPr>
      </p:sp>
      <p:sp>
        <p:nvSpPr>
          <p:cNvPr id="20" name="Text 18"/>
          <p:cNvSpPr txBox="1"/>
          <p:nvPr/>
        </p:nvSpPr>
        <p:spPr>
          <a:xfrm>
            <a:off x="5303520" y="161848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2</a:t>
            </a:r>
            <a:endParaRPr lang="en-US" sz="1300" dirty="0"/>
          </a:p>
        </p:txBody>
      </p:sp>
      <p:sp>
        <p:nvSpPr>
          <p:cNvPr id="21" name="Text 19"/>
          <p:cNvSpPr txBox="1"/>
          <p:nvPr/>
        </p:nvSpPr>
        <p:spPr>
          <a:xfrm>
            <a:off x="5760720" y="1600200"/>
            <a:ext cx="2926080" cy="384048"/>
          </a:xfrm>
          <a:prstGeom prst="rect">
            <a:avLst/>
          </a:prstGeom>
          <a:noFill/>
          <a:ln/>
        </p:spPr>
        <p:txBody>
          <a:bodyPr wrap="square" lIns="0" tIns="0" rIns="0" bIns="0" rtlCol="0" anchor="ctr"/>
          <a:lstStyle/>
          <a:p>
            <a:pPr indent="0" marL="0">
              <a:buNone/>
            </a:pPr>
            <a:r>
              <a:rPr lang="en-US" sz="1500" dirty="0">
                <a:solidFill>
                  <a:srgbClr val="1B1B1B"/>
                </a:solidFill>
              </a:rPr>
              <a:t>Type both lines exactly, keep the quotes</a:t>
            </a:r>
            <a:endParaRPr lang="en-US" sz="1500" dirty="0"/>
          </a:p>
        </p:txBody>
      </p:sp>
      <p:sp>
        <p:nvSpPr>
          <p:cNvPr id="22" name="Shape 20"/>
          <p:cNvSpPr/>
          <p:nvPr/>
        </p:nvSpPr>
        <p:spPr>
          <a:xfrm>
            <a:off x="5303520" y="2167128"/>
            <a:ext cx="329184" cy="329184"/>
          </a:xfrm>
          <a:prstGeom prst="ellipse">
            <a:avLst/>
          </a:prstGeom>
          <a:solidFill>
            <a:srgbClr val="F2A900"/>
          </a:solidFill>
          <a:ln w="12700">
            <a:solidFill>
              <a:srgbClr val="C98C00"/>
            </a:solidFill>
            <a:prstDash val="solid"/>
          </a:ln>
        </p:spPr>
      </p:sp>
      <p:sp>
        <p:nvSpPr>
          <p:cNvPr id="23" name="Text 21"/>
          <p:cNvSpPr txBox="1"/>
          <p:nvPr/>
        </p:nvSpPr>
        <p:spPr>
          <a:xfrm>
            <a:off x="5303520" y="216712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3</a:t>
            </a:r>
            <a:endParaRPr lang="en-US" sz="1300" dirty="0"/>
          </a:p>
        </p:txBody>
      </p:sp>
      <p:sp>
        <p:nvSpPr>
          <p:cNvPr id="24" name="Text 22"/>
          <p:cNvSpPr txBox="1"/>
          <p:nvPr/>
        </p:nvSpPr>
        <p:spPr>
          <a:xfrm>
            <a:off x="5760720" y="2148840"/>
            <a:ext cx="2926080" cy="384048"/>
          </a:xfrm>
          <a:prstGeom prst="rect">
            <a:avLst/>
          </a:prstGeom>
          <a:noFill/>
          <a:ln/>
        </p:spPr>
        <p:txBody>
          <a:bodyPr wrap="square" lIns="0" tIns="0" rIns="0" bIns="0" rtlCol="0" anchor="ctr"/>
          <a:lstStyle/>
          <a:p>
            <a:pPr indent="0" marL="0">
              <a:buNone/>
            </a:pPr>
            <a:r>
              <a:rPr lang="en-US" sz="1500" b="1" dirty="0">
                <a:solidFill>
                  <a:srgbClr val="1B1B1B"/>
                </a:solidFill>
              </a:rPr>
              <a:t>Cmd+S</a:t>
            </a:r>
            <a:pPr indent="0" marL="0">
              <a:buNone/>
            </a:pPr>
            <a:r>
              <a:rPr lang="en-US" sz="1500" dirty="0">
                <a:solidFill>
                  <a:srgbClr val="1B1B1B"/>
                </a:solidFill>
              </a:rPr>
              <a:t> saves it on the ESP32, not in JA05</a:t>
            </a:r>
            <a:endParaRPr lang="en-US" sz="1500" dirty="0"/>
          </a:p>
        </p:txBody>
      </p:sp>
      <p:sp>
        <p:nvSpPr>
          <p:cNvPr id="25" name="Shape 23"/>
          <p:cNvSpPr/>
          <p:nvPr/>
        </p:nvSpPr>
        <p:spPr>
          <a:xfrm>
            <a:off x="5303520" y="2715768"/>
            <a:ext cx="329184" cy="329184"/>
          </a:xfrm>
          <a:prstGeom prst="ellipse">
            <a:avLst/>
          </a:prstGeom>
          <a:solidFill>
            <a:srgbClr val="F2A900"/>
          </a:solidFill>
          <a:ln w="12700">
            <a:solidFill>
              <a:srgbClr val="C98C00"/>
            </a:solidFill>
            <a:prstDash val="solid"/>
          </a:ln>
        </p:spPr>
      </p:sp>
      <p:sp>
        <p:nvSpPr>
          <p:cNvPr id="26" name="Text 24"/>
          <p:cNvSpPr txBox="1"/>
          <p:nvPr/>
        </p:nvSpPr>
        <p:spPr>
          <a:xfrm>
            <a:off x="5303520" y="271576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4</a:t>
            </a:r>
            <a:endParaRPr lang="en-US" sz="1300" dirty="0"/>
          </a:p>
        </p:txBody>
      </p:sp>
      <p:sp>
        <p:nvSpPr>
          <p:cNvPr id="27" name="Text 25"/>
          <p:cNvSpPr txBox="1"/>
          <p:nvPr/>
        </p:nvSpPr>
        <p:spPr>
          <a:xfrm>
            <a:off x="5760720" y="2697480"/>
            <a:ext cx="2926080" cy="384048"/>
          </a:xfrm>
          <a:prstGeom prst="rect">
            <a:avLst/>
          </a:prstGeom>
          <a:noFill/>
          <a:ln/>
        </p:spPr>
        <p:txBody>
          <a:bodyPr wrap="square" lIns="0" tIns="0" rIns="0" bIns="0" rtlCol="0" anchor="ctr"/>
          <a:lstStyle/>
          <a:p>
            <a:pPr indent="0" marL="0">
              <a:buNone/>
            </a:pPr>
            <a:r>
              <a:rPr lang="en-US" sz="1500" dirty="0">
                <a:solidFill>
                  <a:srgbClr val="1B1B1B"/>
                </a:solidFill>
              </a:rPr>
              <a:t>Run it. Read the IP in the Shell</a:t>
            </a:r>
            <a:endParaRPr lang="en-US" sz="1500" dirty="0"/>
          </a:p>
        </p:txBody>
      </p:sp>
      <p:sp>
        <p:nvSpPr>
          <p:cNvPr id="28" name="Shape 26"/>
          <p:cNvSpPr/>
          <p:nvPr/>
        </p:nvSpPr>
        <p:spPr>
          <a:xfrm>
            <a:off x="5303520" y="3264408"/>
            <a:ext cx="329184" cy="329184"/>
          </a:xfrm>
          <a:prstGeom prst="ellipse">
            <a:avLst/>
          </a:prstGeom>
          <a:solidFill>
            <a:srgbClr val="F2A900"/>
          </a:solidFill>
          <a:ln w="12700">
            <a:solidFill>
              <a:srgbClr val="C98C00"/>
            </a:solidFill>
            <a:prstDash val="solid"/>
          </a:ln>
        </p:spPr>
      </p:sp>
      <p:sp>
        <p:nvSpPr>
          <p:cNvPr id="29" name="Text 27"/>
          <p:cNvSpPr txBox="1"/>
          <p:nvPr/>
        </p:nvSpPr>
        <p:spPr>
          <a:xfrm>
            <a:off x="5303520" y="3264408"/>
            <a:ext cx="329184" cy="329184"/>
          </a:xfrm>
          <a:prstGeom prst="rect">
            <a:avLst/>
          </a:prstGeom>
          <a:noFill/>
          <a:ln/>
        </p:spPr>
        <p:txBody>
          <a:bodyPr wrap="square" lIns="0" tIns="0" rIns="0" bIns="0" rtlCol="0" anchor="ctr"/>
          <a:lstStyle/>
          <a:p>
            <a:pPr algn="ctr" indent="0" marL="0">
              <a:buNone/>
            </a:pPr>
            <a:r>
              <a:rPr lang="en-US" sz="1300" b="1" dirty="0">
                <a:solidFill>
                  <a:srgbClr val="0B3D2E"/>
                </a:solidFill>
              </a:rPr>
              <a:t>5</a:t>
            </a:r>
            <a:endParaRPr lang="en-US" sz="1300" dirty="0"/>
          </a:p>
        </p:txBody>
      </p:sp>
      <p:sp>
        <p:nvSpPr>
          <p:cNvPr id="30" name="Text 28"/>
          <p:cNvSpPr txBox="1"/>
          <p:nvPr/>
        </p:nvSpPr>
        <p:spPr>
          <a:xfrm>
            <a:off x="5760720" y="3246120"/>
            <a:ext cx="2926080" cy="384048"/>
          </a:xfrm>
          <a:prstGeom prst="rect">
            <a:avLst/>
          </a:prstGeom>
          <a:noFill/>
          <a:ln/>
        </p:spPr>
        <p:txBody>
          <a:bodyPr wrap="square" lIns="0" tIns="0" rIns="0" bIns="0" rtlCol="0" anchor="ctr"/>
          <a:lstStyle/>
          <a:p>
            <a:pPr indent="0" marL="0">
              <a:buNone/>
            </a:pPr>
            <a:r>
              <a:rPr lang="en-US" sz="1500" dirty="0">
                <a:solidFill>
                  <a:srgbClr val="1B1B1B"/>
                </a:solidFill>
              </a:rPr>
              <a:t>Open that address on your phone. Press OPEN</a:t>
            </a:r>
            <a:endParaRPr lang="en-US" sz="1500" dirty="0"/>
          </a:p>
        </p:txBody>
      </p:sp>
      <p:sp>
        <p:nvSpPr>
          <p:cNvPr id="31" name="Shape 29"/>
          <p:cNvSpPr/>
          <p:nvPr/>
        </p:nvSpPr>
        <p:spPr>
          <a:xfrm>
            <a:off x="5303520" y="3657600"/>
            <a:ext cx="3383280" cy="457200"/>
          </a:xfrm>
          <a:prstGeom prst="roundRect">
            <a:avLst>
              <a:gd name="adj" fmla="val 16000"/>
            </a:avLst>
          </a:prstGeom>
          <a:solidFill>
            <a:srgbClr val="DDF3E9"/>
          </a:solidFill>
          <a:ln w="15875">
            <a:solidFill>
              <a:srgbClr val="1F8A70"/>
            </a:solidFill>
            <a:prstDash val="solid"/>
          </a:ln>
        </p:spPr>
      </p:sp>
      <p:sp>
        <p:nvSpPr>
          <p:cNvPr id="32" name="Text 30"/>
          <p:cNvSpPr txBox="1"/>
          <p:nvPr/>
        </p:nvSpPr>
        <p:spPr>
          <a:xfrm>
            <a:off x="5440680" y="3657600"/>
            <a:ext cx="3108960" cy="457200"/>
          </a:xfrm>
          <a:prstGeom prst="rect">
            <a:avLst/>
          </a:prstGeom>
          <a:noFill/>
          <a:ln/>
        </p:spPr>
        <p:txBody>
          <a:bodyPr wrap="square" lIns="0" tIns="0" rIns="0" bIns="0" rtlCol="0" anchor="ctr"/>
          <a:lstStyle/>
          <a:p>
            <a:pPr indent="0" marL="0">
              <a:buNone/>
            </a:pPr>
            <a:r>
              <a:rPr lang="en-US" sz="1200" b="1" dirty="0">
                <a:solidFill>
                  <a:srgbClr val="1F8A70"/>
                </a:solidFill>
              </a:rPr>
              <a:t>CHECKPOINT  </a:t>
            </a:r>
            <a:pPr indent="0" marL="0">
              <a:buNone/>
            </a:pPr>
            <a:r>
              <a:rPr lang="en-US" sz="1400" dirty="0">
                <a:solidFill>
                  <a:srgbClr val="1B1B1B"/>
                </a:solidFill>
              </a:rPr>
              <a:t>The horn moves when you tap OPEN.</a:t>
            </a:r>
            <a:endParaRPr lang="en-US" sz="1400" dirty="0"/>
          </a:p>
        </p:txBody>
      </p:sp>
      <p:sp>
        <p:nvSpPr>
          <p:cNvPr id="33" name="Shape 31"/>
          <p:cNvSpPr/>
          <p:nvPr/>
        </p:nvSpPr>
        <p:spPr>
          <a:xfrm>
            <a:off x="5303520" y="4206240"/>
            <a:ext cx="3383280" cy="457200"/>
          </a:xfrm>
          <a:prstGeom prst="roundRect">
            <a:avLst>
              <a:gd name="adj" fmla="val 16000"/>
            </a:avLst>
          </a:prstGeom>
          <a:solidFill>
            <a:srgbClr val="FFF4D6"/>
          </a:solidFill>
          <a:ln w="12700">
            <a:solidFill>
              <a:srgbClr val="E0A800"/>
            </a:solidFill>
            <a:prstDash val="solid"/>
          </a:ln>
        </p:spPr>
      </p:sp>
      <p:sp>
        <p:nvSpPr>
          <p:cNvPr id="34" name="Text 32"/>
          <p:cNvSpPr txBox="1"/>
          <p:nvPr/>
        </p:nvSpPr>
        <p:spPr>
          <a:xfrm>
            <a:off x="5440680" y="4206240"/>
            <a:ext cx="3108960" cy="457200"/>
          </a:xfrm>
          <a:prstGeom prst="rect">
            <a:avLst/>
          </a:prstGeom>
          <a:noFill/>
          <a:ln/>
        </p:spPr>
        <p:txBody>
          <a:bodyPr wrap="square" lIns="0" tIns="0" rIns="0" bIns="0" rtlCol="0" anchor="ctr"/>
          <a:lstStyle/>
          <a:p>
            <a:pPr indent="0" marL="0">
              <a:buNone/>
            </a:pPr>
            <a:r>
              <a:rPr lang="en-US" sz="1200" b="1" dirty="0">
                <a:solidFill>
                  <a:srgbClr val="9A6B00"/>
                </a:solidFill>
              </a:rPr>
              <a:t>STUCK?  </a:t>
            </a:r>
            <a:pPr indent="0" marL="0">
              <a:buNone/>
            </a:pPr>
            <a:r>
              <a:rPr lang="en-US" sz="1400" dirty="0">
                <a:solidFill>
                  <a:srgbClr val="1B1B1B"/>
                </a:solidFill>
              </a:rPr>
              <a:t>Wi-Fi FAILED? Check both quotes are still there.</a:t>
            </a:r>
            <a:endParaRPr lang="en-US" sz="14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Who is your door for?</a:t>
            </a:r>
            <a:endParaRPr lang="en-US" sz="3000" dirty="0"/>
          </a:p>
        </p:txBody>
      </p:sp>
      <p:sp>
        <p:nvSpPr>
          <p:cNvPr id="3" name="Shape 1"/>
          <p:cNvSpPr/>
          <p:nvPr/>
        </p:nvSpPr>
        <p:spPr>
          <a:xfrm>
            <a:off x="457200" y="1051560"/>
            <a:ext cx="2606040" cy="1737360"/>
          </a:xfrm>
          <a:prstGeom prst="roundRect">
            <a:avLst>
              <a:gd name="adj" fmla="val 5263"/>
            </a:avLst>
          </a:prstGeom>
          <a:solidFill>
            <a:srgbClr val="EEF5F1"/>
          </a:solidFill>
          <a:ln w="15875">
            <a:solidFill>
              <a:srgbClr val="D3E4DB"/>
            </a:solidFill>
            <a:prstDash val="solid"/>
          </a:ln>
        </p:spPr>
      </p:sp>
      <p:sp>
        <p:nvSpPr>
          <p:cNvPr id="4" name="Text 2"/>
          <p:cNvSpPr txBox="1"/>
          <p:nvPr/>
        </p:nvSpPr>
        <p:spPr>
          <a:xfrm>
            <a:off x="640080" y="1188720"/>
            <a:ext cx="2240280" cy="365760"/>
          </a:xfrm>
          <a:prstGeom prst="rect">
            <a:avLst/>
          </a:prstGeom>
          <a:noFill/>
          <a:ln/>
        </p:spPr>
        <p:txBody>
          <a:bodyPr wrap="square" lIns="0" tIns="0" rIns="0" bIns="0" rtlCol="0" anchor="ctr"/>
          <a:lstStyle/>
          <a:p>
            <a:pPr indent="0" marL="0">
              <a:buNone/>
            </a:pPr>
            <a:r>
              <a:rPr lang="en-US" sz="1700" b="1" dirty="0">
                <a:solidFill>
                  <a:srgbClr val="0B3D2E"/>
                </a:solidFill>
              </a:rPr>
              <a:t>Sensor only</a:t>
            </a:r>
            <a:endParaRPr lang="en-US" sz="1700" dirty="0"/>
          </a:p>
        </p:txBody>
      </p:sp>
      <p:sp>
        <p:nvSpPr>
          <p:cNvPr id="5" name="Text 3"/>
          <p:cNvSpPr txBox="1"/>
          <p:nvPr/>
        </p:nvSpPr>
        <p:spPr>
          <a:xfrm>
            <a:off x="640080" y="1600200"/>
            <a:ext cx="2240280" cy="1097280"/>
          </a:xfrm>
          <a:prstGeom prst="rect">
            <a:avLst/>
          </a:prstGeom>
          <a:noFill/>
          <a:ln/>
        </p:spPr>
        <p:txBody>
          <a:bodyPr wrap="square" lIns="0" tIns="0" rIns="0" bIns="0" rtlCol="0" anchor="t"/>
          <a:lstStyle/>
          <a:p>
            <a:pPr indent="0" marL="0">
              <a:buNone/>
            </a:pPr>
            <a:r>
              <a:rPr lang="en-US" sz="1400" dirty="0">
                <a:solidFill>
                  <a:srgbClr val="1B1B1B"/>
                </a:solidFill>
              </a:rPr>
              <a:t>Opens for anybody who comes near. Nobody has to touch anything.</a:t>
            </a:r>
            <a:endParaRPr lang="en-US" sz="1400" dirty="0"/>
          </a:p>
        </p:txBody>
      </p:sp>
      <p:sp>
        <p:nvSpPr>
          <p:cNvPr id="6" name="Shape 4"/>
          <p:cNvSpPr/>
          <p:nvPr/>
        </p:nvSpPr>
        <p:spPr>
          <a:xfrm>
            <a:off x="3273552" y="1051560"/>
            <a:ext cx="2606040" cy="1737360"/>
          </a:xfrm>
          <a:prstGeom prst="roundRect">
            <a:avLst>
              <a:gd name="adj" fmla="val 5263"/>
            </a:avLst>
          </a:prstGeom>
          <a:solidFill>
            <a:srgbClr val="EEF5F1"/>
          </a:solidFill>
          <a:ln w="15875">
            <a:solidFill>
              <a:srgbClr val="D3E4DB"/>
            </a:solidFill>
            <a:prstDash val="solid"/>
          </a:ln>
        </p:spPr>
      </p:sp>
      <p:sp>
        <p:nvSpPr>
          <p:cNvPr id="7" name="Text 5"/>
          <p:cNvSpPr txBox="1"/>
          <p:nvPr/>
        </p:nvSpPr>
        <p:spPr>
          <a:xfrm>
            <a:off x="3456432" y="1188720"/>
            <a:ext cx="2240280" cy="365760"/>
          </a:xfrm>
          <a:prstGeom prst="rect">
            <a:avLst/>
          </a:prstGeom>
          <a:noFill/>
          <a:ln/>
        </p:spPr>
        <p:txBody>
          <a:bodyPr wrap="square" lIns="0" tIns="0" rIns="0" bIns="0" rtlCol="0" anchor="ctr"/>
          <a:lstStyle/>
          <a:p>
            <a:pPr indent="0" marL="0">
              <a:buNone/>
            </a:pPr>
            <a:r>
              <a:rPr lang="en-US" sz="1700" b="1" dirty="0">
                <a:solidFill>
                  <a:srgbClr val="0B3D2E"/>
                </a:solidFill>
              </a:rPr>
              <a:t>Phone only</a:t>
            </a:r>
            <a:endParaRPr lang="en-US" sz="1700" dirty="0"/>
          </a:p>
        </p:txBody>
      </p:sp>
      <p:sp>
        <p:nvSpPr>
          <p:cNvPr id="8" name="Text 6"/>
          <p:cNvSpPr txBox="1"/>
          <p:nvPr/>
        </p:nvSpPr>
        <p:spPr>
          <a:xfrm>
            <a:off x="3456432" y="1600200"/>
            <a:ext cx="2240280" cy="1097280"/>
          </a:xfrm>
          <a:prstGeom prst="rect">
            <a:avLst/>
          </a:prstGeom>
          <a:noFill/>
          <a:ln/>
        </p:spPr>
        <p:txBody>
          <a:bodyPr wrap="square" lIns="0" tIns="0" rIns="0" bIns="0" rtlCol="0" anchor="t"/>
          <a:lstStyle/>
          <a:p>
            <a:pPr indent="0" marL="0">
              <a:buNone/>
            </a:pPr>
            <a:r>
              <a:rPr lang="en-US" sz="1400" dirty="0">
                <a:solidFill>
                  <a:srgbClr val="1B1B1B"/>
                </a:solidFill>
              </a:rPr>
              <a:t>Somebody decides who comes in. Good for a gate, bad for a shop.</a:t>
            </a:r>
            <a:endParaRPr lang="en-US" sz="1400" dirty="0"/>
          </a:p>
        </p:txBody>
      </p:sp>
      <p:sp>
        <p:nvSpPr>
          <p:cNvPr id="9" name="Shape 7"/>
          <p:cNvSpPr/>
          <p:nvPr/>
        </p:nvSpPr>
        <p:spPr>
          <a:xfrm>
            <a:off x="6089904" y="1051560"/>
            <a:ext cx="2606040" cy="1737360"/>
          </a:xfrm>
          <a:prstGeom prst="roundRect">
            <a:avLst>
              <a:gd name="adj" fmla="val 5263"/>
            </a:avLst>
          </a:prstGeom>
          <a:solidFill>
            <a:srgbClr val="DDF3E9"/>
          </a:solidFill>
          <a:ln w="15875">
            <a:solidFill>
              <a:srgbClr val="1F8A70"/>
            </a:solidFill>
            <a:prstDash val="solid"/>
          </a:ln>
        </p:spPr>
      </p:sp>
      <p:sp>
        <p:nvSpPr>
          <p:cNvPr id="10" name="Text 8"/>
          <p:cNvSpPr txBox="1"/>
          <p:nvPr/>
        </p:nvSpPr>
        <p:spPr>
          <a:xfrm>
            <a:off x="6272784" y="1188720"/>
            <a:ext cx="2240280" cy="365760"/>
          </a:xfrm>
          <a:prstGeom prst="rect">
            <a:avLst/>
          </a:prstGeom>
          <a:noFill/>
          <a:ln/>
        </p:spPr>
        <p:txBody>
          <a:bodyPr wrap="square" lIns="0" tIns="0" rIns="0" bIns="0" rtlCol="0" anchor="ctr"/>
          <a:lstStyle/>
          <a:p>
            <a:pPr indent="0" marL="0">
              <a:buNone/>
            </a:pPr>
            <a:r>
              <a:rPr lang="en-US" sz="1700" b="1" dirty="0">
                <a:solidFill>
                  <a:srgbClr val="0B3D2E"/>
                </a:solidFill>
              </a:rPr>
              <a:t>Both</a:t>
            </a:r>
            <a:endParaRPr lang="en-US" sz="1700" dirty="0"/>
          </a:p>
        </p:txBody>
      </p:sp>
      <p:sp>
        <p:nvSpPr>
          <p:cNvPr id="11" name="Text 9"/>
          <p:cNvSpPr txBox="1"/>
          <p:nvPr/>
        </p:nvSpPr>
        <p:spPr>
          <a:xfrm>
            <a:off x="6272784" y="1600200"/>
            <a:ext cx="2240280" cy="1097280"/>
          </a:xfrm>
          <a:prstGeom prst="rect">
            <a:avLst/>
          </a:prstGeom>
          <a:noFill/>
          <a:ln/>
        </p:spPr>
        <p:txBody>
          <a:bodyPr wrap="square" lIns="0" tIns="0" rIns="0" bIns="0" rtlCol="0" anchor="t"/>
          <a:lstStyle/>
          <a:p>
            <a:pPr indent="0" marL="0">
              <a:buNone/>
            </a:pPr>
            <a:r>
              <a:rPr lang="en-US" sz="1400" dirty="0">
                <a:solidFill>
                  <a:srgbClr val="1B1B1B"/>
                </a:solidFill>
              </a:rPr>
              <a:t>Opens by itself, and a person can override it.</a:t>
            </a:r>
            <a:endParaRPr lang="en-US" sz="1400" dirty="0"/>
          </a:p>
        </p:txBody>
      </p:sp>
      <p:sp>
        <p:nvSpPr>
          <p:cNvPr id="12" name="Shape 10"/>
          <p:cNvSpPr/>
          <p:nvPr/>
        </p:nvSpPr>
        <p:spPr>
          <a:xfrm>
            <a:off x="457200" y="2971800"/>
            <a:ext cx="8229600" cy="1508760"/>
          </a:xfrm>
          <a:prstGeom prst="roundRect">
            <a:avLst>
              <a:gd name="adj" fmla="val 6061"/>
            </a:avLst>
          </a:prstGeom>
          <a:solidFill>
            <a:srgbClr val="0B3D2E"/>
          </a:solidFill>
          <a:ln w="12700">
            <a:solidFill>
              <a:srgbClr val="0B3D2E"/>
            </a:solidFill>
            <a:prstDash val="solid"/>
          </a:ln>
        </p:spPr>
      </p:sp>
      <p:sp>
        <p:nvSpPr>
          <p:cNvPr id="13" name="Text 11"/>
          <p:cNvSpPr txBox="1"/>
          <p:nvPr/>
        </p:nvSpPr>
        <p:spPr>
          <a:xfrm>
            <a:off x="731520" y="3108960"/>
            <a:ext cx="7680960" cy="365760"/>
          </a:xfrm>
          <a:prstGeom prst="rect">
            <a:avLst/>
          </a:prstGeom>
          <a:noFill/>
          <a:ln/>
        </p:spPr>
        <p:txBody>
          <a:bodyPr wrap="square" lIns="0" tIns="0" rIns="0" bIns="0" rtlCol="0" anchor="ctr"/>
          <a:lstStyle/>
          <a:p>
            <a:pPr indent="0" marL="0">
              <a:buNone/>
            </a:pPr>
            <a:r>
              <a:rPr lang="en-US" sz="1800" b="1" dirty="0">
                <a:solidFill>
                  <a:srgbClr val="FFFFFF"/>
                </a:solidFill>
              </a:rPr>
              <a:t>Talk to the person next to you: name one door in this school.</a:t>
            </a:r>
            <a:endParaRPr lang="en-US" sz="1800" dirty="0"/>
          </a:p>
        </p:txBody>
      </p:sp>
      <p:sp>
        <p:nvSpPr>
          <p:cNvPr id="14" name="Text 12"/>
          <p:cNvSpPr txBox="1"/>
          <p:nvPr/>
        </p:nvSpPr>
        <p:spPr>
          <a:xfrm>
            <a:off x="731520" y="3520440"/>
            <a:ext cx="7680960" cy="91440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rgbClr val="D7EBE2"/>
                </a:solidFill>
              </a:rPr>
              <a:t>Who struggles with it, and when?</a:t>
            </a:r>
            <a:endParaRPr lang="en-US" sz="1500" dirty="0"/>
          </a:p>
          <a:p>
            <a:pPr marL="342900" indent="-342900">
              <a:spcAft>
                <a:spcPts val="400"/>
              </a:spcAft>
              <a:buSzPct val="100000"/>
              <a:buChar char="•"/>
            </a:pPr>
            <a:r>
              <a:rPr lang="en-US" sz="1500" dirty="0">
                <a:solidFill>
                  <a:srgbClr val="D7EBE2"/>
                </a:solidFill>
              </a:rPr>
              <a:t>Would your sensor see them in time?</a:t>
            </a:r>
            <a:endParaRPr lang="en-US" sz="1500" dirty="0"/>
          </a:p>
          <a:p>
            <a:pPr marL="342900" indent="-342900">
              <a:spcAft>
                <a:spcPts val="400"/>
              </a:spcAft>
              <a:buSzPct val="100000"/>
              <a:buChar char="•"/>
            </a:pPr>
            <a:r>
              <a:rPr lang="en-US" sz="1500" dirty="0">
                <a:solidFill>
                  <a:srgbClr val="D7EBE2"/>
                </a:solidFill>
              </a:rPr>
              <a:t>What would go wrong at the busiest minute of the day?</a:t>
            </a:r>
            <a:endParaRPr lang="en-US" sz="15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640080"/>
          </a:xfrm>
          <a:prstGeom prst="rect">
            <a:avLst/>
          </a:prstGeom>
          <a:noFill/>
          <a:ln/>
        </p:spPr>
        <p:txBody>
          <a:bodyPr wrap="square" lIns="0" tIns="0" rIns="0" bIns="0" rtlCol="0" anchor="ctr"/>
          <a:lstStyle/>
          <a:p>
            <a:pPr algn="l" indent="0" marL="0">
              <a:buNone/>
            </a:pPr>
            <a:r>
              <a:rPr lang="en-US" sz="3000" b="1" dirty="0">
                <a:solidFill>
                  <a:schemeClr val="tx2"/>
                </a:solidFill>
              </a:rPr>
              <a:t>What did you reach today?</a:t>
            </a:r>
            <a:endParaRPr lang="en-US" sz="3000" dirty="0"/>
          </a:p>
        </p:txBody>
      </p:sp>
      <p:sp>
        <p:nvSpPr>
          <p:cNvPr id="3" name="Shape 1"/>
          <p:cNvSpPr/>
          <p:nvPr/>
        </p:nvSpPr>
        <p:spPr>
          <a:xfrm>
            <a:off x="822960" y="1325880"/>
            <a:ext cx="594360" cy="594360"/>
          </a:xfrm>
          <a:prstGeom prst="ellipse">
            <a:avLst/>
          </a:prstGeom>
          <a:solidFill>
            <a:srgbClr val="E0A800"/>
          </a:solidFill>
          <a:ln w="12700">
            <a:solidFill>
              <a:srgbClr val="C98C00"/>
            </a:solidFill>
            <a:prstDash val="solid"/>
          </a:ln>
        </p:spPr>
      </p:sp>
      <p:sp>
        <p:nvSpPr>
          <p:cNvPr id="4" name="Text 2"/>
          <p:cNvSpPr txBox="1"/>
          <p:nvPr/>
        </p:nvSpPr>
        <p:spPr>
          <a:xfrm>
            <a:off x="822960" y="1325880"/>
            <a:ext cx="594360" cy="594360"/>
          </a:xfrm>
          <a:prstGeom prst="rect">
            <a:avLst/>
          </a:prstGeom>
          <a:noFill/>
          <a:ln/>
        </p:spPr>
        <p:txBody>
          <a:bodyPr wrap="square" lIns="0" tIns="0" rIns="0" bIns="0" rtlCol="0" anchor="ctr"/>
          <a:lstStyle/>
          <a:p>
            <a:pPr algn="ctr" indent="0" marL="0">
              <a:buNone/>
            </a:pPr>
            <a:r>
              <a:rPr lang="en-US" sz="1800" b="1" dirty="0">
                <a:solidFill>
                  <a:srgbClr val="0B3D2E"/>
                </a:solidFill>
              </a:rPr>
              <a:t>A</a:t>
            </a:r>
            <a:endParaRPr lang="en-US" sz="1800" dirty="0"/>
          </a:p>
        </p:txBody>
      </p:sp>
      <p:sp>
        <p:nvSpPr>
          <p:cNvPr id="5" name="Shape 3"/>
          <p:cNvSpPr/>
          <p:nvPr/>
        </p:nvSpPr>
        <p:spPr>
          <a:xfrm>
            <a:off x="1463040" y="1618488"/>
            <a:ext cx="758952" cy="0"/>
          </a:xfrm>
          <a:prstGeom prst="line">
            <a:avLst/>
          </a:prstGeom>
          <a:noFill/>
          <a:ln w="25400">
            <a:solidFill>
              <a:srgbClr val="C98C00"/>
            </a:solidFill>
            <a:prstDash val="solid"/>
          </a:ln>
        </p:spPr>
      </p:sp>
      <p:sp>
        <p:nvSpPr>
          <p:cNvPr id="6" name="Text 4"/>
          <p:cNvSpPr txBox="1"/>
          <p:nvPr/>
        </p:nvSpPr>
        <p:spPr>
          <a:xfrm>
            <a:off x="320040" y="2057400"/>
            <a:ext cx="1600200" cy="502920"/>
          </a:xfrm>
          <a:prstGeom prst="rect">
            <a:avLst/>
          </a:prstGeom>
          <a:noFill/>
          <a:ln/>
        </p:spPr>
        <p:txBody>
          <a:bodyPr wrap="square" lIns="0" tIns="0" rIns="0" bIns="0" rtlCol="0" anchor="ctr"/>
          <a:lstStyle/>
          <a:p>
            <a:pPr algn="ctr" indent="0" marL="0">
              <a:buNone/>
            </a:pPr>
            <a:r>
              <a:rPr lang="en-US" sz="1200" b="1" dirty="0">
                <a:solidFill>
                  <a:srgbClr val="0B3D2E"/>
                </a:solidFill>
              </a:rPr>
              <a:t>LED bar works</a:t>
            </a:r>
            <a:endParaRPr lang="en-US" sz="1200" dirty="0"/>
          </a:p>
        </p:txBody>
      </p:sp>
      <p:sp>
        <p:nvSpPr>
          <p:cNvPr id="7" name="Shape 5"/>
          <p:cNvSpPr/>
          <p:nvPr/>
        </p:nvSpPr>
        <p:spPr>
          <a:xfrm>
            <a:off x="2221992" y="1325880"/>
            <a:ext cx="594360" cy="594360"/>
          </a:xfrm>
          <a:prstGeom prst="ellipse">
            <a:avLst/>
          </a:prstGeom>
          <a:solidFill>
            <a:srgbClr val="F2A900"/>
          </a:solidFill>
          <a:ln w="12700">
            <a:solidFill>
              <a:srgbClr val="C98C00"/>
            </a:solidFill>
            <a:prstDash val="solid"/>
          </a:ln>
        </p:spPr>
      </p:sp>
      <p:sp>
        <p:nvSpPr>
          <p:cNvPr id="8" name="Text 6"/>
          <p:cNvSpPr txBox="1"/>
          <p:nvPr/>
        </p:nvSpPr>
        <p:spPr>
          <a:xfrm>
            <a:off x="2221992" y="1325880"/>
            <a:ext cx="594360" cy="594360"/>
          </a:xfrm>
          <a:prstGeom prst="rect">
            <a:avLst/>
          </a:prstGeom>
          <a:noFill/>
          <a:ln/>
        </p:spPr>
        <p:txBody>
          <a:bodyPr wrap="square" lIns="0" tIns="0" rIns="0" bIns="0" rtlCol="0" anchor="ctr"/>
          <a:lstStyle/>
          <a:p>
            <a:pPr algn="ctr" indent="0" marL="0">
              <a:buNone/>
            </a:pPr>
            <a:r>
              <a:rPr lang="en-US" sz="1800" b="1" dirty="0">
                <a:solidFill>
                  <a:srgbClr val="0B3D2E"/>
                </a:solidFill>
              </a:rPr>
              <a:t>0</a:t>
            </a:r>
            <a:endParaRPr lang="en-US" sz="1800" dirty="0"/>
          </a:p>
        </p:txBody>
      </p:sp>
      <p:sp>
        <p:nvSpPr>
          <p:cNvPr id="9" name="Shape 7"/>
          <p:cNvSpPr/>
          <p:nvPr/>
        </p:nvSpPr>
        <p:spPr>
          <a:xfrm>
            <a:off x="2862072" y="1618488"/>
            <a:ext cx="758952" cy="0"/>
          </a:xfrm>
          <a:prstGeom prst="line">
            <a:avLst/>
          </a:prstGeom>
          <a:noFill/>
          <a:ln w="25400">
            <a:solidFill>
              <a:srgbClr val="C98C00"/>
            </a:solidFill>
            <a:prstDash val="solid"/>
          </a:ln>
        </p:spPr>
      </p:sp>
      <p:sp>
        <p:nvSpPr>
          <p:cNvPr id="10" name="Text 8"/>
          <p:cNvSpPr txBox="1"/>
          <p:nvPr/>
        </p:nvSpPr>
        <p:spPr>
          <a:xfrm>
            <a:off x="1719072" y="2057400"/>
            <a:ext cx="1600200" cy="502920"/>
          </a:xfrm>
          <a:prstGeom prst="rect">
            <a:avLst/>
          </a:prstGeom>
          <a:noFill/>
          <a:ln/>
        </p:spPr>
        <p:txBody>
          <a:bodyPr wrap="square" lIns="0" tIns="0" rIns="0" bIns="0" rtlCol="0" anchor="ctr"/>
          <a:lstStyle/>
          <a:p>
            <a:pPr algn="ctr" indent="0" marL="0">
              <a:buNone/>
            </a:pPr>
            <a:r>
              <a:rPr lang="en-US" sz="1200" b="1" dirty="0">
                <a:solidFill>
                  <a:srgbClr val="0B3D2E"/>
                </a:solidFill>
              </a:rPr>
              <a:t>Functions</a:t>
            </a:r>
            <a:endParaRPr lang="en-US" sz="1200" dirty="0"/>
          </a:p>
        </p:txBody>
      </p:sp>
      <p:sp>
        <p:nvSpPr>
          <p:cNvPr id="11" name="Shape 9"/>
          <p:cNvSpPr/>
          <p:nvPr/>
        </p:nvSpPr>
        <p:spPr>
          <a:xfrm>
            <a:off x="3621024" y="1325880"/>
            <a:ext cx="594360" cy="594360"/>
          </a:xfrm>
          <a:prstGeom prst="ellipse">
            <a:avLst/>
          </a:prstGeom>
          <a:solidFill>
            <a:srgbClr val="F2A900"/>
          </a:solidFill>
          <a:ln w="12700">
            <a:solidFill>
              <a:srgbClr val="C98C00"/>
            </a:solidFill>
            <a:prstDash val="solid"/>
          </a:ln>
        </p:spPr>
      </p:sp>
      <p:sp>
        <p:nvSpPr>
          <p:cNvPr id="12" name="Text 10"/>
          <p:cNvSpPr txBox="1"/>
          <p:nvPr/>
        </p:nvSpPr>
        <p:spPr>
          <a:xfrm>
            <a:off x="3621024" y="1325880"/>
            <a:ext cx="594360" cy="594360"/>
          </a:xfrm>
          <a:prstGeom prst="rect">
            <a:avLst/>
          </a:prstGeom>
          <a:noFill/>
          <a:ln/>
        </p:spPr>
        <p:txBody>
          <a:bodyPr wrap="square" lIns="0" tIns="0" rIns="0" bIns="0" rtlCol="0" anchor="ctr"/>
          <a:lstStyle/>
          <a:p>
            <a:pPr algn="ctr" indent="0" marL="0">
              <a:buNone/>
            </a:pPr>
            <a:r>
              <a:rPr lang="en-US" sz="1800" b="1" dirty="0">
                <a:solidFill>
                  <a:srgbClr val="0B3D2E"/>
                </a:solidFill>
              </a:rPr>
              <a:t>1</a:t>
            </a:r>
            <a:endParaRPr lang="en-US" sz="1800" dirty="0"/>
          </a:p>
        </p:txBody>
      </p:sp>
      <p:sp>
        <p:nvSpPr>
          <p:cNvPr id="13" name="Shape 11"/>
          <p:cNvSpPr/>
          <p:nvPr/>
        </p:nvSpPr>
        <p:spPr>
          <a:xfrm>
            <a:off x="4261104" y="1618488"/>
            <a:ext cx="758952" cy="0"/>
          </a:xfrm>
          <a:prstGeom prst="line">
            <a:avLst/>
          </a:prstGeom>
          <a:noFill/>
          <a:ln w="25400">
            <a:solidFill>
              <a:srgbClr val="C98C00"/>
            </a:solidFill>
            <a:prstDash val="solid"/>
          </a:ln>
        </p:spPr>
      </p:sp>
      <p:sp>
        <p:nvSpPr>
          <p:cNvPr id="14" name="Text 12"/>
          <p:cNvSpPr txBox="1"/>
          <p:nvPr/>
        </p:nvSpPr>
        <p:spPr>
          <a:xfrm>
            <a:off x="3118104" y="2057400"/>
            <a:ext cx="1600200" cy="502920"/>
          </a:xfrm>
          <a:prstGeom prst="rect">
            <a:avLst/>
          </a:prstGeom>
          <a:noFill/>
          <a:ln/>
        </p:spPr>
        <p:txBody>
          <a:bodyPr wrap="square" lIns="0" tIns="0" rIns="0" bIns="0" rtlCol="0" anchor="ctr"/>
          <a:lstStyle/>
          <a:p>
            <a:pPr algn="ctr" indent="0" marL="0">
              <a:buNone/>
            </a:pPr>
            <a:r>
              <a:rPr lang="en-US" sz="1200" b="1" dirty="0">
                <a:solidFill>
                  <a:srgbClr val="0B3D2E"/>
                </a:solidFill>
              </a:rPr>
              <a:t>Servo moves</a:t>
            </a:r>
            <a:endParaRPr lang="en-US" sz="1200" dirty="0"/>
          </a:p>
        </p:txBody>
      </p:sp>
      <p:sp>
        <p:nvSpPr>
          <p:cNvPr id="15" name="Shape 13"/>
          <p:cNvSpPr/>
          <p:nvPr/>
        </p:nvSpPr>
        <p:spPr>
          <a:xfrm>
            <a:off x="5020056" y="1325880"/>
            <a:ext cx="594360" cy="594360"/>
          </a:xfrm>
          <a:prstGeom prst="ellipse">
            <a:avLst/>
          </a:prstGeom>
          <a:solidFill>
            <a:srgbClr val="F2A900"/>
          </a:solidFill>
          <a:ln w="12700">
            <a:solidFill>
              <a:srgbClr val="C98C00"/>
            </a:solidFill>
            <a:prstDash val="solid"/>
          </a:ln>
        </p:spPr>
      </p:sp>
      <p:sp>
        <p:nvSpPr>
          <p:cNvPr id="16" name="Text 14"/>
          <p:cNvSpPr txBox="1"/>
          <p:nvPr/>
        </p:nvSpPr>
        <p:spPr>
          <a:xfrm>
            <a:off x="5020056" y="1325880"/>
            <a:ext cx="594360" cy="594360"/>
          </a:xfrm>
          <a:prstGeom prst="rect">
            <a:avLst/>
          </a:prstGeom>
          <a:noFill/>
          <a:ln/>
        </p:spPr>
        <p:txBody>
          <a:bodyPr wrap="square" lIns="0" tIns="0" rIns="0" bIns="0" rtlCol="0" anchor="ctr"/>
          <a:lstStyle/>
          <a:p>
            <a:pPr algn="ctr" indent="0" marL="0">
              <a:buNone/>
            </a:pPr>
            <a:r>
              <a:rPr lang="en-US" sz="1800" b="1" dirty="0">
                <a:solidFill>
                  <a:srgbClr val="0B3D2E"/>
                </a:solidFill>
              </a:rPr>
              <a:t>2</a:t>
            </a:r>
            <a:endParaRPr lang="en-US" sz="1800" dirty="0"/>
          </a:p>
        </p:txBody>
      </p:sp>
      <p:sp>
        <p:nvSpPr>
          <p:cNvPr id="17" name="Shape 15"/>
          <p:cNvSpPr/>
          <p:nvPr/>
        </p:nvSpPr>
        <p:spPr>
          <a:xfrm>
            <a:off x="5660136" y="1618488"/>
            <a:ext cx="758952" cy="0"/>
          </a:xfrm>
          <a:prstGeom prst="line">
            <a:avLst/>
          </a:prstGeom>
          <a:noFill/>
          <a:ln w="25400">
            <a:solidFill>
              <a:srgbClr val="C98C00"/>
            </a:solidFill>
            <a:prstDash val="solid"/>
          </a:ln>
        </p:spPr>
      </p:sp>
      <p:sp>
        <p:nvSpPr>
          <p:cNvPr id="18" name="Text 16"/>
          <p:cNvSpPr txBox="1"/>
          <p:nvPr/>
        </p:nvSpPr>
        <p:spPr>
          <a:xfrm>
            <a:off x="4517136" y="2057400"/>
            <a:ext cx="1600200" cy="502920"/>
          </a:xfrm>
          <a:prstGeom prst="rect">
            <a:avLst/>
          </a:prstGeom>
          <a:noFill/>
          <a:ln/>
        </p:spPr>
        <p:txBody>
          <a:bodyPr wrap="square" lIns="0" tIns="0" rIns="0" bIns="0" rtlCol="0" anchor="ctr"/>
          <a:lstStyle/>
          <a:p>
            <a:pPr algn="ctr" indent="0" marL="0">
              <a:buNone/>
            </a:pPr>
            <a:r>
              <a:rPr lang="en-US" sz="1200" b="1" dirty="0">
                <a:solidFill>
                  <a:srgbClr val="0B3D2E"/>
                </a:solidFill>
              </a:rPr>
              <a:t>set_angle()</a:t>
            </a:r>
            <a:endParaRPr lang="en-US" sz="1200" dirty="0"/>
          </a:p>
        </p:txBody>
      </p:sp>
      <p:sp>
        <p:nvSpPr>
          <p:cNvPr id="19" name="Shape 17"/>
          <p:cNvSpPr/>
          <p:nvPr/>
        </p:nvSpPr>
        <p:spPr>
          <a:xfrm>
            <a:off x="6419088" y="1325880"/>
            <a:ext cx="594360" cy="594360"/>
          </a:xfrm>
          <a:prstGeom prst="ellipse">
            <a:avLst/>
          </a:prstGeom>
          <a:solidFill>
            <a:srgbClr val="F2A900"/>
          </a:solidFill>
          <a:ln w="12700">
            <a:solidFill>
              <a:srgbClr val="C98C00"/>
            </a:solidFill>
            <a:prstDash val="solid"/>
          </a:ln>
        </p:spPr>
      </p:sp>
      <p:sp>
        <p:nvSpPr>
          <p:cNvPr id="20" name="Text 18"/>
          <p:cNvSpPr txBox="1"/>
          <p:nvPr/>
        </p:nvSpPr>
        <p:spPr>
          <a:xfrm>
            <a:off x="6419088" y="1325880"/>
            <a:ext cx="594360" cy="594360"/>
          </a:xfrm>
          <a:prstGeom prst="rect">
            <a:avLst/>
          </a:prstGeom>
          <a:noFill/>
          <a:ln/>
        </p:spPr>
        <p:txBody>
          <a:bodyPr wrap="square" lIns="0" tIns="0" rIns="0" bIns="0" rtlCol="0" anchor="ctr"/>
          <a:lstStyle/>
          <a:p>
            <a:pPr algn="ctr" indent="0" marL="0">
              <a:buNone/>
            </a:pPr>
            <a:r>
              <a:rPr lang="en-US" sz="1800" b="1" dirty="0">
                <a:solidFill>
                  <a:srgbClr val="0B3D2E"/>
                </a:solidFill>
              </a:rPr>
              <a:t>3</a:t>
            </a:r>
            <a:endParaRPr lang="en-US" sz="1800" dirty="0"/>
          </a:p>
        </p:txBody>
      </p:sp>
      <p:sp>
        <p:nvSpPr>
          <p:cNvPr id="21" name="Shape 19"/>
          <p:cNvSpPr/>
          <p:nvPr/>
        </p:nvSpPr>
        <p:spPr>
          <a:xfrm>
            <a:off x="7059168" y="1618488"/>
            <a:ext cx="758952" cy="0"/>
          </a:xfrm>
          <a:prstGeom prst="line">
            <a:avLst/>
          </a:prstGeom>
          <a:noFill/>
          <a:ln w="25400">
            <a:solidFill>
              <a:srgbClr val="C98C00"/>
            </a:solidFill>
            <a:prstDash val="solid"/>
          </a:ln>
        </p:spPr>
      </p:sp>
      <p:sp>
        <p:nvSpPr>
          <p:cNvPr id="22" name="Text 20"/>
          <p:cNvSpPr txBox="1"/>
          <p:nvPr/>
        </p:nvSpPr>
        <p:spPr>
          <a:xfrm>
            <a:off x="5916168" y="2057400"/>
            <a:ext cx="1600200" cy="502920"/>
          </a:xfrm>
          <a:prstGeom prst="rect">
            <a:avLst/>
          </a:prstGeom>
          <a:noFill/>
          <a:ln/>
        </p:spPr>
        <p:txBody>
          <a:bodyPr wrap="square" lIns="0" tIns="0" rIns="0" bIns="0" rtlCol="0" anchor="ctr"/>
          <a:lstStyle/>
          <a:p>
            <a:pPr algn="ctr" indent="0" marL="0">
              <a:buNone/>
            </a:pPr>
            <a:r>
              <a:rPr lang="en-US" sz="1200" b="1" dirty="0">
                <a:solidFill>
                  <a:srgbClr val="0B3D2E"/>
                </a:solidFill>
              </a:rPr>
              <a:t>Door opens</a:t>
            </a:r>
            <a:endParaRPr lang="en-US" sz="1200" dirty="0"/>
          </a:p>
        </p:txBody>
      </p:sp>
      <p:sp>
        <p:nvSpPr>
          <p:cNvPr id="23" name="Shape 21"/>
          <p:cNvSpPr/>
          <p:nvPr/>
        </p:nvSpPr>
        <p:spPr>
          <a:xfrm>
            <a:off x="7818120" y="1325880"/>
            <a:ext cx="594360" cy="594360"/>
          </a:xfrm>
          <a:prstGeom prst="ellipse">
            <a:avLst/>
          </a:prstGeom>
          <a:solidFill>
            <a:srgbClr val="F2A900"/>
          </a:solidFill>
          <a:ln w="12700">
            <a:solidFill>
              <a:srgbClr val="C98C00"/>
            </a:solidFill>
            <a:prstDash val="solid"/>
          </a:ln>
        </p:spPr>
      </p:sp>
      <p:sp>
        <p:nvSpPr>
          <p:cNvPr id="24" name="Text 22"/>
          <p:cNvSpPr txBox="1"/>
          <p:nvPr/>
        </p:nvSpPr>
        <p:spPr>
          <a:xfrm>
            <a:off x="7818120" y="1325880"/>
            <a:ext cx="594360" cy="594360"/>
          </a:xfrm>
          <a:prstGeom prst="rect">
            <a:avLst/>
          </a:prstGeom>
          <a:noFill/>
          <a:ln/>
        </p:spPr>
        <p:txBody>
          <a:bodyPr wrap="square" lIns="0" tIns="0" rIns="0" bIns="0" rtlCol="0" anchor="ctr"/>
          <a:lstStyle/>
          <a:p>
            <a:pPr algn="ctr" indent="0" marL="0">
              <a:buNone/>
            </a:pPr>
            <a:r>
              <a:rPr lang="en-US" sz="1800" b="1" dirty="0">
                <a:solidFill>
                  <a:srgbClr val="0B3D2E"/>
                </a:solidFill>
              </a:rPr>
              <a:t>4</a:t>
            </a:r>
            <a:endParaRPr lang="en-US" sz="1800" dirty="0"/>
          </a:p>
        </p:txBody>
      </p:sp>
      <p:sp>
        <p:nvSpPr>
          <p:cNvPr id="25" name="Text 23"/>
          <p:cNvSpPr txBox="1"/>
          <p:nvPr/>
        </p:nvSpPr>
        <p:spPr>
          <a:xfrm>
            <a:off x="7315200" y="2057400"/>
            <a:ext cx="1600200" cy="502920"/>
          </a:xfrm>
          <a:prstGeom prst="rect">
            <a:avLst/>
          </a:prstGeom>
          <a:noFill/>
          <a:ln/>
        </p:spPr>
        <p:txBody>
          <a:bodyPr wrap="square" lIns="0" tIns="0" rIns="0" bIns="0" rtlCol="0" anchor="ctr"/>
          <a:lstStyle/>
          <a:p>
            <a:pPr algn="ctr" indent="0" marL="0">
              <a:buNone/>
            </a:pPr>
            <a:r>
              <a:rPr lang="en-US" sz="1200" b="1" dirty="0">
                <a:solidFill>
                  <a:srgbClr val="0B3D2E"/>
                </a:solidFill>
              </a:rPr>
              <a:t>On your phone</a:t>
            </a:r>
            <a:endParaRPr lang="en-US" sz="1200" dirty="0"/>
          </a:p>
        </p:txBody>
      </p:sp>
      <p:sp>
        <p:nvSpPr>
          <p:cNvPr id="26" name="Text 24"/>
          <p:cNvSpPr txBox="1"/>
          <p:nvPr/>
        </p:nvSpPr>
        <p:spPr>
          <a:xfrm>
            <a:off x="548640" y="2743200"/>
            <a:ext cx="8138160" cy="128016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B1B1B"/>
                </a:solidFill>
              </a:rPr>
              <a:t>A servo is an output that holds a position. PWM meant brightness, then pitch, now angle.</a:t>
            </a:r>
            <a:endParaRPr lang="en-US" sz="1600" dirty="0"/>
          </a:p>
          <a:p>
            <a:pPr marL="342900" indent="-342900">
              <a:spcAft>
                <a:spcPts val="800"/>
              </a:spcAft>
              <a:buSzPct val="100000"/>
              <a:buChar char="•"/>
            </a:pPr>
            <a:r>
              <a:rPr lang="en-US" sz="1600" dirty="0">
                <a:solidFill>
                  <a:srgbClr val="1B1B1B"/>
                </a:solidFill>
              </a:rPr>
              <a:t>Third time: a function turns a distance into a decision. def makes it, the brackets run it.</a:t>
            </a:r>
            <a:endParaRPr lang="en-US" sz="1600" dirty="0"/>
          </a:p>
          <a:p>
            <a:pPr marL="342900" indent="-342900">
              <a:spcAft>
                <a:spcPts val="800"/>
              </a:spcAft>
              <a:buSzPct val="100000"/>
              <a:buChar char="•"/>
            </a:pPr>
            <a:r>
              <a:rPr lang="en-US" sz="1600" dirty="0">
                <a:solidFill>
                  <a:srgbClr val="1B1B1B"/>
                </a:solidFill>
              </a:rPr>
              <a:t>A door that shuts too fast is a door that hurts somebody. Hold-open time is part of the design.</a:t>
            </a:r>
            <a:endParaRPr lang="en-US" sz="1600" dirty="0"/>
          </a:p>
        </p:txBody>
      </p:sp>
      <p:sp>
        <p:nvSpPr>
          <p:cNvPr id="27" name="Text 25"/>
          <p:cNvSpPr txBox="1"/>
          <p:nvPr/>
        </p:nvSpPr>
        <p:spPr>
          <a:xfrm>
            <a:off x="548640" y="4114800"/>
            <a:ext cx="8138160" cy="320040"/>
          </a:xfrm>
          <a:prstGeom prst="rect">
            <a:avLst/>
          </a:prstGeom>
          <a:noFill/>
          <a:ln/>
        </p:spPr>
        <p:txBody>
          <a:bodyPr wrap="square" lIns="0" tIns="0" rIns="0" bIns="0" rtlCol="0" anchor="ctr"/>
          <a:lstStyle/>
          <a:p>
            <a:pPr indent="0" marL="0">
              <a:buNone/>
            </a:pPr>
            <a:r>
              <a:rPr lang="en-US" sz="1600" b="1" dirty="0">
                <a:solidFill>
                  <a:srgbClr val="1F8A70"/>
                </a:solidFill>
              </a:rPr>
              <a:t>Next: pick the real problem we build for.</a:t>
            </a:r>
            <a:endParaRPr lang="en-US" sz="16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JA05 Circuit">
  <a:themeElements>
    <a:clrScheme name="JA05 Circuit">
      <a:dk1>
        <a:srgbClr val="1B1B1B"/>
      </a:dk1>
      <a:lt1>
        <a:srgbClr val="FFFFFF"/>
      </a:lt1>
      <a:dk2>
        <a:srgbClr val="0B3D2E"/>
      </a:dk2>
      <a:lt2>
        <a:srgbClr val="EEF5F1"/>
      </a:lt2>
      <a:accent1>
        <a:srgbClr val="F2A900"/>
      </a:accent1>
      <a:accent2>
        <a:srgbClr val="1F8A70"/>
      </a:accent2>
      <a:accent3>
        <a:srgbClr val="D64545"/>
      </a:accent3>
      <a:accent4>
        <a:srgbClr val="2B6CB0"/>
      </a:accent4>
      <a:accent5>
        <a:srgbClr val="6B7280"/>
      </a:accent5>
      <a:accent6>
        <a:srgbClr val="8E44AD"/>
      </a:accent6>
      <a:hlink>
        <a:srgbClr val="2B6CB0"/>
      </a:hlink>
      <a:folHlink>
        <a:srgbClr val="8E44AD"/>
      </a:folHlink>
    </a:clrScheme>
    <a:fontScheme name="JA05 Circu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5 - The door that opens by itself</dc:title>
  <dc:subject>PptxGenJS Presentation</dc:subject>
  <dc:creator>Jacky HUI</dc:creator>
  <cp:lastModifiedBy>Jacky HUI</cp:lastModifiedBy>
  <cp:revision>1</cp:revision>
  <dcterms:created xsi:type="dcterms:W3CDTF">2026-10-23T04:37:37Z</dcterms:created>
  <dcterms:modified xsi:type="dcterms:W3CDTF">2026-10-23T04:37:37Z</dcterms:modified>
</cp:coreProperties>
</file>