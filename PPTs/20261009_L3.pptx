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75f8338-f456-9073-b458-7a3556b659b4}">
          <p14:sldIdLst>
            <p14:sldId id="256"/>
            <p14:sldId id="257"/>
            <p14:sldId id="258"/>
          </p14:sldIdLst>
        </p14:section>
        <p14:section name="Files" id="{5bb6a560-1f60-05c2-9174-a98b28b54e99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Basics" id="{5cb02478-dc2c-639e-7449-31062bd76064}">
          <p14:sldIdLst>
            <p14:sldId id="266"/>
            <p14:sldId id="267"/>
            <p14:sldId id="268"/>
          </p14:sldIdLst>
        </p14:section>
        <p14:section name="LEDs" id="{208bc8a2-9cb7-3ed2-1d42-f94a09eece86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Sensor" id="{e8062be3-5669-3b03-9ffe-e32a28b2152b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Together" id="{2c238adb-cb3e-741e-8298-80d1e875a970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build a distance meter. The ultrasonic sensor measures how far your hand is; 5 LEDs show it like a bar graph. We get there in small steps, each one a working circuit you can go back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finished demo if you have one. Point out the sensor's two 'eyes' (one speaker, one microphone) and the 5 LEDs.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safety net. Every step has a checkpoint. Students do not move on until the checkpoint works. If anything breaks, they go back one step, which is known to work, and redo only the last change. Step 6 is a challenge for fast finishers.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lesson starts with git pull so students have the newest code and slides. If a student's JA05 folder is missing (new Mac, deleted, wrong account), they clone it again. Takes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Spotlight is blocked, Finder &gt; Applications &gt; Utilities &gt; Terminal. The prompt shows the computer name, the current folder (~ = home) and the user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JA05 is J, A, zero, five. Students often type the letter O. ls is lower-case L,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at the start of every lesson. git pull only adds and updates files from GitHub. It stops with an error, rather than overwriting, if the student has edited a file that also changed online; see the error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address is the same one used in Lesson 1. Copy it from this slide or from the class page to avoid typos. Cloning into a folder that already exists gives 'destination path already exists': that student should use git pull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for each lesson is in a folder named by date: YYYYMMDD_L&lt;lesson&gt;. Slides are all in PPTs with the same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'local changes' error will happen next lesson for students who edited step5_distance_leds.py, because the finished version is pushed after class. Renaming the folder is the simplest fix for this age group: nothing is lost and the fresh clone always works. (Alternative for confident students: git stash, then git pull.)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kits. Ask students to find the 5 resistors and check the colour bands: red, red, brown = 220 ohm. Keep the sensor aside until 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'my LED does not work' problems are breadboard problems. Show a real breadboard. Each short strip of 5 holes is joined. Never put both legs of a part in the same strip. The rails along the edges run the full length; on some boards they break in the middle.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circuit is a loop: power out, through the resistor, through the LED, back to GND. The resistor can be on either side of the LED; we always put it on the GPIO side so every student's circuit looks the same and is easy to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proves the LED, resistor, breadboard strips and wires all work, before any code is involved. Use 3V3, not 5V, so the voltage is the same as a GPIO pin. Walk around and check: every LED should be on before anyone moves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a GPIO pin is a switch the program controls. value(1) puts 3.3 V on the pin, the same as the 3V3 pin in Step 0. If the LED stays off, the wire is in the wrong pin: move it back to 3V3 to prove the rest of the circuit, then find GPIO16 again on the extension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True repeats forever. The LED is ON for 0.5 s then OFF for 0.5 s. Ask: what is the fastest blink you can still see? (Around 0.02 s, the eye stops seeing flicker.) Ctrl+C stops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Pins chosen: 16, 17, 18, 19, 23. We avoid GPIO0, 2, 15 (boot pins: an LED on GPIO0 can stop the board from starting) and 34-39 (input only). Using the GND rail keeps the board tidy: one wire from the ESP32 GND to the blue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Shell prints 'LED 3 on GPIO 18 -&gt; ON' while it lights. If LED 3 stays dark, the student knows exactly which wire to check. Fix one LED at a time; the others already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bar(n) lights the first n LEDs. Point this out: it is exactly what we need later to show distance. Fast finishers can make a 'knight rider' back-and-forth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 before moving on: every group should have step3b running. Groups that are behind keep working on LEDs; the sensor slides can be repeated.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speaker sends ultrasound, the other is a microphone. Echo goes HIGH when the sound leaves and LOW when it comes back. The ESP32 measures how long Echo was HIGH, in microseconds. Demo: clap at a far wall, you hear the echo late; near wall, echo is too fast to notice.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first: where have you seen or heard something like this? Many Hong Kong shopping-mall car parks have the red/green lights over each space: each has an ultrasonic sensor looking down at the car roof. Medical ultrasound uses much higher frequencies (millions of Hz) but the same echo idea. Photos from Wikimedia Commons; credits under each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three parts: a sensor measures, a computer decides, an output tells a human. The car shows bars on a screen and beeps; we light LEDs. The white bars on the car screen are an LED bar graph, like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Echo was HIGH for 2000 microseconds. How far? (2000 x 0.0343 / 2 = 34.3 cm.) Why divide by 2? Because the sound travelled to the object and back. µs = microsecond = one millionth of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4 new wires. LEDs stay where they are (shown grey). VCC to 5V: the HC-SR04 needs 5 V to work reliably. Teacher note: the Echo pin then outputs 5 V into GPIO14. The Freenove kit connects it directly and it works in practice, but the ESP32 is officially a 3.3 V part. For extra safety, use a 1 kΩ + 2 kΩ voltage divider on Echo, or an HC-SR04P that runs on 3.3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it prints 'No echo' all the time: Trig and Echo are swapped, or VCC is on 3V3 instead of 5V. If the numbers jump around, point it at a flat surface such as a book. Soft things like clothes absorb sound. The sensor cannot see closer than about 2 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built. Steps 5 and 6 only change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leds_for(). Everything else in the file is done, so if the LEDs behave wrongly the problem is in their function. Suggest testing by watching the Shell: it prints the distance and the LED count. Expect an if / elif chain; check the order (closest case first). Fast finishers: can you do it without if, using // ? Groups that are stuck get the finished file so they can still try Step 6. bar() is the same function from Step 3b.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slide. Leave this up while students work on Steps 5 and 6. Every LED has its own resistor.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the default answer to 'it doesn't work': which step was the last one that worked? Go back there, prove it works, then redo only the next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Lesson 1: service learning means using this skill for a real need. Collect ideas on the board; they feed into choosing the class's community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show of hands: who reached Step 3? 4? 5? 6? Before packing up: unplug USB first, then remove wires. Keep the LED circuit if the next lesson builds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JA05 · Lesson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How far away?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Lesson 3 · Ultrasonic distance sensor + 5-LED bar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577840" y="3931920"/>
            <a:ext cx="548640" cy="548640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402336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44768" y="3931920"/>
            <a:ext cx="548640" cy="548640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36208" y="402336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11696" y="3931920"/>
            <a:ext cx="548640" cy="548640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03136" y="402336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70064" y="4023360"/>
            <a:ext cx="365760" cy="365760"/>
          </a:xfrm>
          <a:prstGeom prst="ellipse">
            <a:avLst/>
          </a:prstGeom>
          <a:solidFill>
            <a:srgbClr val="1F5A47"/>
          </a:solidFill>
          <a:ln w="12700">
            <a:solidFill>
              <a:srgbClr val="2E6B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4023360"/>
            <a:ext cx="365760" cy="365760"/>
          </a:xfrm>
          <a:prstGeom prst="ellipse">
            <a:avLst/>
          </a:prstGeom>
          <a:solidFill>
            <a:srgbClr val="1F5A47"/>
          </a:solidFill>
          <a:ln w="12700">
            <a:solidFill>
              <a:srgbClr val="2E6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C4B8"/>
                </a:solidFill>
              </a:rPr>
              <a:t>JA05 STEAM and Service Learning · 9 Oct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Today's build: a distance meter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</a:rPr>
              <a:t>Move your hand toward the sensor. The closer it gets, the more LEDs light up.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Like the parking sensor on a car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Like a bat finding its way in the dark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Built in 6 small steps, each one tested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46320" y="109728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E5AA8"/>
          </a:solidFill>
          <a:ln w="12700">
            <a:solidFill>
              <a:srgbClr val="174A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16736"/>
            <a:ext cx="502920" cy="502920"/>
          </a:xfrm>
          <a:prstGeom prst="ellipse">
            <a:avLst/>
          </a:prstGeom>
          <a:solidFill>
            <a:srgbClr val="CFD8DC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74970" y="1442466"/>
            <a:ext cx="251460" cy="251460"/>
          </a:xfrm>
          <a:prstGeom prst="ellips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316736"/>
            <a:ext cx="502920" cy="502920"/>
          </a:xfrm>
          <a:prstGeom prst="ellipse">
            <a:avLst/>
          </a:prstGeom>
          <a:solidFill>
            <a:srgbClr val="CFD8DC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9330" y="1442466"/>
            <a:ext cx="251460" cy="251460"/>
          </a:xfrm>
          <a:prstGeom prst="ellips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2312" y="126187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2344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VCC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82312" y="149047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4630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Trig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82312" y="171907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16916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Echo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82312" y="194767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9202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GND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0025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E0F5"/>
                </a:solidFill>
              </a:rPr>
              <a:t>HC-SR04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0" y="1097280"/>
            <a:ext cx="502920" cy="1143000"/>
          </a:xfrm>
          <a:prstGeom prst="roundRect">
            <a:avLst>
              <a:gd name="adj" fmla="val 36364"/>
            </a:avLst>
          </a:prstGeom>
          <a:solidFill>
            <a:srgbClr val="F2C9A0"/>
          </a:solidFill>
          <a:ln w="12700">
            <a:solidFill>
              <a:srgbClr val="D9A7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35240" y="2286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hand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28529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2834640"/>
            <a:ext cx="274320" cy="274320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2834640"/>
            <a:ext cx="274320" cy="274320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2834640"/>
            <a:ext cx="274320" cy="274320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834640"/>
            <a:ext cx="274320" cy="274320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2834640"/>
            <a:ext cx="274320" cy="274320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355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closer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52160" y="333756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333756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333756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337560"/>
            <a:ext cx="274320" cy="274320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3337560"/>
            <a:ext cx="274320" cy="274320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0" y="38587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very close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52160" y="384048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84048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384048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384048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384048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 small experiments, one at a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3246120"/>
            <a:ext cx="1280160" cy="1325880"/>
          </a:xfrm>
          <a:prstGeom prst="roundRect">
            <a:avLst>
              <a:gd name="adj" fmla="val 4286"/>
            </a:avLst>
          </a:prstGeom>
          <a:solidFill>
            <a:srgbClr val="CFE5DA"/>
          </a:solidFill>
          <a:ln w="9525">
            <a:solidFill>
              <a:srgbClr val="B7D3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3375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130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LED + resistor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70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no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843784"/>
            <a:ext cx="1280160" cy="1728216"/>
          </a:xfrm>
          <a:prstGeom prst="roundRect">
            <a:avLst>
              <a:gd name="adj" fmla="val 4286"/>
            </a:avLst>
          </a:prstGeom>
          <a:solidFill>
            <a:srgbClr val="DCEDE5"/>
          </a:solidFill>
          <a:ln w="9525">
            <a:solidFill>
              <a:srgbClr val="B7D3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2935224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4107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ESP32 turns LED 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8679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 wire moves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441448"/>
            <a:ext cx="1280160" cy="2130552"/>
          </a:xfrm>
          <a:prstGeom prst="roundRect">
            <a:avLst>
              <a:gd name="adj" fmla="val 4286"/>
            </a:avLst>
          </a:prstGeom>
          <a:solidFill>
            <a:srgbClr val="CFE5DA"/>
          </a:solidFill>
          <a:ln w="9525">
            <a:solidFill>
              <a:srgbClr val="B7D3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2532888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00837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Blink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4655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code only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039112"/>
            <a:ext cx="1280160" cy="2532888"/>
          </a:xfrm>
          <a:prstGeom prst="roundRect">
            <a:avLst>
              <a:gd name="adj" fmla="val 4286"/>
            </a:avLst>
          </a:prstGeom>
          <a:solidFill>
            <a:srgbClr val="DCEDE5"/>
          </a:solidFill>
          <a:ln w="9525">
            <a:solidFill>
              <a:srgbClr val="B7D3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13055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606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5 LEDs, patterns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0632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+4 LEDs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1636776"/>
            <a:ext cx="1280160" cy="2935224"/>
          </a:xfrm>
          <a:prstGeom prst="roundRect">
            <a:avLst>
              <a:gd name="adj" fmla="val 4286"/>
            </a:avLst>
          </a:prstGeom>
          <a:solidFill>
            <a:srgbClr val="CFE5DA"/>
          </a:solidFill>
          <a:ln w="9525">
            <a:solidFill>
              <a:srgbClr val="B7D3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728216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1728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220370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Read the sensor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26609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+ sensor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1234440"/>
            <a:ext cx="1280160" cy="3337560"/>
          </a:xfrm>
          <a:prstGeom prst="roundRect">
            <a:avLst>
              <a:gd name="adj" fmla="val 4286"/>
            </a:avLst>
          </a:prstGeom>
          <a:solidFill>
            <a:srgbClr val="DCEDE5"/>
          </a:solidFill>
          <a:ln w="9525">
            <a:solidFill>
              <a:srgbClr val="B7D3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132588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06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1801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Distance → LEDs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225856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you write it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1051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3D2E"/>
                </a:solidFill>
              </a:rPr>
              <a:t>Each step changes ONE thing.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3D2E"/>
                </a:solidFill>
              </a:rPr>
              <a:t>If it stops working, go back one step. That one worked before.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Get today's files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Lost your JA05 folder, or need the newest files? Start here.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Open Terminal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61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143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Press </a:t>
            </a:r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</a:rPr>
              <a:t>⌘ Command + Space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28216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7099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Type </a:t>
            </a:r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</a:rPr>
              <a:t>Terminal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95144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95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Press </a:t>
            </a:r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</a:rPr>
              <a:t>return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0175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</a:rPr>
              <a:t>CHECKPOINT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A window with a $ at the end of the line.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94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D2E"/>
                </a:solidFill>
              </a:rPr>
              <a:t>~ (tilde) means your home folder. That is where JA05 lives.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023360" cy="548640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298448"/>
            <a:ext cx="182880" cy="182880"/>
          </a:xfrm>
          <a:prstGeom prst="ellipse">
            <a:avLst/>
          </a:prstGeom>
          <a:solidFill>
            <a:srgbClr val="F2F2F2"/>
          </a:solidFill>
          <a:ln w="19050">
            <a:solidFill>
              <a:srgbClr val="7A7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10912" y="1463040"/>
            <a:ext cx="73152" cy="73152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1143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1B"/>
                </a:solidFill>
              </a:rPr>
              <a:t>Terminal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7373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Spotlight search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1945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28600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28600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228600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224942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Terminal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828032" y="2542032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MacBook:~ s20xxxxxx$ 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 you already have JA05?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18872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1887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521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Terminal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444752"/>
            <a:ext cx="4242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MacBook:~ s20xxxxxx$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MacBook:~ s20xxxxxx$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9C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    Documents  Downloads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JA05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9C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Movies     Music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B1B"/>
                </a:solidFill>
              </a:rPr>
              <a:t>  go to your home folder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B1B"/>
                </a:solidFill>
              </a:rPr>
              <a:t>  list what is inside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94960" y="10972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</a:rPr>
              <a:t>JA05 is in the list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Update it with git pull. Next slide.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94960" y="26974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4D6"/>
          </a:solidFill>
          <a:ln w="15875">
            <a:solidFill>
              <a:srgbClr val="E0A8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00"/>
                </a:solidFill>
              </a:rPr>
              <a:t>No JA05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Download it again with git clone. Slide after next.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Have JA05? Get the latest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2148840"/>
          </a:xfrm>
          <a:prstGeom prst="roundRect">
            <a:avLst>
              <a:gd name="adj" fmla="val 3404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18872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1887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521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Terminal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444752"/>
            <a:ext cx="4517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MacBook:~ s20xxxxxx$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~/JA05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MacBook:JA05 s20xxxxxx$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9C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Updating 0d04113..8c1f2a4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Fast-forward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9C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20261009_L3/step1_led_on.py | 17 +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9C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PPTs/20261009_L3.pptx       | Bin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290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~/JA05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B1B"/>
                </a:solidFill>
              </a:rPr>
              <a:t>  go into the JA05 folder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B1B"/>
                </a:solidFill>
              </a:rPr>
              <a:t>  download the newest files from GitHub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0" y="109728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0644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</a:rPr>
              <a:t>CHECKPOINT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You see Fast-forward, or Already up to date.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19456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EEF5F1"/>
          </a:solidFill>
          <a:ln w="12700">
            <a:solidFill>
              <a:srgbClr val="D3E4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Already up to date.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697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Good news: you already have everything. Nothing to 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0" y="384048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FF4D6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0644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B00"/>
                </a:solidFill>
              </a:rPr>
              <a:t>STUCK?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Error? See the last slide of this part.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 JA05? Download it again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783080"/>
          </a:xfrm>
          <a:prstGeom prst="roundRect">
            <a:avLst>
              <a:gd name="adj" fmla="val 410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18872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1887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52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Terminal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444752"/>
            <a:ext cx="79004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MacBook:~ s20xxxxxx$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MacBook:~ s20xxxxxx$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https://github.com/jackyhui/JA05.git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9C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Cloning into 'JA05'...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MacBook:~ s20xxxxxx$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JA05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  makes a new JA05 folder and copies every file from GitHub into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0" y="306324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5875">
            <a:solidFill>
              <a:srgbClr val="E0A8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064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B00"/>
                </a:solidFill>
              </a:rPr>
              <a:t>Only once.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After this, use git pull every lesson.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8862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</a:rPr>
              <a:t>CHECKPOINT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Type ls again. JA05 is now in the list.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Find today's files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18872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1887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521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Terminal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444752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MacBook:~ s20xxxxxx$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~/JA05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Opens the JA05 folder in Finder.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Open today's slides straight away: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14261F"/>
          </a:solidFill>
          <a:ln w="12700">
            <a:solidFill>
              <a:srgbClr val="1426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264408"/>
            <a:ext cx="3602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~/JA05/PPTs/20261009_L3.pptx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In VS Code: File &gt; Open Folder &gt; JA05.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AFA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335024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5AA9E6"/>
          </a:solidFill>
          <a:ln w="12700">
            <a:solidFill>
              <a:srgbClr val="3D8B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0" y="1280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</a:rPr>
              <a:t>JA05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57800" y="1764792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5AA9E6"/>
          </a:solidFill>
          <a:ln w="12700">
            <a:solidFill>
              <a:srgbClr val="3D8B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17099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</a:rPr>
              <a:t>20260918_L1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1709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Lesson 1 code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103120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1C2"/>
          </a:solidFill>
          <a:ln w="12700">
            <a:solidFill>
              <a:srgbClr val="FFF1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7800" y="2194560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5AA9E6"/>
          </a:solidFill>
          <a:ln w="12700">
            <a:solidFill>
              <a:srgbClr val="3D8B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23560" y="21396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</a:rPr>
              <a:t>20261009_L3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21396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A6B00"/>
                </a:solidFill>
              </a:rPr>
              <a:t>today's code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23560" y="2587752"/>
            <a:ext cx="182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step1_led_on.py 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57800" y="3054096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5AA9E6"/>
          </a:solidFill>
          <a:ln w="12700">
            <a:solidFill>
              <a:srgbClr val="3D8B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23560" y="2999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</a:rPr>
              <a:t>PPTs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23560" y="3447288"/>
            <a:ext cx="182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0" y="3429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20260918_L1.pptx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34290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Lesson 1 slides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822192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1C2"/>
          </a:solidFill>
          <a:ln w="12700">
            <a:solidFill>
              <a:srgbClr val="FFF1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23560" y="3877056"/>
            <a:ext cx="182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20261009_L3.pptx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3858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A6B00"/>
                </a:solidFill>
              </a:rPr>
              <a:t>today's slides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Terminal error? Read the message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  <a:gridCol w="2834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destination path 'JA05' already exists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already have JA05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~/JA05 then git pull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a git repository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in the wrong folder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~/JA05 first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such file or directory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 in the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JA05 = J A zero five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Your local changes … would be overwritten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edited a file that changed online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~ then mv JA05 JA05_old then git clone again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Could not resolve host: github.com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internet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 Wi-Fi css_STEAM, try again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3D2E"/>
                </a:solidFill>
              </a:rPr>
              <a:t>mv JA05 JA05_old keeps your old work safe in JA05_old. Copy anything you need from there.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Materials for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EEF5F1"/>
          </a:solidFill>
          <a:ln w="9525">
            <a:solidFill>
              <a:srgbClr val="D3E4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ESP32 + extension board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from Lesson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0972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EEF5F1"/>
          </a:solidFill>
          <a:ln w="9525">
            <a:solidFill>
              <a:srgbClr val="D3E4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7160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Breadboard + jumper wires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red, black, and colours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EEF5F1"/>
          </a:solidFill>
          <a:ln w="9525">
            <a:solidFill>
              <a:srgbClr val="D3E4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5 LEDs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any colour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219456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EEF5F1"/>
          </a:solidFill>
          <a:ln w="9525">
            <a:solidFill>
              <a:srgbClr val="D3E4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46888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5 resistors, 220 Ω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red-red-brown bands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EEF5F1"/>
          </a:solidFill>
          <a:ln w="9525">
            <a:solidFill>
              <a:srgbClr val="D3E4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8872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HC-SR04 ultrasonic sensor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the one with two 'eyes'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17720" y="32918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EEF5F1"/>
          </a:solidFill>
          <a:ln w="9525">
            <a:solidFill>
              <a:srgbClr val="D3E4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56616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4924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USB cable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computer to ESP32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Breadboard: which holes connect?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F4F4F0"/>
          </a:solidFill>
          <a:ln w="12700">
            <a:solidFill>
              <a:srgbClr val="CFCF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291840" cy="0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950208" y="11704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</a:rPr>
              <a:t>+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3291840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50208" y="31821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07008" y="1490472"/>
            <a:ext cx="237744" cy="1408176"/>
          </a:xfrm>
          <a:prstGeom prst="roundRect">
            <a:avLst>
              <a:gd name="adj" fmla="val 19231"/>
            </a:avLst>
          </a:prstGeom>
          <a:solidFill>
            <a:srgbClr val="9FE0C5">
              <a:alpha val="80000"/>
            </a:srgbClr>
          </a:solidFill>
          <a:ln w="19050">
            <a:solidFill>
              <a:srgbClr val="1F8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448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5448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448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0312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0312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0312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0312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0312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7744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7744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7744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5176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5176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5176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5176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2608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2608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7472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7472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7472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7472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7472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49040" y="160020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749040" y="187452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0" y="214884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0" y="242316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0" y="2697480"/>
            <a:ext cx="91440" cy="914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0"/>
                </a:solidFill>
              </a:rPr>
              <a:t>These 5 holes are joined inside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3840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Each short line of 5 holes is one connection. The long + and − lines along the edge are rails, often used for power and GND.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Most common mistake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4754880" y="150876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FDECEC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83480" y="21031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4F4F0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303520" y="21031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4F4F0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23560" y="21031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9FE0C5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43600" y="21031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4F4F0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63640" y="21031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4F4F0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83680" y="21031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4F4F0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568696" y="1618488"/>
            <a:ext cx="310896" cy="310896"/>
          </a:xfrm>
          <a:prstGeom prst="ellipse">
            <a:avLst/>
          </a:prstGeom>
          <a:solidFill>
            <a:srgbClr val="F8D0D0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69280" y="1892808"/>
            <a:ext cx="54864" cy="393192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724144" y="1892808"/>
            <a:ext cx="54864" cy="393192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995160" y="16459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</a:rPr>
              <a:t>Both legs in the SAME strip. The LED is shorted and never lights.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4754880" y="288036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E6F5EE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983480" y="34747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4F4F0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303520" y="34747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4F4F0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623560" y="34747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9FE0C5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943600" y="34747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9FE0C5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63640" y="34747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4F4F0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83680" y="347472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4F4F0"/>
          </a:solidFill>
          <a:ln w="9525">
            <a:solidFill>
              <a:srgbClr val="BDBDB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728716" y="2990088"/>
            <a:ext cx="310896" cy="310896"/>
          </a:xfrm>
          <a:prstGeom prst="ellipse">
            <a:avLst/>
          </a:prstGeom>
          <a:solidFill>
            <a:srgbClr val="F8D0D0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724144" y="3264408"/>
            <a:ext cx="105156" cy="393192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939028" y="3264408"/>
            <a:ext cx="105156" cy="393192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995160" y="30175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0"/>
                </a:solidFill>
              </a:rPr>
              <a:t>Legs in DIFFERENT strips. Works.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LED + resistor: the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1005840" cy="1005840"/>
          </a:xfrm>
          <a:prstGeom prst="ellipse">
            <a:avLst/>
          </a:prstGeom>
          <a:solidFill>
            <a:srgbClr val="F8D0D0"/>
          </a:solidFill>
          <a:ln w="25400">
            <a:solidFill>
              <a:srgbClr val="D645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2240280"/>
            <a:ext cx="0" cy="1828800"/>
          </a:xfrm>
          <a:prstGeom prst="line">
            <a:avLst/>
          </a:prstGeom>
          <a:noFill/>
          <a:ln w="50800">
            <a:solidFill>
              <a:srgbClr val="9AA0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240280"/>
            <a:ext cx="0" cy="1371600"/>
          </a:xfrm>
          <a:prstGeom prst="line">
            <a:avLst/>
          </a:prstGeom>
          <a:noFill/>
          <a:ln w="50800">
            <a:solidFill>
              <a:srgbClr val="9AA0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4114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</a:rPr>
              <a:t>+ long leg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</a:rPr>
              <a:t>− short leg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114300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EEF5F1"/>
          </a:solidFill>
          <a:ln w="12700">
            <a:solidFill>
              <a:srgbClr val="D3E4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2527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Long leg (+) toward power or the GPIO pin.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6184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Backwards = no light. Flip it, nothing breaks.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224028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EEF5F1"/>
          </a:solidFill>
          <a:ln w="12700">
            <a:solidFill>
              <a:srgbClr val="D3E4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23500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Short leg (−) goes to GND.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7157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GND is the 'return path' that closes the loop.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333756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0" y="34472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</a:rPr>
              <a:t>Always add a 220 Ω resistor.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8130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No resistor = too much current. The LED or the pin can burn 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0: light an LED with no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18120" y="164592"/>
            <a:ext cx="868680" cy="86868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01752"/>
            <a:ext cx="594360" cy="5943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301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B1B1B"/>
                </a:solidFill>
              </a:rPr>
              <a:t>Plug the ESP32 into the breadboard.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B1B1B"/>
                </a:solidFill>
              </a:rPr>
              <a:t>Red wire: 3V3 pin → resistor.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B1B1B"/>
                </a:solidFill>
              </a:rPr>
              <a:t>Resistor → LED long leg (+).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B1B1B"/>
                </a:solidFill>
              </a:rPr>
              <a:t>Black wire: LED short leg (−) → GND.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B1B1B"/>
                </a:solidFill>
              </a:rPr>
              <a:t>Plug in the USB cable.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2004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</a:rPr>
              <a:t>CHECKPOINT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LED is ON. No code needed.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4D6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B00"/>
                </a:solidFill>
              </a:rPr>
              <a:t>STUCK?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Flip the LED. Check the breadboard slide.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1143000" cy="3017520"/>
          </a:xfrm>
          <a:prstGeom prst="roundRect">
            <a:avLst>
              <a:gd name="adj" fmla="val 6400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307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ESP32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50992" y="176479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7282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3V3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50992" y="2450592"/>
            <a:ext cx="128016" cy="128016"/>
          </a:xfrm>
          <a:prstGeom prst="rect">
            <a:avLst/>
          </a:prstGeom>
          <a:solidFill>
            <a:srgbClr val="546E7A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24140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GPIO16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50992" y="382219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37856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79008" y="1828800"/>
            <a:ext cx="393192" cy="0"/>
          </a:xfrm>
          <a:prstGeom prst="line">
            <a:avLst/>
          </a:prstGeom>
          <a:noFill/>
          <a:ln w="44450">
            <a:solidFill>
              <a:srgbClr val="D64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82880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3992" y="182880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7648" y="1746504"/>
            <a:ext cx="46634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2512" y="174650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6641" y="174650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70771" y="174650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1476" y="174650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1929384"/>
            <a:ext cx="649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220 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1828800"/>
            <a:ext cx="137160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182880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16952" y="182880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6328" y="1563624"/>
            <a:ext cx="530352" cy="530352"/>
          </a:xfrm>
          <a:prstGeom prst="ellipse">
            <a:avLst/>
          </a:prstGeom>
          <a:solidFill>
            <a:srgbClr val="F2A900">
              <a:alpha val="45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06056" y="1673352"/>
            <a:ext cx="310896" cy="310896"/>
          </a:xfrm>
          <a:prstGeom prst="ellipse">
            <a:avLst/>
          </a:prstGeom>
          <a:solidFill>
            <a:srgbClr val="D64545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04888" y="1572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45"/>
                </a:solidFill>
              </a:rPr>
              <a:t>+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580376" y="1572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</a:rPr>
              <a:t>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26680" y="1828800"/>
            <a:ext cx="685800" cy="0"/>
          </a:xfrm>
          <a:prstGeom prst="line">
            <a:avLst/>
          </a:prstGeom>
          <a:noFill/>
          <a:ln w="44450">
            <a:solidFill>
              <a:srgbClr val="1B1B1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1828800"/>
            <a:ext cx="0" cy="2057400"/>
          </a:xfrm>
          <a:prstGeom prst="line">
            <a:avLst/>
          </a:prstGeom>
          <a:noFill/>
          <a:ln w="44450">
            <a:solidFill>
              <a:srgbClr val="1B1B1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79008" y="3886200"/>
            <a:ext cx="2633472" cy="0"/>
          </a:xfrm>
          <a:prstGeom prst="line">
            <a:avLst/>
          </a:prstGeom>
          <a:noFill/>
          <a:ln w="44450">
            <a:solidFill>
              <a:srgbClr val="1B1B1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20840" y="2121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long leg (+) faces the resistor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1: let the ESP32 turn it 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18120" y="164592"/>
            <a:ext cx="868680" cy="86868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01752"/>
            <a:ext cx="594360" cy="5943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301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Move ONE wire: from 3V3 to GPIO16. Everything else stays.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14261F"/>
          </a:solidFill>
          <a:ln w="12700">
            <a:solidFill>
              <a:srgbClr val="1426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755648"/>
            <a:ext cx="3511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machine import Pin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 = Pin(16, Pin.OUT)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led.value(1)    # 1 = 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98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File: step1_led_on.py   ·   Try value(0)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2461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</a:rPr>
              <a:t>CHECKPOINT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LED turns ON after you run the code.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4D6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B00"/>
                </a:solidFill>
              </a:rPr>
              <a:t>STUCK?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Wire back to 3V3. Does Step 0 still work?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1234440"/>
            <a:ext cx="1143000" cy="3017520"/>
          </a:xfrm>
          <a:prstGeom prst="roundRect">
            <a:avLst>
              <a:gd name="adj" fmla="val 6400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307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ESP32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50992" y="1764792"/>
            <a:ext cx="128016" cy="128016"/>
          </a:xfrm>
          <a:prstGeom prst="rect">
            <a:avLst/>
          </a:prstGeom>
          <a:solidFill>
            <a:srgbClr val="546E7A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17282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3V3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50992" y="245059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4140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50992" y="382219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37856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79008" y="2514600"/>
            <a:ext cx="393192" cy="0"/>
          </a:xfrm>
          <a:prstGeom prst="line">
            <a:avLst/>
          </a:prstGeom>
          <a:noFill/>
          <a:ln w="44450">
            <a:solidFill>
              <a:srgbClr val="F28C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251460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3992" y="251460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2432304"/>
            <a:ext cx="46634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243230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6641" y="243230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70771" y="243230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01476" y="243230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36208" y="2615184"/>
            <a:ext cx="649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220 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2514600"/>
            <a:ext cx="137160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86600" y="251460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16952" y="251460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96328" y="2249424"/>
            <a:ext cx="530352" cy="530352"/>
          </a:xfrm>
          <a:prstGeom prst="ellipse">
            <a:avLst/>
          </a:prstGeom>
          <a:solidFill>
            <a:srgbClr val="F2A900">
              <a:alpha val="45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06056" y="2359152"/>
            <a:ext cx="310896" cy="310896"/>
          </a:xfrm>
          <a:prstGeom prst="ellipse">
            <a:avLst/>
          </a:prstGeom>
          <a:solidFill>
            <a:srgbClr val="D64545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04888" y="2258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45"/>
                </a:solidFill>
              </a:rPr>
              <a:t>+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580376" y="2258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</a:rPr>
              <a:t>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26680" y="2514600"/>
            <a:ext cx="685800" cy="0"/>
          </a:xfrm>
          <a:prstGeom prst="line">
            <a:avLst/>
          </a:prstGeom>
          <a:noFill/>
          <a:ln w="44450">
            <a:solidFill>
              <a:srgbClr val="1B1B1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2514600"/>
            <a:ext cx="0" cy="1371600"/>
          </a:xfrm>
          <a:prstGeom prst="line">
            <a:avLst/>
          </a:prstGeom>
          <a:noFill/>
          <a:ln w="44450">
            <a:solidFill>
              <a:srgbClr val="1B1B1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79008" y="3886200"/>
            <a:ext cx="2633472" cy="0"/>
          </a:xfrm>
          <a:prstGeom prst="line">
            <a:avLst/>
          </a:prstGeom>
          <a:noFill/>
          <a:ln w="44450">
            <a:solidFill>
              <a:srgbClr val="1B1B1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79008" y="1828800"/>
            <a:ext cx="210312" cy="0"/>
          </a:xfrm>
          <a:prstGeom prst="line">
            <a:avLst/>
          </a:prstGeom>
          <a:noFill/>
          <a:ln w="25400">
            <a:solidFill>
              <a:srgbClr val="D64545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6080760" y="17190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was here in Step 0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852160" y="21305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00"/>
                </a:solidFill>
              </a:rPr>
              <a:t>moved to GPIO16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720840" y="2807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long leg (+) faces the resistor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2: blink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18120" y="164592"/>
            <a:ext cx="868680" cy="86868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01752"/>
            <a:ext cx="594360" cy="5943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301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No wiring change. Only the code changes.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14261F"/>
          </a:solidFill>
          <a:ln w="12700">
            <a:solidFill>
              <a:srgbClr val="1426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572768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 = Pin(16, Pin.OUT)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led.value(1)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time.sleep(0.5)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led.value(0)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time.sleep(0.5)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47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File: step2_led_blink.py   ·   Ctrl+C to stop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794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</a:rPr>
              <a:t>CHECKPOINT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LED blinks twice a second.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What the pin does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0" cy="91440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737360"/>
            <a:ext cx="73152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737360"/>
            <a:ext cx="0" cy="91440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2651760"/>
            <a:ext cx="73152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737360"/>
            <a:ext cx="0" cy="91440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37360"/>
            <a:ext cx="73152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737360"/>
            <a:ext cx="0" cy="91440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2651760"/>
            <a:ext cx="73152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737360"/>
            <a:ext cx="0" cy="91440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737360"/>
            <a:ext cx="73152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1737360"/>
            <a:ext cx="0" cy="91440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651760"/>
            <a:ext cx="27432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ON 0.5 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2697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OFF 0.5 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160520" y="16276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3.3 V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0 V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15468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15468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3154680"/>
            <a:ext cx="365760" cy="3657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3154680"/>
            <a:ext cx="365760" cy="365760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3154680"/>
            <a:ext cx="365760" cy="365760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0" y="3794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3D2E"/>
                </a:solidFill>
              </a:rPr>
              <a:t>Try 0.1 instead of 0.5. What changes?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3: copy the circuit 4 more times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18120" y="164592"/>
            <a:ext cx="868680" cy="86868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01752"/>
            <a:ext cx="594360" cy="5943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301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LED 1 is your Step 2 circuit. Keep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Add LEDs 2 to 5, one at a time.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Use the − rail for GND: one black wire from GND to the rail, then each short leg to the rail.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2461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</a:rPr>
              <a:t>CHECKPOINT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Run step3a_check_leds.py next.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1097280"/>
            <a:ext cx="1143000" cy="3429000"/>
          </a:xfrm>
          <a:prstGeom prst="roundRect">
            <a:avLst>
              <a:gd name="adj" fmla="val 6400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69080" y="11704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ESP32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56632" y="135331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31673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56632" y="190195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0" y="18653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56632" y="245059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24140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56632" y="299923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29626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56632" y="354787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0" y="351129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GPIO23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56632" y="414223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41056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84648" y="1417320"/>
            <a:ext cx="45720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41848" y="141732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41732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97296" y="1335024"/>
            <a:ext cx="46634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133502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6289" y="133502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0419" y="133502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1124" y="133502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05856" y="1517904"/>
            <a:ext cx="649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220 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19088" y="141732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28816" y="141732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59168" y="141732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38544" y="1152144"/>
            <a:ext cx="530352" cy="530352"/>
          </a:xfrm>
          <a:prstGeom prst="ellipse">
            <a:avLst/>
          </a:prstGeom>
          <a:solidFill>
            <a:srgbClr val="F2A900">
              <a:alpha val="45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48272" y="1261872"/>
            <a:ext cx="310896" cy="310896"/>
          </a:xfrm>
          <a:prstGeom prst="ellipse">
            <a:avLst/>
          </a:prstGeom>
          <a:solidFill>
            <a:srgbClr val="D64545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47104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45"/>
                </a:solidFill>
              </a:rPr>
              <a:t>+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022592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</a:rPr>
              <a:t>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68896" y="1417320"/>
            <a:ext cx="603504" cy="0"/>
          </a:xfrm>
          <a:prstGeom prst="line">
            <a:avLst/>
          </a:prstGeom>
          <a:noFill/>
          <a:ln w="38100">
            <a:solidFill>
              <a:srgbClr val="1B1B1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31252" y="1376172"/>
            <a:ext cx="82296" cy="82296"/>
          </a:xfrm>
          <a:prstGeom prst="ellipse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82128" y="13075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LED 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84648" y="1965960"/>
            <a:ext cx="457200" cy="0"/>
          </a:xfrm>
          <a:prstGeom prst="line">
            <a:avLst/>
          </a:prstGeom>
          <a:noFill/>
          <a:ln w="38100">
            <a:solidFill>
              <a:srgbClr val="E0B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41848" y="196596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640" y="196596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97296" y="1883664"/>
            <a:ext cx="46634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0" y="188366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6289" y="188366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40419" y="188366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71124" y="188366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19088" y="196596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28816" y="196596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59168" y="196596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02552" y="1764792"/>
            <a:ext cx="402336" cy="402336"/>
          </a:xfrm>
          <a:prstGeom prst="ellipse">
            <a:avLst/>
          </a:prstGeom>
          <a:solidFill>
            <a:srgbClr val="F2A900">
              <a:alpha val="45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48272" y="1810512"/>
            <a:ext cx="310896" cy="310896"/>
          </a:xfrm>
          <a:prstGeom prst="ellipse">
            <a:avLst/>
          </a:prstGeom>
          <a:solidFill>
            <a:srgbClr val="D64545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68896" y="1965960"/>
            <a:ext cx="603504" cy="0"/>
          </a:xfrm>
          <a:prstGeom prst="line">
            <a:avLst/>
          </a:prstGeom>
          <a:noFill/>
          <a:ln w="38100">
            <a:solidFill>
              <a:srgbClr val="1B1B1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31252" y="1924812"/>
            <a:ext cx="82296" cy="82296"/>
          </a:xfrm>
          <a:prstGeom prst="ellipse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882128" y="1856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LED 2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184648" y="2514600"/>
            <a:ext cx="457200" cy="0"/>
          </a:xfrm>
          <a:prstGeom prst="line">
            <a:avLst/>
          </a:prstGeom>
          <a:noFill/>
          <a:ln w="38100">
            <a:solidFill>
              <a:srgbClr val="1F8A7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41848" y="251460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63640" y="251460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97296" y="2432304"/>
            <a:ext cx="46634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52160" y="243230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46289" y="243230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40419" y="243230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71124" y="243230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19088" y="251460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28816" y="251460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59168" y="251460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02552" y="2313432"/>
            <a:ext cx="402336" cy="402336"/>
          </a:xfrm>
          <a:prstGeom prst="ellipse">
            <a:avLst/>
          </a:prstGeom>
          <a:solidFill>
            <a:srgbClr val="F2A900">
              <a:alpha val="45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48272" y="2359152"/>
            <a:ext cx="310896" cy="310896"/>
          </a:xfrm>
          <a:prstGeom prst="ellipse">
            <a:avLst/>
          </a:prstGeom>
          <a:solidFill>
            <a:srgbClr val="D64545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68896" y="2514600"/>
            <a:ext cx="603504" cy="0"/>
          </a:xfrm>
          <a:prstGeom prst="line">
            <a:avLst/>
          </a:prstGeom>
          <a:noFill/>
          <a:ln w="38100">
            <a:solidFill>
              <a:srgbClr val="1B1B1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31252" y="2473452"/>
            <a:ext cx="82296" cy="82296"/>
          </a:xfrm>
          <a:prstGeom prst="ellipse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882128" y="24048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LED 3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184648" y="3063240"/>
            <a:ext cx="457200" cy="0"/>
          </a:xfrm>
          <a:prstGeom prst="line">
            <a:avLst/>
          </a:prstGeom>
          <a:noFill/>
          <a:ln w="38100">
            <a:solidFill>
              <a:srgbClr val="2B6C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41848" y="306324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263640" y="306324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97296" y="2980944"/>
            <a:ext cx="46634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52160" y="298094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46289" y="298094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40419" y="298094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71124" y="298094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19088" y="306324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528816" y="306324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59168" y="306324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02552" y="2862072"/>
            <a:ext cx="402336" cy="402336"/>
          </a:xfrm>
          <a:prstGeom prst="ellipse">
            <a:avLst/>
          </a:prstGeom>
          <a:solidFill>
            <a:srgbClr val="F2A900">
              <a:alpha val="45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48272" y="2907792"/>
            <a:ext cx="310896" cy="310896"/>
          </a:xfrm>
          <a:prstGeom prst="ellipse">
            <a:avLst/>
          </a:prstGeom>
          <a:solidFill>
            <a:srgbClr val="D64545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68896" y="3063240"/>
            <a:ext cx="603504" cy="0"/>
          </a:xfrm>
          <a:prstGeom prst="line">
            <a:avLst/>
          </a:prstGeom>
          <a:noFill/>
          <a:ln w="38100">
            <a:solidFill>
              <a:srgbClr val="1B1B1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31252" y="3022092"/>
            <a:ext cx="82296" cy="82296"/>
          </a:xfrm>
          <a:prstGeom prst="ellipse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882128" y="29535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LED 4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184648" y="3611880"/>
            <a:ext cx="457200" cy="0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641848" y="361188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263640" y="361188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797296" y="3529584"/>
            <a:ext cx="46634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52160" y="352958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46289" y="352958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040419" y="352958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71124" y="352958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419088" y="361188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528816" y="361188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059168" y="361188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702552" y="3410712"/>
            <a:ext cx="402336" cy="402336"/>
          </a:xfrm>
          <a:prstGeom prst="ellipse">
            <a:avLst/>
          </a:prstGeom>
          <a:solidFill>
            <a:srgbClr val="F2A900">
              <a:alpha val="45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48272" y="3456432"/>
            <a:ext cx="310896" cy="310896"/>
          </a:xfrm>
          <a:prstGeom prst="ellipse">
            <a:avLst/>
          </a:prstGeom>
          <a:solidFill>
            <a:srgbClr val="D64545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168896" y="3611880"/>
            <a:ext cx="603504" cy="0"/>
          </a:xfrm>
          <a:prstGeom prst="line">
            <a:avLst/>
          </a:prstGeom>
          <a:noFill/>
          <a:ln w="38100">
            <a:solidFill>
              <a:srgbClr val="1B1B1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731252" y="3570732"/>
            <a:ext cx="82296" cy="82296"/>
          </a:xfrm>
          <a:prstGeom prst="ellipse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7882128" y="35021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LED 5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7772400" y="1417320"/>
            <a:ext cx="0" cy="2788920"/>
          </a:xfrm>
          <a:prstGeom prst="line">
            <a:avLst/>
          </a:prstGeom>
          <a:noFill/>
          <a:ln w="38100">
            <a:solidFill>
              <a:srgbClr val="1B1B1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184648" y="4206240"/>
            <a:ext cx="2587752" cy="0"/>
          </a:xfrm>
          <a:prstGeom prst="line">
            <a:avLst/>
          </a:prstGeom>
          <a:noFill/>
          <a:ln w="38100">
            <a:solidFill>
              <a:srgbClr val="1B1B1B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5349240" y="42793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all short legs share one GND line (− rail)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3a: test each LED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18120" y="164592"/>
            <a:ext cx="868680" cy="86868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01752"/>
            <a:ext cx="594360" cy="5943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301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3a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14261F"/>
          </a:solidFill>
          <a:ln w="12700">
            <a:solidFill>
              <a:srgbClr val="1426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161288"/>
            <a:ext cx="396849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PINS = [16, 17, 18, 19, 23]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leds = [Pin(p, Pin.OUT) for p in PINS]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led in leds: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led.value(1)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led.value(0)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272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File: step3a_check_leds.py (prints which LED is 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4747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</a:rPr>
              <a:t>CHECKPOINT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LED 1 to 5 light up one after another.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One LED stays dark? Fix only that one.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545336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1545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5087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Long leg on the resistor side?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0" y="2075688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03911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Short leg reaches the − rail?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2606040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5694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Wire in the right GPIO pin?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0" y="3136392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0998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Legs in different strips?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0" y="3666744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0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63016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Swap with an LED that works.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3b: make a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18120" y="164592"/>
            <a:ext cx="868680" cy="86868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01752"/>
            <a:ext cx="594360" cy="5943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301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3b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14261F"/>
          </a:solidFill>
          <a:ln w="12700">
            <a:solidFill>
              <a:srgbClr val="1426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161288"/>
            <a:ext cx="38770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show([1, 0, 1, 0, 1])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time.sleep(0.5)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show([0, 1, 0, 1, 0])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1 = ON, 0 = OFF. One number for each LED.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51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File: step3b_led_patterns.py has chase, bar and blink. Add your own pattern at the bottom of the loop.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</a:rPr>
              <a:t>CHECKPOINT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Your own pattern runs.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207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0, 1, 0, 1]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73952" y="112471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18872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67728" y="1188720"/>
            <a:ext cx="310896" cy="310896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33488" y="112471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7496" y="118872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27264" y="1188720"/>
            <a:ext cx="310896" cy="310896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112471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57032" y="118872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1984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1, 0, 1, 0]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1965960"/>
            <a:ext cx="310896" cy="310896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90195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67728" y="196596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7496" y="1965960"/>
            <a:ext cx="310896" cy="310896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63256" y="190195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27264" y="196596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57032" y="1965960"/>
            <a:ext cx="310896" cy="310896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bar(3)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73952" y="267919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274320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267919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67728" y="274320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33488" y="267919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97496" y="274320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27264" y="2743200"/>
            <a:ext cx="310896" cy="310896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57032" y="2743200"/>
            <a:ext cx="310896" cy="310896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37760" y="3538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bar(5)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73952" y="345643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352044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03720" y="345643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67728" y="352044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33488" y="345643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97496" y="352044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63256" y="345643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27264" y="352044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93024" y="3456432"/>
            <a:ext cx="438912" cy="438912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57032" y="352044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Part 2: the ultrasonic sensor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Your LEDs work. Keep them plugged 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it works: shout and listen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A3A3"/>
                </a:solidFill>
              </a:rPr>
              <a:t>Trig: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1B1B"/>
                </a:solidFill>
              </a:rPr>
              <a:t>the ESP32 tells the sensor to send a short 'click' of sound. Too high for us to hear (40 kHz).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C2185B"/>
                </a:solidFill>
              </a:rPr>
              <a:t>Echo: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1B1B"/>
                </a:solidFill>
              </a:rPr>
              <a:t>the pin stays ON until the sound bounces back.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3D2E"/>
                </a:solidFill>
              </a:rPr>
              <a:t>Longer Echo = object further away.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Bats and dolphins find things the same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417320"/>
            <a:ext cx="1600200" cy="1143000"/>
          </a:xfrm>
          <a:prstGeom prst="roundRect">
            <a:avLst>
              <a:gd name="adj" fmla="val 4800"/>
            </a:avLst>
          </a:prstGeom>
          <a:solidFill>
            <a:srgbClr val="1E5AA8"/>
          </a:solidFill>
          <a:ln w="12700">
            <a:solidFill>
              <a:srgbClr val="174A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4920" y="1636776"/>
            <a:ext cx="502920" cy="502920"/>
          </a:xfrm>
          <a:prstGeom prst="ellipse">
            <a:avLst/>
          </a:prstGeom>
          <a:solidFill>
            <a:srgbClr val="CFD8DC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00650" y="1762506"/>
            <a:ext cx="251460" cy="251460"/>
          </a:xfrm>
          <a:prstGeom prst="ellips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1636776"/>
            <a:ext cx="502920" cy="502920"/>
          </a:xfrm>
          <a:prstGeom prst="ellipse">
            <a:avLst/>
          </a:prstGeom>
          <a:solidFill>
            <a:srgbClr val="CFD8DC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95010" y="1762506"/>
            <a:ext cx="251460" cy="251460"/>
          </a:xfrm>
          <a:prstGeom prst="ellips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58191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5544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VCC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07992" y="181051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7830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Trig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07992" y="203911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0116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Echo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226771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22402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GND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23225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E0F5"/>
                </a:solidFill>
              </a:rPr>
              <a:t>HC-SR04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66760" y="1097280"/>
            <a:ext cx="274320" cy="3108960"/>
          </a:xfrm>
          <a:prstGeom prst="rect">
            <a:avLst/>
          </a:prstGeom>
          <a:solidFill>
            <a:srgbClr val="B0BEC5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0" y="4251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wall or hand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2057400" cy="0"/>
          </a:xfrm>
          <a:prstGeom prst="line">
            <a:avLst/>
          </a:prstGeom>
          <a:noFill/>
          <a:ln w="38100">
            <a:solidFill>
              <a:srgbClr val="00A3A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2286000"/>
            <a:ext cx="2057400" cy="0"/>
          </a:xfrm>
          <a:prstGeom prst="line">
            <a:avLst/>
          </a:prstGeom>
          <a:noFill/>
          <a:ln w="38100">
            <a:solidFill>
              <a:srgbClr val="C2185B"/>
            </a:solidFill>
            <a:prstDash val="solid"/>
            <a:head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400800" y="1389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3A3"/>
                </a:solidFill>
              </a:rPr>
              <a:t>sound goes out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359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2185B"/>
                </a:solidFill>
              </a:rPr>
              <a:t>echo comes back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108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Echo pin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3749040"/>
            <a:ext cx="457200" cy="0"/>
          </a:xfrm>
          <a:prstGeom prst="line">
            <a:avLst/>
          </a:prstGeom>
          <a:noFill/>
          <a:ln w="38100">
            <a:solidFill>
              <a:srgbClr val="C218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3200400"/>
            <a:ext cx="0" cy="548640"/>
          </a:xfrm>
          <a:prstGeom prst="line">
            <a:avLst/>
          </a:prstGeom>
          <a:noFill/>
          <a:ln w="38100">
            <a:solidFill>
              <a:srgbClr val="C218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3200400"/>
            <a:ext cx="1645920" cy="0"/>
          </a:xfrm>
          <a:prstGeom prst="line">
            <a:avLst/>
          </a:prstGeom>
          <a:noFill/>
          <a:ln w="38100">
            <a:solidFill>
              <a:srgbClr val="C218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3200400"/>
            <a:ext cx="0" cy="548640"/>
          </a:xfrm>
          <a:prstGeom prst="line">
            <a:avLst/>
          </a:prstGeom>
          <a:noFill/>
          <a:ln w="38100">
            <a:solidFill>
              <a:srgbClr val="C218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3749040"/>
            <a:ext cx="548640" cy="0"/>
          </a:xfrm>
          <a:prstGeom prst="line">
            <a:avLst/>
          </a:prstGeom>
          <a:noFill/>
          <a:ln w="38100">
            <a:solidFill>
              <a:srgbClr val="C218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3977640"/>
            <a:ext cx="1645920" cy="0"/>
          </a:xfrm>
          <a:prstGeom prst="line">
            <a:avLst/>
          </a:prstGeom>
          <a:noFill/>
          <a:ln w="12700">
            <a:solidFill>
              <a:srgbClr val="1B1B1B"/>
            </a:solidFill>
            <a:prstDash val="solid"/>
            <a:headEnd type="arrow"/>
            <a:tailEnd type="arrow"/>
          </a:ln>
        </p:spPr>
      </p:sp>
      <p:sp>
        <p:nvSpPr>
          <p:cNvPr id="32" name="Text 30"/>
          <p:cNvSpPr txBox="1"/>
          <p:nvPr/>
        </p:nvSpPr>
        <p:spPr>
          <a:xfrm>
            <a:off x="5852160" y="4041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</a:rPr>
              <a:t>time there AND back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You have seen this before</a:t>
            </a:r>
            <a:endParaRPr lang="en-US" sz="3000" dirty="0"/>
          </a:p>
        </p:txBody>
      </p:sp>
      <p:pic>
        <p:nvPicPr>
          <p:cNvPr id="3" name="Image 0" descr="Car parking sen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192024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Car parking sensor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31012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Beeps faster as the car gets close to a wall.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Photo: Shixart1985, CC BY 2.0</a:t>
            </a:r>
            <a:endParaRPr lang="en-US" sz="900" dirty="0"/>
          </a:p>
        </p:txBody>
      </p:sp>
      <p:pic>
        <p:nvPicPr>
          <p:cNvPr id="7" name="Image 1" descr="Car park space fin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051560"/>
            <a:ext cx="1920240" cy="1828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60320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Car park space finder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2560320" y="331012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One sensor over each space. Red light = taken, green = free.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Photo: Z22, CC BY-SA 4.0</a:t>
            </a:r>
            <a:endParaRPr lang="en-US" sz="900" dirty="0"/>
          </a:p>
        </p:txBody>
      </p:sp>
      <p:pic>
        <p:nvPicPr>
          <p:cNvPr id="11" name="Image 2" descr="Ultrasound sc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51560"/>
            <a:ext cx="1920240" cy="18288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63440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Ultrasound scan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663440" y="331012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Doctors see inside the body using echoes.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66344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Photo: Goleisureintl, CC BY 4.0</a:t>
            </a:r>
            <a:endParaRPr lang="en-US" sz="900" dirty="0"/>
          </a:p>
        </p:txBody>
      </p:sp>
      <p:pic>
        <p:nvPicPr>
          <p:cNvPr id="15" name="Image 3" descr="Ba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051560"/>
            <a:ext cx="1920240" cy="18288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766560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Bats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6766560" y="331012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Find insects in the dark by listening for echoes.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76656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Photo: Chanut F, PLoS Biol, CC BY 2.5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car does what we are building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961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sensor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840480" y="896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brain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8961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output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Car</a:t>
            </a:r>
            <a:endParaRPr lang="en-US" sz="1800" dirty="0"/>
          </a:p>
        </p:txBody>
      </p:sp>
      <p:pic>
        <p:nvPicPr>
          <p:cNvPr id="7" name="Image 0" descr="Car sen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2035277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20440" y="182880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840480" y="14630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40480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Car computer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0680" y="182880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pic>
        <p:nvPicPr>
          <p:cNvPr id="12" name="Image 1" descr="Parking displ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2654710" cy="1371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2542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Photos: Shixart1985, CC BY 2.0 · Nozilla, CC BY-SA 3.0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292608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8C00"/>
                </a:solidFill>
              </a:rPr>
              <a:t>Ours</a:t>
            </a:r>
            <a:endParaRPr lang="en-US" sz="1800" dirty="0"/>
          </a:p>
        </p:txBody>
      </p:sp>
      <p:pic>
        <p:nvPicPr>
          <p:cNvPr id="15" name="Image 2" descr="Ours sens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26080"/>
            <a:ext cx="2035277" cy="1371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520440" y="361188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3840480" y="32461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840480" y="3246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ESP32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40680" y="361188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576072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5F1"/>
          </a:solidFill>
          <a:ln w="12700">
            <a:solidFill>
              <a:srgbClr val="D3E4D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34456" y="3328416"/>
            <a:ext cx="420624" cy="420624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89320" y="338328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91656" y="3328416"/>
            <a:ext cx="420624" cy="420624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46520" y="338328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48856" y="3328416"/>
            <a:ext cx="420624" cy="420624"/>
          </a:xfrm>
          <a:prstGeom prst="ellipse">
            <a:avLst/>
          </a:prstGeom>
          <a:solidFill>
            <a:srgbClr val="F2A900">
              <a:alpha val="4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903720" y="3383280"/>
            <a:ext cx="310896" cy="3108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360920" y="3383280"/>
            <a:ext cx="310896" cy="310896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818120" y="3383280"/>
            <a:ext cx="310896" cy="310896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760720" y="3886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5 LEDs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1371600" y="43251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Photo: Suyash Dwivedi, CC BY-SA 4.0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time to distance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EF5F1"/>
          </a:solidFill>
          <a:ln w="12700">
            <a:solidFill>
              <a:srgbClr val="D3E4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distance = time × speed of sound ÷ 2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8A70"/>
                </a:solidFill>
              </a:rPr>
              <a:t>343 m/s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speed of sound in air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= 0.0343 cm per µs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377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8A70"/>
                </a:solidFill>
              </a:rPr>
              <a:t>÷ 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the sound goes there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AND back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377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8C00"/>
                </a:solidFill>
              </a:rPr>
              <a:t>1000 µs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1000 × 0.0343 ÷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= 17.2 cm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code:  return duration * 0.0343 /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4: add the sensor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18120" y="164592"/>
            <a:ext cx="868680" cy="86868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01752"/>
            <a:ext cx="594360" cy="5943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301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4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pin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pin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colour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colour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Read the pin names printed on the sensor. VCC needs 5V, not 3V3.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52044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FF4D6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35204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B00"/>
                </a:solidFill>
              </a:rPr>
              <a:t>STUCK?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Unplug the sensor. Does step3b still run?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26280" y="1024128"/>
            <a:ext cx="1143000" cy="3566160"/>
          </a:xfrm>
          <a:prstGeom prst="roundRect">
            <a:avLst>
              <a:gd name="adj" fmla="val 6400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10972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ESP32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05272" y="119786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116128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5V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05272" y="151790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0" y="14813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05272" y="183794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0" y="1801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05272" y="215798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0" y="21214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GND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05272" y="2633472"/>
            <a:ext cx="128016" cy="128016"/>
          </a:xfrm>
          <a:prstGeom prst="rect">
            <a:avLst/>
          </a:prstGeom>
          <a:solidFill>
            <a:srgbClr val="546E7A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0" y="259689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GPIO16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05272" y="2953512"/>
            <a:ext cx="128016" cy="128016"/>
          </a:xfrm>
          <a:prstGeom prst="rect">
            <a:avLst/>
          </a:prstGeom>
          <a:solidFill>
            <a:srgbClr val="546E7A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0" y="291693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GPIO17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05272" y="3273552"/>
            <a:ext cx="128016" cy="128016"/>
          </a:xfrm>
          <a:prstGeom prst="rect">
            <a:avLst/>
          </a:prstGeom>
          <a:solidFill>
            <a:srgbClr val="546E7A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0" y="32369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GPIO18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605272" y="3593592"/>
            <a:ext cx="128016" cy="128016"/>
          </a:xfrm>
          <a:prstGeom prst="rect">
            <a:avLst/>
          </a:prstGeom>
          <a:solidFill>
            <a:srgbClr val="546E7A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0" y="35570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GPIO19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05272" y="3913632"/>
            <a:ext cx="128016" cy="128016"/>
          </a:xfrm>
          <a:prstGeom prst="rect">
            <a:avLst/>
          </a:prstGeom>
          <a:solidFill>
            <a:srgbClr val="546E7A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0" y="38770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GPIO23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605272" y="4251960"/>
            <a:ext cx="128016" cy="128016"/>
          </a:xfrm>
          <a:prstGeom prst="rect">
            <a:avLst/>
          </a:prstGeom>
          <a:solidFill>
            <a:srgbClr val="546E7A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0" y="421538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GND 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903720" y="1033272"/>
            <a:ext cx="1600200" cy="1417320"/>
          </a:xfrm>
          <a:prstGeom prst="roundRect">
            <a:avLst>
              <a:gd name="adj" fmla="val 3871"/>
            </a:avLst>
          </a:prstGeom>
          <a:solidFill>
            <a:srgbClr val="1E5AA8"/>
          </a:solidFill>
          <a:ln w="12700">
            <a:solidFill>
              <a:srgbClr val="174A8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06640" y="1389888"/>
            <a:ext cx="502920" cy="502920"/>
          </a:xfrm>
          <a:prstGeom prst="ellipse">
            <a:avLst/>
          </a:prstGeom>
          <a:solidFill>
            <a:srgbClr val="CFD8DC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32370" y="1515618"/>
            <a:ext cx="251460" cy="251460"/>
          </a:xfrm>
          <a:prstGeom prst="ellips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01000" y="1389888"/>
            <a:ext cx="502920" cy="502920"/>
          </a:xfrm>
          <a:prstGeom prst="ellipse">
            <a:avLst/>
          </a:prstGeom>
          <a:solidFill>
            <a:srgbClr val="CFD8DC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26730" y="1515618"/>
            <a:ext cx="251460" cy="251460"/>
          </a:xfrm>
          <a:prstGeom prst="ellips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39712" y="119786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995160" y="11704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VCC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839712" y="151790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995160" y="14904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Trig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839712" y="183794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995160" y="18105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Echo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839712" y="215798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995160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GND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7406640" y="22128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E0F5"/>
                </a:solidFill>
              </a:rPr>
              <a:t>HC-SR04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733288" y="1261872"/>
            <a:ext cx="1106424" cy="0"/>
          </a:xfrm>
          <a:prstGeom prst="line">
            <a:avLst/>
          </a:prstGeom>
          <a:noFill/>
          <a:ln w="44450">
            <a:solidFill>
              <a:srgbClr val="D6454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733288" y="1581912"/>
            <a:ext cx="1106424" cy="0"/>
          </a:xfrm>
          <a:prstGeom prst="line">
            <a:avLst/>
          </a:prstGeom>
          <a:noFill/>
          <a:ln w="44450">
            <a:solidFill>
              <a:srgbClr val="00A3A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33288" y="1901952"/>
            <a:ext cx="1106424" cy="0"/>
          </a:xfrm>
          <a:prstGeom prst="line">
            <a:avLst/>
          </a:prstGeom>
          <a:noFill/>
          <a:ln w="44450">
            <a:solidFill>
              <a:srgbClr val="C2185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733288" y="2221992"/>
            <a:ext cx="1106424" cy="0"/>
          </a:xfrm>
          <a:prstGeom prst="line">
            <a:avLst/>
          </a:prstGeom>
          <a:noFill/>
          <a:ln w="44450">
            <a:solidFill>
              <a:srgbClr val="1B1B1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733288" y="2697480"/>
            <a:ext cx="320040" cy="0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53328" y="269748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583680" y="269748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208776" y="2615184"/>
            <a:ext cx="37490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263640" y="261518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330875" y="261518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398111" y="261518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501922" y="261518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739128" y="2697480"/>
            <a:ext cx="73152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812280" y="269748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342632" y="269748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031736" y="2542032"/>
            <a:ext cx="310896" cy="310896"/>
          </a:xfrm>
          <a:prstGeom prst="ellipse">
            <a:avLst/>
          </a:prstGeom>
          <a:solidFill>
            <a:srgbClr val="F3F3F3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452360" y="2697480"/>
            <a:ext cx="685800" cy="0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733288" y="3017520"/>
            <a:ext cx="320040" cy="0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053328" y="301752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583680" y="301752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208776" y="2935224"/>
            <a:ext cx="37490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263640" y="293522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330875" y="293522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398111" y="293522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501922" y="293522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739128" y="3017520"/>
            <a:ext cx="73152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812280" y="301752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342632" y="301752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031736" y="2862072"/>
            <a:ext cx="310896" cy="310896"/>
          </a:xfrm>
          <a:prstGeom prst="ellipse">
            <a:avLst/>
          </a:prstGeom>
          <a:solidFill>
            <a:srgbClr val="F3F3F3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452360" y="3017520"/>
            <a:ext cx="685800" cy="0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733288" y="3337560"/>
            <a:ext cx="320040" cy="0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053328" y="333756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583680" y="333756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208776" y="3255264"/>
            <a:ext cx="37490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263640" y="325526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330875" y="325526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398111" y="325526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6501922" y="325526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6739128" y="3337560"/>
            <a:ext cx="73152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6812280" y="333756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342632" y="333756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031736" y="3182112"/>
            <a:ext cx="310896" cy="310896"/>
          </a:xfrm>
          <a:prstGeom prst="ellipse">
            <a:avLst/>
          </a:prstGeom>
          <a:solidFill>
            <a:srgbClr val="F3F3F3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452360" y="3337560"/>
            <a:ext cx="685800" cy="0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5733288" y="3657600"/>
            <a:ext cx="320040" cy="0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6053328" y="365760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6583680" y="365760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208776" y="3575304"/>
            <a:ext cx="37490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6263640" y="357530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6330875" y="357530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6398111" y="357530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501922" y="357530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739128" y="3657600"/>
            <a:ext cx="73152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6812280" y="365760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342632" y="365760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7031736" y="3502152"/>
            <a:ext cx="310896" cy="310896"/>
          </a:xfrm>
          <a:prstGeom prst="ellipse">
            <a:avLst/>
          </a:prstGeom>
          <a:solidFill>
            <a:srgbClr val="F3F3F3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452360" y="3657600"/>
            <a:ext cx="685800" cy="0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733288" y="3977640"/>
            <a:ext cx="320040" cy="0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053328" y="397764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6583680" y="397764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6208776" y="3895344"/>
            <a:ext cx="37490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6263640" y="389534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6330875" y="389534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6398111" y="389534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6501922" y="389534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739128" y="3977640"/>
            <a:ext cx="73152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6812280" y="397764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7342632" y="397764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7031736" y="3822192"/>
            <a:ext cx="310896" cy="310896"/>
          </a:xfrm>
          <a:prstGeom prst="ellipse">
            <a:avLst/>
          </a:prstGeom>
          <a:solidFill>
            <a:srgbClr val="F3F3F3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7452360" y="3977640"/>
            <a:ext cx="685800" cy="0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8138160" y="2697480"/>
            <a:ext cx="0" cy="1618488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5733288" y="4315968"/>
            <a:ext cx="2404872" cy="0"/>
          </a:xfrm>
          <a:prstGeom prst="line">
            <a:avLst/>
          </a:prstGeom>
          <a:noFill/>
          <a:ln w="31750">
            <a:solidFill>
              <a:srgbClr val="C8C8C8"/>
            </a:solidFill>
            <a:prstDash val="solid"/>
          </a:ln>
        </p:spPr>
      </p:sp>
      <p:sp>
        <p:nvSpPr>
          <p:cNvPr id="117" name="Text 114"/>
          <p:cNvSpPr txBox="1"/>
          <p:nvPr/>
        </p:nvSpPr>
        <p:spPr>
          <a:xfrm>
            <a:off x="6675120" y="4407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grey = already built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4: read the distance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18120" y="164592"/>
            <a:ext cx="868680" cy="86868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01752"/>
            <a:ext cx="594360" cy="5943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301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14261F"/>
          </a:solidFill>
          <a:ln w="12700">
            <a:solidFill>
              <a:srgbClr val="1426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161288"/>
            <a:ext cx="44256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trig.value(1)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time.sleep_us(10)       # 10 µs 'click'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trig.value(0)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 = time_pulse_us(echo, 1, 30000)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duration &lt; 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         # no echo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duration * 0.0343 / 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930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File: step4_ultrasonic_print.py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840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</a:rPr>
              <a:t>CHECKPOINT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The number changes when you move your hand.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105156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Shell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371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Distance: 24.6 cm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Distance: 18.1 cm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Distance: 11.3 cm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Distance: 6.0 cm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108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time_pulse_us waits for Echo to go ON, then times how long it stays ON. 30000 µs is the time limit (about 5 m).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Part 3: distance → LEDs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No new wires. Only code from here.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5: you write the rule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18120" y="164592"/>
            <a:ext cx="868680" cy="86868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01752"/>
            <a:ext cx="594360" cy="5943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301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25 cm or more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48840" y="110642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10642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110642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10642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110642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581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20 – 25 cm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148840" y="160934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60934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160934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60934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160934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0848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15 – 20 cm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148840" y="211226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211226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211226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11226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211226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25877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10 – 15 cm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148840" y="261518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261518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261518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61518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94760" y="261518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0906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5 – 10 cm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148840" y="311810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311810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71800" y="311810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311810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94760" y="3118104"/>
            <a:ext cx="292608" cy="292608"/>
          </a:xfrm>
          <a:prstGeom prst="ellipse">
            <a:avLst/>
          </a:prstGeom>
          <a:solidFill>
            <a:srgbClr val="F1F1F1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5935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under 5 cm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2148840" y="362102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0" y="362102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362102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0" y="362102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94760" y="3621024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1188720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14261F"/>
          </a:solidFill>
          <a:ln w="12700">
            <a:solidFill>
              <a:srgbClr val="1426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36592" y="1298448"/>
            <a:ext cx="37856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leds_for(distance):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distance &lt; 5: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distance &lt; 10: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...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0" y="25786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Finish leds_for() so it matches every row of the table. It must return a number from 0 to 5.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0" y="3154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File: step5_distance_leds.py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0" y="347472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DDF3E9"/>
          </a:solidFill>
          <a:ln w="15875">
            <a:solidFill>
              <a:srgbClr val="1F8A7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09160" y="3474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</a:rPr>
              <a:t>CHECKPOINT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Shell shows the same LED count as the table.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572000" y="411480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FF4D6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0916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B00"/>
                </a:solidFill>
              </a:rPr>
              <a:t>STUCK?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Ask your teacher for the finished file.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whole circuit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143000" cy="3566160"/>
          </a:xfrm>
          <a:prstGeom prst="roundRect">
            <a:avLst>
              <a:gd name="adj" fmla="val 6400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ESP32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36192" y="119786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16128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36192" y="151790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4813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36192" y="183794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801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36192" y="215798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1214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36192" y="263347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59689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36192" y="295351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91693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36192" y="327355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2369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36192" y="359359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5570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GPIO19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36192" y="3913632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38770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GPIO23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36192" y="4251960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421538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GND 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1033272"/>
            <a:ext cx="1600200" cy="1417320"/>
          </a:xfrm>
          <a:prstGeom prst="roundRect">
            <a:avLst>
              <a:gd name="adj" fmla="val 3871"/>
            </a:avLst>
          </a:prstGeom>
          <a:solidFill>
            <a:srgbClr val="1E5AA8"/>
          </a:solidFill>
          <a:ln w="12700">
            <a:solidFill>
              <a:srgbClr val="174A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1389888"/>
            <a:ext cx="502920" cy="502920"/>
          </a:xfrm>
          <a:prstGeom prst="ellipse">
            <a:avLst/>
          </a:prstGeom>
          <a:solidFill>
            <a:srgbClr val="CFD8DC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63290" y="1515618"/>
            <a:ext cx="251460" cy="251460"/>
          </a:xfrm>
          <a:prstGeom prst="ellips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1389888"/>
            <a:ext cx="502920" cy="502920"/>
          </a:xfrm>
          <a:prstGeom prst="ellipse">
            <a:avLst/>
          </a:prstGeom>
          <a:solidFill>
            <a:srgbClr val="CFD8DC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57650" y="1515618"/>
            <a:ext cx="251460" cy="251460"/>
          </a:xfrm>
          <a:prstGeom prst="ellips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70632" y="119786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26080" y="11704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VCC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70632" y="151790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26080" y="14904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Trig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70632" y="183794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26080" y="18105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Echo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70632" y="2157984"/>
            <a:ext cx="128016" cy="128016"/>
          </a:xfrm>
          <a:prstGeom prst="rect">
            <a:avLst/>
          </a:prstGeom>
          <a:solidFill>
            <a:srgbClr val="FFD54F"/>
          </a:solidFill>
          <a:ln w="6350">
            <a:solidFill>
              <a:srgbClr val="3747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26080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GND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337560" y="22128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E0F5"/>
                </a:solidFill>
              </a:rPr>
              <a:t>HC-SR04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64208" y="1261872"/>
            <a:ext cx="1106424" cy="0"/>
          </a:xfrm>
          <a:prstGeom prst="line">
            <a:avLst/>
          </a:prstGeom>
          <a:noFill/>
          <a:ln w="44450">
            <a:solidFill>
              <a:srgbClr val="D645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64208" y="1581912"/>
            <a:ext cx="1106424" cy="0"/>
          </a:xfrm>
          <a:prstGeom prst="line">
            <a:avLst/>
          </a:prstGeom>
          <a:noFill/>
          <a:ln w="44450">
            <a:solidFill>
              <a:srgbClr val="00A3A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64208" y="1901952"/>
            <a:ext cx="1106424" cy="0"/>
          </a:xfrm>
          <a:prstGeom prst="line">
            <a:avLst/>
          </a:prstGeom>
          <a:noFill/>
          <a:ln w="44450">
            <a:solidFill>
              <a:srgbClr val="C2185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64208" y="2221992"/>
            <a:ext cx="1106424" cy="0"/>
          </a:xfrm>
          <a:prstGeom prst="line">
            <a:avLst/>
          </a:prstGeom>
          <a:noFill/>
          <a:ln w="44450">
            <a:solidFill>
              <a:srgbClr val="1B1B1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64208" y="2697480"/>
            <a:ext cx="32004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84248" y="269748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14600" y="269748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39696" y="2615184"/>
            <a:ext cx="37490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94560" y="261518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61795" y="261518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29031" y="261518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32842" y="261518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70048" y="2697480"/>
            <a:ext cx="73152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0" y="269748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73552" y="269748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16936" y="2496312"/>
            <a:ext cx="402336" cy="402336"/>
          </a:xfrm>
          <a:prstGeom prst="ellipse">
            <a:avLst/>
          </a:prstGeom>
          <a:solidFill>
            <a:srgbClr val="F2A900">
              <a:alpha val="45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62656" y="2542032"/>
            <a:ext cx="310896" cy="310896"/>
          </a:xfrm>
          <a:prstGeom prst="ellipse">
            <a:avLst/>
          </a:prstGeom>
          <a:solidFill>
            <a:srgbClr val="D64545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83280" y="2697480"/>
            <a:ext cx="685800" cy="0"/>
          </a:xfrm>
          <a:prstGeom prst="line">
            <a:avLst/>
          </a:prstGeom>
          <a:noFill/>
          <a:ln w="31750">
            <a:solidFill>
              <a:srgbClr val="1B1B1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64208" y="3017520"/>
            <a:ext cx="320040" cy="0"/>
          </a:xfrm>
          <a:prstGeom prst="line">
            <a:avLst/>
          </a:prstGeom>
          <a:noFill/>
          <a:ln w="31750">
            <a:solidFill>
              <a:srgbClr val="E0B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84248" y="301752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4600" y="301752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39696" y="2935224"/>
            <a:ext cx="37490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94560" y="293522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61795" y="293522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29031" y="293522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432842" y="293522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70048" y="3017520"/>
            <a:ext cx="73152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0" y="301752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73552" y="301752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16936" y="2816352"/>
            <a:ext cx="402336" cy="402336"/>
          </a:xfrm>
          <a:prstGeom prst="ellipse">
            <a:avLst/>
          </a:prstGeom>
          <a:solidFill>
            <a:srgbClr val="F2A900">
              <a:alpha val="45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62656" y="2862072"/>
            <a:ext cx="310896" cy="310896"/>
          </a:xfrm>
          <a:prstGeom prst="ellipse">
            <a:avLst/>
          </a:prstGeom>
          <a:solidFill>
            <a:srgbClr val="D64545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3017520"/>
            <a:ext cx="685800" cy="0"/>
          </a:xfrm>
          <a:prstGeom prst="line">
            <a:avLst/>
          </a:prstGeom>
          <a:noFill/>
          <a:ln w="31750">
            <a:solidFill>
              <a:srgbClr val="1B1B1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664208" y="3337560"/>
            <a:ext cx="320040" cy="0"/>
          </a:xfrm>
          <a:prstGeom prst="line">
            <a:avLst/>
          </a:prstGeom>
          <a:noFill/>
          <a:ln w="31750">
            <a:solidFill>
              <a:srgbClr val="1F8A7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84248" y="333756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514600" y="333756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139696" y="3255264"/>
            <a:ext cx="37490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94560" y="325526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261795" y="325526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29031" y="325526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32842" y="325526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70048" y="3337560"/>
            <a:ext cx="73152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3200" y="333756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73552" y="333756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916936" y="3136392"/>
            <a:ext cx="402336" cy="402336"/>
          </a:xfrm>
          <a:prstGeom prst="ellipse">
            <a:avLst/>
          </a:prstGeom>
          <a:solidFill>
            <a:srgbClr val="F2A900">
              <a:alpha val="45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962656" y="3182112"/>
            <a:ext cx="310896" cy="310896"/>
          </a:xfrm>
          <a:prstGeom prst="ellipse">
            <a:avLst/>
          </a:prstGeom>
          <a:solidFill>
            <a:srgbClr val="D64545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83280" y="3337560"/>
            <a:ext cx="685800" cy="0"/>
          </a:xfrm>
          <a:prstGeom prst="line">
            <a:avLst/>
          </a:prstGeom>
          <a:noFill/>
          <a:ln w="31750">
            <a:solidFill>
              <a:srgbClr val="1B1B1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664208" y="3657600"/>
            <a:ext cx="32004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84248" y="365760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514600" y="365760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139696" y="3575304"/>
            <a:ext cx="37490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94560" y="357530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261795" y="357530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329031" y="357530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432842" y="357530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70048" y="3657600"/>
            <a:ext cx="73152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0" y="365760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73552" y="365760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962656" y="3502152"/>
            <a:ext cx="310896" cy="310896"/>
          </a:xfrm>
          <a:prstGeom prst="ellipse">
            <a:avLst/>
          </a:prstGeom>
          <a:solidFill>
            <a:srgbClr val="F3F3F3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83280" y="3657600"/>
            <a:ext cx="685800" cy="0"/>
          </a:xfrm>
          <a:prstGeom prst="line">
            <a:avLst/>
          </a:prstGeom>
          <a:noFill/>
          <a:ln w="31750">
            <a:solidFill>
              <a:srgbClr val="1B1B1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664208" y="3977640"/>
            <a:ext cx="320040" cy="0"/>
          </a:xfrm>
          <a:prstGeom prst="line">
            <a:avLst/>
          </a:prstGeom>
          <a:noFill/>
          <a:ln w="31750">
            <a:solidFill>
              <a:srgbClr val="8E44A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984248" y="397764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514600" y="3977640"/>
            <a:ext cx="15544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139696" y="3895344"/>
            <a:ext cx="374904" cy="164592"/>
          </a:xfrm>
          <a:prstGeom prst="roundRect">
            <a:avLst>
              <a:gd name="adj" fmla="val 33333"/>
            </a:avLst>
          </a:prstGeom>
          <a:solidFill>
            <a:srgbClr val="E3C99A"/>
          </a:solidFill>
          <a:ln w="9525">
            <a:solidFill>
              <a:srgbClr val="B8986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194560" y="389534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261795" y="3895344"/>
            <a:ext cx="32004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29031" y="3895344"/>
            <a:ext cx="32004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432842" y="3895344"/>
            <a:ext cx="32004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670048" y="3977640"/>
            <a:ext cx="73152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743200" y="3977640"/>
            <a:ext cx="219456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273552" y="3977640"/>
            <a:ext cx="109728" cy="0"/>
          </a:xfrm>
          <a:prstGeom prst="line">
            <a:avLst/>
          </a:prstGeom>
          <a:noFill/>
          <a:ln w="25400">
            <a:solidFill>
              <a:srgbClr val="9AA0A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962656" y="3822192"/>
            <a:ext cx="310896" cy="310896"/>
          </a:xfrm>
          <a:prstGeom prst="ellipse">
            <a:avLst/>
          </a:prstGeom>
          <a:solidFill>
            <a:srgbClr val="F3F3F3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383280" y="3977640"/>
            <a:ext cx="685800" cy="0"/>
          </a:xfrm>
          <a:prstGeom prst="line">
            <a:avLst/>
          </a:prstGeom>
          <a:noFill/>
          <a:ln w="31750">
            <a:solidFill>
              <a:srgbClr val="1B1B1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069080" y="2697480"/>
            <a:ext cx="0" cy="1618488"/>
          </a:xfrm>
          <a:prstGeom prst="line">
            <a:avLst/>
          </a:prstGeom>
          <a:noFill/>
          <a:ln w="31750">
            <a:solidFill>
              <a:srgbClr val="1B1B1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664208" y="4315968"/>
            <a:ext cx="2404872" cy="0"/>
          </a:xfrm>
          <a:prstGeom prst="line">
            <a:avLst/>
          </a:prstGeom>
          <a:noFill/>
          <a:ln w="31750">
            <a:solidFill>
              <a:srgbClr val="1B1B1B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051560"/>
          <a:ext cx="3291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pin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1 –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16, 17, 18, 19, 23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VCC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Trig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Echo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 / − rail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</a:tbl>
          </a:graphicData>
        </a:graphic>
      </p:graphicFrame>
      <p:sp>
        <p:nvSpPr>
          <p:cNvPr id="114" name="Text 111"/>
          <p:cNvSpPr txBox="1"/>
          <p:nvPr/>
        </p:nvSpPr>
        <p:spPr>
          <a:xfrm>
            <a:off x="539496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Pin positions in the drawing are not where they sit on your board. Read the labels on the extension board.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Stuck? Go back one step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4206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back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LED lights at 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direction, GND wire, breadboard strips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0 works, Step 1 doesn't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in GPIO16, not a pin next to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 5 LEDs dark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3a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LED's legs, resistor, GPIO pin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'No echo' every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 ↔ Echo swapped? VCC on 5V?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jumps around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at a flat, hard surface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resets / won't connect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Unplug USB, check for a short to 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Challenge: a parking sensor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18120" y="164592"/>
            <a:ext cx="868680" cy="86868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01752"/>
            <a:ext cx="594360" cy="5943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301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Paste your leds_for() from Step 5 into step6_challenge_parking_sensor.py, then run it. All LEDs flash when something is closer than 5 cm.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Flash faster the closer you get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Green, yellow, red LEDs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Add the buzzer from the kit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</a:rPr>
              <a:t>Service learning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00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Who in our community could use a distance warning?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5146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7EBE2"/>
                </a:solidFill>
              </a:rPr>
              <a:t>Someone with low vision walking indoors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7EBE2"/>
                </a:solidFill>
              </a:rPr>
              <a:t>A wheelchair user reversing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7EBE2"/>
                </a:solidFill>
              </a:rPr>
              <a:t>A shop door that counts visitors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did you reach today?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25880" y="1737360"/>
            <a:ext cx="548640" cy="0"/>
          </a:xfrm>
          <a:prstGeom prst="line">
            <a:avLst/>
          </a:prstGeom>
          <a:noFill/>
          <a:ln w="25400">
            <a:solidFill>
              <a:srgbClr val="C98C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LED + resistor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14630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14600" y="1737360"/>
            <a:ext cx="548640" cy="0"/>
          </a:xfrm>
          <a:prstGeom prst="line">
            <a:avLst/>
          </a:prstGeom>
          <a:noFill/>
          <a:ln w="25400">
            <a:solidFill>
              <a:srgbClr val="C98C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GPIO 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14630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03320" y="1737360"/>
            <a:ext cx="548640" cy="0"/>
          </a:xfrm>
          <a:prstGeom prst="line">
            <a:avLst/>
          </a:prstGeom>
          <a:noFill/>
          <a:ln w="25400">
            <a:solidFill>
              <a:srgbClr val="C98C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3464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Blink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92040" y="1737360"/>
            <a:ext cx="548640" cy="0"/>
          </a:xfrm>
          <a:prstGeom prst="line">
            <a:avLst/>
          </a:prstGeom>
          <a:noFill/>
          <a:ln w="25400">
            <a:solidFill>
              <a:srgbClr val="C98C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5 LEDs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0" y="14630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80760" y="1737360"/>
            <a:ext cx="548640" cy="0"/>
          </a:xfrm>
          <a:prstGeom prst="line">
            <a:avLst/>
          </a:prstGeom>
          <a:noFill/>
          <a:ln w="25400">
            <a:solidFill>
              <a:srgbClr val="C98C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Sensor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5120" y="14630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269480" y="1737360"/>
            <a:ext cx="548640" cy="0"/>
          </a:xfrm>
          <a:prstGeom prst="line">
            <a:avLst/>
          </a:prstGeom>
          <a:noFill/>
          <a:ln w="25400">
            <a:solidFill>
              <a:srgbClr val="C98C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Distance bar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63840" y="14630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C98C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6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</a:rPr>
              <a:t>Parking sensor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2971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A GPIO pin is a switch your code controls.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The sensor measures time; maths turns it into distance.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Build small, test, then add one thing.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05 Circuit">
  <a:themeElements>
    <a:clrScheme name="JA05 Circuit">
      <a:dk1>
        <a:srgbClr val="1B1B1B"/>
      </a:dk1>
      <a:lt1>
        <a:srgbClr val="FFFFFF"/>
      </a:lt1>
      <a:dk2>
        <a:srgbClr val="0B3D2E"/>
      </a:dk2>
      <a:lt2>
        <a:srgbClr val="EEF5F1"/>
      </a:lt2>
      <a:accent1>
        <a:srgbClr val="F2A900"/>
      </a:accent1>
      <a:accent2>
        <a:srgbClr val="1F8A70"/>
      </a:accent2>
      <a:accent3>
        <a:srgbClr val="D64545"/>
      </a:accent3>
      <a:accent4>
        <a:srgbClr val="2B6CB0"/>
      </a:accent4>
      <a:accent5>
        <a:srgbClr val="6B7280"/>
      </a:accent5>
      <a:accent6>
        <a:srgbClr val="8E44AD"/>
      </a:accent6>
      <a:hlink>
        <a:srgbClr val="2B6CB0"/>
      </a:hlink>
      <a:folHlink>
        <a:srgbClr val="8E44AD"/>
      </a:folHlink>
    </a:clrScheme>
    <a:fontScheme name="JA05 Circui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3 - How far away?</dc:title>
  <dc:subject>PptxGenJS Presentation</dc:subject>
  <dc:creator>Jacky HUI</dc:creator>
  <cp:lastModifiedBy>Jacky HUI</cp:lastModifiedBy>
  <cp:revision>1</cp:revision>
  <dcterms:created xsi:type="dcterms:W3CDTF">2026-10-09T04:43:12Z</dcterms:created>
  <dcterms:modified xsi:type="dcterms:W3CDTF">2026-10-09T04:43:12Z</dcterms:modified>
</cp:coreProperties>
</file>