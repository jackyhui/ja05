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79" r:id="rId7"/>
    <p:sldId id="28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40657006-DFC9-0EE8-2DBA-0AF049BDE2BA}">
          <p14:sldIdLst>
            <p14:sldId id="256"/>
            <p14:sldId id="257"/>
          </p14:sldIdLst>
        </p14:section>
        <p14:section name="Files" id="{A2E5EE4D-A4D6-0289-5582-2FA5E8984C00}">
          <p14:sldIdLst>
            <p14:sldId id="258"/>
            <p14:sldId id="259"/>
            <p14:sldId id="260"/>
            <p14:sldId id="279"/>
            <p14:sldId id="280"/>
          </p14:sldIdLst>
        </p14:section>
        <p14:section name="Recap" id="{052B1D86-DEB2-1736-342C-220BECA32114}">
          <p14:sldIdLst>
            <p14:sldId id="261"/>
            <p14:sldId id="262"/>
            <p14:sldId id="263"/>
          </p14:sldIdLst>
        </p14:section>
        <p14:section name="Buzzer" id="{B1E9A9B5-F88B-6AD7-9D79-0C6411FC3AC7}">
          <p14:sldIdLst>
            <p14:sldId id="264"/>
            <p14:sldId id="265"/>
            <p14:sldId id="266"/>
            <p14:sldId id="267"/>
            <p14:sldId id="268"/>
            <p14:sldId id="269"/>
            <p14:sldId id="270"/>
            <p14:sldId id="271"/>
            <p14:sldId id="272"/>
            <p14:sldId id="273"/>
            <p14:sldId id="274"/>
            <p14:sldId id="275"/>
            <p14:sldId id="276"/>
          </p14:sldIdLst>
        </p14:section>
        <p14:section name="Wrap-up" id="{350DD9DB-4EEC-37AB-113D-F7ABFF5FCF55}">
          <p14:sldIdLst>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533"/>
    <p:restoredTop sz="94610"/>
  </p:normalViewPr>
  <p:slideViewPr>
    <p:cSldViewPr snapToGrid="0" snapToObjects="1">
      <p:cViewPr varScale="1">
        <p:scale>
          <a:sx n="288" d="100"/>
          <a:sy n="288" d="100"/>
        </p:scale>
        <p:origin x="164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78295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lesson, about 50 minutes. Everyone starts by getting the latest files with the new one-command script. Then two tracks: groups that did not finish Lesson 3 finish the distance meter; groups that finished add a buzzer.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strictly to time: start the tracks by minute 12. The 0-5 and 5-12 blocks are whole-class. Track A groups can switch to Track B as soon as their LED bar works.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now on this replaces git pull. It never fails because of changed files: it copies them into my_work/saved_&lt;date&gt;/ and then makes JA05 match GitHub. If ./get_latest.sh says permission denied, type: bash get_latest.sh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needed once, today. Students who edited step5_distance_leds.py last lesson but did not commit usually still pull fine, because that file did not change online. Those who see an error rename their folder and clone again, as on the Lesson 3 error slide.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removes the git problem at the source: students never change the files in JA05 on the Mac, so git always has nothing to protect. Their edited copies live on the ESP32's own flash. Remind them the ESP32 is theirs for the term; if they swap boards they upload again from JA05.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if / elif version is written out in full as a comment in step5_solution.py, lines 55-67. Ask a group to read out their version. Check order: if they test distance &lt; 25 first, every close distance returns 1 (a common bug). Work 12 cm through the maths: 12 // 5 = 2, 5 - 2 = 3.</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 up for each track. Seat a Track B group next to each Track A group if possible, so finished students can help.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 A uses the published solution so these groups end the lesson with a working meter. Lesson 3 PDF: page 25 is the sensor wiring, page 30 the troubleshooting table. The pinout shows where today's pins are on the real board: LEDs amber, sensor 5V red, Trig teal, Echo pink, GND black.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look almost the same from the top. Turn them over: the active one has a sealed black back, the passive one shows a green board. The 3V3 test is the surest check: active beeps continuously, passive only clicks. Most have a sticker on top; peel it off or the sound is muffled.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pinout as Lesson 1. Students mix up the board labels (IO25) and the code (Pin(25)): they are the same pin. IO25 is on the left side, 9th from the top. Outlines: orange buzzer, amber LEDs, red power, teal/pink sensor, black GND.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last lesson many errors came from students retyping code fragments from the slides, which are not complete programs (no import, no Pin set-up). Every program is now a complete file. Students upload it to the ESP32, run it unchanged first, then change only the marked lines (Predict, Run, Investigate, Modify). If Thonny does not connect: Run &gt; Configure interpreter &gt; MicroPython (ESP32), choose the usbserial port; click Stop to interrupt a running program.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idea as Lesson 3 Step 0: prove the part and the wires before any code. It will be loud; ask students to cover the hole with a finger or keep the sticker on. If a 3-pin module is used, in Step 0 put S on 3V3 too.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Exactly the same code as an LED: an active buzzer is just another output pin. GPIO25 is free and safe at boot; avoid GPIO15 used by the kit sample, because it is a boot pin.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value(0) = quiet. Pin(16, Pin.OUT) was the LED in Lesson 3: the buzzer is driven exactly like an LED. Grey line numbers show where each line is in the file.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beep length stays short (0.05 s); only the gap changes. That gap is what we link to the distance in Step 3.</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Indentation matters: only the indented lines repeat. Without try/finally, stopping the program at the wrong moment can leave the pin at 1, so the buzzer keeps beeping after Ctrl+C. Swapping the numbers gives long beeps with short gaps: almost a continuous tone.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else in the file is done. Hint if stuck: which number times 20 gives 0.4? Answer: return distance * 0.02 (teacher_solutions). Fast finishers: make the LEDs flash under 5 cm too.</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loop in step3_parking_beep.py, lines 71-85, together with the class. The if / elif / else picks exactly one of the three boxes each time round. Ask: what happens at exactly 25 cm? (Quiet, because the test is &gt;= 25.) At exactly 5 cm? (Short beeps, because the test is &lt; 5.)</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leave it up during Track B. Left: how the parts connect. Right: where those pins are on the real board (IO25 = GPIO25). The buzzer's minus leg goes to the same GND rail as the LEDs.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Hz = times per second. The drawing is not to scale: 300 Hz is 300 on/off cycles every second. duty is how long the pin stays on in each cycle, 512 out of 1023 is half. pitch_for() is on lines 50-52: 2300 - distance * 80.</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import instead of renaming the file to main.py: students keep their own file names and switch programs by editing one line. import runs the whole file, including its while True loop. File names used with import must not start with a digit or contain spaces or dashes. If an imported program is already loaded in the same session, importing again does nothing: press Ctrl+D in the Shell for a soft reboot, which runs main.py again. Students could also simply save their program as main.py on the device; same effect.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Inclusive design: the same information in two forms (light and sound) reaches more people. This links to choosing the class's service-learning problem. Collect two or three ideas from the demo groups.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of hands for each step. Remind everyone: unplug USB first, then pull wires. Keep the circuit if possible.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371600"/>
            <a:ext cx="8046720" cy="128016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548640" y="2788920"/>
            <a:ext cx="8046720" cy="1097280"/>
          </a:xfrm>
          <a:prstGeom prst="rect">
            <a:avLst/>
          </a:prstGeom>
          <a:noFill/>
          <a:ln/>
        </p:spPr>
        <p:txBody>
          <a:bodyPr wrap="square" rtlCol="0"/>
          <a:lstStyle>
            <a:lvl1pPr marL="0" indent="0" algn="l">
              <a:buNone/>
              <a:defRPr lang="en-US" sz="2000" dirty="0">
                <a:solidFill>
                  <a:schemeClr val="accent1"/>
                </a:solidFill>
              </a:defRPr>
            </a:lvl1pPr>
          </a:lstStyle>
          <a:p>
            <a:pPr marL="0" indent="0" algn="l">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737360"/>
            <a:ext cx="8046720" cy="91440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3" name="Text 0"/>
          <p:cNvSpPr>
            <a:spLocks noGrp="1"/>
          </p:cNvSpPr>
          <p:nvPr>
            <p:ph type="body" idx="101" hasCustomPrompt="1"/>
          </p:nvPr>
        </p:nvSpPr>
        <p:spPr>
          <a:xfrm>
            <a:off x="548640" y="2743200"/>
            <a:ext cx="8046720" cy="914400"/>
          </a:xfrm>
          <a:prstGeom prst="rect">
            <a:avLst/>
          </a:prstGeom>
          <a:noFill/>
          <a:ln/>
        </p:spPr>
        <p:txBody>
          <a:bodyPr wrap="square" rtlCol="0"/>
          <a:lstStyle>
            <a:lvl1pPr marL="0" indent="0" algn="l">
              <a:buNone/>
              <a:defRPr lang="en-US" sz="1800" dirty="0">
                <a:solidFill>
                  <a:schemeClr val="accent1"/>
                </a:solidFill>
              </a:defRPr>
            </a:lvl1pPr>
          </a:lstStyle>
          <a:p>
            <a:pPr marL="0" indent="0" algn="l">
              <a:buNone/>
            </a:pPr>
            <a:endParaRPr lang="en-US" sz="18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949440" cy="64008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sp>
        <p:nvSpPr>
          <p:cNvPr id="3" name="Text 0"/>
          <p:cNvSpPr/>
          <p:nvPr/>
        </p:nvSpPr>
        <p:spPr>
          <a:xfrm>
            <a:off x="457200" y="4800600"/>
            <a:ext cx="2743200" cy="228600"/>
          </a:xfrm>
          <a:prstGeom prst="rect">
            <a:avLst/>
          </a:prstGeom>
          <a:noFill/>
          <a:ln/>
        </p:spPr>
        <p:txBody>
          <a:bodyPr wrap="square" lIns="0" tIns="0" rIns="0" bIns="0" rtlCol="0" anchor="ctr"/>
          <a:lstStyle/>
          <a:p>
            <a:pPr marL="0" indent="0">
              <a:buNone/>
            </a:pPr>
            <a:r>
              <a:rPr lang="en-US" sz="1000" dirty="0">
                <a:solidFill>
                  <a:schemeClr val="accent5"/>
                </a:solidFill>
              </a:rPr>
              <a:t>JA05 · Lesson 4</a:t>
            </a:r>
            <a:endParaRPr lang="en-US" sz="10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371600"/>
            <a:ext cx="8046720" cy="1280160"/>
          </a:xfrm>
          <a:prstGeom prst="rect">
            <a:avLst/>
          </a:prstGeom>
          <a:noFill/>
          <a:ln/>
        </p:spPr>
        <p:txBody>
          <a:bodyPr wrap="square" lIns="0" tIns="0" rIns="0" bIns="0" rtlCol="0" anchor="b"/>
          <a:lstStyle/>
          <a:p>
            <a:pPr marL="0" indent="0" algn="l">
              <a:buNone/>
            </a:pPr>
            <a:r>
              <a:rPr lang="en-US" sz="4000" b="1" dirty="0">
                <a:solidFill>
                  <a:schemeClr val="bg1"/>
                </a:solidFill>
              </a:rPr>
              <a:t>Beep!</a:t>
            </a:r>
            <a:endParaRPr lang="en-US" sz="4000" dirty="0"/>
          </a:p>
        </p:txBody>
      </p:sp>
      <p:sp>
        <p:nvSpPr>
          <p:cNvPr id="3" name="Text 0"/>
          <p:cNvSpPr>
            <a:spLocks noGrp="1"/>
          </p:cNvSpPr>
          <p:nvPr>
            <p:ph type="body" idx="101" hasCustomPrompt="1"/>
          </p:nvPr>
        </p:nvSpPr>
        <p:spPr>
          <a:xfrm>
            <a:off x="548640" y="2788920"/>
            <a:ext cx="8046720" cy="1097280"/>
          </a:xfrm>
          <a:prstGeom prst="rect">
            <a:avLst/>
          </a:prstGeom>
          <a:noFill/>
          <a:ln/>
        </p:spPr>
        <p:txBody>
          <a:bodyPr wrap="square" lIns="0" tIns="0" rIns="0" bIns="0" rtlCol="0" anchor="t"/>
          <a:lstStyle/>
          <a:p>
            <a:pPr marL="0" indent="0" algn="l">
              <a:buNone/>
            </a:pPr>
            <a:r>
              <a:rPr lang="en-US" sz="2000" dirty="0">
                <a:solidFill>
                  <a:schemeClr val="accent1"/>
                </a:solidFill>
              </a:rPr>
              <a:t>Lesson 4 · Add sound to the distance meter</a:t>
            </a:r>
            <a:endParaRPr lang="en-US" sz="2000" dirty="0"/>
          </a:p>
        </p:txBody>
      </p:sp>
      <p:sp>
        <p:nvSpPr>
          <p:cNvPr id="4" name="Shape 2"/>
          <p:cNvSpPr/>
          <p:nvPr/>
        </p:nvSpPr>
        <p:spPr>
          <a:xfrm>
            <a:off x="5029200" y="3931920"/>
            <a:ext cx="548640" cy="548640"/>
          </a:xfrm>
          <a:prstGeom prst="ellipse">
            <a:avLst/>
          </a:prstGeom>
          <a:solidFill>
            <a:srgbClr val="F2A900">
              <a:alpha val="40000"/>
            </a:srgbClr>
          </a:solidFill>
          <a:ln w="12700">
            <a:solidFill>
              <a:srgbClr val="F2A900">
                <a:alpha val="0"/>
              </a:srgbClr>
            </a:solidFill>
            <a:prstDash val="solid"/>
          </a:ln>
        </p:spPr>
        <p:txBody>
          <a:bodyPr/>
          <a:lstStyle/>
          <a:p>
            <a:endParaRPr lang="en-US"/>
          </a:p>
        </p:txBody>
      </p:sp>
      <p:sp>
        <p:nvSpPr>
          <p:cNvPr id="5" name="Shape 3"/>
          <p:cNvSpPr/>
          <p:nvPr/>
        </p:nvSpPr>
        <p:spPr>
          <a:xfrm>
            <a:off x="5120640" y="4023360"/>
            <a:ext cx="365760" cy="365760"/>
          </a:xfrm>
          <a:prstGeom prst="ellipse">
            <a:avLst/>
          </a:prstGeom>
          <a:solidFill>
            <a:srgbClr val="F2A900"/>
          </a:solidFill>
          <a:ln w="12700">
            <a:solidFill>
              <a:srgbClr val="C98C00"/>
            </a:solidFill>
            <a:prstDash val="solid"/>
          </a:ln>
        </p:spPr>
        <p:txBody>
          <a:bodyPr/>
          <a:lstStyle/>
          <a:p>
            <a:endParaRPr lang="en-US"/>
          </a:p>
        </p:txBody>
      </p:sp>
      <p:sp>
        <p:nvSpPr>
          <p:cNvPr id="6" name="Shape 4"/>
          <p:cNvSpPr/>
          <p:nvPr/>
        </p:nvSpPr>
        <p:spPr>
          <a:xfrm>
            <a:off x="5532120" y="3931920"/>
            <a:ext cx="548640" cy="548640"/>
          </a:xfrm>
          <a:prstGeom prst="ellipse">
            <a:avLst/>
          </a:prstGeom>
          <a:solidFill>
            <a:srgbClr val="F2A900">
              <a:alpha val="40000"/>
            </a:srgbClr>
          </a:solidFill>
          <a:ln w="12700">
            <a:solidFill>
              <a:srgbClr val="F2A900">
                <a:alpha val="0"/>
              </a:srgbClr>
            </a:solidFill>
            <a:prstDash val="solid"/>
          </a:ln>
        </p:spPr>
        <p:txBody>
          <a:bodyPr/>
          <a:lstStyle/>
          <a:p>
            <a:endParaRPr lang="en-US"/>
          </a:p>
        </p:txBody>
      </p:sp>
      <p:sp>
        <p:nvSpPr>
          <p:cNvPr id="7" name="Shape 5"/>
          <p:cNvSpPr/>
          <p:nvPr/>
        </p:nvSpPr>
        <p:spPr>
          <a:xfrm>
            <a:off x="5623560" y="4023360"/>
            <a:ext cx="365760" cy="365760"/>
          </a:xfrm>
          <a:prstGeom prst="ellipse">
            <a:avLst/>
          </a:prstGeom>
          <a:solidFill>
            <a:srgbClr val="F2A900"/>
          </a:solidFill>
          <a:ln w="12700">
            <a:solidFill>
              <a:srgbClr val="C98C00"/>
            </a:solidFill>
            <a:prstDash val="solid"/>
          </a:ln>
        </p:spPr>
        <p:txBody>
          <a:bodyPr/>
          <a:lstStyle/>
          <a:p>
            <a:endParaRPr lang="en-US"/>
          </a:p>
        </p:txBody>
      </p:sp>
      <p:sp>
        <p:nvSpPr>
          <p:cNvPr id="8" name="Shape 6"/>
          <p:cNvSpPr/>
          <p:nvPr/>
        </p:nvSpPr>
        <p:spPr>
          <a:xfrm>
            <a:off x="6035040" y="3931920"/>
            <a:ext cx="548640" cy="548640"/>
          </a:xfrm>
          <a:prstGeom prst="ellipse">
            <a:avLst/>
          </a:prstGeom>
          <a:solidFill>
            <a:srgbClr val="F2A900">
              <a:alpha val="40000"/>
            </a:srgbClr>
          </a:solidFill>
          <a:ln w="12700">
            <a:solidFill>
              <a:srgbClr val="F2A900">
                <a:alpha val="0"/>
              </a:srgbClr>
            </a:solidFill>
            <a:prstDash val="solid"/>
          </a:ln>
        </p:spPr>
        <p:txBody>
          <a:bodyPr/>
          <a:lstStyle/>
          <a:p>
            <a:endParaRPr lang="en-US"/>
          </a:p>
        </p:txBody>
      </p:sp>
      <p:sp>
        <p:nvSpPr>
          <p:cNvPr id="9" name="Shape 7"/>
          <p:cNvSpPr/>
          <p:nvPr/>
        </p:nvSpPr>
        <p:spPr>
          <a:xfrm>
            <a:off x="6126480" y="4023360"/>
            <a:ext cx="365760" cy="365760"/>
          </a:xfrm>
          <a:prstGeom prst="ellipse">
            <a:avLst/>
          </a:prstGeom>
          <a:solidFill>
            <a:srgbClr val="F2A900"/>
          </a:solidFill>
          <a:ln w="12700">
            <a:solidFill>
              <a:srgbClr val="C98C00"/>
            </a:solidFill>
            <a:prstDash val="solid"/>
          </a:ln>
        </p:spPr>
        <p:txBody>
          <a:bodyPr/>
          <a:lstStyle/>
          <a:p>
            <a:endParaRPr lang="en-US"/>
          </a:p>
        </p:txBody>
      </p:sp>
      <p:sp>
        <p:nvSpPr>
          <p:cNvPr id="10" name="Shape 8"/>
          <p:cNvSpPr/>
          <p:nvPr/>
        </p:nvSpPr>
        <p:spPr>
          <a:xfrm>
            <a:off x="6537960" y="3931920"/>
            <a:ext cx="548640" cy="548640"/>
          </a:xfrm>
          <a:prstGeom prst="ellipse">
            <a:avLst/>
          </a:prstGeom>
          <a:solidFill>
            <a:srgbClr val="F2A900">
              <a:alpha val="40000"/>
            </a:srgbClr>
          </a:solidFill>
          <a:ln w="12700">
            <a:solidFill>
              <a:srgbClr val="F2A900">
                <a:alpha val="0"/>
              </a:srgbClr>
            </a:solidFill>
            <a:prstDash val="solid"/>
          </a:ln>
        </p:spPr>
        <p:txBody>
          <a:bodyPr/>
          <a:lstStyle/>
          <a:p>
            <a:endParaRPr lang="en-US"/>
          </a:p>
        </p:txBody>
      </p:sp>
      <p:sp>
        <p:nvSpPr>
          <p:cNvPr id="11" name="Shape 9"/>
          <p:cNvSpPr/>
          <p:nvPr/>
        </p:nvSpPr>
        <p:spPr>
          <a:xfrm>
            <a:off x="6629400" y="4023360"/>
            <a:ext cx="365760" cy="365760"/>
          </a:xfrm>
          <a:prstGeom prst="ellipse">
            <a:avLst/>
          </a:prstGeom>
          <a:solidFill>
            <a:srgbClr val="F2A900"/>
          </a:solidFill>
          <a:ln w="12700">
            <a:solidFill>
              <a:srgbClr val="C98C00"/>
            </a:solidFill>
            <a:prstDash val="solid"/>
          </a:ln>
        </p:spPr>
        <p:txBody>
          <a:bodyPr/>
          <a:lstStyle/>
          <a:p>
            <a:endParaRPr lang="en-US"/>
          </a:p>
        </p:txBody>
      </p:sp>
      <p:sp>
        <p:nvSpPr>
          <p:cNvPr id="12" name="Shape 10"/>
          <p:cNvSpPr/>
          <p:nvPr/>
        </p:nvSpPr>
        <p:spPr>
          <a:xfrm>
            <a:off x="7132320" y="4023360"/>
            <a:ext cx="365760" cy="365760"/>
          </a:xfrm>
          <a:prstGeom prst="ellipse">
            <a:avLst/>
          </a:prstGeom>
          <a:solidFill>
            <a:srgbClr val="1F5A47"/>
          </a:solidFill>
          <a:ln w="12700">
            <a:solidFill>
              <a:srgbClr val="2E6B57"/>
            </a:solidFill>
            <a:prstDash val="solid"/>
          </a:ln>
        </p:spPr>
        <p:txBody>
          <a:bodyPr/>
          <a:lstStyle/>
          <a:p>
            <a:endParaRPr lang="en-US"/>
          </a:p>
        </p:txBody>
      </p:sp>
      <p:sp>
        <p:nvSpPr>
          <p:cNvPr id="13" name="Shape 11"/>
          <p:cNvSpPr/>
          <p:nvPr/>
        </p:nvSpPr>
        <p:spPr>
          <a:xfrm>
            <a:off x="7818120" y="3950208"/>
            <a:ext cx="512064" cy="512064"/>
          </a:xfrm>
          <a:prstGeom prst="ellipse">
            <a:avLst/>
          </a:prstGeom>
          <a:solidFill>
            <a:srgbClr val="111111"/>
          </a:solidFill>
          <a:ln w="12700">
            <a:solidFill>
              <a:srgbClr val="000000"/>
            </a:solidFill>
            <a:prstDash val="solid"/>
          </a:ln>
        </p:spPr>
        <p:txBody>
          <a:bodyPr/>
          <a:lstStyle/>
          <a:p>
            <a:endParaRPr lang="en-US"/>
          </a:p>
        </p:txBody>
      </p:sp>
      <p:sp>
        <p:nvSpPr>
          <p:cNvPr id="14" name="Text 12"/>
          <p:cNvSpPr txBox="1"/>
          <p:nvPr/>
        </p:nvSpPr>
        <p:spPr>
          <a:xfrm>
            <a:off x="8321040" y="3977640"/>
            <a:ext cx="548640" cy="457200"/>
          </a:xfrm>
          <a:prstGeom prst="rect">
            <a:avLst/>
          </a:prstGeom>
          <a:noFill/>
          <a:ln/>
        </p:spPr>
        <p:txBody>
          <a:bodyPr wrap="square" lIns="0" tIns="0" rIns="0" bIns="0" rtlCol="0" anchor="ctr"/>
          <a:lstStyle/>
          <a:p>
            <a:pPr marL="0" indent="0">
              <a:buNone/>
            </a:pPr>
            <a:r>
              <a:rPr lang="en-US" sz="2000" b="1" dirty="0">
                <a:solidFill>
                  <a:srgbClr val="F2A900"/>
                </a:solidFill>
              </a:rPr>
              <a:t>)))</a:t>
            </a:r>
            <a:endParaRPr lang="en-US" sz="2000" dirty="0"/>
          </a:p>
        </p:txBody>
      </p:sp>
      <p:sp>
        <p:nvSpPr>
          <p:cNvPr id="15" name="Text 13"/>
          <p:cNvSpPr txBox="1"/>
          <p:nvPr/>
        </p:nvSpPr>
        <p:spPr>
          <a:xfrm>
            <a:off x="548640" y="4069080"/>
            <a:ext cx="4572000" cy="274320"/>
          </a:xfrm>
          <a:prstGeom prst="rect">
            <a:avLst/>
          </a:prstGeom>
          <a:noFill/>
          <a:ln/>
        </p:spPr>
        <p:txBody>
          <a:bodyPr wrap="square" lIns="0" tIns="0" rIns="0" bIns="0" rtlCol="0" anchor="ctr"/>
          <a:lstStyle/>
          <a:p>
            <a:pPr marL="0" indent="0">
              <a:buNone/>
            </a:pPr>
            <a:r>
              <a:rPr lang="en-US" sz="1200" dirty="0">
                <a:solidFill>
                  <a:srgbClr val="A7C4B8"/>
                </a:solidFill>
              </a:rPr>
              <a:t>JA05 STEAM and Service Learning · 16 Oct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949440" cy="640080"/>
          </a:xfrm>
          <a:prstGeom prst="rect">
            <a:avLst/>
          </a:prstGeom>
          <a:noFill/>
          <a:ln/>
        </p:spPr>
        <p:txBody>
          <a:bodyPr wrap="square" lIns="0" tIns="0" rIns="0" bIns="0" rtlCol="0" anchor="ctr"/>
          <a:lstStyle/>
          <a:p>
            <a:pPr marL="0" indent="0" algn="l">
              <a:buNone/>
            </a:pPr>
            <a:r>
              <a:rPr lang="en-US" sz="3000" b="1" dirty="0">
                <a:solidFill>
                  <a:schemeClr val="tx2"/>
                </a:solidFill>
              </a:rPr>
              <a:t>Today: 50 minutes</a:t>
            </a:r>
            <a:endParaRPr lang="en-US" sz="3000" dirty="0"/>
          </a:p>
        </p:txBody>
      </p:sp>
      <p:sp>
        <p:nvSpPr>
          <p:cNvPr id="3" name="Shape 1"/>
          <p:cNvSpPr/>
          <p:nvPr/>
        </p:nvSpPr>
        <p:spPr>
          <a:xfrm>
            <a:off x="457200" y="1463040"/>
            <a:ext cx="777240" cy="1005840"/>
          </a:xfrm>
          <a:prstGeom prst="roundRect">
            <a:avLst>
              <a:gd name="adj" fmla="val 7059"/>
            </a:avLst>
          </a:prstGeom>
          <a:solidFill>
            <a:srgbClr val="0B3D2E"/>
          </a:solidFill>
          <a:ln w="12700">
            <a:solidFill>
              <a:srgbClr val="0B3D2E"/>
            </a:solidFill>
            <a:prstDash val="solid"/>
          </a:ln>
        </p:spPr>
        <p:txBody>
          <a:bodyPr/>
          <a:lstStyle/>
          <a:p>
            <a:endParaRPr lang="en-US"/>
          </a:p>
        </p:txBody>
      </p:sp>
      <p:sp>
        <p:nvSpPr>
          <p:cNvPr id="4" name="Text 2"/>
          <p:cNvSpPr txBox="1"/>
          <p:nvPr/>
        </p:nvSpPr>
        <p:spPr>
          <a:xfrm>
            <a:off x="548640" y="1600200"/>
            <a:ext cx="594360" cy="365760"/>
          </a:xfrm>
          <a:prstGeom prst="rect">
            <a:avLst/>
          </a:prstGeom>
          <a:noFill/>
          <a:ln/>
        </p:spPr>
        <p:txBody>
          <a:bodyPr wrap="square" lIns="0" tIns="0" rIns="0" bIns="0" rtlCol="0" anchor="ctr"/>
          <a:lstStyle/>
          <a:p>
            <a:pPr marL="0" indent="0" algn="l">
              <a:buNone/>
            </a:pPr>
            <a:r>
              <a:rPr lang="en-US" sz="1300" b="1" dirty="0">
                <a:solidFill>
                  <a:srgbClr val="FFFFFF"/>
                </a:solidFill>
              </a:rPr>
              <a:t>Get files</a:t>
            </a:r>
            <a:endParaRPr lang="en-US" sz="1300" dirty="0"/>
          </a:p>
        </p:txBody>
      </p:sp>
      <p:sp>
        <p:nvSpPr>
          <p:cNvPr id="5" name="Text 3"/>
          <p:cNvSpPr txBox="1"/>
          <p:nvPr/>
        </p:nvSpPr>
        <p:spPr>
          <a:xfrm>
            <a:off x="365760" y="2514600"/>
            <a:ext cx="365760" cy="228600"/>
          </a:xfrm>
          <a:prstGeom prst="rect">
            <a:avLst/>
          </a:prstGeom>
          <a:noFill/>
          <a:ln/>
        </p:spPr>
        <p:txBody>
          <a:bodyPr wrap="square" lIns="0" tIns="0" rIns="0" bIns="0" rtlCol="0" anchor="ctr"/>
          <a:lstStyle/>
          <a:p>
            <a:pPr marL="0" indent="0">
              <a:buNone/>
            </a:pPr>
            <a:r>
              <a:rPr lang="en-US" sz="1100" dirty="0">
                <a:solidFill>
                  <a:srgbClr val="6B7280"/>
                </a:solidFill>
              </a:rPr>
              <a:t>0</a:t>
            </a:r>
            <a:endParaRPr lang="en-US" sz="1100" dirty="0"/>
          </a:p>
        </p:txBody>
      </p:sp>
      <p:sp>
        <p:nvSpPr>
          <p:cNvPr id="6" name="Shape 4"/>
          <p:cNvSpPr/>
          <p:nvPr/>
        </p:nvSpPr>
        <p:spPr>
          <a:xfrm>
            <a:off x="1280160" y="1463040"/>
            <a:ext cx="1106424" cy="1005840"/>
          </a:xfrm>
          <a:prstGeom prst="roundRect">
            <a:avLst>
              <a:gd name="adj" fmla="val 5455"/>
            </a:avLst>
          </a:prstGeom>
          <a:solidFill>
            <a:srgbClr val="0B3D2E"/>
          </a:solidFill>
          <a:ln w="12700">
            <a:solidFill>
              <a:srgbClr val="0B3D2E"/>
            </a:solidFill>
            <a:prstDash val="solid"/>
          </a:ln>
        </p:spPr>
        <p:txBody>
          <a:bodyPr/>
          <a:lstStyle/>
          <a:p>
            <a:endParaRPr lang="en-US"/>
          </a:p>
        </p:txBody>
      </p:sp>
      <p:sp>
        <p:nvSpPr>
          <p:cNvPr id="7" name="Text 5"/>
          <p:cNvSpPr txBox="1"/>
          <p:nvPr/>
        </p:nvSpPr>
        <p:spPr>
          <a:xfrm>
            <a:off x="1371600" y="1600200"/>
            <a:ext cx="923544" cy="365760"/>
          </a:xfrm>
          <a:prstGeom prst="rect">
            <a:avLst/>
          </a:prstGeom>
          <a:noFill/>
          <a:ln/>
        </p:spPr>
        <p:txBody>
          <a:bodyPr wrap="square" lIns="0" tIns="0" rIns="0" bIns="0" rtlCol="0" anchor="ctr"/>
          <a:lstStyle/>
          <a:p>
            <a:pPr marL="0" indent="0" algn="l">
              <a:buNone/>
            </a:pPr>
            <a:r>
              <a:rPr lang="en-US" sz="1300" b="1" dirty="0">
                <a:solidFill>
                  <a:srgbClr val="FFFFFF"/>
                </a:solidFill>
              </a:rPr>
              <a:t>Recap</a:t>
            </a:r>
            <a:endParaRPr lang="en-US" sz="1300" dirty="0"/>
          </a:p>
        </p:txBody>
      </p:sp>
      <p:sp>
        <p:nvSpPr>
          <p:cNvPr id="8" name="Text 6"/>
          <p:cNvSpPr txBox="1"/>
          <p:nvPr/>
        </p:nvSpPr>
        <p:spPr>
          <a:xfrm>
            <a:off x="1188720" y="2514600"/>
            <a:ext cx="365760" cy="228600"/>
          </a:xfrm>
          <a:prstGeom prst="rect">
            <a:avLst/>
          </a:prstGeom>
          <a:noFill/>
          <a:ln/>
        </p:spPr>
        <p:txBody>
          <a:bodyPr wrap="square" lIns="0" tIns="0" rIns="0" bIns="0" rtlCol="0" anchor="ctr"/>
          <a:lstStyle/>
          <a:p>
            <a:pPr marL="0" indent="0">
              <a:buNone/>
            </a:pPr>
            <a:r>
              <a:rPr lang="en-US" sz="1100" dirty="0">
                <a:solidFill>
                  <a:srgbClr val="6B7280"/>
                </a:solidFill>
              </a:rPr>
              <a:t>5</a:t>
            </a:r>
            <a:endParaRPr lang="en-US" sz="1100" dirty="0"/>
          </a:p>
        </p:txBody>
      </p:sp>
      <p:sp>
        <p:nvSpPr>
          <p:cNvPr id="9" name="Shape 7"/>
          <p:cNvSpPr/>
          <p:nvPr/>
        </p:nvSpPr>
        <p:spPr>
          <a:xfrm>
            <a:off x="2432304" y="1463040"/>
            <a:ext cx="4562856" cy="1005840"/>
          </a:xfrm>
          <a:prstGeom prst="roundRect">
            <a:avLst>
              <a:gd name="adj" fmla="val 5455"/>
            </a:avLst>
          </a:prstGeom>
          <a:solidFill>
            <a:srgbClr val="C98C00"/>
          </a:solidFill>
          <a:ln w="12700">
            <a:solidFill>
              <a:srgbClr val="C98C00"/>
            </a:solidFill>
            <a:prstDash val="solid"/>
          </a:ln>
        </p:spPr>
        <p:txBody>
          <a:bodyPr/>
          <a:lstStyle/>
          <a:p>
            <a:endParaRPr lang="en-US"/>
          </a:p>
        </p:txBody>
      </p:sp>
      <p:sp>
        <p:nvSpPr>
          <p:cNvPr id="10" name="Text 8"/>
          <p:cNvSpPr txBox="1"/>
          <p:nvPr/>
        </p:nvSpPr>
        <p:spPr>
          <a:xfrm>
            <a:off x="2523744" y="1600200"/>
            <a:ext cx="4379976" cy="365760"/>
          </a:xfrm>
          <a:prstGeom prst="rect">
            <a:avLst/>
          </a:prstGeom>
          <a:noFill/>
          <a:ln/>
        </p:spPr>
        <p:txBody>
          <a:bodyPr wrap="square" lIns="0" tIns="0" rIns="0" bIns="0" rtlCol="0" anchor="ctr"/>
          <a:lstStyle/>
          <a:p>
            <a:pPr marL="0" indent="0" algn="l">
              <a:buNone/>
            </a:pPr>
            <a:r>
              <a:rPr lang="en-US" sz="1800" b="1" dirty="0">
                <a:solidFill>
                  <a:srgbClr val="FFFFFF"/>
                </a:solidFill>
              </a:rPr>
              <a:t>Your track</a:t>
            </a:r>
            <a:endParaRPr lang="en-US" sz="1800" dirty="0"/>
          </a:p>
        </p:txBody>
      </p:sp>
      <p:sp>
        <p:nvSpPr>
          <p:cNvPr id="11" name="Text 9"/>
          <p:cNvSpPr txBox="1"/>
          <p:nvPr/>
        </p:nvSpPr>
        <p:spPr>
          <a:xfrm>
            <a:off x="2523744" y="2011680"/>
            <a:ext cx="4379976" cy="320040"/>
          </a:xfrm>
          <a:prstGeom prst="rect">
            <a:avLst/>
          </a:prstGeom>
          <a:noFill/>
          <a:ln/>
        </p:spPr>
        <p:txBody>
          <a:bodyPr wrap="square" lIns="0" tIns="0" rIns="0" bIns="0" rtlCol="0" anchor="ctr"/>
          <a:lstStyle/>
          <a:p>
            <a:pPr marL="0" indent="0">
              <a:buNone/>
            </a:pPr>
            <a:r>
              <a:rPr lang="en-US" sz="1400" dirty="0">
                <a:solidFill>
                  <a:srgbClr val="FFFFFF"/>
                </a:solidFill>
              </a:rPr>
              <a:t>A: finish Lesson 3  ·  B: add a buzzer</a:t>
            </a:r>
            <a:endParaRPr lang="en-US" sz="1400" dirty="0"/>
          </a:p>
        </p:txBody>
      </p:sp>
      <p:sp>
        <p:nvSpPr>
          <p:cNvPr id="12" name="Text 10"/>
          <p:cNvSpPr txBox="1"/>
          <p:nvPr/>
        </p:nvSpPr>
        <p:spPr>
          <a:xfrm>
            <a:off x="2340864" y="2514600"/>
            <a:ext cx="365760" cy="228600"/>
          </a:xfrm>
          <a:prstGeom prst="rect">
            <a:avLst/>
          </a:prstGeom>
          <a:noFill/>
          <a:ln/>
        </p:spPr>
        <p:txBody>
          <a:bodyPr wrap="square" lIns="0" tIns="0" rIns="0" bIns="0" rtlCol="0" anchor="ctr"/>
          <a:lstStyle/>
          <a:p>
            <a:pPr marL="0" indent="0">
              <a:buNone/>
            </a:pPr>
            <a:r>
              <a:rPr lang="en-US" sz="1100" dirty="0">
                <a:solidFill>
                  <a:srgbClr val="6B7280"/>
                </a:solidFill>
              </a:rPr>
              <a:t>12</a:t>
            </a:r>
            <a:endParaRPr lang="en-US" sz="1100" dirty="0"/>
          </a:p>
        </p:txBody>
      </p:sp>
      <p:sp>
        <p:nvSpPr>
          <p:cNvPr id="13" name="Shape 11"/>
          <p:cNvSpPr/>
          <p:nvPr/>
        </p:nvSpPr>
        <p:spPr>
          <a:xfrm>
            <a:off x="7040880" y="1463040"/>
            <a:ext cx="1106424" cy="1005840"/>
          </a:xfrm>
          <a:prstGeom prst="roundRect">
            <a:avLst>
              <a:gd name="adj" fmla="val 5455"/>
            </a:avLst>
          </a:prstGeom>
          <a:solidFill>
            <a:srgbClr val="1F8A70"/>
          </a:solidFill>
          <a:ln w="12700">
            <a:solidFill>
              <a:srgbClr val="1F8A70"/>
            </a:solidFill>
            <a:prstDash val="solid"/>
          </a:ln>
        </p:spPr>
        <p:txBody>
          <a:bodyPr/>
          <a:lstStyle/>
          <a:p>
            <a:endParaRPr lang="en-US"/>
          </a:p>
        </p:txBody>
      </p:sp>
      <p:sp>
        <p:nvSpPr>
          <p:cNvPr id="14" name="Text 12"/>
          <p:cNvSpPr txBox="1"/>
          <p:nvPr/>
        </p:nvSpPr>
        <p:spPr>
          <a:xfrm>
            <a:off x="7132320" y="1600200"/>
            <a:ext cx="923544" cy="365760"/>
          </a:xfrm>
          <a:prstGeom prst="rect">
            <a:avLst/>
          </a:prstGeom>
          <a:noFill/>
          <a:ln/>
        </p:spPr>
        <p:txBody>
          <a:bodyPr wrap="square" lIns="0" tIns="0" rIns="0" bIns="0" rtlCol="0" anchor="ctr"/>
          <a:lstStyle/>
          <a:p>
            <a:pPr marL="0" indent="0" algn="l">
              <a:buNone/>
            </a:pPr>
            <a:r>
              <a:rPr lang="en-US" sz="1300" b="1" dirty="0">
                <a:solidFill>
                  <a:srgbClr val="FFFFFF"/>
                </a:solidFill>
              </a:rPr>
              <a:t>Demo</a:t>
            </a:r>
            <a:endParaRPr lang="en-US" sz="1300" dirty="0"/>
          </a:p>
        </p:txBody>
      </p:sp>
      <p:sp>
        <p:nvSpPr>
          <p:cNvPr id="15" name="Text 13"/>
          <p:cNvSpPr txBox="1"/>
          <p:nvPr/>
        </p:nvSpPr>
        <p:spPr>
          <a:xfrm>
            <a:off x="6949440" y="2514600"/>
            <a:ext cx="365760" cy="228600"/>
          </a:xfrm>
          <a:prstGeom prst="rect">
            <a:avLst/>
          </a:prstGeom>
          <a:noFill/>
          <a:ln/>
        </p:spPr>
        <p:txBody>
          <a:bodyPr wrap="square" lIns="0" tIns="0" rIns="0" bIns="0" rtlCol="0" anchor="ctr"/>
          <a:lstStyle/>
          <a:p>
            <a:pPr marL="0" indent="0">
              <a:buNone/>
            </a:pPr>
            <a:r>
              <a:rPr lang="en-US" sz="1100" dirty="0">
                <a:solidFill>
                  <a:srgbClr val="6B7280"/>
                </a:solidFill>
              </a:rPr>
              <a:t>40</a:t>
            </a:r>
            <a:endParaRPr lang="en-US" sz="1100" dirty="0"/>
          </a:p>
        </p:txBody>
      </p:sp>
      <p:sp>
        <p:nvSpPr>
          <p:cNvPr id="16" name="Shape 14"/>
          <p:cNvSpPr/>
          <p:nvPr/>
        </p:nvSpPr>
        <p:spPr>
          <a:xfrm>
            <a:off x="8193024" y="1463040"/>
            <a:ext cx="448056" cy="1005840"/>
          </a:xfrm>
          <a:prstGeom prst="roundRect">
            <a:avLst>
              <a:gd name="adj" fmla="val 12245"/>
            </a:avLst>
          </a:prstGeom>
          <a:solidFill>
            <a:srgbClr val="1F8A70"/>
          </a:solidFill>
          <a:ln w="12700">
            <a:solidFill>
              <a:srgbClr val="1F8A70"/>
            </a:solidFill>
            <a:prstDash val="solid"/>
          </a:ln>
        </p:spPr>
        <p:txBody>
          <a:bodyPr/>
          <a:lstStyle/>
          <a:p>
            <a:endParaRPr lang="en-US"/>
          </a:p>
        </p:txBody>
      </p:sp>
      <p:sp>
        <p:nvSpPr>
          <p:cNvPr id="17" name="Text 15"/>
          <p:cNvSpPr txBox="1"/>
          <p:nvPr/>
        </p:nvSpPr>
        <p:spPr>
          <a:xfrm>
            <a:off x="8211312" y="1600200"/>
            <a:ext cx="411480" cy="365760"/>
          </a:xfrm>
          <a:prstGeom prst="rect">
            <a:avLst/>
          </a:prstGeom>
          <a:noFill/>
          <a:ln/>
        </p:spPr>
        <p:txBody>
          <a:bodyPr wrap="square" lIns="0" tIns="0" rIns="0" bIns="0" rtlCol="0" anchor="ctr"/>
          <a:lstStyle/>
          <a:p>
            <a:pPr marL="0" indent="0" algn="ctr">
              <a:buNone/>
            </a:pPr>
            <a:r>
              <a:rPr lang="en-US" sz="1100" b="1" dirty="0">
                <a:solidFill>
                  <a:srgbClr val="FFFFFF"/>
                </a:solidFill>
              </a:rPr>
              <a:t>Talk</a:t>
            </a:r>
            <a:endParaRPr lang="en-US" sz="1100" dirty="0"/>
          </a:p>
        </p:txBody>
      </p:sp>
      <p:sp>
        <p:nvSpPr>
          <p:cNvPr id="18" name="Text 16"/>
          <p:cNvSpPr txBox="1"/>
          <p:nvPr/>
        </p:nvSpPr>
        <p:spPr>
          <a:xfrm>
            <a:off x="8101584" y="2514600"/>
            <a:ext cx="365760" cy="228600"/>
          </a:xfrm>
          <a:prstGeom prst="rect">
            <a:avLst/>
          </a:prstGeom>
          <a:noFill/>
          <a:ln/>
        </p:spPr>
        <p:txBody>
          <a:bodyPr wrap="square" lIns="0" tIns="0" rIns="0" bIns="0" rtlCol="0" anchor="ctr"/>
          <a:lstStyle/>
          <a:p>
            <a:pPr marL="0" indent="0">
              <a:buNone/>
            </a:pPr>
            <a:r>
              <a:rPr lang="en-US" sz="1100" dirty="0">
                <a:solidFill>
                  <a:srgbClr val="6B7280"/>
                </a:solidFill>
              </a:rPr>
              <a:t>47</a:t>
            </a:r>
            <a:endParaRPr lang="en-US" sz="1100" dirty="0"/>
          </a:p>
        </p:txBody>
      </p:sp>
      <p:sp>
        <p:nvSpPr>
          <p:cNvPr id="19" name="Text 17"/>
          <p:cNvSpPr txBox="1"/>
          <p:nvPr/>
        </p:nvSpPr>
        <p:spPr>
          <a:xfrm>
            <a:off x="8458200" y="2514600"/>
            <a:ext cx="365760" cy="228600"/>
          </a:xfrm>
          <a:prstGeom prst="rect">
            <a:avLst/>
          </a:prstGeom>
          <a:noFill/>
          <a:ln/>
        </p:spPr>
        <p:txBody>
          <a:bodyPr wrap="square" lIns="0" tIns="0" rIns="0" bIns="0" rtlCol="0" anchor="ctr"/>
          <a:lstStyle/>
          <a:p>
            <a:pPr marL="0" indent="0">
              <a:buNone/>
            </a:pPr>
            <a:r>
              <a:rPr lang="en-US" sz="1100" dirty="0">
                <a:solidFill>
                  <a:srgbClr val="6B7280"/>
                </a:solidFill>
              </a:rPr>
              <a:t>50</a:t>
            </a:r>
            <a:endParaRPr lang="en-US" sz="1100" dirty="0"/>
          </a:p>
        </p:txBody>
      </p:sp>
      <p:sp>
        <p:nvSpPr>
          <p:cNvPr id="20" name="Text 18"/>
          <p:cNvSpPr txBox="1"/>
          <p:nvPr/>
        </p:nvSpPr>
        <p:spPr>
          <a:xfrm>
            <a:off x="8458200" y="2724912"/>
            <a:ext cx="365760" cy="228600"/>
          </a:xfrm>
          <a:prstGeom prst="rect">
            <a:avLst/>
          </a:prstGeom>
          <a:noFill/>
          <a:ln/>
        </p:spPr>
        <p:txBody>
          <a:bodyPr wrap="square" lIns="0" tIns="0" rIns="0" bIns="0" rtlCol="0" anchor="ctr"/>
          <a:lstStyle/>
          <a:p>
            <a:pPr marL="0" indent="0">
              <a:buNone/>
            </a:pPr>
            <a:r>
              <a:rPr lang="en-US" sz="1100" dirty="0">
                <a:solidFill>
                  <a:srgbClr val="6B7280"/>
                </a:solidFill>
              </a:rPr>
              <a:t>min</a:t>
            </a:r>
            <a:endParaRPr lang="en-US" sz="1100" dirty="0"/>
          </a:p>
        </p:txBody>
      </p:sp>
      <p:sp>
        <p:nvSpPr>
          <p:cNvPr id="21" name="Text 19"/>
          <p:cNvSpPr txBox="1"/>
          <p:nvPr/>
        </p:nvSpPr>
        <p:spPr>
          <a:xfrm>
            <a:off x="457200" y="3200400"/>
            <a:ext cx="8229600" cy="320040"/>
          </a:xfrm>
          <a:prstGeom prst="rect">
            <a:avLst/>
          </a:prstGeom>
          <a:noFill/>
          <a:ln/>
        </p:spPr>
        <p:txBody>
          <a:bodyPr wrap="square" lIns="0" tIns="0" rIns="0" bIns="0" rtlCol="0" anchor="ctr"/>
          <a:lstStyle/>
          <a:p>
            <a:pPr marL="0" indent="0">
              <a:buNone/>
            </a:pPr>
            <a:r>
              <a:rPr lang="en-US" sz="1500" dirty="0">
                <a:solidFill>
                  <a:srgbClr val="0B3D2E"/>
                </a:solidFill>
              </a:rPr>
              <a:t>Talk = who needs light, and who needs sound?</a:t>
            </a:r>
            <a:endParaRPr lang="en-US" sz="1500" dirty="0"/>
          </a:p>
        </p:txBody>
      </p:sp>
      <p:sp>
        <p:nvSpPr>
          <p:cNvPr id="22" name="Text 20"/>
          <p:cNvSpPr txBox="1"/>
          <p:nvPr/>
        </p:nvSpPr>
        <p:spPr>
          <a:xfrm>
            <a:off x="457200" y="3611880"/>
            <a:ext cx="8229600" cy="548640"/>
          </a:xfrm>
          <a:prstGeom prst="rect">
            <a:avLst/>
          </a:prstGeom>
          <a:noFill/>
          <a:ln/>
        </p:spPr>
        <p:txBody>
          <a:bodyPr wrap="square" lIns="0" tIns="0" rIns="0" bIns="0" rtlCol="0" anchor="ctr"/>
          <a:lstStyle/>
          <a:p>
            <a:pPr marL="0" indent="0">
              <a:buNone/>
            </a:pPr>
            <a:r>
              <a:rPr lang="en-US" sz="1500" i="1" dirty="0">
                <a:solidFill>
                  <a:srgbClr val="6B7280"/>
                </a:solidFill>
              </a:rPr>
              <a:t>Every group leaves with something that works. It does not matter which track.</a:t>
            </a:r>
            <a:endParaRPr lang="en-US" sz="15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949440" cy="640080"/>
          </a:xfrm>
          <a:prstGeom prst="rect">
            <a:avLst/>
          </a:prstGeom>
          <a:noFill/>
          <a:ln/>
        </p:spPr>
        <p:txBody>
          <a:bodyPr wrap="square" lIns="0" tIns="0" rIns="0" bIns="0" rtlCol="0" anchor="ctr"/>
          <a:lstStyle/>
          <a:p>
            <a:pPr marL="0" indent="0" algn="l">
              <a:buNone/>
            </a:pPr>
            <a:r>
              <a:rPr lang="en-US" sz="3000" b="1" dirty="0">
                <a:solidFill>
                  <a:schemeClr val="tx2"/>
                </a:solidFill>
              </a:rPr>
              <a:t>New: one command gets everything</a:t>
            </a:r>
            <a:endParaRPr lang="en-US" sz="3000" dirty="0"/>
          </a:p>
        </p:txBody>
      </p:sp>
      <p:sp>
        <p:nvSpPr>
          <p:cNvPr id="3" name="Shape 1"/>
          <p:cNvSpPr/>
          <p:nvPr/>
        </p:nvSpPr>
        <p:spPr>
          <a:xfrm>
            <a:off x="457200" y="1051560"/>
            <a:ext cx="5029200" cy="2148840"/>
          </a:xfrm>
          <a:prstGeom prst="roundRect">
            <a:avLst>
              <a:gd name="adj" fmla="val 3404"/>
            </a:avLst>
          </a:prstGeom>
          <a:solidFill>
            <a:srgbClr val="1E1E1E"/>
          </a:solidFill>
          <a:ln w="12700">
            <a:solidFill>
              <a:srgbClr val="3A3A3A"/>
            </a:solidFill>
            <a:prstDash val="solid"/>
          </a:ln>
        </p:spPr>
        <p:txBody>
          <a:bodyPr/>
          <a:lstStyle/>
          <a:p>
            <a:endParaRPr lang="en-US"/>
          </a:p>
        </p:txBody>
      </p:sp>
      <p:sp>
        <p:nvSpPr>
          <p:cNvPr id="4" name="Shape 2"/>
          <p:cNvSpPr/>
          <p:nvPr/>
        </p:nvSpPr>
        <p:spPr>
          <a:xfrm>
            <a:off x="594360" y="1143000"/>
            <a:ext cx="118872" cy="118872"/>
          </a:xfrm>
          <a:prstGeom prst="ellipse">
            <a:avLst/>
          </a:prstGeom>
          <a:solidFill>
            <a:srgbClr val="FF5F57"/>
          </a:solidFill>
          <a:ln w="12700">
            <a:solidFill>
              <a:srgbClr val="FF5F57"/>
            </a:solidFill>
            <a:prstDash val="solid"/>
          </a:ln>
        </p:spPr>
        <p:txBody>
          <a:bodyPr/>
          <a:lstStyle/>
          <a:p>
            <a:endParaRPr lang="en-US"/>
          </a:p>
        </p:txBody>
      </p:sp>
      <p:sp>
        <p:nvSpPr>
          <p:cNvPr id="5" name="Shape 3"/>
          <p:cNvSpPr/>
          <p:nvPr/>
        </p:nvSpPr>
        <p:spPr>
          <a:xfrm>
            <a:off x="777240" y="1143000"/>
            <a:ext cx="118872" cy="118872"/>
          </a:xfrm>
          <a:prstGeom prst="ellipse">
            <a:avLst/>
          </a:prstGeom>
          <a:solidFill>
            <a:srgbClr val="FEBC2E"/>
          </a:solidFill>
          <a:ln w="12700">
            <a:solidFill>
              <a:srgbClr val="FEBC2E"/>
            </a:solidFill>
            <a:prstDash val="solid"/>
          </a:ln>
        </p:spPr>
        <p:txBody>
          <a:bodyPr/>
          <a:lstStyle/>
          <a:p>
            <a:endParaRPr lang="en-US"/>
          </a:p>
        </p:txBody>
      </p:sp>
      <p:sp>
        <p:nvSpPr>
          <p:cNvPr id="6" name="Shape 4"/>
          <p:cNvSpPr/>
          <p:nvPr/>
        </p:nvSpPr>
        <p:spPr>
          <a:xfrm>
            <a:off x="960120" y="1143000"/>
            <a:ext cx="118872" cy="118872"/>
          </a:xfrm>
          <a:prstGeom prst="ellipse">
            <a:avLst/>
          </a:prstGeom>
          <a:solidFill>
            <a:srgbClr val="28C840"/>
          </a:solidFill>
          <a:ln w="12700">
            <a:solidFill>
              <a:srgbClr val="28C840"/>
            </a:solidFill>
            <a:prstDash val="solid"/>
          </a:ln>
        </p:spPr>
        <p:txBody>
          <a:bodyPr/>
          <a:lstStyle/>
          <a:p>
            <a:endParaRPr lang="en-US"/>
          </a:p>
        </p:txBody>
      </p:sp>
      <p:sp>
        <p:nvSpPr>
          <p:cNvPr id="7" name="Text 5"/>
          <p:cNvSpPr txBox="1"/>
          <p:nvPr/>
        </p:nvSpPr>
        <p:spPr>
          <a:xfrm>
            <a:off x="457200" y="1106424"/>
            <a:ext cx="5029200" cy="201168"/>
          </a:xfrm>
          <a:prstGeom prst="rect">
            <a:avLst/>
          </a:prstGeom>
          <a:noFill/>
          <a:ln/>
        </p:spPr>
        <p:txBody>
          <a:bodyPr wrap="square" lIns="0" tIns="0" rIns="0" bIns="0" rtlCol="0" anchor="ctr"/>
          <a:lstStyle/>
          <a:p>
            <a:pPr marL="0" indent="0" algn="ctr">
              <a:buNone/>
            </a:pPr>
            <a:r>
              <a:rPr lang="en-US" sz="1000" dirty="0">
                <a:solidFill>
                  <a:srgbClr val="9E9E9E"/>
                </a:solidFill>
              </a:rPr>
              <a:t>Terminal</a:t>
            </a:r>
            <a:endParaRPr lang="en-US" sz="1000" dirty="0"/>
          </a:p>
        </p:txBody>
      </p:sp>
      <p:sp>
        <p:nvSpPr>
          <p:cNvPr id="8" name="Text 6"/>
          <p:cNvSpPr txBox="1"/>
          <p:nvPr/>
        </p:nvSpPr>
        <p:spPr>
          <a:xfrm>
            <a:off x="621792" y="1399032"/>
            <a:ext cx="4700016" cy="1691640"/>
          </a:xfrm>
          <a:prstGeom prst="rect">
            <a:avLst/>
          </a:prstGeom>
          <a:noFill/>
          <a:ln/>
        </p:spPr>
        <p:txBody>
          <a:bodyPr wrap="square" lIns="0" tIns="0" rIns="0" bIns="0" rtlCol="0" anchor="t"/>
          <a:lstStyle/>
          <a:p>
            <a:pPr marL="0" indent="0">
              <a:spcAft>
                <a:spcPts val="200"/>
              </a:spcAft>
              <a:buNone/>
            </a:pPr>
            <a:r>
              <a:rPr lang="en-US" sz="1200" dirty="0">
                <a:solidFill>
                  <a:srgbClr val="8FA3AD"/>
                </a:solidFill>
                <a:latin typeface="Courier New" pitchFamily="34" charset="0"/>
                <a:ea typeface="Courier New" pitchFamily="34" charset="-122"/>
                <a:cs typeface="Courier New" pitchFamily="34" charset="-120"/>
              </a:rPr>
              <a:t>MacBook:~ s20xxxxxx$ </a:t>
            </a:r>
            <a:r>
              <a:rPr lang="en-US" sz="1200" b="1" dirty="0">
                <a:solidFill>
                  <a:srgbClr val="FFFFFF"/>
                </a:solidFill>
                <a:latin typeface="Courier New" pitchFamily="34" charset="0"/>
                <a:ea typeface="Courier New" pitchFamily="34" charset="-122"/>
                <a:cs typeface="Courier New" pitchFamily="34" charset="-120"/>
              </a:rPr>
              <a:t>cd ~/JA05</a:t>
            </a:r>
            <a:endParaRPr lang="en-US" sz="1200" dirty="0"/>
          </a:p>
          <a:p>
            <a:pPr marL="0" indent="0">
              <a:spcAft>
                <a:spcPts val="200"/>
              </a:spcAft>
              <a:buNone/>
            </a:pPr>
            <a:r>
              <a:rPr lang="en-US" sz="1200" dirty="0">
                <a:solidFill>
                  <a:srgbClr val="8FA3AD"/>
                </a:solidFill>
                <a:latin typeface="Courier New" pitchFamily="34" charset="0"/>
                <a:ea typeface="Courier New" pitchFamily="34" charset="-122"/>
                <a:cs typeface="Courier New" pitchFamily="34" charset="-120"/>
              </a:rPr>
              <a:t>MacBook:JA05 s20xxxxxx$ </a:t>
            </a:r>
            <a:r>
              <a:rPr lang="en-US" sz="1200" b="1" dirty="0">
                <a:solidFill>
                  <a:srgbClr val="FFFFFF"/>
                </a:solidFill>
                <a:latin typeface="Courier New" pitchFamily="34" charset="0"/>
                <a:ea typeface="Courier New" pitchFamily="34" charset="-122"/>
                <a:cs typeface="Courier New" pitchFamily="34" charset="-120"/>
              </a:rPr>
              <a:t>./get_latest.sh</a:t>
            </a:r>
            <a:endParaRPr lang="en-US" sz="1200" dirty="0"/>
          </a:p>
          <a:p>
            <a:pPr marL="0" indent="0">
              <a:spcAft>
                <a:spcPts val="200"/>
              </a:spcAft>
              <a:buNone/>
            </a:pPr>
            <a:r>
              <a:rPr lang="en-US" sz="1200" dirty="0">
                <a:solidFill>
                  <a:srgbClr val="B9C7BF"/>
                </a:solidFill>
                <a:latin typeface="Courier New" pitchFamily="34" charset="0"/>
                <a:ea typeface="Courier New" pitchFamily="34" charset="-122"/>
                <a:cs typeface="Courier New" pitchFamily="34" charset="-120"/>
              </a:rPr>
              <a:t>Checking GitHub for new files...</a:t>
            </a:r>
            <a:endParaRPr lang="en-US" sz="1200" dirty="0"/>
          </a:p>
          <a:p>
            <a:pPr marL="0" indent="0">
              <a:spcAft>
                <a:spcPts val="200"/>
              </a:spcAft>
              <a:buNone/>
            </a:pPr>
            <a:r>
              <a:rPr lang="en-US" sz="1200" dirty="0">
                <a:solidFill>
                  <a:srgbClr val="B9C7BF"/>
                </a:solidFill>
                <a:latin typeface="Courier New" pitchFamily="34" charset="0"/>
                <a:ea typeface="Courier New" pitchFamily="34" charset="-122"/>
                <a:cs typeface="Courier New" pitchFamily="34" charset="-120"/>
              </a:rPr>
              <a:t>You had changed 1 file(s). Your copies are safe in:</a:t>
            </a:r>
            <a:endParaRPr lang="en-US" sz="1200" dirty="0"/>
          </a:p>
          <a:p>
            <a:pPr marL="0" indent="0">
              <a:spcAft>
                <a:spcPts val="200"/>
              </a:spcAft>
              <a:buNone/>
            </a:pPr>
            <a:r>
              <a:rPr lang="en-US" sz="1200" b="1" dirty="0">
                <a:solidFill>
                  <a:srgbClr val="F2A900"/>
                </a:solidFill>
                <a:latin typeface="Courier New" pitchFamily="34" charset="0"/>
                <a:ea typeface="Courier New" pitchFamily="34" charset="-122"/>
                <a:cs typeface="Courier New" pitchFamily="34" charset="-120"/>
              </a:rPr>
              <a:t>    my_work/saved_2026-10-16_1015</a:t>
            </a:r>
            <a:endParaRPr lang="en-US" sz="1200" dirty="0"/>
          </a:p>
          <a:p>
            <a:pPr marL="0" indent="0">
              <a:spcAft>
                <a:spcPts val="200"/>
              </a:spcAft>
              <a:buNone/>
            </a:pPr>
            <a:r>
              <a:rPr lang="en-US" sz="1200" b="1" dirty="0">
                <a:solidFill>
                  <a:srgbClr val="F2A900"/>
                </a:solidFill>
                <a:latin typeface="Courier New" pitchFamily="34" charset="0"/>
                <a:ea typeface="Courier New" pitchFamily="34" charset="-122"/>
                <a:cs typeface="Courier New" pitchFamily="34" charset="-120"/>
              </a:rPr>
              <a:t>Done. You have the latest files.</a:t>
            </a:r>
            <a:endParaRPr lang="en-US" sz="1200" dirty="0"/>
          </a:p>
        </p:txBody>
      </p:sp>
      <p:sp>
        <p:nvSpPr>
          <p:cNvPr id="9" name="Shape 7"/>
          <p:cNvSpPr/>
          <p:nvPr/>
        </p:nvSpPr>
        <p:spPr>
          <a:xfrm>
            <a:off x="5760720" y="1115568"/>
            <a:ext cx="329184" cy="329184"/>
          </a:xfrm>
          <a:prstGeom prst="ellipse">
            <a:avLst/>
          </a:prstGeom>
          <a:solidFill>
            <a:srgbClr val="F2A900"/>
          </a:solidFill>
          <a:ln w="12700">
            <a:solidFill>
              <a:srgbClr val="C98C00"/>
            </a:solidFill>
            <a:prstDash val="solid"/>
          </a:ln>
        </p:spPr>
        <p:txBody>
          <a:bodyPr/>
          <a:lstStyle/>
          <a:p>
            <a:endParaRPr lang="en-US"/>
          </a:p>
        </p:txBody>
      </p:sp>
      <p:sp>
        <p:nvSpPr>
          <p:cNvPr id="10" name="Text 8"/>
          <p:cNvSpPr txBox="1"/>
          <p:nvPr/>
        </p:nvSpPr>
        <p:spPr>
          <a:xfrm>
            <a:off x="5760720" y="1115568"/>
            <a:ext cx="329184" cy="329184"/>
          </a:xfrm>
          <a:prstGeom prst="rect">
            <a:avLst/>
          </a:prstGeom>
          <a:noFill/>
          <a:ln/>
        </p:spPr>
        <p:txBody>
          <a:bodyPr wrap="square" lIns="0" tIns="0" rIns="0" bIns="0" rtlCol="0" anchor="ctr"/>
          <a:lstStyle/>
          <a:p>
            <a:pPr marL="0" indent="0" algn="ctr">
              <a:buNone/>
            </a:pPr>
            <a:r>
              <a:rPr lang="en-US" sz="1300" b="1" dirty="0">
                <a:solidFill>
                  <a:srgbClr val="0B3D2E"/>
                </a:solidFill>
              </a:rPr>
              <a:t>1</a:t>
            </a:r>
            <a:endParaRPr lang="en-US" sz="1300" dirty="0"/>
          </a:p>
        </p:txBody>
      </p:sp>
      <p:sp>
        <p:nvSpPr>
          <p:cNvPr id="11" name="Text 9"/>
          <p:cNvSpPr txBox="1"/>
          <p:nvPr/>
        </p:nvSpPr>
        <p:spPr>
          <a:xfrm>
            <a:off x="6217920" y="1097280"/>
            <a:ext cx="2468880" cy="384048"/>
          </a:xfrm>
          <a:prstGeom prst="rect">
            <a:avLst/>
          </a:prstGeom>
          <a:noFill/>
          <a:ln/>
        </p:spPr>
        <p:txBody>
          <a:bodyPr wrap="square" lIns="0" tIns="0" rIns="0" bIns="0" rtlCol="0" anchor="ctr"/>
          <a:lstStyle/>
          <a:p>
            <a:pPr marL="0" indent="0">
              <a:buNone/>
            </a:pPr>
            <a:r>
              <a:rPr lang="en-US" sz="1500" dirty="0">
                <a:solidFill>
                  <a:srgbClr val="1B1B1B"/>
                </a:solidFill>
              </a:rPr>
              <a:t>Saves files you changed by mistake into my_work</a:t>
            </a:r>
            <a:endParaRPr lang="en-US" sz="1500" dirty="0"/>
          </a:p>
        </p:txBody>
      </p:sp>
      <p:sp>
        <p:nvSpPr>
          <p:cNvPr id="12" name="Shape 10"/>
          <p:cNvSpPr/>
          <p:nvPr/>
        </p:nvSpPr>
        <p:spPr>
          <a:xfrm>
            <a:off x="5760720" y="1801368"/>
            <a:ext cx="329184" cy="329184"/>
          </a:xfrm>
          <a:prstGeom prst="ellipse">
            <a:avLst/>
          </a:prstGeom>
          <a:solidFill>
            <a:srgbClr val="F2A900"/>
          </a:solidFill>
          <a:ln w="12700">
            <a:solidFill>
              <a:srgbClr val="C98C00"/>
            </a:solidFill>
            <a:prstDash val="solid"/>
          </a:ln>
        </p:spPr>
        <p:txBody>
          <a:bodyPr/>
          <a:lstStyle/>
          <a:p>
            <a:endParaRPr lang="en-US"/>
          </a:p>
        </p:txBody>
      </p:sp>
      <p:sp>
        <p:nvSpPr>
          <p:cNvPr id="13" name="Text 11"/>
          <p:cNvSpPr txBox="1"/>
          <p:nvPr/>
        </p:nvSpPr>
        <p:spPr>
          <a:xfrm>
            <a:off x="5760720" y="1801368"/>
            <a:ext cx="329184" cy="329184"/>
          </a:xfrm>
          <a:prstGeom prst="rect">
            <a:avLst/>
          </a:prstGeom>
          <a:noFill/>
          <a:ln/>
        </p:spPr>
        <p:txBody>
          <a:bodyPr wrap="square" lIns="0" tIns="0" rIns="0" bIns="0" rtlCol="0" anchor="ctr"/>
          <a:lstStyle/>
          <a:p>
            <a:pPr marL="0" indent="0" algn="ctr">
              <a:buNone/>
            </a:pPr>
            <a:r>
              <a:rPr lang="en-US" sz="1300" b="1" dirty="0">
                <a:solidFill>
                  <a:srgbClr val="0B3D2E"/>
                </a:solidFill>
              </a:rPr>
              <a:t>2</a:t>
            </a:r>
            <a:endParaRPr lang="en-US" sz="1300" dirty="0"/>
          </a:p>
        </p:txBody>
      </p:sp>
      <p:sp>
        <p:nvSpPr>
          <p:cNvPr id="14" name="Text 12"/>
          <p:cNvSpPr txBox="1"/>
          <p:nvPr/>
        </p:nvSpPr>
        <p:spPr>
          <a:xfrm>
            <a:off x="6217920" y="1783080"/>
            <a:ext cx="2468880" cy="384048"/>
          </a:xfrm>
          <a:prstGeom prst="rect">
            <a:avLst/>
          </a:prstGeom>
          <a:noFill/>
          <a:ln/>
        </p:spPr>
        <p:txBody>
          <a:bodyPr wrap="square" lIns="0" tIns="0" rIns="0" bIns="0" rtlCol="0" anchor="ctr"/>
          <a:lstStyle/>
          <a:p>
            <a:pPr marL="0" indent="0">
              <a:buNone/>
            </a:pPr>
            <a:r>
              <a:rPr lang="en-US" sz="1500" dirty="0">
                <a:solidFill>
                  <a:srgbClr val="1B1B1B"/>
                </a:solidFill>
              </a:rPr>
              <a:t>Gets the newest files from GitHub</a:t>
            </a:r>
            <a:endParaRPr lang="en-US" sz="1500" dirty="0"/>
          </a:p>
        </p:txBody>
      </p:sp>
      <p:sp>
        <p:nvSpPr>
          <p:cNvPr id="15" name="Shape 13"/>
          <p:cNvSpPr/>
          <p:nvPr/>
        </p:nvSpPr>
        <p:spPr>
          <a:xfrm>
            <a:off x="5760720" y="2487168"/>
            <a:ext cx="329184" cy="329184"/>
          </a:xfrm>
          <a:prstGeom prst="ellipse">
            <a:avLst/>
          </a:prstGeom>
          <a:solidFill>
            <a:srgbClr val="F2A900"/>
          </a:solidFill>
          <a:ln w="12700">
            <a:solidFill>
              <a:srgbClr val="C98C00"/>
            </a:solidFill>
            <a:prstDash val="solid"/>
          </a:ln>
        </p:spPr>
        <p:txBody>
          <a:bodyPr/>
          <a:lstStyle/>
          <a:p>
            <a:endParaRPr lang="en-US"/>
          </a:p>
        </p:txBody>
      </p:sp>
      <p:sp>
        <p:nvSpPr>
          <p:cNvPr id="16" name="Text 14"/>
          <p:cNvSpPr txBox="1"/>
          <p:nvPr/>
        </p:nvSpPr>
        <p:spPr>
          <a:xfrm>
            <a:off x="5760720" y="2487168"/>
            <a:ext cx="329184" cy="329184"/>
          </a:xfrm>
          <a:prstGeom prst="rect">
            <a:avLst/>
          </a:prstGeom>
          <a:noFill/>
          <a:ln/>
        </p:spPr>
        <p:txBody>
          <a:bodyPr wrap="square" lIns="0" tIns="0" rIns="0" bIns="0" rtlCol="0" anchor="ctr"/>
          <a:lstStyle/>
          <a:p>
            <a:pPr marL="0" indent="0" algn="ctr">
              <a:buNone/>
            </a:pPr>
            <a:r>
              <a:rPr lang="en-US" sz="1300" b="1" dirty="0">
                <a:solidFill>
                  <a:srgbClr val="0B3D2E"/>
                </a:solidFill>
              </a:rPr>
              <a:t>3</a:t>
            </a:r>
            <a:endParaRPr lang="en-US" sz="1300" dirty="0"/>
          </a:p>
        </p:txBody>
      </p:sp>
      <p:sp>
        <p:nvSpPr>
          <p:cNvPr id="17" name="Text 15"/>
          <p:cNvSpPr txBox="1"/>
          <p:nvPr/>
        </p:nvSpPr>
        <p:spPr>
          <a:xfrm>
            <a:off x="6217920" y="2468880"/>
            <a:ext cx="2468880" cy="384048"/>
          </a:xfrm>
          <a:prstGeom prst="rect">
            <a:avLst/>
          </a:prstGeom>
          <a:noFill/>
          <a:ln/>
        </p:spPr>
        <p:txBody>
          <a:bodyPr wrap="square" lIns="0" tIns="0" rIns="0" bIns="0" rtlCol="0" anchor="ctr"/>
          <a:lstStyle/>
          <a:p>
            <a:pPr marL="0" indent="0">
              <a:buNone/>
            </a:pPr>
            <a:r>
              <a:rPr lang="en-US" sz="1500" dirty="0">
                <a:solidFill>
                  <a:srgbClr val="1B1B1B"/>
                </a:solidFill>
              </a:rPr>
              <a:t>Never touches your ESP32</a:t>
            </a:r>
            <a:endParaRPr lang="en-US" sz="1500" dirty="0"/>
          </a:p>
        </p:txBody>
      </p:sp>
      <p:sp>
        <p:nvSpPr>
          <p:cNvPr id="18" name="Shape 16"/>
          <p:cNvSpPr/>
          <p:nvPr/>
        </p:nvSpPr>
        <p:spPr>
          <a:xfrm>
            <a:off x="457200" y="3429000"/>
            <a:ext cx="5029200" cy="548640"/>
          </a:xfrm>
          <a:prstGeom prst="roundRect">
            <a:avLst>
              <a:gd name="adj" fmla="val 13333"/>
            </a:avLst>
          </a:prstGeom>
          <a:solidFill>
            <a:srgbClr val="DDF3E9"/>
          </a:solidFill>
          <a:ln w="15875">
            <a:solidFill>
              <a:srgbClr val="1F8A70"/>
            </a:solidFill>
            <a:prstDash val="solid"/>
          </a:ln>
        </p:spPr>
        <p:txBody>
          <a:bodyPr/>
          <a:lstStyle/>
          <a:p>
            <a:endParaRPr lang="en-US"/>
          </a:p>
        </p:txBody>
      </p:sp>
      <p:sp>
        <p:nvSpPr>
          <p:cNvPr id="19" name="Text 17"/>
          <p:cNvSpPr txBox="1"/>
          <p:nvPr/>
        </p:nvSpPr>
        <p:spPr>
          <a:xfrm>
            <a:off x="594360" y="3429000"/>
            <a:ext cx="4754880" cy="548640"/>
          </a:xfrm>
          <a:prstGeom prst="rect">
            <a:avLst/>
          </a:prstGeom>
          <a:noFill/>
          <a:ln/>
        </p:spPr>
        <p:txBody>
          <a:bodyPr wrap="square" lIns="0" tIns="0" rIns="0" bIns="0" rtlCol="0" anchor="ctr"/>
          <a:lstStyle/>
          <a:p>
            <a:pPr marL="0" indent="0">
              <a:buNone/>
            </a:pPr>
            <a:r>
              <a:rPr lang="en-US" sz="1200" b="1" dirty="0">
                <a:solidFill>
                  <a:srgbClr val="1F8A70"/>
                </a:solidFill>
              </a:rPr>
              <a:t>CHECKPOINT  </a:t>
            </a:r>
            <a:r>
              <a:rPr lang="en-US" sz="1400" dirty="0">
                <a:solidFill>
                  <a:srgbClr val="1B1B1B"/>
                </a:solidFill>
              </a:rPr>
              <a:t>You see: Done. You have the latest files.</a:t>
            </a:r>
            <a:endParaRPr lang="en-US" sz="1400" dirty="0"/>
          </a:p>
        </p:txBody>
      </p:sp>
      <p:sp>
        <p:nvSpPr>
          <p:cNvPr id="20" name="Shape 18"/>
          <p:cNvSpPr/>
          <p:nvPr/>
        </p:nvSpPr>
        <p:spPr>
          <a:xfrm>
            <a:off x="457200" y="4114800"/>
            <a:ext cx="5029200" cy="457200"/>
          </a:xfrm>
          <a:prstGeom prst="roundRect">
            <a:avLst>
              <a:gd name="adj" fmla="val 16000"/>
            </a:avLst>
          </a:prstGeom>
          <a:solidFill>
            <a:srgbClr val="FFF4D6"/>
          </a:solidFill>
          <a:ln w="12700">
            <a:solidFill>
              <a:srgbClr val="E0A800"/>
            </a:solidFill>
            <a:prstDash val="solid"/>
          </a:ln>
        </p:spPr>
        <p:txBody>
          <a:bodyPr/>
          <a:lstStyle/>
          <a:p>
            <a:endParaRPr lang="en-US"/>
          </a:p>
        </p:txBody>
      </p:sp>
      <p:sp>
        <p:nvSpPr>
          <p:cNvPr id="21" name="Text 19"/>
          <p:cNvSpPr txBox="1"/>
          <p:nvPr/>
        </p:nvSpPr>
        <p:spPr>
          <a:xfrm>
            <a:off x="594360" y="4114800"/>
            <a:ext cx="4754880" cy="457200"/>
          </a:xfrm>
          <a:prstGeom prst="rect">
            <a:avLst/>
          </a:prstGeom>
          <a:noFill/>
          <a:ln/>
        </p:spPr>
        <p:txBody>
          <a:bodyPr wrap="square" lIns="0" tIns="0" rIns="0" bIns="0" rtlCol="0" anchor="ctr"/>
          <a:lstStyle/>
          <a:p>
            <a:pPr marL="0" indent="0">
              <a:buNone/>
            </a:pPr>
            <a:r>
              <a:rPr lang="en-US" sz="1200" b="1" dirty="0">
                <a:solidFill>
                  <a:srgbClr val="9A6B00"/>
                </a:solidFill>
              </a:rPr>
              <a:t>STUCK?  </a:t>
            </a:r>
            <a:r>
              <a:rPr lang="en-US" sz="1400" dirty="0">
                <a:solidFill>
                  <a:srgbClr val="1B1B1B"/>
                </a:solidFill>
              </a:rPr>
              <a:t>Not found? Do the next slide first.</a:t>
            </a:r>
            <a:endParaRPr lang="en-US" sz="14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949440" cy="640080"/>
          </a:xfrm>
          <a:prstGeom prst="rect">
            <a:avLst/>
          </a:prstGeom>
          <a:noFill/>
          <a:ln/>
        </p:spPr>
        <p:txBody>
          <a:bodyPr wrap="square" lIns="0" tIns="0" rIns="0" bIns="0" rtlCol="0" anchor="ctr"/>
          <a:lstStyle/>
          <a:p>
            <a:pPr marL="0" indent="0" algn="l">
              <a:buNone/>
            </a:pPr>
            <a:r>
              <a:rPr lang="en-US" sz="3000" b="1" dirty="0">
                <a:solidFill>
                  <a:schemeClr val="tx2"/>
                </a:solidFill>
              </a:rPr>
              <a:t>First time today</a:t>
            </a:r>
            <a:endParaRPr lang="en-US" sz="3000" dirty="0"/>
          </a:p>
        </p:txBody>
      </p:sp>
      <p:sp>
        <p:nvSpPr>
          <p:cNvPr id="3" name="Text 1"/>
          <p:cNvSpPr txBox="1"/>
          <p:nvPr/>
        </p:nvSpPr>
        <p:spPr>
          <a:xfrm>
            <a:off x="457200" y="1005840"/>
            <a:ext cx="8229600" cy="320040"/>
          </a:xfrm>
          <a:prstGeom prst="rect">
            <a:avLst/>
          </a:prstGeom>
          <a:noFill/>
          <a:ln/>
        </p:spPr>
        <p:txBody>
          <a:bodyPr wrap="square" lIns="0" tIns="0" rIns="0" bIns="0" rtlCol="0" anchor="ctr"/>
          <a:lstStyle/>
          <a:p>
            <a:pPr marL="0" indent="0">
              <a:buNone/>
            </a:pPr>
            <a:r>
              <a:rPr lang="en-US" sz="1500" dirty="0">
                <a:solidFill>
                  <a:srgbClr val="1B1B1B"/>
                </a:solidFill>
              </a:rPr>
              <a:t>Your JA05 does not have get_latest.sh yet. Get it with git pull:</a:t>
            </a:r>
            <a:endParaRPr lang="en-US" sz="1500" dirty="0"/>
          </a:p>
        </p:txBody>
      </p:sp>
      <p:sp>
        <p:nvSpPr>
          <p:cNvPr id="4" name="Shape 2"/>
          <p:cNvSpPr/>
          <p:nvPr/>
        </p:nvSpPr>
        <p:spPr>
          <a:xfrm>
            <a:off x="457200" y="1417320"/>
            <a:ext cx="3931920" cy="1097280"/>
          </a:xfrm>
          <a:prstGeom prst="roundRect">
            <a:avLst>
              <a:gd name="adj" fmla="val 6667"/>
            </a:avLst>
          </a:prstGeom>
          <a:solidFill>
            <a:srgbClr val="1E1E1E"/>
          </a:solidFill>
          <a:ln w="12700">
            <a:solidFill>
              <a:srgbClr val="3A3A3A"/>
            </a:solidFill>
            <a:prstDash val="solid"/>
          </a:ln>
        </p:spPr>
        <p:txBody>
          <a:bodyPr/>
          <a:lstStyle/>
          <a:p>
            <a:endParaRPr lang="en-US"/>
          </a:p>
        </p:txBody>
      </p:sp>
      <p:sp>
        <p:nvSpPr>
          <p:cNvPr id="5" name="Shape 3"/>
          <p:cNvSpPr/>
          <p:nvPr/>
        </p:nvSpPr>
        <p:spPr>
          <a:xfrm>
            <a:off x="594360" y="1508760"/>
            <a:ext cx="118872" cy="118872"/>
          </a:xfrm>
          <a:prstGeom prst="ellipse">
            <a:avLst/>
          </a:prstGeom>
          <a:solidFill>
            <a:srgbClr val="FF5F57"/>
          </a:solidFill>
          <a:ln w="12700">
            <a:solidFill>
              <a:srgbClr val="FF5F57"/>
            </a:solidFill>
            <a:prstDash val="solid"/>
          </a:ln>
        </p:spPr>
        <p:txBody>
          <a:bodyPr/>
          <a:lstStyle/>
          <a:p>
            <a:endParaRPr lang="en-US"/>
          </a:p>
        </p:txBody>
      </p:sp>
      <p:sp>
        <p:nvSpPr>
          <p:cNvPr id="6" name="Shape 4"/>
          <p:cNvSpPr/>
          <p:nvPr/>
        </p:nvSpPr>
        <p:spPr>
          <a:xfrm>
            <a:off x="777240" y="1508760"/>
            <a:ext cx="118872" cy="118872"/>
          </a:xfrm>
          <a:prstGeom prst="ellipse">
            <a:avLst/>
          </a:prstGeom>
          <a:solidFill>
            <a:srgbClr val="FEBC2E"/>
          </a:solidFill>
          <a:ln w="12700">
            <a:solidFill>
              <a:srgbClr val="FEBC2E"/>
            </a:solidFill>
            <a:prstDash val="solid"/>
          </a:ln>
        </p:spPr>
        <p:txBody>
          <a:bodyPr/>
          <a:lstStyle/>
          <a:p>
            <a:endParaRPr lang="en-US"/>
          </a:p>
        </p:txBody>
      </p:sp>
      <p:sp>
        <p:nvSpPr>
          <p:cNvPr id="7" name="Shape 5"/>
          <p:cNvSpPr/>
          <p:nvPr/>
        </p:nvSpPr>
        <p:spPr>
          <a:xfrm>
            <a:off x="960120" y="1508760"/>
            <a:ext cx="118872" cy="118872"/>
          </a:xfrm>
          <a:prstGeom prst="ellipse">
            <a:avLst/>
          </a:prstGeom>
          <a:solidFill>
            <a:srgbClr val="28C840"/>
          </a:solidFill>
          <a:ln w="12700">
            <a:solidFill>
              <a:srgbClr val="28C840"/>
            </a:solidFill>
            <a:prstDash val="solid"/>
          </a:ln>
        </p:spPr>
        <p:txBody>
          <a:bodyPr/>
          <a:lstStyle/>
          <a:p>
            <a:endParaRPr lang="en-US"/>
          </a:p>
        </p:txBody>
      </p:sp>
      <p:sp>
        <p:nvSpPr>
          <p:cNvPr id="8" name="Text 6"/>
          <p:cNvSpPr txBox="1"/>
          <p:nvPr/>
        </p:nvSpPr>
        <p:spPr>
          <a:xfrm>
            <a:off x="457200" y="1472184"/>
            <a:ext cx="3931920" cy="201168"/>
          </a:xfrm>
          <a:prstGeom prst="rect">
            <a:avLst/>
          </a:prstGeom>
          <a:noFill/>
          <a:ln/>
        </p:spPr>
        <p:txBody>
          <a:bodyPr wrap="square" lIns="0" tIns="0" rIns="0" bIns="0" rtlCol="0" anchor="ctr"/>
          <a:lstStyle/>
          <a:p>
            <a:pPr marL="0" indent="0" algn="ctr">
              <a:buNone/>
            </a:pPr>
            <a:r>
              <a:rPr lang="en-US" sz="1000" dirty="0">
                <a:solidFill>
                  <a:srgbClr val="9E9E9E"/>
                </a:solidFill>
              </a:rPr>
              <a:t>Terminal</a:t>
            </a:r>
            <a:endParaRPr lang="en-US" sz="1000" dirty="0"/>
          </a:p>
        </p:txBody>
      </p:sp>
      <p:sp>
        <p:nvSpPr>
          <p:cNvPr id="9" name="Text 7"/>
          <p:cNvSpPr txBox="1"/>
          <p:nvPr/>
        </p:nvSpPr>
        <p:spPr>
          <a:xfrm>
            <a:off x="621792" y="1764792"/>
            <a:ext cx="3602736" cy="640080"/>
          </a:xfrm>
          <a:prstGeom prst="rect">
            <a:avLst/>
          </a:prstGeom>
          <a:noFill/>
          <a:ln/>
        </p:spPr>
        <p:txBody>
          <a:bodyPr wrap="square" lIns="0" tIns="0" rIns="0" bIns="0" rtlCol="0" anchor="t"/>
          <a:lstStyle/>
          <a:p>
            <a:pPr marL="0" indent="0">
              <a:spcAft>
                <a:spcPts val="200"/>
              </a:spcAft>
              <a:buNone/>
            </a:pPr>
            <a:r>
              <a:rPr lang="en-US" sz="1300" dirty="0">
                <a:solidFill>
                  <a:srgbClr val="8FA3AD"/>
                </a:solidFill>
                <a:latin typeface="Courier New" pitchFamily="34" charset="0"/>
                <a:ea typeface="Courier New" pitchFamily="34" charset="-122"/>
                <a:cs typeface="Courier New" pitchFamily="34" charset="-120"/>
              </a:rPr>
              <a:t>MacBook:~ s20xxxxxx$ </a:t>
            </a:r>
            <a:r>
              <a:rPr lang="en-US" sz="1300" b="1" dirty="0">
                <a:solidFill>
                  <a:srgbClr val="FFFFFF"/>
                </a:solidFill>
                <a:latin typeface="Courier New" pitchFamily="34" charset="0"/>
                <a:ea typeface="Courier New" pitchFamily="34" charset="-122"/>
                <a:cs typeface="Courier New" pitchFamily="34" charset="-120"/>
              </a:rPr>
              <a:t>cd ~/JA05</a:t>
            </a:r>
            <a:endParaRPr lang="en-US" sz="1300" dirty="0"/>
          </a:p>
          <a:p>
            <a:pPr marL="0" indent="0">
              <a:spcAft>
                <a:spcPts val="200"/>
              </a:spcAft>
              <a:buNone/>
            </a:pPr>
            <a:r>
              <a:rPr lang="en-US" sz="1300" dirty="0">
                <a:solidFill>
                  <a:srgbClr val="8FA3AD"/>
                </a:solidFill>
                <a:latin typeface="Courier New" pitchFamily="34" charset="0"/>
                <a:ea typeface="Courier New" pitchFamily="34" charset="-122"/>
                <a:cs typeface="Courier New" pitchFamily="34" charset="-120"/>
              </a:rPr>
              <a:t>MacBook:JA05 s20xxxxxx$ </a:t>
            </a:r>
            <a:r>
              <a:rPr lang="en-US" sz="1300" b="1" dirty="0">
                <a:solidFill>
                  <a:srgbClr val="FFFFFF"/>
                </a:solidFill>
                <a:latin typeface="Courier New" pitchFamily="34" charset="0"/>
                <a:ea typeface="Courier New" pitchFamily="34" charset="-122"/>
                <a:cs typeface="Courier New" pitchFamily="34" charset="-120"/>
              </a:rPr>
              <a:t>git pull</a:t>
            </a:r>
            <a:endParaRPr lang="en-US" sz="1300" dirty="0"/>
          </a:p>
        </p:txBody>
      </p:sp>
      <p:sp>
        <p:nvSpPr>
          <p:cNvPr id="10" name="Shape 8"/>
          <p:cNvSpPr/>
          <p:nvPr/>
        </p:nvSpPr>
        <p:spPr>
          <a:xfrm>
            <a:off x="457200" y="2743200"/>
            <a:ext cx="3931920" cy="1600200"/>
          </a:xfrm>
          <a:prstGeom prst="roundRect">
            <a:avLst>
              <a:gd name="adj" fmla="val 4571"/>
            </a:avLst>
          </a:prstGeom>
          <a:solidFill>
            <a:srgbClr val="DDF3E9"/>
          </a:solidFill>
          <a:ln w="15875">
            <a:solidFill>
              <a:srgbClr val="1F8A70"/>
            </a:solidFill>
            <a:prstDash val="solid"/>
          </a:ln>
        </p:spPr>
        <p:txBody>
          <a:bodyPr/>
          <a:lstStyle/>
          <a:p>
            <a:endParaRPr lang="en-US"/>
          </a:p>
        </p:txBody>
      </p:sp>
      <p:sp>
        <p:nvSpPr>
          <p:cNvPr id="11" name="Text 9"/>
          <p:cNvSpPr txBox="1"/>
          <p:nvPr/>
        </p:nvSpPr>
        <p:spPr>
          <a:xfrm>
            <a:off x="640080" y="2852928"/>
            <a:ext cx="3566160" cy="320040"/>
          </a:xfrm>
          <a:prstGeom prst="rect">
            <a:avLst/>
          </a:prstGeom>
          <a:noFill/>
          <a:ln/>
        </p:spPr>
        <p:txBody>
          <a:bodyPr wrap="square" lIns="0" tIns="0" rIns="0" bIns="0" rtlCol="0" anchor="ctr"/>
          <a:lstStyle/>
          <a:p>
            <a:pPr marL="0" indent="0">
              <a:buNone/>
            </a:pPr>
            <a:r>
              <a:rPr lang="en-US" sz="1600" b="1" dirty="0">
                <a:solidFill>
                  <a:srgbClr val="1F8A70"/>
                </a:solidFill>
              </a:rPr>
              <a:t>It worked</a:t>
            </a:r>
            <a:endParaRPr lang="en-US" sz="1600" dirty="0"/>
          </a:p>
        </p:txBody>
      </p:sp>
      <p:sp>
        <p:nvSpPr>
          <p:cNvPr id="12" name="Text 10"/>
          <p:cNvSpPr txBox="1"/>
          <p:nvPr/>
        </p:nvSpPr>
        <p:spPr>
          <a:xfrm>
            <a:off x="640080" y="3200400"/>
            <a:ext cx="3566160" cy="1051560"/>
          </a:xfrm>
          <a:prstGeom prst="rect">
            <a:avLst/>
          </a:prstGeom>
          <a:noFill/>
          <a:ln/>
        </p:spPr>
        <p:txBody>
          <a:bodyPr wrap="square" lIns="0" tIns="0" rIns="0" bIns="0" rtlCol="0" anchor="t"/>
          <a:lstStyle/>
          <a:p>
            <a:pPr marL="0" indent="0">
              <a:buNone/>
            </a:pPr>
            <a:r>
              <a:rPr lang="en-US" sz="1400" dirty="0">
                <a:solidFill>
                  <a:srgbClr val="1B1B1B"/>
                </a:solidFill>
              </a:rPr>
              <a:t>You now have get_latest.sh. Use it from next time.</a:t>
            </a:r>
            <a:endParaRPr lang="en-US" sz="1400" dirty="0"/>
          </a:p>
        </p:txBody>
      </p:sp>
      <p:sp>
        <p:nvSpPr>
          <p:cNvPr id="13" name="Shape 11"/>
          <p:cNvSpPr/>
          <p:nvPr/>
        </p:nvSpPr>
        <p:spPr>
          <a:xfrm>
            <a:off x="4663440" y="1417320"/>
            <a:ext cx="4023360" cy="1005840"/>
          </a:xfrm>
          <a:prstGeom prst="roundRect">
            <a:avLst>
              <a:gd name="adj" fmla="val 7273"/>
            </a:avLst>
          </a:prstGeom>
          <a:solidFill>
            <a:srgbClr val="FFF4D6"/>
          </a:solidFill>
          <a:ln w="15875">
            <a:solidFill>
              <a:srgbClr val="E0A800"/>
            </a:solidFill>
            <a:prstDash val="solid"/>
          </a:ln>
        </p:spPr>
        <p:txBody>
          <a:bodyPr/>
          <a:lstStyle/>
          <a:p>
            <a:endParaRPr lang="en-US"/>
          </a:p>
        </p:txBody>
      </p:sp>
      <p:sp>
        <p:nvSpPr>
          <p:cNvPr id="14" name="Text 12"/>
          <p:cNvSpPr txBox="1"/>
          <p:nvPr/>
        </p:nvSpPr>
        <p:spPr>
          <a:xfrm>
            <a:off x="4846320" y="1527048"/>
            <a:ext cx="3657600" cy="320040"/>
          </a:xfrm>
          <a:prstGeom prst="rect">
            <a:avLst/>
          </a:prstGeom>
          <a:noFill/>
          <a:ln/>
        </p:spPr>
        <p:txBody>
          <a:bodyPr wrap="square" lIns="0" tIns="0" rIns="0" bIns="0" rtlCol="0" anchor="ctr"/>
          <a:lstStyle/>
          <a:p>
            <a:pPr marL="0" indent="0">
              <a:buNone/>
            </a:pPr>
            <a:r>
              <a:rPr lang="en-US" sz="1600" b="1" dirty="0">
                <a:solidFill>
                  <a:srgbClr val="9A6B00"/>
                </a:solidFill>
              </a:rPr>
              <a:t>An error?</a:t>
            </a:r>
            <a:endParaRPr lang="en-US" sz="1600" dirty="0"/>
          </a:p>
        </p:txBody>
      </p:sp>
      <p:sp>
        <p:nvSpPr>
          <p:cNvPr id="15" name="Text 13"/>
          <p:cNvSpPr txBox="1"/>
          <p:nvPr/>
        </p:nvSpPr>
        <p:spPr>
          <a:xfrm>
            <a:off x="4846320" y="1874520"/>
            <a:ext cx="3657600" cy="457200"/>
          </a:xfrm>
          <a:prstGeom prst="rect">
            <a:avLst/>
          </a:prstGeom>
          <a:noFill/>
          <a:ln/>
        </p:spPr>
        <p:txBody>
          <a:bodyPr wrap="square" lIns="0" tIns="0" rIns="0" bIns="0" rtlCol="0" anchor="t"/>
          <a:lstStyle/>
          <a:p>
            <a:pPr marL="0" indent="0">
              <a:buNone/>
            </a:pPr>
            <a:r>
              <a:rPr lang="en-US" sz="1400" dirty="0">
                <a:solidFill>
                  <a:srgbClr val="1B1B1B"/>
                </a:solidFill>
              </a:rPr>
              <a:t>For example: local changes would be overwritten</a:t>
            </a:r>
            <a:endParaRPr lang="en-US" sz="1400" dirty="0"/>
          </a:p>
        </p:txBody>
      </p:sp>
      <p:sp>
        <p:nvSpPr>
          <p:cNvPr id="16" name="Shape 14"/>
          <p:cNvSpPr/>
          <p:nvPr/>
        </p:nvSpPr>
        <p:spPr>
          <a:xfrm>
            <a:off x="4663440" y="2560320"/>
            <a:ext cx="4023360" cy="1783080"/>
          </a:xfrm>
          <a:prstGeom prst="roundRect">
            <a:avLst>
              <a:gd name="adj" fmla="val 4103"/>
            </a:avLst>
          </a:prstGeom>
          <a:solidFill>
            <a:srgbClr val="1E1E1E"/>
          </a:solidFill>
          <a:ln w="12700">
            <a:solidFill>
              <a:srgbClr val="3A3A3A"/>
            </a:solidFill>
            <a:prstDash val="solid"/>
          </a:ln>
        </p:spPr>
        <p:txBody>
          <a:bodyPr/>
          <a:lstStyle/>
          <a:p>
            <a:endParaRPr lang="en-US"/>
          </a:p>
        </p:txBody>
      </p:sp>
      <p:sp>
        <p:nvSpPr>
          <p:cNvPr id="17" name="Shape 15"/>
          <p:cNvSpPr/>
          <p:nvPr/>
        </p:nvSpPr>
        <p:spPr>
          <a:xfrm>
            <a:off x="4800600" y="2651760"/>
            <a:ext cx="118872" cy="118872"/>
          </a:xfrm>
          <a:prstGeom prst="ellipse">
            <a:avLst/>
          </a:prstGeom>
          <a:solidFill>
            <a:srgbClr val="FF5F57"/>
          </a:solidFill>
          <a:ln w="12700">
            <a:solidFill>
              <a:srgbClr val="FF5F57"/>
            </a:solidFill>
            <a:prstDash val="solid"/>
          </a:ln>
        </p:spPr>
        <p:txBody>
          <a:bodyPr/>
          <a:lstStyle/>
          <a:p>
            <a:endParaRPr lang="en-US"/>
          </a:p>
        </p:txBody>
      </p:sp>
      <p:sp>
        <p:nvSpPr>
          <p:cNvPr id="18" name="Shape 16"/>
          <p:cNvSpPr/>
          <p:nvPr/>
        </p:nvSpPr>
        <p:spPr>
          <a:xfrm>
            <a:off x="4983480" y="2651760"/>
            <a:ext cx="118872" cy="118872"/>
          </a:xfrm>
          <a:prstGeom prst="ellipse">
            <a:avLst/>
          </a:prstGeom>
          <a:solidFill>
            <a:srgbClr val="FEBC2E"/>
          </a:solidFill>
          <a:ln w="12700">
            <a:solidFill>
              <a:srgbClr val="FEBC2E"/>
            </a:solidFill>
            <a:prstDash val="solid"/>
          </a:ln>
        </p:spPr>
        <p:txBody>
          <a:bodyPr/>
          <a:lstStyle/>
          <a:p>
            <a:endParaRPr lang="en-US"/>
          </a:p>
        </p:txBody>
      </p:sp>
      <p:sp>
        <p:nvSpPr>
          <p:cNvPr id="19" name="Shape 17"/>
          <p:cNvSpPr/>
          <p:nvPr/>
        </p:nvSpPr>
        <p:spPr>
          <a:xfrm>
            <a:off x="5166360" y="2651760"/>
            <a:ext cx="118872" cy="118872"/>
          </a:xfrm>
          <a:prstGeom prst="ellipse">
            <a:avLst/>
          </a:prstGeom>
          <a:solidFill>
            <a:srgbClr val="28C840"/>
          </a:solidFill>
          <a:ln w="12700">
            <a:solidFill>
              <a:srgbClr val="28C840"/>
            </a:solidFill>
            <a:prstDash val="solid"/>
          </a:ln>
        </p:spPr>
        <p:txBody>
          <a:bodyPr/>
          <a:lstStyle/>
          <a:p>
            <a:endParaRPr lang="en-US"/>
          </a:p>
        </p:txBody>
      </p:sp>
      <p:sp>
        <p:nvSpPr>
          <p:cNvPr id="20" name="Text 18"/>
          <p:cNvSpPr txBox="1"/>
          <p:nvPr/>
        </p:nvSpPr>
        <p:spPr>
          <a:xfrm>
            <a:off x="4663440" y="2615184"/>
            <a:ext cx="4023360" cy="201168"/>
          </a:xfrm>
          <a:prstGeom prst="rect">
            <a:avLst/>
          </a:prstGeom>
          <a:noFill/>
          <a:ln/>
        </p:spPr>
        <p:txBody>
          <a:bodyPr wrap="square" lIns="0" tIns="0" rIns="0" bIns="0" rtlCol="0" anchor="ctr"/>
          <a:lstStyle/>
          <a:p>
            <a:pPr marL="0" indent="0" algn="ctr">
              <a:buNone/>
            </a:pPr>
            <a:r>
              <a:rPr lang="en-US" sz="1000" dirty="0">
                <a:solidFill>
                  <a:srgbClr val="9E9E9E"/>
                </a:solidFill>
              </a:rPr>
              <a:t>Terminal</a:t>
            </a:r>
            <a:endParaRPr lang="en-US" sz="1000" dirty="0"/>
          </a:p>
        </p:txBody>
      </p:sp>
      <p:sp>
        <p:nvSpPr>
          <p:cNvPr id="21" name="Text 19"/>
          <p:cNvSpPr txBox="1"/>
          <p:nvPr/>
        </p:nvSpPr>
        <p:spPr>
          <a:xfrm>
            <a:off x="4828032" y="2907792"/>
            <a:ext cx="3694176" cy="1325880"/>
          </a:xfrm>
          <a:prstGeom prst="rect">
            <a:avLst/>
          </a:prstGeom>
          <a:noFill/>
          <a:ln/>
        </p:spPr>
        <p:txBody>
          <a:bodyPr wrap="square" lIns="0" tIns="0" rIns="0" bIns="0" rtlCol="0" anchor="t"/>
          <a:lstStyle/>
          <a:p>
            <a:pPr marL="0" indent="0">
              <a:spcAft>
                <a:spcPts val="200"/>
              </a:spcAft>
              <a:buNone/>
            </a:pPr>
            <a:r>
              <a:rPr lang="en-US" sz="1100" dirty="0">
                <a:solidFill>
                  <a:srgbClr val="8FA3AD"/>
                </a:solidFill>
                <a:latin typeface="Courier New" pitchFamily="34" charset="0"/>
                <a:ea typeface="Courier New" pitchFamily="34" charset="-122"/>
                <a:cs typeface="Courier New" pitchFamily="34" charset="-120"/>
              </a:rPr>
              <a:t>MacBook:~ s20xxxxxx$ </a:t>
            </a:r>
            <a:r>
              <a:rPr lang="en-US" sz="1100" b="1" dirty="0">
                <a:solidFill>
                  <a:srgbClr val="FFFFFF"/>
                </a:solidFill>
                <a:latin typeface="Courier New" pitchFamily="34" charset="0"/>
                <a:ea typeface="Courier New" pitchFamily="34" charset="-122"/>
                <a:cs typeface="Courier New" pitchFamily="34" charset="-120"/>
              </a:rPr>
              <a:t>cd ~</a:t>
            </a:r>
            <a:endParaRPr lang="en-US" sz="1100" dirty="0"/>
          </a:p>
          <a:p>
            <a:pPr marL="0" indent="0">
              <a:spcAft>
                <a:spcPts val="200"/>
              </a:spcAft>
              <a:buNone/>
            </a:pPr>
            <a:r>
              <a:rPr lang="en-US" sz="1100" dirty="0">
                <a:solidFill>
                  <a:srgbClr val="8FA3AD"/>
                </a:solidFill>
                <a:latin typeface="Courier New" pitchFamily="34" charset="0"/>
                <a:ea typeface="Courier New" pitchFamily="34" charset="-122"/>
                <a:cs typeface="Courier New" pitchFamily="34" charset="-120"/>
              </a:rPr>
              <a:t>MacBook:~ s20xxxxxx$ </a:t>
            </a:r>
            <a:r>
              <a:rPr lang="en-US" sz="1100" b="1" dirty="0">
                <a:solidFill>
                  <a:srgbClr val="FFFFFF"/>
                </a:solidFill>
                <a:latin typeface="Courier New" pitchFamily="34" charset="0"/>
                <a:ea typeface="Courier New" pitchFamily="34" charset="-122"/>
                <a:cs typeface="Courier New" pitchFamily="34" charset="-120"/>
              </a:rPr>
              <a:t>mv JA05 JA05_old</a:t>
            </a:r>
            <a:endParaRPr lang="en-US" sz="1100" dirty="0"/>
          </a:p>
          <a:p>
            <a:pPr marL="0" indent="0">
              <a:spcAft>
                <a:spcPts val="200"/>
              </a:spcAft>
              <a:buNone/>
            </a:pPr>
            <a:r>
              <a:rPr lang="en-US" sz="1100" dirty="0">
                <a:solidFill>
                  <a:srgbClr val="8FA3AD"/>
                </a:solidFill>
                <a:latin typeface="Courier New" pitchFamily="34" charset="0"/>
                <a:ea typeface="Courier New" pitchFamily="34" charset="-122"/>
                <a:cs typeface="Courier New" pitchFamily="34" charset="-120"/>
              </a:rPr>
              <a:t>MacBook:~ s20xxxxxx$ </a:t>
            </a:r>
            <a:r>
              <a:rPr lang="en-US" sz="1100" b="1" dirty="0">
                <a:solidFill>
                  <a:srgbClr val="FFFFFF"/>
                </a:solidFill>
                <a:latin typeface="Courier New" pitchFamily="34" charset="0"/>
                <a:ea typeface="Courier New" pitchFamily="34" charset="-122"/>
                <a:cs typeface="Courier New" pitchFamily="34" charset="-120"/>
              </a:rPr>
              <a:t>git clone https://github.com/jackyhui/JA05.git</a:t>
            </a:r>
            <a:endParaRPr lang="en-US" sz="1100" dirty="0"/>
          </a:p>
        </p:txBody>
      </p:sp>
      <p:sp>
        <p:nvSpPr>
          <p:cNvPr id="22" name="Text 20"/>
          <p:cNvSpPr txBox="1"/>
          <p:nvPr/>
        </p:nvSpPr>
        <p:spPr>
          <a:xfrm>
            <a:off x="4663440" y="4389120"/>
            <a:ext cx="4023360" cy="274320"/>
          </a:xfrm>
          <a:prstGeom prst="rect">
            <a:avLst/>
          </a:prstGeom>
          <a:noFill/>
          <a:ln/>
        </p:spPr>
        <p:txBody>
          <a:bodyPr wrap="square" lIns="0" tIns="0" rIns="0" bIns="0" rtlCol="0" anchor="ctr"/>
          <a:lstStyle/>
          <a:p>
            <a:pPr marL="0" indent="0">
              <a:buNone/>
            </a:pPr>
            <a:r>
              <a:rPr lang="en-US" sz="1300" i="1" dirty="0">
                <a:solidFill>
                  <a:srgbClr val="0B3D2E"/>
                </a:solidFill>
              </a:rPr>
              <a:t>Your old files stay in JA05_old.</a:t>
            </a:r>
            <a:endParaRPr lang="en-US" sz="13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4</a:t>
            </a:fld>
            <a:endParaRPr lang="en-US"/>
          </a:p>
        </p:txBody>
      </p:sp>
      <p:cxnSp>
        <p:nvCxnSpPr>
          <p:cNvPr id="30" name="Straight Connector 29">
            <a:extLst>
              <a:ext uri="{FF2B5EF4-FFF2-40B4-BE49-F238E27FC236}">
                <a16:creationId xmlns:a16="http://schemas.microsoft.com/office/drawing/2014/main" id="{660F9C4F-D99E-5778-1485-37BC355A7866}"/>
              </a:ext>
            </a:extLst>
          </p:cNvPr>
          <p:cNvCxnSpPr>
            <a:cxnSpLocks/>
          </p:cNvCxnSpPr>
          <p:nvPr/>
        </p:nvCxnSpPr>
        <p:spPr>
          <a:xfrm>
            <a:off x="4526942" y="1678336"/>
            <a:ext cx="0" cy="252000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949440" cy="640080"/>
          </a:xfrm>
          <a:prstGeom prst="rect">
            <a:avLst/>
          </a:prstGeom>
          <a:noFill/>
          <a:ln/>
        </p:spPr>
        <p:txBody>
          <a:bodyPr wrap="square" lIns="0" tIns="0" rIns="0" bIns="0" rtlCol="0" anchor="ctr"/>
          <a:lstStyle/>
          <a:p>
            <a:pPr marL="0" indent="0" algn="l">
              <a:buNone/>
            </a:pPr>
            <a:r>
              <a:rPr lang="en-US" sz="3000" b="1" dirty="0">
                <a:solidFill>
                  <a:schemeClr val="tx2"/>
                </a:solidFill>
              </a:rPr>
              <a:t>Your code lives on your ESP32</a:t>
            </a:r>
            <a:endParaRPr lang="en-US" sz="3000" dirty="0"/>
          </a:p>
        </p:txBody>
      </p:sp>
      <p:sp>
        <p:nvSpPr>
          <p:cNvPr id="3" name="Shape 1"/>
          <p:cNvSpPr/>
          <p:nvPr/>
        </p:nvSpPr>
        <p:spPr>
          <a:xfrm>
            <a:off x="457200" y="1097280"/>
            <a:ext cx="2743200" cy="2514600"/>
          </a:xfrm>
          <a:prstGeom prst="roundRect">
            <a:avLst>
              <a:gd name="adj" fmla="val 2182"/>
            </a:avLst>
          </a:prstGeom>
          <a:solidFill>
            <a:srgbClr val="FAFAFA"/>
          </a:solidFill>
          <a:ln w="12700">
            <a:solidFill>
              <a:srgbClr val="C8C8C8"/>
            </a:solidFill>
            <a:prstDash val="solid"/>
          </a:ln>
        </p:spPr>
        <p:txBody>
          <a:bodyPr/>
          <a:lstStyle/>
          <a:p>
            <a:endParaRPr lang="en-US"/>
          </a:p>
        </p:txBody>
      </p:sp>
      <p:sp>
        <p:nvSpPr>
          <p:cNvPr id="4" name="Shape 2"/>
          <p:cNvSpPr/>
          <p:nvPr/>
        </p:nvSpPr>
        <p:spPr>
          <a:xfrm>
            <a:off x="475488" y="1115568"/>
            <a:ext cx="2706624" cy="329184"/>
          </a:xfrm>
          <a:prstGeom prst="rect">
            <a:avLst/>
          </a:prstGeom>
          <a:solidFill>
            <a:srgbClr val="E9ECEF"/>
          </a:solidFill>
          <a:ln w="12700">
            <a:solidFill>
              <a:srgbClr val="E9ECEF"/>
            </a:solidFill>
            <a:prstDash val="solid"/>
          </a:ln>
        </p:spPr>
        <p:txBody>
          <a:bodyPr/>
          <a:lstStyle/>
          <a:p>
            <a:endParaRPr lang="en-US"/>
          </a:p>
        </p:txBody>
      </p:sp>
      <p:sp>
        <p:nvSpPr>
          <p:cNvPr id="5" name="Text 3"/>
          <p:cNvSpPr txBox="1"/>
          <p:nvPr/>
        </p:nvSpPr>
        <p:spPr>
          <a:xfrm>
            <a:off x="566928" y="1115568"/>
            <a:ext cx="2560320" cy="329184"/>
          </a:xfrm>
          <a:prstGeom prst="rect">
            <a:avLst/>
          </a:prstGeom>
          <a:noFill/>
          <a:ln/>
        </p:spPr>
        <p:txBody>
          <a:bodyPr wrap="square" lIns="0" tIns="0" rIns="0" bIns="0" rtlCol="0" anchor="ctr"/>
          <a:lstStyle/>
          <a:p>
            <a:pPr marL="0" indent="0">
              <a:buNone/>
            </a:pPr>
            <a:r>
              <a:rPr lang="en-US" sz="1300" b="1" dirty="0">
                <a:solidFill>
                  <a:srgbClr val="1B1B1B"/>
                </a:solidFill>
              </a:rPr>
              <a:t>This computer</a:t>
            </a:r>
            <a:endParaRPr lang="en-US" sz="1300" dirty="0"/>
          </a:p>
        </p:txBody>
      </p:sp>
      <p:sp>
        <p:nvSpPr>
          <p:cNvPr id="6" name="Shape 4"/>
          <p:cNvSpPr/>
          <p:nvPr/>
        </p:nvSpPr>
        <p:spPr>
          <a:xfrm>
            <a:off x="594360" y="1600200"/>
            <a:ext cx="219456" cy="155448"/>
          </a:xfrm>
          <a:prstGeom prst="roundRect">
            <a:avLst>
              <a:gd name="adj" fmla="val 17647"/>
            </a:avLst>
          </a:prstGeom>
          <a:solidFill>
            <a:srgbClr val="5AA9E6"/>
          </a:solidFill>
          <a:ln w="12700">
            <a:solidFill>
              <a:srgbClr val="3D8BC9"/>
            </a:solidFill>
            <a:prstDash val="solid"/>
          </a:ln>
        </p:spPr>
        <p:txBody>
          <a:bodyPr/>
          <a:lstStyle/>
          <a:p>
            <a:endParaRPr lang="en-US"/>
          </a:p>
        </p:txBody>
      </p:sp>
      <p:sp>
        <p:nvSpPr>
          <p:cNvPr id="7" name="Text 5"/>
          <p:cNvSpPr txBox="1"/>
          <p:nvPr/>
        </p:nvSpPr>
        <p:spPr>
          <a:xfrm>
            <a:off x="886968" y="1554480"/>
            <a:ext cx="2286000" cy="237744"/>
          </a:xfrm>
          <a:prstGeom prst="rect">
            <a:avLst/>
          </a:prstGeom>
          <a:noFill/>
          <a:ln/>
        </p:spPr>
        <p:txBody>
          <a:bodyPr wrap="square" lIns="0" tIns="0" rIns="0" bIns="0" rtlCol="0" anchor="ctr"/>
          <a:lstStyle/>
          <a:p>
            <a:pPr marL="0" indent="0">
              <a:buNone/>
            </a:pPr>
            <a:r>
              <a:rPr lang="en-US" sz="1200" dirty="0">
                <a:solidFill>
                  <a:srgbClr val="1B1B1B"/>
                </a:solidFill>
              </a:rPr>
              <a:t>JA05</a:t>
            </a:r>
            <a:endParaRPr lang="en-US" sz="1200" dirty="0"/>
          </a:p>
        </p:txBody>
      </p:sp>
      <p:sp>
        <p:nvSpPr>
          <p:cNvPr id="8" name="Shape 6"/>
          <p:cNvSpPr/>
          <p:nvPr/>
        </p:nvSpPr>
        <p:spPr>
          <a:xfrm>
            <a:off x="822960" y="1929384"/>
            <a:ext cx="219456" cy="155448"/>
          </a:xfrm>
          <a:prstGeom prst="roundRect">
            <a:avLst>
              <a:gd name="adj" fmla="val 17647"/>
            </a:avLst>
          </a:prstGeom>
          <a:solidFill>
            <a:srgbClr val="5AA9E6"/>
          </a:solidFill>
          <a:ln w="12700">
            <a:solidFill>
              <a:srgbClr val="3D8BC9"/>
            </a:solidFill>
            <a:prstDash val="solid"/>
          </a:ln>
        </p:spPr>
        <p:txBody>
          <a:bodyPr/>
          <a:lstStyle/>
          <a:p>
            <a:endParaRPr lang="en-US"/>
          </a:p>
        </p:txBody>
      </p:sp>
      <p:sp>
        <p:nvSpPr>
          <p:cNvPr id="9" name="Text 7"/>
          <p:cNvSpPr txBox="1"/>
          <p:nvPr/>
        </p:nvSpPr>
        <p:spPr>
          <a:xfrm>
            <a:off x="1115568" y="1883664"/>
            <a:ext cx="2286000" cy="237744"/>
          </a:xfrm>
          <a:prstGeom prst="rect">
            <a:avLst/>
          </a:prstGeom>
          <a:noFill/>
          <a:ln/>
        </p:spPr>
        <p:txBody>
          <a:bodyPr wrap="square" lIns="0" tIns="0" rIns="0" bIns="0" rtlCol="0" anchor="ctr"/>
          <a:lstStyle/>
          <a:p>
            <a:pPr marL="0" indent="0">
              <a:buNone/>
            </a:pPr>
            <a:r>
              <a:rPr lang="en-US" sz="1200" dirty="0">
                <a:solidFill>
                  <a:srgbClr val="1B1B1B"/>
                </a:solidFill>
              </a:rPr>
              <a:t>20261016_L4</a:t>
            </a:r>
            <a:endParaRPr lang="en-US" sz="1200" dirty="0"/>
          </a:p>
        </p:txBody>
      </p:sp>
      <p:sp>
        <p:nvSpPr>
          <p:cNvPr id="10" name="Shape 8"/>
          <p:cNvSpPr/>
          <p:nvPr/>
        </p:nvSpPr>
        <p:spPr>
          <a:xfrm>
            <a:off x="1088136" y="2231136"/>
            <a:ext cx="146304" cy="201168"/>
          </a:xfrm>
          <a:prstGeom prst="rect">
            <a:avLst/>
          </a:prstGeom>
          <a:solidFill>
            <a:srgbClr val="FFFFFF"/>
          </a:solidFill>
          <a:ln w="12700">
            <a:solidFill>
              <a:srgbClr val="9E9E9E"/>
            </a:solidFill>
            <a:prstDash val="solid"/>
          </a:ln>
        </p:spPr>
        <p:txBody>
          <a:bodyPr/>
          <a:lstStyle/>
          <a:p>
            <a:endParaRPr lang="en-US"/>
          </a:p>
        </p:txBody>
      </p:sp>
      <p:sp>
        <p:nvSpPr>
          <p:cNvPr id="11" name="Text 9"/>
          <p:cNvSpPr txBox="1"/>
          <p:nvPr/>
        </p:nvSpPr>
        <p:spPr>
          <a:xfrm>
            <a:off x="1344168" y="2212848"/>
            <a:ext cx="2286000" cy="237744"/>
          </a:xfrm>
          <a:prstGeom prst="rect">
            <a:avLst/>
          </a:prstGeom>
          <a:noFill/>
          <a:ln/>
        </p:spPr>
        <p:txBody>
          <a:bodyPr wrap="square" lIns="0" tIns="0" rIns="0" bIns="0" rtlCol="0" anchor="ctr"/>
          <a:lstStyle/>
          <a:p>
            <a:pPr marL="0" indent="0">
              <a:buNone/>
            </a:pPr>
            <a:r>
              <a:rPr lang="en-US" sz="1200" dirty="0">
                <a:solidFill>
                  <a:srgbClr val="1B1B1B"/>
                </a:solidFill>
              </a:rPr>
              <a:t>step1_buzzer_on.py</a:t>
            </a:r>
            <a:endParaRPr lang="en-US" sz="1200" dirty="0"/>
          </a:p>
        </p:txBody>
      </p:sp>
      <p:sp>
        <p:nvSpPr>
          <p:cNvPr id="12" name="Shape 10"/>
          <p:cNvSpPr/>
          <p:nvPr/>
        </p:nvSpPr>
        <p:spPr>
          <a:xfrm>
            <a:off x="1088136" y="2560320"/>
            <a:ext cx="146304" cy="201168"/>
          </a:xfrm>
          <a:prstGeom prst="rect">
            <a:avLst/>
          </a:prstGeom>
          <a:solidFill>
            <a:srgbClr val="FFFFFF"/>
          </a:solidFill>
          <a:ln w="12700">
            <a:solidFill>
              <a:srgbClr val="9E9E9E"/>
            </a:solidFill>
            <a:prstDash val="solid"/>
          </a:ln>
        </p:spPr>
        <p:txBody>
          <a:bodyPr/>
          <a:lstStyle/>
          <a:p>
            <a:endParaRPr lang="en-US"/>
          </a:p>
        </p:txBody>
      </p:sp>
      <p:sp>
        <p:nvSpPr>
          <p:cNvPr id="13" name="Text 11"/>
          <p:cNvSpPr txBox="1"/>
          <p:nvPr/>
        </p:nvSpPr>
        <p:spPr>
          <a:xfrm>
            <a:off x="1344168" y="2542032"/>
            <a:ext cx="2286000" cy="237744"/>
          </a:xfrm>
          <a:prstGeom prst="rect">
            <a:avLst/>
          </a:prstGeom>
          <a:noFill/>
          <a:ln/>
        </p:spPr>
        <p:txBody>
          <a:bodyPr wrap="square" lIns="0" tIns="0" rIns="0" bIns="0" rtlCol="0" anchor="ctr"/>
          <a:lstStyle/>
          <a:p>
            <a:pPr marL="0" indent="0">
              <a:buNone/>
            </a:pPr>
            <a:r>
              <a:rPr lang="en-US" sz="1200" dirty="0">
                <a:solidFill>
                  <a:srgbClr val="1B1B1B"/>
                </a:solidFill>
              </a:rPr>
              <a:t>step2_buzzer_beep.py</a:t>
            </a:r>
            <a:endParaRPr lang="en-US" sz="1200" dirty="0"/>
          </a:p>
        </p:txBody>
      </p:sp>
      <p:sp>
        <p:nvSpPr>
          <p:cNvPr id="14" name="Shape 12"/>
          <p:cNvSpPr/>
          <p:nvPr/>
        </p:nvSpPr>
        <p:spPr>
          <a:xfrm>
            <a:off x="502920" y="2843784"/>
            <a:ext cx="2651760" cy="292608"/>
          </a:xfrm>
          <a:prstGeom prst="rect">
            <a:avLst/>
          </a:prstGeom>
          <a:solidFill>
            <a:srgbClr val="FFF1C2"/>
          </a:solidFill>
          <a:ln w="12700">
            <a:solidFill>
              <a:srgbClr val="FFF1C2"/>
            </a:solidFill>
            <a:prstDash val="solid"/>
          </a:ln>
        </p:spPr>
        <p:txBody>
          <a:bodyPr/>
          <a:lstStyle/>
          <a:p>
            <a:endParaRPr lang="en-US"/>
          </a:p>
        </p:txBody>
      </p:sp>
      <p:sp>
        <p:nvSpPr>
          <p:cNvPr id="15" name="Shape 13"/>
          <p:cNvSpPr/>
          <p:nvPr/>
        </p:nvSpPr>
        <p:spPr>
          <a:xfrm>
            <a:off x="1088136" y="2889504"/>
            <a:ext cx="146304" cy="201168"/>
          </a:xfrm>
          <a:prstGeom prst="rect">
            <a:avLst/>
          </a:prstGeom>
          <a:solidFill>
            <a:srgbClr val="FFFFFF"/>
          </a:solidFill>
          <a:ln w="12700">
            <a:solidFill>
              <a:srgbClr val="9E9E9E"/>
            </a:solidFill>
            <a:prstDash val="solid"/>
          </a:ln>
        </p:spPr>
        <p:txBody>
          <a:bodyPr/>
          <a:lstStyle/>
          <a:p>
            <a:endParaRPr lang="en-US"/>
          </a:p>
        </p:txBody>
      </p:sp>
      <p:sp>
        <p:nvSpPr>
          <p:cNvPr id="16" name="Text 14"/>
          <p:cNvSpPr txBox="1"/>
          <p:nvPr/>
        </p:nvSpPr>
        <p:spPr>
          <a:xfrm>
            <a:off x="1344168" y="2871216"/>
            <a:ext cx="2286000" cy="237744"/>
          </a:xfrm>
          <a:prstGeom prst="rect">
            <a:avLst/>
          </a:prstGeom>
          <a:noFill/>
          <a:ln/>
        </p:spPr>
        <p:txBody>
          <a:bodyPr wrap="square" lIns="0" tIns="0" rIns="0" bIns="0" rtlCol="0" anchor="ctr"/>
          <a:lstStyle/>
          <a:p>
            <a:pPr marL="0" indent="0">
              <a:buNone/>
            </a:pPr>
            <a:r>
              <a:rPr lang="en-US" sz="1200" dirty="0">
                <a:solidFill>
                  <a:srgbClr val="1B1B1B"/>
                </a:solidFill>
              </a:rPr>
              <a:t>step3_parking_beep.py</a:t>
            </a:r>
            <a:endParaRPr lang="en-US" sz="1200" dirty="0"/>
          </a:p>
        </p:txBody>
      </p:sp>
      <p:sp>
        <p:nvSpPr>
          <p:cNvPr id="17" name="Shape 15"/>
          <p:cNvSpPr/>
          <p:nvPr/>
        </p:nvSpPr>
        <p:spPr>
          <a:xfrm>
            <a:off x="2103120" y="3063240"/>
            <a:ext cx="1325880" cy="384048"/>
          </a:xfrm>
          <a:prstGeom prst="rect">
            <a:avLst/>
          </a:prstGeom>
          <a:solidFill>
            <a:srgbClr val="FFFFFF"/>
          </a:solidFill>
          <a:ln w="12700">
            <a:solidFill>
              <a:srgbClr val="9E9E9E"/>
            </a:solidFill>
            <a:prstDash val="solid"/>
          </a:ln>
          <a:effectLst>
            <a:outerShdw blurRad="50800" dist="25400" dir="5400000" algn="bl" rotWithShape="0">
              <a:srgbClr val="000000">
                <a:alpha val="20000"/>
              </a:srgbClr>
            </a:outerShdw>
          </a:effectLst>
        </p:spPr>
        <p:txBody>
          <a:bodyPr/>
          <a:lstStyle/>
          <a:p>
            <a:endParaRPr lang="en-US"/>
          </a:p>
        </p:txBody>
      </p:sp>
      <p:sp>
        <p:nvSpPr>
          <p:cNvPr id="18" name="Text 16"/>
          <p:cNvSpPr txBox="1"/>
          <p:nvPr/>
        </p:nvSpPr>
        <p:spPr>
          <a:xfrm>
            <a:off x="2103120" y="3063240"/>
            <a:ext cx="1325880" cy="384048"/>
          </a:xfrm>
          <a:prstGeom prst="rect">
            <a:avLst/>
          </a:prstGeom>
          <a:noFill/>
          <a:ln/>
        </p:spPr>
        <p:txBody>
          <a:bodyPr wrap="square" lIns="0" tIns="0" rIns="0" bIns="0" rtlCol="0" anchor="ctr"/>
          <a:lstStyle/>
          <a:p>
            <a:pPr marL="0" indent="0" algn="ctr">
              <a:buNone/>
            </a:pPr>
            <a:r>
              <a:rPr lang="en-US" sz="1300" b="1" dirty="0">
                <a:solidFill>
                  <a:srgbClr val="2B6CB0"/>
                </a:solidFill>
              </a:rPr>
              <a:t>Upload to /</a:t>
            </a:r>
            <a:endParaRPr lang="en-US" sz="1300" dirty="0"/>
          </a:p>
        </p:txBody>
      </p:sp>
      <p:sp>
        <p:nvSpPr>
          <p:cNvPr id="19" name="Shape 17"/>
          <p:cNvSpPr/>
          <p:nvPr/>
        </p:nvSpPr>
        <p:spPr>
          <a:xfrm>
            <a:off x="3429000" y="2377440"/>
            <a:ext cx="548640" cy="0"/>
          </a:xfrm>
          <a:prstGeom prst="line">
            <a:avLst/>
          </a:prstGeom>
          <a:noFill/>
          <a:ln w="38100">
            <a:solidFill>
              <a:srgbClr val="C98C00"/>
            </a:solidFill>
            <a:prstDash val="solid"/>
            <a:tailEnd type="triangle"/>
          </a:ln>
        </p:spPr>
        <p:txBody>
          <a:bodyPr/>
          <a:lstStyle/>
          <a:p>
            <a:endParaRPr lang="en-US"/>
          </a:p>
        </p:txBody>
      </p:sp>
      <p:sp>
        <p:nvSpPr>
          <p:cNvPr id="20" name="Shape 18"/>
          <p:cNvSpPr/>
          <p:nvPr/>
        </p:nvSpPr>
        <p:spPr>
          <a:xfrm>
            <a:off x="4023360" y="1097280"/>
            <a:ext cx="2743200" cy="2514600"/>
          </a:xfrm>
          <a:prstGeom prst="roundRect">
            <a:avLst>
              <a:gd name="adj" fmla="val 2182"/>
            </a:avLst>
          </a:prstGeom>
          <a:solidFill>
            <a:srgbClr val="FAFAFA"/>
          </a:solidFill>
          <a:ln w="12700">
            <a:solidFill>
              <a:srgbClr val="C8C8C8"/>
            </a:solidFill>
            <a:prstDash val="solid"/>
          </a:ln>
        </p:spPr>
        <p:txBody>
          <a:bodyPr/>
          <a:lstStyle/>
          <a:p>
            <a:endParaRPr lang="en-US"/>
          </a:p>
        </p:txBody>
      </p:sp>
      <p:sp>
        <p:nvSpPr>
          <p:cNvPr id="21" name="Shape 19"/>
          <p:cNvSpPr/>
          <p:nvPr/>
        </p:nvSpPr>
        <p:spPr>
          <a:xfrm>
            <a:off x="4041648" y="1115568"/>
            <a:ext cx="2706624" cy="329184"/>
          </a:xfrm>
          <a:prstGeom prst="rect">
            <a:avLst/>
          </a:prstGeom>
          <a:solidFill>
            <a:srgbClr val="E9ECEF"/>
          </a:solidFill>
          <a:ln w="12700">
            <a:solidFill>
              <a:srgbClr val="E9ECEF"/>
            </a:solidFill>
            <a:prstDash val="solid"/>
          </a:ln>
        </p:spPr>
        <p:txBody>
          <a:bodyPr/>
          <a:lstStyle/>
          <a:p>
            <a:endParaRPr lang="en-US"/>
          </a:p>
        </p:txBody>
      </p:sp>
      <p:sp>
        <p:nvSpPr>
          <p:cNvPr id="22" name="Text 20"/>
          <p:cNvSpPr txBox="1"/>
          <p:nvPr/>
        </p:nvSpPr>
        <p:spPr>
          <a:xfrm>
            <a:off x="4133088" y="1115568"/>
            <a:ext cx="2560320" cy="329184"/>
          </a:xfrm>
          <a:prstGeom prst="rect">
            <a:avLst/>
          </a:prstGeom>
          <a:noFill/>
          <a:ln/>
        </p:spPr>
        <p:txBody>
          <a:bodyPr wrap="square" lIns="0" tIns="0" rIns="0" bIns="0" rtlCol="0" anchor="ctr"/>
          <a:lstStyle/>
          <a:p>
            <a:pPr marL="0" indent="0">
              <a:buNone/>
            </a:pPr>
            <a:r>
              <a:rPr lang="en-US" sz="1300" b="1" dirty="0">
                <a:solidFill>
                  <a:srgbClr val="1B1B1B"/>
                </a:solidFill>
              </a:rPr>
              <a:t>MicroPython device</a:t>
            </a:r>
            <a:endParaRPr lang="en-US" sz="1300" dirty="0"/>
          </a:p>
        </p:txBody>
      </p:sp>
      <p:sp>
        <p:nvSpPr>
          <p:cNvPr id="23" name="Shape 21"/>
          <p:cNvSpPr/>
          <p:nvPr/>
        </p:nvSpPr>
        <p:spPr>
          <a:xfrm>
            <a:off x="4197096" y="1572768"/>
            <a:ext cx="146304" cy="201168"/>
          </a:xfrm>
          <a:prstGeom prst="rect">
            <a:avLst/>
          </a:prstGeom>
          <a:solidFill>
            <a:srgbClr val="FFFFFF"/>
          </a:solidFill>
          <a:ln w="12700">
            <a:solidFill>
              <a:srgbClr val="9E9E9E"/>
            </a:solidFill>
            <a:prstDash val="solid"/>
          </a:ln>
        </p:spPr>
        <p:txBody>
          <a:bodyPr/>
          <a:lstStyle/>
          <a:p>
            <a:endParaRPr lang="en-US"/>
          </a:p>
        </p:txBody>
      </p:sp>
      <p:sp>
        <p:nvSpPr>
          <p:cNvPr id="24" name="Text 22"/>
          <p:cNvSpPr txBox="1"/>
          <p:nvPr/>
        </p:nvSpPr>
        <p:spPr>
          <a:xfrm>
            <a:off x="4453128" y="1554480"/>
            <a:ext cx="2286000" cy="237744"/>
          </a:xfrm>
          <a:prstGeom prst="rect">
            <a:avLst/>
          </a:prstGeom>
          <a:noFill/>
          <a:ln/>
        </p:spPr>
        <p:txBody>
          <a:bodyPr wrap="square" lIns="0" tIns="0" rIns="0" bIns="0" rtlCol="0" anchor="ctr"/>
          <a:lstStyle/>
          <a:p>
            <a:pPr marL="0" indent="0">
              <a:buNone/>
            </a:pPr>
            <a:r>
              <a:rPr lang="en-US" sz="1200" dirty="0">
                <a:solidFill>
                  <a:srgbClr val="1B1B1B"/>
                </a:solidFill>
              </a:rPr>
              <a:t>boot.py</a:t>
            </a:r>
            <a:endParaRPr lang="en-US" sz="1200" dirty="0"/>
          </a:p>
        </p:txBody>
      </p:sp>
      <p:sp>
        <p:nvSpPr>
          <p:cNvPr id="25" name="Shape 23"/>
          <p:cNvSpPr/>
          <p:nvPr/>
        </p:nvSpPr>
        <p:spPr>
          <a:xfrm>
            <a:off x="4069080" y="1856232"/>
            <a:ext cx="2651760" cy="292608"/>
          </a:xfrm>
          <a:prstGeom prst="rect">
            <a:avLst/>
          </a:prstGeom>
          <a:solidFill>
            <a:srgbClr val="FFF1C2"/>
          </a:solidFill>
          <a:ln w="12700">
            <a:solidFill>
              <a:srgbClr val="FFF1C2"/>
            </a:solidFill>
            <a:prstDash val="solid"/>
          </a:ln>
        </p:spPr>
        <p:txBody>
          <a:bodyPr/>
          <a:lstStyle/>
          <a:p>
            <a:endParaRPr lang="en-US"/>
          </a:p>
        </p:txBody>
      </p:sp>
      <p:sp>
        <p:nvSpPr>
          <p:cNvPr id="26" name="Shape 24"/>
          <p:cNvSpPr/>
          <p:nvPr/>
        </p:nvSpPr>
        <p:spPr>
          <a:xfrm>
            <a:off x="4197096" y="1901952"/>
            <a:ext cx="146304" cy="201168"/>
          </a:xfrm>
          <a:prstGeom prst="rect">
            <a:avLst/>
          </a:prstGeom>
          <a:solidFill>
            <a:srgbClr val="FFFFFF"/>
          </a:solidFill>
          <a:ln w="12700">
            <a:solidFill>
              <a:srgbClr val="9E9E9E"/>
            </a:solidFill>
            <a:prstDash val="solid"/>
          </a:ln>
        </p:spPr>
        <p:txBody>
          <a:bodyPr/>
          <a:lstStyle/>
          <a:p>
            <a:endParaRPr lang="en-US"/>
          </a:p>
        </p:txBody>
      </p:sp>
      <p:sp>
        <p:nvSpPr>
          <p:cNvPr id="27" name="Text 25"/>
          <p:cNvSpPr txBox="1"/>
          <p:nvPr/>
        </p:nvSpPr>
        <p:spPr>
          <a:xfrm>
            <a:off x="4453128" y="1883664"/>
            <a:ext cx="2286000" cy="237744"/>
          </a:xfrm>
          <a:prstGeom prst="rect">
            <a:avLst/>
          </a:prstGeom>
          <a:noFill/>
          <a:ln/>
        </p:spPr>
        <p:txBody>
          <a:bodyPr wrap="square" lIns="0" tIns="0" rIns="0" bIns="0" rtlCol="0" anchor="ctr"/>
          <a:lstStyle/>
          <a:p>
            <a:pPr marL="0" indent="0">
              <a:buNone/>
            </a:pPr>
            <a:r>
              <a:rPr lang="en-US" sz="1200" dirty="0">
                <a:solidFill>
                  <a:srgbClr val="1B1B1B"/>
                </a:solidFill>
              </a:rPr>
              <a:t>step3_parking_beep.py</a:t>
            </a:r>
            <a:endParaRPr lang="en-US" sz="1200" dirty="0"/>
          </a:p>
        </p:txBody>
      </p:sp>
      <p:sp>
        <p:nvSpPr>
          <p:cNvPr id="28" name="Text 26"/>
          <p:cNvSpPr txBox="1"/>
          <p:nvPr/>
        </p:nvSpPr>
        <p:spPr>
          <a:xfrm>
            <a:off x="457200" y="3657600"/>
            <a:ext cx="2743200" cy="228600"/>
          </a:xfrm>
          <a:prstGeom prst="rect">
            <a:avLst/>
          </a:prstGeom>
          <a:noFill/>
          <a:ln/>
        </p:spPr>
        <p:txBody>
          <a:bodyPr wrap="square" lIns="0" tIns="0" rIns="0" bIns="0" rtlCol="0" anchor="ctr"/>
          <a:lstStyle/>
          <a:p>
            <a:pPr marL="0" indent="0">
              <a:buNone/>
            </a:pPr>
            <a:r>
              <a:rPr lang="en-US" sz="1100" i="1" dirty="0">
                <a:solidFill>
                  <a:srgbClr val="6B7280"/>
                </a:solidFill>
              </a:rPr>
              <a:t>View &gt; Files in Thonny</a:t>
            </a:r>
            <a:endParaRPr lang="en-US" sz="1100" dirty="0"/>
          </a:p>
        </p:txBody>
      </p:sp>
      <p:sp>
        <p:nvSpPr>
          <p:cNvPr id="29" name="Text 27"/>
          <p:cNvSpPr txBox="1"/>
          <p:nvPr/>
        </p:nvSpPr>
        <p:spPr>
          <a:xfrm>
            <a:off x="4023360" y="3657600"/>
            <a:ext cx="2743200" cy="228600"/>
          </a:xfrm>
          <a:prstGeom prst="rect">
            <a:avLst/>
          </a:prstGeom>
          <a:noFill/>
          <a:ln/>
        </p:spPr>
        <p:txBody>
          <a:bodyPr wrap="square" lIns="0" tIns="0" rIns="0" bIns="0" rtlCol="0" anchor="ctr"/>
          <a:lstStyle/>
          <a:p>
            <a:pPr marL="0" indent="0">
              <a:buNone/>
            </a:pPr>
            <a:r>
              <a:rPr lang="en-US" sz="1200" b="1" dirty="0">
                <a:solidFill>
                  <a:srgbClr val="9A6B00"/>
                </a:solidFill>
              </a:rPr>
              <a:t>Edit HERE</a:t>
            </a:r>
            <a:endParaRPr lang="en-US" sz="1200" dirty="0"/>
          </a:p>
        </p:txBody>
      </p:sp>
      <p:sp>
        <p:nvSpPr>
          <p:cNvPr id="30" name="Text 28"/>
          <p:cNvSpPr txBox="1"/>
          <p:nvPr/>
        </p:nvSpPr>
        <p:spPr>
          <a:xfrm>
            <a:off x="6995160" y="1097280"/>
            <a:ext cx="1691640" cy="1188720"/>
          </a:xfrm>
          <a:prstGeom prst="rect">
            <a:avLst/>
          </a:prstGeom>
          <a:noFill/>
          <a:ln/>
        </p:spPr>
        <p:txBody>
          <a:bodyPr wrap="square" lIns="0" tIns="0" rIns="0" bIns="0" rtlCol="0" anchor="ctr"/>
          <a:lstStyle/>
          <a:p>
            <a:pPr marL="0" indent="0">
              <a:buNone/>
            </a:pPr>
            <a:r>
              <a:rPr lang="en-US" sz="1400" b="1" dirty="0">
                <a:solidFill>
                  <a:srgbClr val="0B3D2E"/>
                </a:solidFill>
              </a:rPr>
              <a:t>JA05 on your computer = the teacher's copy. Never edit it.</a:t>
            </a:r>
            <a:endParaRPr lang="en-US" sz="1400" dirty="0"/>
          </a:p>
        </p:txBody>
      </p:sp>
      <p:sp>
        <p:nvSpPr>
          <p:cNvPr id="31" name="Text 29"/>
          <p:cNvSpPr txBox="1"/>
          <p:nvPr/>
        </p:nvSpPr>
        <p:spPr>
          <a:xfrm>
            <a:off x="6995160" y="2331720"/>
            <a:ext cx="1691640" cy="1188720"/>
          </a:xfrm>
          <a:prstGeom prst="rect">
            <a:avLst/>
          </a:prstGeom>
          <a:noFill/>
          <a:ln/>
        </p:spPr>
        <p:txBody>
          <a:bodyPr wrap="square" lIns="0" tIns="0" rIns="0" bIns="0" rtlCol="0" anchor="ctr"/>
          <a:lstStyle/>
          <a:p>
            <a:pPr marL="0" indent="0">
              <a:buNone/>
            </a:pPr>
            <a:r>
              <a:rPr lang="en-US" sz="1400" dirty="0">
                <a:solidFill>
                  <a:srgbClr val="1B1B1B"/>
                </a:solidFill>
              </a:rPr>
              <a:t>Your copy is on the ESP32. get_latest.sh never touches it.</a:t>
            </a:r>
            <a:endParaRPr lang="en-US" sz="1400" dirty="0"/>
          </a:p>
        </p:txBody>
      </p:sp>
      <p:sp>
        <p:nvSpPr>
          <p:cNvPr id="32" name="Shape 30"/>
          <p:cNvSpPr/>
          <p:nvPr/>
        </p:nvSpPr>
        <p:spPr>
          <a:xfrm>
            <a:off x="457200" y="4023360"/>
            <a:ext cx="8229600" cy="502920"/>
          </a:xfrm>
          <a:prstGeom prst="roundRect">
            <a:avLst>
              <a:gd name="adj" fmla="val 14545"/>
            </a:avLst>
          </a:prstGeom>
          <a:solidFill>
            <a:srgbClr val="DDF3E9"/>
          </a:solidFill>
          <a:ln w="15875">
            <a:solidFill>
              <a:srgbClr val="1F8A70"/>
            </a:solidFill>
            <a:prstDash val="solid"/>
          </a:ln>
        </p:spPr>
        <p:txBody>
          <a:bodyPr/>
          <a:lstStyle/>
          <a:p>
            <a:endParaRPr lang="en-US"/>
          </a:p>
        </p:txBody>
      </p:sp>
      <p:sp>
        <p:nvSpPr>
          <p:cNvPr id="33" name="Text 31"/>
          <p:cNvSpPr txBox="1"/>
          <p:nvPr/>
        </p:nvSpPr>
        <p:spPr>
          <a:xfrm>
            <a:off x="594360" y="4023360"/>
            <a:ext cx="7955280" cy="502920"/>
          </a:xfrm>
          <a:prstGeom prst="rect">
            <a:avLst/>
          </a:prstGeom>
          <a:noFill/>
          <a:ln/>
        </p:spPr>
        <p:txBody>
          <a:bodyPr wrap="square" lIns="0" tIns="0" rIns="0" bIns="0" rtlCol="0" anchor="ctr"/>
          <a:lstStyle/>
          <a:p>
            <a:pPr marL="0" indent="0">
              <a:buNone/>
            </a:pPr>
            <a:r>
              <a:rPr lang="en-US" sz="1200" b="1" dirty="0">
                <a:solidFill>
                  <a:srgbClr val="1F8A70"/>
                </a:solidFill>
              </a:rPr>
              <a:t>CHECKPOINT  </a:t>
            </a:r>
            <a:r>
              <a:rPr lang="en-US" sz="1400" dirty="0">
                <a:solidFill>
                  <a:srgbClr val="1B1B1B"/>
                </a:solidFill>
              </a:rPr>
              <a:t>You edit files under MicroPython device only.</a:t>
            </a:r>
            <a:endParaRPr lang="en-US" sz="1400" dirty="0"/>
          </a:p>
        </p:txBody>
      </p:sp>
      <p:sp>
        <p:nvSpPr>
          <p:cNvPr id="34"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A91CE02-61B7-700A-C180-278CEB10C136}"/>
              </a:ext>
            </a:extLst>
          </p:cNvPr>
          <p:cNvPicPr>
            <a:picLocks noChangeAspect="1"/>
          </p:cNvPicPr>
          <p:nvPr/>
        </p:nvPicPr>
        <p:blipFill>
          <a:blip r:embed="rId2"/>
          <a:stretch>
            <a:fillRect/>
          </a:stretch>
        </p:blipFill>
        <p:spPr>
          <a:xfrm>
            <a:off x="417819" y="318052"/>
            <a:ext cx="3568273" cy="4388126"/>
          </a:xfrm>
          <a:prstGeom prst="rect">
            <a:avLst/>
          </a:prstGeom>
        </p:spPr>
      </p:pic>
      <p:sp>
        <p:nvSpPr>
          <p:cNvPr id="4" name="Right Arrow 3">
            <a:extLst>
              <a:ext uri="{FF2B5EF4-FFF2-40B4-BE49-F238E27FC236}">
                <a16:creationId xmlns:a16="http://schemas.microsoft.com/office/drawing/2014/main" id="{9F228145-B7B9-48AD-E3DE-EDDAE0891685}"/>
              </a:ext>
            </a:extLst>
          </p:cNvPr>
          <p:cNvSpPr/>
          <p:nvPr/>
        </p:nvSpPr>
        <p:spPr>
          <a:xfrm rot="11313528">
            <a:off x="1501914" y="355223"/>
            <a:ext cx="512418" cy="172278"/>
          </a:xfrm>
          <a:prstGeom prst="rightArrow">
            <a:avLst>
              <a:gd name="adj1" fmla="val 50000"/>
              <a:gd name="adj2" fmla="val 8333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ight Arrow 4">
            <a:extLst>
              <a:ext uri="{FF2B5EF4-FFF2-40B4-BE49-F238E27FC236}">
                <a16:creationId xmlns:a16="http://schemas.microsoft.com/office/drawing/2014/main" id="{7503FC9B-5CA9-4008-A066-4A1838E04457}"/>
              </a:ext>
            </a:extLst>
          </p:cNvPr>
          <p:cNvSpPr/>
          <p:nvPr/>
        </p:nvSpPr>
        <p:spPr>
          <a:xfrm rot="11313528">
            <a:off x="2082801" y="693153"/>
            <a:ext cx="512418" cy="172278"/>
          </a:xfrm>
          <a:prstGeom prst="rightArrow">
            <a:avLst>
              <a:gd name="adj1" fmla="val 50000"/>
              <a:gd name="adj2" fmla="val 8333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85C534F9-A1B1-9326-020C-81EAA7192DBB}"/>
              </a:ext>
            </a:extLst>
          </p:cNvPr>
          <p:cNvPicPr>
            <a:picLocks noChangeAspect="1"/>
          </p:cNvPicPr>
          <p:nvPr/>
        </p:nvPicPr>
        <p:blipFill>
          <a:blip r:embed="rId3"/>
          <a:stretch>
            <a:fillRect/>
          </a:stretch>
        </p:blipFill>
        <p:spPr>
          <a:xfrm>
            <a:off x="4134523" y="318052"/>
            <a:ext cx="2528598" cy="2623931"/>
          </a:xfrm>
          <a:prstGeom prst="rect">
            <a:avLst/>
          </a:prstGeom>
        </p:spPr>
      </p:pic>
      <p:sp>
        <p:nvSpPr>
          <p:cNvPr id="7" name="Right Arrow 6">
            <a:extLst>
              <a:ext uri="{FF2B5EF4-FFF2-40B4-BE49-F238E27FC236}">
                <a16:creationId xmlns:a16="http://schemas.microsoft.com/office/drawing/2014/main" id="{2CD6A5A3-5EAA-4EE6-EB7B-090195573FC9}"/>
              </a:ext>
            </a:extLst>
          </p:cNvPr>
          <p:cNvSpPr/>
          <p:nvPr/>
        </p:nvSpPr>
        <p:spPr>
          <a:xfrm rot="9518893">
            <a:off x="5234610" y="1075256"/>
            <a:ext cx="512418" cy="172278"/>
          </a:xfrm>
          <a:prstGeom prst="rightArrow">
            <a:avLst>
              <a:gd name="adj1" fmla="val 50000"/>
              <a:gd name="adj2" fmla="val 8333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B83317F-88CB-33C6-D655-665AD9C7E6FF}"/>
              </a:ext>
            </a:extLst>
          </p:cNvPr>
          <p:cNvSpPr txBox="1"/>
          <p:nvPr/>
        </p:nvSpPr>
        <p:spPr>
          <a:xfrm>
            <a:off x="5760806" y="687158"/>
            <a:ext cx="1466574" cy="43088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100" dirty="0"/>
              <a:t>Right Click (click with 2 fingers on MacBook</a:t>
            </a:r>
          </a:p>
        </p:txBody>
      </p:sp>
    </p:spTree>
    <p:extLst>
      <p:ext uri="{BB962C8B-B14F-4D97-AF65-F5344CB8AC3E}">
        <p14:creationId xmlns:p14="http://schemas.microsoft.com/office/powerpoint/2010/main" val="565491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59CD98B-9C5F-6E90-E9C8-D0FC93EF6619}"/>
              </a:ext>
            </a:extLst>
          </p:cNvPr>
          <p:cNvPicPr>
            <a:picLocks noChangeAspect="1"/>
          </p:cNvPicPr>
          <p:nvPr/>
        </p:nvPicPr>
        <p:blipFill>
          <a:blip r:embed="rId2"/>
          <a:stretch>
            <a:fillRect/>
          </a:stretch>
        </p:blipFill>
        <p:spPr>
          <a:xfrm>
            <a:off x="244061" y="289563"/>
            <a:ext cx="8555978" cy="3867202"/>
          </a:xfrm>
          <a:prstGeom prst="rect">
            <a:avLst/>
          </a:prstGeom>
        </p:spPr>
      </p:pic>
      <p:sp>
        <p:nvSpPr>
          <p:cNvPr id="5" name="Right Arrow 4">
            <a:extLst>
              <a:ext uri="{FF2B5EF4-FFF2-40B4-BE49-F238E27FC236}">
                <a16:creationId xmlns:a16="http://schemas.microsoft.com/office/drawing/2014/main" id="{DB02D103-D238-76BB-8695-751E6B3C0BE4}"/>
              </a:ext>
            </a:extLst>
          </p:cNvPr>
          <p:cNvSpPr/>
          <p:nvPr/>
        </p:nvSpPr>
        <p:spPr>
          <a:xfrm rot="11313528">
            <a:off x="2109305" y="3564458"/>
            <a:ext cx="512418" cy="172278"/>
          </a:xfrm>
          <a:prstGeom prst="rightArrow">
            <a:avLst>
              <a:gd name="adj1" fmla="val 50000"/>
              <a:gd name="adj2" fmla="val 8333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3619335-4DC0-04C8-7EDC-7AFEE38BCE0F}"/>
              </a:ext>
            </a:extLst>
          </p:cNvPr>
          <p:cNvSpPr txBox="1"/>
          <p:nvPr/>
        </p:nvSpPr>
        <p:spPr>
          <a:xfrm>
            <a:off x="2505189" y="3650597"/>
            <a:ext cx="1466574" cy="43088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100" dirty="0"/>
              <a:t>Double Click to edit this file on the ESP32</a:t>
            </a:r>
          </a:p>
        </p:txBody>
      </p:sp>
      <p:sp>
        <p:nvSpPr>
          <p:cNvPr id="7" name="TextBox 6">
            <a:extLst>
              <a:ext uri="{FF2B5EF4-FFF2-40B4-BE49-F238E27FC236}">
                <a16:creationId xmlns:a16="http://schemas.microsoft.com/office/drawing/2014/main" id="{46AC6476-EEC7-DA70-7203-5B3593A0F2BE}"/>
              </a:ext>
            </a:extLst>
          </p:cNvPr>
          <p:cNvSpPr txBox="1"/>
          <p:nvPr/>
        </p:nvSpPr>
        <p:spPr>
          <a:xfrm>
            <a:off x="4522050" y="401606"/>
            <a:ext cx="1466574" cy="43088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100" dirty="0"/>
              <a:t>Files on ESP32 </a:t>
            </a:r>
            <a:r>
              <a:rPr lang="en-US" sz="1100"/>
              <a:t>are enclosed by [ and ]</a:t>
            </a:r>
            <a:endParaRPr lang="en-US" sz="1100" dirty="0"/>
          </a:p>
        </p:txBody>
      </p:sp>
    </p:spTree>
    <p:extLst>
      <p:ext uri="{BB962C8B-B14F-4D97-AF65-F5344CB8AC3E}">
        <p14:creationId xmlns:p14="http://schemas.microsoft.com/office/powerpoint/2010/main" val="38849553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949440" cy="640080"/>
          </a:xfrm>
          <a:prstGeom prst="rect">
            <a:avLst/>
          </a:prstGeom>
          <a:noFill/>
          <a:ln/>
        </p:spPr>
        <p:txBody>
          <a:bodyPr wrap="square" lIns="0" tIns="0" rIns="0" bIns="0" rtlCol="0" anchor="ctr"/>
          <a:lstStyle/>
          <a:p>
            <a:pPr marL="0" indent="0" algn="l">
              <a:buNone/>
            </a:pPr>
            <a:r>
              <a:rPr lang="en-US" sz="3000" b="1" dirty="0">
                <a:solidFill>
                  <a:schemeClr val="tx2"/>
                </a:solidFill>
              </a:rPr>
              <a:t>Lesson 3 answer: leds_for()</a:t>
            </a:r>
            <a:endParaRPr lang="en-US" sz="3000" dirty="0"/>
          </a:p>
        </p:txBody>
      </p:sp>
      <p:sp>
        <p:nvSpPr>
          <p:cNvPr id="3" name="Shape 1"/>
          <p:cNvSpPr/>
          <p:nvPr/>
        </p:nvSpPr>
        <p:spPr>
          <a:xfrm>
            <a:off x="457200" y="1051560"/>
            <a:ext cx="4206240" cy="2148840"/>
          </a:xfrm>
          <a:prstGeom prst="roundRect">
            <a:avLst>
              <a:gd name="adj" fmla="val 3404"/>
            </a:avLst>
          </a:prstGeom>
          <a:solidFill>
            <a:srgbClr val="14261F"/>
          </a:solidFill>
          <a:ln w="12700">
            <a:solidFill>
              <a:srgbClr val="14261F"/>
            </a:solidFill>
            <a:prstDash val="solid"/>
          </a:ln>
        </p:spPr>
        <p:txBody>
          <a:bodyPr/>
          <a:lstStyle/>
          <a:p>
            <a:endParaRPr lang="en-US"/>
          </a:p>
        </p:txBody>
      </p:sp>
      <p:sp>
        <p:nvSpPr>
          <p:cNvPr id="4" name="Text 2"/>
          <p:cNvSpPr txBox="1"/>
          <p:nvPr/>
        </p:nvSpPr>
        <p:spPr>
          <a:xfrm>
            <a:off x="594360" y="1115568"/>
            <a:ext cx="3931920" cy="219456"/>
          </a:xfrm>
          <a:prstGeom prst="rect">
            <a:avLst/>
          </a:prstGeom>
          <a:noFill/>
          <a:ln/>
        </p:spPr>
        <p:txBody>
          <a:bodyPr wrap="square" lIns="0" tIns="0" rIns="0" bIns="0" rtlCol="0" anchor="ctr"/>
          <a:lstStyle/>
          <a:p>
            <a:pPr marL="0" indent="0">
              <a:buNone/>
            </a:pPr>
            <a:r>
              <a:rPr lang="en-US" sz="1100" b="1" dirty="0">
                <a:solidFill>
                  <a:srgbClr val="F2A900"/>
                </a:solidFill>
              </a:rPr>
              <a:t>step5_solution.py</a:t>
            </a:r>
            <a:r>
              <a:rPr lang="en-US" sz="1100" dirty="0">
                <a:solidFill>
                  <a:srgbClr val="9FB8AD"/>
                </a:solidFill>
              </a:rPr>
              <a:t>  ·  lines 48–53</a:t>
            </a:r>
            <a:endParaRPr lang="en-US" sz="1100" dirty="0"/>
          </a:p>
        </p:txBody>
      </p:sp>
      <p:sp>
        <p:nvSpPr>
          <p:cNvPr id="5" name="Shape 3"/>
          <p:cNvSpPr/>
          <p:nvPr/>
        </p:nvSpPr>
        <p:spPr>
          <a:xfrm>
            <a:off x="566928" y="1371600"/>
            <a:ext cx="3986784" cy="0"/>
          </a:xfrm>
          <a:prstGeom prst="line">
            <a:avLst/>
          </a:prstGeom>
          <a:noFill/>
          <a:ln w="12700">
            <a:solidFill>
              <a:srgbClr val="2F4A3F"/>
            </a:solidFill>
            <a:prstDash val="solid"/>
          </a:ln>
        </p:spPr>
        <p:txBody>
          <a:bodyPr/>
          <a:lstStyle/>
          <a:p>
            <a:endParaRPr lang="en-US"/>
          </a:p>
        </p:txBody>
      </p:sp>
      <p:sp>
        <p:nvSpPr>
          <p:cNvPr id="6" name="Text 4"/>
          <p:cNvSpPr txBox="1"/>
          <p:nvPr/>
        </p:nvSpPr>
        <p:spPr>
          <a:xfrm>
            <a:off x="548640" y="1435608"/>
            <a:ext cx="4023360" cy="1691640"/>
          </a:xfrm>
          <a:prstGeom prst="rect">
            <a:avLst/>
          </a:prstGeom>
          <a:noFill/>
          <a:ln/>
        </p:spPr>
        <p:txBody>
          <a:bodyPr wrap="square" lIns="0" tIns="0" rIns="0" bIns="0" rtlCol="0" anchor="t"/>
          <a:lstStyle/>
          <a:p>
            <a:pPr marL="0" indent="0">
              <a:buNone/>
            </a:pPr>
            <a:r>
              <a:rPr lang="en-US" sz="1100" dirty="0">
                <a:solidFill>
                  <a:srgbClr val="6F8A7F"/>
                </a:solidFill>
                <a:latin typeface="Courier New" pitchFamily="34" charset="0"/>
                <a:ea typeface="Courier New" pitchFamily="34" charset="-122"/>
                <a:cs typeface="Courier New" pitchFamily="34" charset="-120"/>
              </a:rPr>
              <a:t> 48  </a:t>
            </a:r>
            <a:r>
              <a:rPr lang="en-US" sz="1100" dirty="0">
                <a:solidFill>
                  <a:srgbClr val="E6F2EC"/>
                </a:solidFill>
                <a:latin typeface="Courier New" pitchFamily="34" charset="0"/>
                <a:ea typeface="Courier New" pitchFamily="34" charset="-122"/>
                <a:cs typeface="Courier New" pitchFamily="34" charset="-120"/>
              </a:rPr>
              <a:t>def leds_for(distance):</a:t>
            </a:r>
            <a:endParaRPr lang="en-US" sz="1100" dirty="0"/>
          </a:p>
          <a:p>
            <a:pPr marL="0" indent="0">
              <a:buNone/>
            </a:pPr>
            <a:r>
              <a:rPr lang="en-US" sz="1100" dirty="0">
                <a:solidFill>
                  <a:srgbClr val="6F8A7F"/>
                </a:solidFill>
                <a:latin typeface="Courier New" pitchFamily="34" charset="0"/>
                <a:ea typeface="Courier New" pitchFamily="34" charset="-122"/>
                <a:cs typeface="Courier New" pitchFamily="34" charset="-120"/>
              </a:rPr>
              <a:t>   ⋮</a:t>
            </a:r>
            <a:endParaRPr lang="en-US" sz="1100" dirty="0"/>
          </a:p>
          <a:p>
            <a:pPr marL="0" indent="0">
              <a:buNone/>
            </a:pPr>
            <a:r>
              <a:rPr lang="en-US" sz="1100" dirty="0">
                <a:solidFill>
                  <a:srgbClr val="6F8A7F"/>
                </a:solidFill>
                <a:latin typeface="Courier New" pitchFamily="34" charset="0"/>
                <a:ea typeface="Courier New" pitchFamily="34" charset="-122"/>
                <a:cs typeface="Courier New" pitchFamily="34" charset="-120"/>
              </a:rPr>
              <a:t> 50  </a:t>
            </a:r>
            <a:r>
              <a:rPr lang="en-US" sz="1100" dirty="0">
                <a:solidFill>
                  <a:srgbClr val="E6F2EC"/>
                </a:solidFill>
                <a:latin typeface="Courier New" pitchFamily="34" charset="0"/>
                <a:ea typeface="Courier New" pitchFamily="34" charset="-122"/>
                <a:cs typeface="Courier New" pitchFamily="34" charset="-120"/>
              </a:rPr>
              <a:t>    if distance is None:</a:t>
            </a:r>
            <a:endParaRPr lang="en-US" sz="1100" dirty="0"/>
          </a:p>
          <a:p>
            <a:pPr marL="0" indent="0">
              <a:buNone/>
            </a:pPr>
            <a:r>
              <a:rPr lang="en-US" sz="1100" dirty="0">
                <a:solidFill>
                  <a:srgbClr val="6F8A7F"/>
                </a:solidFill>
                <a:latin typeface="Courier New" pitchFamily="34" charset="0"/>
                <a:ea typeface="Courier New" pitchFamily="34" charset="-122"/>
                <a:cs typeface="Courier New" pitchFamily="34" charset="-120"/>
              </a:rPr>
              <a:t> 51  </a:t>
            </a:r>
            <a:r>
              <a:rPr lang="en-US" sz="1100" dirty="0">
                <a:solidFill>
                  <a:srgbClr val="E6F2EC"/>
                </a:solidFill>
                <a:latin typeface="Courier New" pitchFamily="34" charset="0"/>
                <a:ea typeface="Courier New" pitchFamily="34" charset="-122"/>
                <a:cs typeface="Courier New" pitchFamily="34" charset="-120"/>
              </a:rPr>
              <a:t>        return 0</a:t>
            </a:r>
            <a:endParaRPr lang="en-US" sz="1100" dirty="0"/>
          </a:p>
          <a:p>
            <a:pPr marL="0" indent="0">
              <a:buNone/>
            </a:pPr>
            <a:r>
              <a:rPr lang="en-US" sz="1100" dirty="0">
                <a:solidFill>
                  <a:srgbClr val="6F8A7F"/>
                </a:solidFill>
                <a:latin typeface="Courier New" pitchFamily="34" charset="0"/>
                <a:ea typeface="Courier New" pitchFamily="34" charset="-122"/>
                <a:cs typeface="Courier New" pitchFamily="34" charset="-120"/>
              </a:rPr>
              <a:t> 52  </a:t>
            </a:r>
            <a:r>
              <a:rPr lang="en-US" sz="1100" dirty="0">
                <a:solidFill>
                  <a:srgbClr val="E6F2EC"/>
                </a:solidFill>
                <a:latin typeface="Courier New" pitchFamily="34" charset="0"/>
                <a:ea typeface="Courier New" pitchFamily="34" charset="-122"/>
                <a:cs typeface="Courier New" pitchFamily="34" charset="-120"/>
              </a:rPr>
              <a:t>    count = 5 - int(distance // STEP_CM)</a:t>
            </a:r>
            <a:endParaRPr lang="en-US" sz="1100" dirty="0"/>
          </a:p>
          <a:p>
            <a:pPr marL="0" indent="0">
              <a:buNone/>
            </a:pPr>
            <a:r>
              <a:rPr lang="en-US" sz="1100" dirty="0">
                <a:solidFill>
                  <a:srgbClr val="6F8A7F"/>
                </a:solidFill>
                <a:latin typeface="Courier New" pitchFamily="34" charset="0"/>
                <a:ea typeface="Courier New" pitchFamily="34" charset="-122"/>
                <a:cs typeface="Courier New" pitchFamily="34" charset="-120"/>
              </a:rPr>
              <a:t> 53  </a:t>
            </a:r>
            <a:r>
              <a:rPr lang="en-US" sz="1100" dirty="0">
                <a:solidFill>
                  <a:srgbClr val="E6F2EC"/>
                </a:solidFill>
                <a:latin typeface="Courier New" pitchFamily="34" charset="0"/>
                <a:ea typeface="Courier New" pitchFamily="34" charset="-122"/>
                <a:cs typeface="Courier New" pitchFamily="34" charset="-120"/>
              </a:rPr>
              <a:t>    return max(0, min(5, count))</a:t>
            </a:r>
            <a:endParaRPr lang="en-US" sz="1100" dirty="0"/>
          </a:p>
        </p:txBody>
      </p:sp>
      <p:sp>
        <p:nvSpPr>
          <p:cNvPr id="7" name="Text 5"/>
          <p:cNvSpPr txBox="1"/>
          <p:nvPr/>
        </p:nvSpPr>
        <p:spPr>
          <a:xfrm>
            <a:off x="457200" y="3291840"/>
            <a:ext cx="4206240" cy="548640"/>
          </a:xfrm>
          <a:prstGeom prst="rect">
            <a:avLst/>
          </a:prstGeom>
          <a:noFill/>
          <a:ln/>
        </p:spPr>
        <p:txBody>
          <a:bodyPr wrap="square" lIns="0" tIns="0" rIns="0" bIns="0" rtlCol="0" anchor="ctr"/>
          <a:lstStyle/>
          <a:p>
            <a:pPr marL="0" indent="0">
              <a:buNone/>
            </a:pPr>
            <a:r>
              <a:rPr lang="en-US" sz="1400" dirty="0">
                <a:solidFill>
                  <a:srgbClr val="1B1B1B"/>
                </a:solidFill>
              </a:rPr>
              <a:t>With maths: 5 minus the number of 5 cm steps, kept between 0 and 5.</a:t>
            </a:r>
            <a:endParaRPr lang="en-US" sz="1400" dirty="0"/>
          </a:p>
        </p:txBody>
      </p:sp>
      <p:sp>
        <p:nvSpPr>
          <p:cNvPr id="8" name="Shape 6"/>
          <p:cNvSpPr/>
          <p:nvPr/>
        </p:nvSpPr>
        <p:spPr>
          <a:xfrm>
            <a:off x="4937760" y="1051560"/>
            <a:ext cx="3749040" cy="2514600"/>
          </a:xfrm>
          <a:prstGeom prst="roundRect">
            <a:avLst>
              <a:gd name="adj" fmla="val 2909"/>
            </a:avLst>
          </a:prstGeom>
          <a:solidFill>
            <a:srgbClr val="2B2F33"/>
          </a:solidFill>
          <a:ln w="12700">
            <a:solidFill>
              <a:srgbClr val="2B2F33"/>
            </a:solidFill>
            <a:prstDash val="solid"/>
          </a:ln>
        </p:spPr>
        <p:txBody>
          <a:bodyPr/>
          <a:lstStyle/>
          <a:p>
            <a:endParaRPr lang="en-US"/>
          </a:p>
        </p:txBody>
      </p:sp>
      <p:sp>
        <p:nvSpPr>
          <p:cNvPr id="9" name="Text 7"/>
          <p:cNvSpPr txBox="1"/>
          <p:nvPr/>
        </p:nvSpPr>
        <p:spPr>
          <a:xfrm>
            <a:off x="5074920" y="1115568"/>
            <a:ext cx="3474720" cy="219456"/>
          </a:xfrm>
          <a:prstGeom prst="rect">
            <a:avLst/>
          </a:prstGeom>
          <a:noFill/>
          <a:ln/>
        </p:spPr>
        <p:txBody>
          <a:bodyPr wrap="square" lIns="0" tIns="0" rIns="0" bIns="0" rtlCol="0" anchor="ctr"/>
          <a:lstStyle/>
          <a:p>
            <a:pPr marL="0" indent="0">
              <a:buNone/>
            </a:pPr>
            <a:r>
              <a:rPr lang="en-US" sz="1100" i="1" dirty="0">
                <a:solidFill>
                  <a:srgbClr val="C9CED3"/>
                </a:solidFill>
              </a:rPr>
              <a:t>Same idea with if / elif</a:t>
            </a:r>
            <a:endParaRPr lang="en-US" sz="1100" dirty="0"/>
          </a:p>
        </p:txBody>
      </p:sp>
      <p:sp>
        <p:nvSpPr>
          <p:cNvPr id="10" name="Shape 8"/>
          <p:cNvSpPr/>
          <p:nvPr/>
        </p:nvSpPr>
        <p:spPr>
          <a:xfrm>
            <a:off x="5047488" y="1371600"/>
            <a:ext cx="3529584" cy="0"/>
          </a:xfrm>
          <a:prstGeom prst="line">
            <a:avLst/>
          </a:prstGeom>
          <a:noFill/>
          <a:ln w="12700">
            <a:solidFill>
              <a:srgbClr val="454B51"/>
            </a:solidFill>
            <a:prstDash val="solid"/>
          </a:ln>
        </p:spPr>
        <p:txBody>
          <a:bodyPr/>
          <a:lstStyle/>
          <a:p>
            <a:endParaRPr lang="en-US"/>
          </a:p>
        </p:txBody>
      </p:sp>
      <p:sp>
        <p:nvSpPr>
          <p:cNvPr id="11" name="Text 9"/>
          <p:cNvSpPr txBox="1"/>
          <p:nvPr/>
        </p:nvSpPr>
        <p:spPr>
          <a:xfrm>
            <a:off x="5102352" y="1435608"/>
            <a:ext cx="3419856" cy="2057400"/>
          </a:xfrm>
          <a:prstGeom prst="rect">
            <a:avLst/>
          </a:prstGeom>
          <a:noFill/>
          <a:ln/>
        </p:spPr>
        <p:txBody>
          <a:bodyPr wrap="square" lIns="0" tIns="0" rIns="0" bIns="0" rtlCol="0" anchor="t"/>
          <a:lstStyle/>
          <a:p>
            <a:pPr marL="0" indent="0">
              <a:buNone/>
            </a:pPr>
            <a:r>
              <a:rPr lang="en-US" sz="1200" dirty="0">
                <a:solidFill>
                  <a:srgbClr val="E8EAED"/>
                </a:solidFill>
                <a:latin typeface="Courier New" pitchFamily="34" charset="0"/>
                <a:ea typeface="Courier New" pitchFamily="34" charset="-122"/>
                <a:cs typeface="Courier New" pitchFamily="34" charset="-120"/>
              </a:rPr>
              <a:t>if distance &lt; 5:</a:t>
            </a:r>
            <a:endParaRPr lang="en-US" sz="1200" dirty="0"/>
          </a:p>
          <a:p>
            <a:pPr marL="0" indent="0">
              <a:buNone/>
            </a:pPr>
            <a:r>
              <a:rPr lang="en-US" sz="1200" dirty="0">
                <a:solidFill>
                  <a:srgbClr val="E8EAED"/>
                </a:solidFill>
                <a:latin typeface="Courier New" pitchFamily="34" charset="0"/>
                <a:ea typeface="Courier New" pitchFamily="34" charset="-122"/>
                <a:cs typeface="Courier New" pitchFamily="34" charset="-120"/>
              </a:rPr>
              <a:t>    return 5</a:t>
            </a:r>
            <a:endParaRPr lang="en-US" sz="1200" dirty="0"/>
          </a:p>
          <a:p>
            <a:pPr marL="0" indent="0">
              <a:buNone/>
            </a:pPr>
            <a:r>
              <a:rPr lang="en-US" sz="1200" dirty="0">
                <a:solidFill>
                  <a:srgbClr val="E8EAED"/>
                </a:solidFill>
                <a:latin typeface="Courier New" pitchFamily="34" charset="0"/>
                <a:ea typeface="Courier New" pitchFamily="34" charset="-122"/>
                <a:cs typeface="Courier New" pitchFamily="34" charset="-120"/>
              </a:rPr>
              <a:t>elif distance &lt; 10:</a:t>
            </a:r>
            <a:endParaRPr lang="en-US" sz="1200" dirty="0"/>
          </a:p>
          <a:p>
            <a:pPr marL="0" indent="0">
              <a:buNone/>
            </a:pPr>
            <a:r>
              <a:rPr lang="en-US" sz="1200" dirty="0">
                <a:solidFill>
                  <a:srgbClr val="E8EAED"/>
                </a:solidFill>
                <a:latin typeface="Courier New" pitchFamily="34" charset="0"/>
                <a:ea typeface="Courier New" pitchFamily="34" charset="-122"/>
                <a:cs typeface="Courier New" pitchFamily="34" charset="-120"/>
              </a:rPr>
              <a:t>    return 4</a:t>
            </a:r>
            <a:endParaRPr lang="en-US" sz="1200" dirty="0"/>
          </a:p>
          <a:p>
            <a:pPr marL="0" indent="0">
              <a:buNone/>
            </a:pPr>
            <a:r>
              <a:rPr lang="en-US" sz="1200" dirty="0">
                <a:solidFill>
                  <a:srgbClr val="E8EAED"/>
                </a:solidFill>
                <a:latin typeface="Courier New" pitchFamily="34" charset="0"/>
                <a:ea typeface="Courier New" pitchFamily="34" charset="-122"/>
                <a:cs typeface="Courier New" pitchFamily="34" charset="-120"/>
              </a:rPr>
              <a:t>...</a:t>
            </a:r>
            <a:endParaRPr lang="en-US" sz="1200" dirty="0"/>
          </a:p>
          <a:p>
            <a:pPr marL="0" indent="0">
              <a:buNone/>
            </a:pPr>
            <a:r>
              <a:rPr lang="en-US" sz="1200" dirty="0">
                <a:solidFill>
                  <a:srgbClr val="E8EAED"/>
                </a:solidFill>
                <a:latin typeface="Courier New" pitchFamily="34" charset="0"/>
                <a:ea typeface="Courier New" pitchFamily="34" charset="-122"/>
                <a:cs typeface="Courier New" pitchFamily="34" charset="-120"/>
              </a:rPr>
              <a:t>else:</a:t>
            </a:r>
            <a:endParaRPr lang="en-US" sz="1200" dirty="0"/>
          </a:p>
          <a:p>
            <a:pPr marL="0" indent="0">
              <a:buNone/>
            </a:pPr>
            <a:r>
              <a:rPr lang="en-US" sz="1200" dirty="0">
                <a:solidFill>
                  <a:srgbClr val="E8EAED"/>
                </a:solidFill>
                <a:latin typeface="Courier New" pitchFamily="34" charset="0"/>
                <a:ea typeface="Courier New" pitchFamily="34" charset="-122"/>
                <a:cs typeface="Courier New" pitchFamily="34" charset="-120"/>
              </a:rPr>
              <a:t>    return 0</a:t>
            </a:r>
            <a:endParaRPr lang="en-US" sz="1200" dirty="0"/>
          </a:p>
        </p:txBody>
      </p:sp>
      <p:sp>
        <p:nvSpPr>
          <p:cNvPr id="12" name="Text 10"/>
          <p:cNvSpPr txBox="1"/>
          <p:nvPr/>
        </p:nvSpPr>
        <p:spPr>
          <a:xfrm>
            <a:off x="4937760" y="3657600"/>
            <a:ext cx="3749040" cy="548640"/>
          </a:xfrm>
          <a:prstGeom prst="rect">
            <a:avLst/>
          </a:prstGeom>
          <a:noFill/>
          <a:ln/>
        </p:spPr>
        <p:txBody>
          <a:bodyPr wrap="square" lIns="0" tIns="0" rIns="0" bIns="0" rtlCol="0" anchor="ctr"/>
          <a:lstStyle/>
          <a:p>
            <a:pPr marL="0" indent="0">
              <a:buNone/>
            </a:pPr>
            <a:r>
              <a:rPr lang="en-US" sz="1400" dirty="0">
                <a:solidFill>
                  <a:srgbClr val="1B1B1B"/>
                </a:solidFill>
              </a:rPr>
              <a:t>Both give the same answer. Yours can look different and still be right.</a:t>
            </a:r>
            <a:endParaRPr lang="en-US" sz="1400" dirty="0"/>
          </a:p>
        </p:txBody>
      </p:sp>
      <p:sp>
        <p:nvSpPr>
          <p:cNvPr id="13" name="Shape 11"/>
          <p:cNvSpPr/>
          <p:nvPr/>
        </p:nvSpPr>
        <p:spPr>
          <a:xfrm>
            <a:off x="457200" y="3931920"/>
            <a:ext cx="4206240" cy="502920"/>
          </a:xfrm>
          <a:prstGeom prst="roundRect">
            <a:avLst>
              <a:gd name="adj" fmla="val 14545"/>
            </a:avLst>
          </a:prstGeom>
          <a:solidFill>
            <a:srgbClr val="DDF3E9"/>
          </a:solidFill>
          <a:ln w="15875">
            <a:solidFill>
              <a:srgbClr val="1F8A70"/>
            </a:solidFill>
            <a:prstDash val="solid"/>
          </a:ln>
        </p:spPr>
        <p:txBody>
          <a:bodyPr/>
          <a:lstStyle/>
          <a:p>
            <a:endParaRPr lang="en-US"/>
          </a:p>
        </p:txBody>
      </p:sp>
      <p:sp>
        <p:nvSpPr>
          <p:cNvPr id="14" name="Text 12"/>
          <p:cNvSpPr txBox="1"/>
          <p:nvPr/>
        </p:nvSpPr>
        <p:spPr>
          <a:xfrm>
            <a:off x="594360" y="3931920"/>
            <a:ext cx="3931920" cy="502920"/>
          </a:xfrm>
          <a:prstGeom prst="rect">
            <a:avLst/>
          </a:prstGeom>
          <a:noFill/>
          <a:ln/>
        </p:spPr>
        <p:txBody>
          <a:bodyPr wrap="square" lIns="0" tIns="0" rIns="0" bIns="0" rtlCol="0" anchor="ctr"/>
          <a:lstStyle/>
          <a:p>
            <a:pPr marL="0" indent="0">
              <a:buNone/>
            </a:pPr>
            <a:r>
              <a:rPr lang="en-US" sz="1200" b="1" dirty="0">
                <a:solidFill>
                  <a:srgbClr val="1F8A70"/>
                </a:solidFill>
              </a:rPr>
              <a:t>CHECKPOINT  </a:t>
            </a:r>
            <a:r>
              <a:rPr lang="en-US" sz="1400" dirty="0">
                <a:solidFill>
                  <a:srgbClr val="1B1B1B"/>
                </a:solidFill>
              </a:rPr>
              <a:t>Test: 12 cm should give 3 LEDs.</a:t>
            </a:r>
            <a:endParaRPr lang="en-US" sz="14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949440" cy="640080"/>
          </a:xfrm>
          <a:prstGeom prst="rect">
            <a:avLst/>
          </a:prstGeom>
          <a:noFill/>
          <a:ln/>
        </p:spPr>
        <p:txBody>
          <a:bodyPr wrap="square" lIns="0" tIns="0" rIns="0" bIns="0" rtlCol="0" anchor="ctr"/>
          <a:lstStyle/>
          <a:p>
            <a:pPr marL="0" indent="0" algn="l">
              <a:buNone/>
            </a:pPr>
            <a:r>
              <a:rPr lang="en-US" sz="3000" b="1" dirty="0">
                <a:solidFill>
                  <a:schemeClr val="tx2"/>
                </a:solidFill>
              </a:rPr>
              <a:t>Pick your track</a:t>
            </a:r>
            <a:endParaRPr lang="en-US" sz="3000" dirty="0"/>
          </a:p>
        </p:txBody>
      </p:sp>
      <p:sp>
        <p:nvSpPr>
          <p:cNvPr id="3" name="Text 1"/>
          <p:cNvSpPr txBox="1"/>
          <p:nvPr/>
        </p:nvSpPr>
        <p:spPr>
          <a:xfrm>
            <a:off x="457200" y="1005840"/>
            <a:ext cx="8229600" cy="365760"/>
          </a:xfrm>
          <a:prstGeom prst="rect">
            <a:avLst/>
          </a:prstGeom>
          <a:noFill/>
          <a:ln/>
        </p:spPr>
        <p:txBody>
          <a:bodyPr wrap="square" lIns="0" tIns="0" rIns="0" bIns="0" rtlCol="0" anchor="ctr"/>
          <a:lstStyle/>
          <a:p>
            <a:pPr marL="0" indent="0" algn="ctr">
              <a:buNone/>
            </a:pPr>
            <a:r>
              <a:rPr lang="en-US" sz="1800" b="1" dirty="0">
                <a:solidFill>
                  <a:srgbClr val="0B3D2E"/>
                </a:solidFill>
              </a:rPr>
              <a:t>Does your LED bar work? (Lesson 3, Step 5)</a:t>
            </a:r>
            <a:endParaRPr lang="en-US" sz="1800" dirty="0"/>
          </a:p>
        </p:txBody>
      </p:sp>
      <p:sp>
        <p:nvSpPr>
          <p:cNvPr id="4" name="Shape 2"/>
          <p:cNvSpPr/>
          <p:nvPr/>
        </p:nvSpPr>
        <p:spPr>
          <a:xfrm>
            <a:off x="457200" y="1645920"/>
            <a:ext cx="3931920" cy="2651760"/>
          </a:xfrm>
          <a:prstGeom prst="roundRect">
            <a:avLst>
              <a:gd name="adj" fmla="val 3448"/>
            </a:avLst>
          </a:prstGeom>
          <a:solidFill>
            <a:srgbClr val="FFF4D6"/>
          </a:solidFill>
          <a:ln w="19050">
            <a:solidFill>
              <a:srgbClr val="9A6B00"/>
            </a:solidFill>
            <a:prstDash val="solid"/>
          </a:ln>
        </p:spPr>
        <p:txBody>
          <a:bodyPr/>
          <a:lstStyle/>
          <a:p>
            <a:endParaRPr lang="en-US"/>
          </a:p>
        </p:txBody>
      </p:sp>
      <p:sp>
        <p:nvSpPr>
          <p:cNvPr id="5" name="Shape 3"/>
          <p:cNvSpPr/>
          <p:nvPr/>
        </p:nvSpPr>
        <p:spPr>
          <a:xfrm>
            <a:off x="685800" y="1828800"/>
            <a:ext cx="640080" cy="640080"/>
          </a:xfrm>
          <a:prstGeom prst="ellipse">
            <a:avLst/>
          </a:prstGeom>
          <a:solidFill>
            <a:srgbClr val="9A6B00"/>
          </a:solidFill>
          <a:ln w="12700">
            <a:solidFill>
              <a:srgbClr val="9A6B00"/>
            </a:solidFill>
            <a:prstDash val="solid"/>
          </a:ln>
        </p:spPr>
        <p:txBody>
          <a:bodyPr/>
          <a:lstStyle/>
          <a:p>
            <a:endParaRPr lang="en-US"/>
          </a:p>
        </p:txBody>
      </p:sp>
      <p:sp>
        <p:nvSpPr>
          <p:cNvPr id="6" name="Text 4"/>
          <p:cNvSpPr txBox="1"/>
          <p:nvPr/>
        </p:nvSpPr>
        <p:spPr>
          <a:xfrm>
            <a:off x="685800" y="1828800"/>
            <a:ext cx="640080" cy="640080"/>
          </a:xfrm>
          <a:prstGeom prst="rect">
            <a:avLst/>
          </a:prstGeom>
          <a:noFill/>
          <a:ln/>
        </p:spPr>
        <p:txBody>
          <a:bodyPr wrap="square" lIns="0" tIns="0" rIns="0" bIns="0" rtlCol="0" anchor="ctr"/>
          <a:lstStyle/>
          <a:p>
            <a:pPr marL="0" indent="0" algn="ctr">
              <a:buNone/>
            </a:pPr>
            <a:r>
              <a:rPr lang="en-US" sz="2600" b="1" dirty="0">
                <a:solidFill>
                  <a:srgbClr val="FFFFFF"/>
                </a:solidFill>
              </a:rPr>
              <a:t>A</a:t>
            </a:r>
            <a:endParaRPr lang="en-US" sz="2600" dirty="0"/>
          </a:p>
        </p:txBody>
      </p:sp>
      <p:sp>
        <p:nvSpPr>
          <p:cNvPr id="7" name="Text 5"/>
          <p:cNvSpPr txBox="1"/>
          <p:nvPr/>
        </p:nvSpPr>
        <p:spPr>
          <a:xfrm>
            <a:off x="1508760" y="1874520"/>
            <a:ext cx="2743200" cy="548640"/>
          </a:xfrm>
          <a:prstGeom prst="rect">
            <a:avLst/>
          </a:prstGeom>
          <a:noFill/>
          <a:ln/>
        </p:spPr>
        <p:txBody>
          <a:bodyPr wrap="square" lIns="0" tIns="0" rIns="0" bIns="0" rtlCol="0" anchor="ctr"/>
          <a:lstStyle/>
          <a:p>
            <a:pPr marL="0" indent="0">
              <a:buNone/>
            </a:pPr>
            <a:r>
              <a:rPr lang="en-US" sz="1800" b="1" dirty="0">
                <a:solidFill>
                  <a:srgbClr val="9A6B00"/>
                </a:solidFill>
              </a:rPr>
              <a:t>Not yet</a:t>
            </a:r>
            <a:endParaRPr lang="en-US" sz="1800" dirty="0"/>
          </a:p>
        </p:txBody>
      </p:sp>
      <p:sp>
        <p:nvSpPr>
          <p:cNvPr id="8" name="Text 6"/>
          <p:cNvSpPr txBox="1"/>
          <p:nvPr/>
        </p:nvSpPr>
        <p:spPr>
          <a:xfrm>
            <a:off x="731520" y="2651760"/>
            <a:ext cx="3474720" cy="1463040"/>
          </a:xfrm>
          <a:prstGeom prst="rect">
            <a:avLst/>
          </a:prstGeom>
          <a:noFill/>
          <a:ln/>
        </p:spPr>
        <p:txBody>
          <a:bodyPr wrap="square" lIns="0" tIns="0" rIns="0" bIns="0" rtlCol="0" anchor="ctr"/>
          <a:lstStyle/>
          <a:p>
            <a:pPr marL="342900" indent="-342900">
              <a:spcAft>
                <a:spcPts val="600"/>
              </a:spcAft>
              <a:buSzPct val="100000"/>
              <a:buChar char="•"/>
            </a:pPr>
            <a:r>
              <a:rPr lang="en-US" sz="1500" dirty="0">
                <a:solidFill>
                  <a:srgbClr val="1B1B1B"/>
                </a:solidFill>
              </a:rPr>
              <a:t>Finish the distance meter</a:t>
            </a:r>
            <a:endParaRPr lang="en-US" sz="1500" dirty="0"/>
          </a:p>
          <a:p>
            <a:pPr marL="342900" indent="-342900">
              <a:spcAft>
                <a:spcPts val="600"/>
              </a:spcAft>
              <a:buSzPct val="100000"/>
              <a:buChar char="•"/>
            </a:pPr>
            <a:r>
              <a:rPr lang="en-US" sz="1500" dirty="0">
                <a:solidFill>
                  <a:srgbClr val="1B1B1B"/>
                </a:solidFill>
              </a:rPr>
              <a:t>Use the solution file</a:t>
            </a:r>
            <a:endParaRPr lang="en-US" sz="1500" dirty="0"/>
          </a:p>
          <a:p>
            <a:pPr marL="342900" indent="-342900">
              <a:spcAft>
                <a:spcPts val="600"/>
              </a:spcAft>
              <a:buSzPct val="100000"/>
              <a:buChar char="•"/>
            </a:pPr>
            <a:r>
              <a:rPr lang="en-US" sz="1500" dirty="0">
                <a:solidFill>
                  <a:srgbClr val="1B1B1B"/>
                </a:solidFill>
              </a:rPr>
              <a:t>Then join Track B</a:t>
            </a:r>
            <a:endParaRPr lang="en-US" sz="1500" dirty="0"/>
          </a:p>
        </p:txBody>
      </p:sp>
      <p:sp>
        <p:nvSpPr>
          <p:cNvPr id="9" name="Shape 7"/>
          <p:cNvSpPr/>
          <p:nvPr/>
        </p:nvSpPr>
        <p:spPr>
          <a:xfrm>
            <a:off x="4754880" y="1645920"/>
            <a:ext cx="3931920" cy="2651760"/>
          </a:xfrm>
          <a:prstGeom prst="roundRect">
            <a:avLst>
              <a:gd name="adj" fmla="val 3448"/>
            </a:avLst>
          </a:prstGeom>
          <a:solidFill>
            <a:srgbClr val="DDF3E9"/>
          </a:solidFill>
          <a:ln w="19050">
            <a:solidFill>
              <a:srgbClr val="1F8A70"/>
            </a:solidFill>
            <a:prstDash val="solid"/>
          </a:ln>
        </p:spPr>
        <p:txBody>
          <a:bodyPr/>
          <a:lstStyle/>
          <a:p>
            <a:endParaRPr lang="en-US"/>
          </a:p>
        </p:txBody>
      </p:sp>
      <p:sp>
        <p:nvSpPr>
          <p:cNvPr id="10" name="Shape 8"/>
          <p:cNvSpPr/>
          <p:nvPr/>
        </p:nvSpPr>
        <p:spPr>
          <a:xfrm>
            <a:off x="4983480" y="1828800"/>
            <a:ext cx="640080" cy="640080"/>
          </a:xfrm>
          <a:prstGeom prst="ellipse">
            <a:avLst/>
          </a:prstGeom>
          <a:solidFill>
            <a:srgbClr val="1F8A70"/>
          </a:solidFill>
          <a:ln w="12700">
            <a:solidFill>
              <a:srgbClr val="1F8A70"/>
            </a:solidFill>
            <a:prstDash val="solid"/>
          </a:ln>
        </p:spPr>
        <p:txBody>
          <a:bodyPr/>
          <a:lstStyle/>
          <a:p>
            <a:endParaRPr lang="en-US"/>
          </a:p>
        </p:txBody>
      </p:sp>
      <p:sp>
        <p:nvSpPr>
          <p:cNvPr id="11" name="Text 9"/>
          <p:cNvSpPr txBox="1"/>
          <p:nvPr/>
        </p:nvSpPr>
        <p:spPr>
          <a:xfrm>
            <a:off x="4983480" y="1828800"/>
            <a:ext cx="640080" cy="640080"/>
          </a:xfrm>
          <a:prstGeom prst="rect">
            <a:avLst/>
          </a:prstGeom>
          <a:noFill/>
          <a:ln/>
        </p:spPr>
        <p:txBody>
          <a:bodyPr wrap="square" lIns="0" tIns="0" rIns="0" bIns="0" rtlCol="0" anchor="ctr"/>
          <a:lstStyle/>
          <a:p>
            <a:pPr marL="0" indent="0" algn="ctr">
              <a:buNone/>
            </a:pPr>
            <a:r>
              <a:rPr lang="en-US" sz="2600" b="1" dirty="0">
                <a:solidFill>
                  <a:srgbClr val="FFFFFF"/>
                </a:solidFill>
              </a:rPr>
              <a:t>B</a:t>
            </a:r>
            <a:endParaRPr lang="en-US" sz="2600" dirty="0"/>
          </a:p>
        </p:txBody>
      </p:sp>
      <p:sp>
        <p:nvSpPr>
          <p:cNvPr id="12" name="Text 10"/>
          <p:cNvSpPr txBox="1"/>
          <p:nvPr/>
        </p:nvSpPr>
        <p:spPr>
          <a:xfrm>
            <a:off x="5806440" y="1874520"/>
            <a:ext cx="2743200" cy="548640"/>
          </a:xfrm>
          <a:prstGeom prst="rect">
            <a:avLst/>
          </a:prstGeom>
          <a:noFill/>
          <a:ln/>
        </p:spPr>
        <p:txBody>
          <a:bodyPr wrap="square" lIns="0" tIns="0" rIns="0" bIns="0" rtlCol="0" anchor="ctr"/>
          <a:lstStyle/>
          <a:p>
            <a:pPr marL="0" indent="0">
              <a:buNone/>
            </a:pPr>
            <a:r>
              <a:rPr lang="en-US" sz="1800" b="1" dirty="0">
                <a:solidFill>
                  <a:srgbClr val="1F8A70"/>
                </a:solidFill>
              </a:rPr>
              <a:t>Yes, it works</a:t>
            </a:r>
            <a:endParaRPr lang="en-US" sz="1800" dirty="0"/>
          </a:p>
        </p:txBody>
      </p:sp>
      <p:sp>
        <p:nvSpPr>
          <p:cNvPr id="13" name="Text 11"/>
          <p:cNvSpPr txBox="1"/>
          <p:nvPr/>
        </p:nvSpPr>
        <p:spPr>
          <a:xfrm>
            <a:off x="5029200" y="2651760"/>
            <a:ext cx="3474720" cy="1463040"/>
          </a:xfrm>
          <a:prstGeom prst="rect">
            <a:avLst/>
          </a:prstGeom>
          <a:noFill/>
          <a:ln/>
        </p:spPr>
        <p:txBody>
          <a:bodyPr wrap="square" lIns="0" tIns="0" rIns="0" bIns="0" rtlCol="0" anchor="ctr"/>
          <a:lstStyle/>
          <a:p>
            <a:pPr marL="342900" indent="-342900">
              <a:spcAft>
                <a:spcPts val="600"/>
              </a:spcAft>
              <a:buSzPct val="100000"/>
              <a:buChar char="•"/>
            </a:pPr>
            <a:r>
              <a:rPr lang="en-US" sz="1500" dirty="0">
                <a:solidFill>
                  <a:srgbClr val="1B1B1B"/>
                </a:solidFill>
              </a:rPr>
              <a:t>Add a buzzer</a:t>
            </a:r>
            <a:endParaRPr lang="en-US" sz="1500" dirty="0"/>
          </a:p>
          <a:p>
            <a:pPr marL="342900" indent="-342900">
              <a:spcAft>
                <a:spcPts val="600"/>
              </a:spcAft>
              <a:buSzPct val="100000"/>
              <a:buChar char="•"/>
            </a:pPr>
            <a:r>
              <a:rPr lang="en-US" sz="1500" dirty="0">
                <a:solidFill>
                  <a:srgbClr val="1B1B1B"/>
                </a:solidFill>
              </a:rPr>
              <a:t>Beep faster when closer</a:t>
            </a:r>
            <a:endParaRPr lang="en-US" sz="1500" dirty="0"/>
          </a:p>
          <a:p>
            <a:pPr marL="342900" indent="-342900">
              <a:spcAft>
                <a:spcPts val="600"/>
              </a:spcAft>
              <a:buSzPct val="100000"/>
              <a:buChar char="•"/>
            </a:pPr>
            <a:r>
              <a:rPr lang="en-US" sz="1500" dirty="0">
                <a:solidFill>
                  <a:srgbClr val="1B1B1B"/>
                </a:solidFill>
              </a:rPr>
              <a:t>Stretch: change the pitch</a:t>
            </a:r>
            <a:endParaRPr lang="en-US" sz="1500" dirty="0"/>
          </a:p>
        </p:txBody>
      </p:sp>
      <p:sp>
        <p:nvSpPr>
          <p:cNvPr id="14" name="Shape 12"/>
          <p:cNvSpPr/>
          <p:nvPr/>
        </p:nvSpPr>
        <p:spPr>
          <a:xfrm>
            <a:off x="4434840" y="2971800"/>
            <a:ext cx="274320" cy="0"/>
          </a:xfrm>
          <a:prstGeom prst="line">
            <a:avLst/>
          </a:prstGeom>
          <a:noFill/>
          <a:ln w="25400">
            <a:solidFill>
              <a:srgbClr val="6B7280"/>
            </a:solidFill>
            <a:prstDash val="solid"/>
            <a:tailEnd type="triangle"/>
          </a:ln>
        </p:spPr>
        <p:txBody>
          <a:bodyPr/>
          <a:lstStyle/>
          <a:p>
            <a:endParaRPr lang="en-US"/>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949440" cy="640080"/>
          </a:xfrm>
          <a:prstGeom prst="rect">
            <a:avLst/>
          </a:prstGeom>
          <a:noFill/>
          <a:ln/>
        </p:spPr>
        <p:txBody>
          <a:bodyPr wrap="square" lIns="0" tIns="0" rIns="0" bIns="0" rtlCol="0" anchor="ctr"/>
          <a:lstStyle/>
          <a:p>
            <a:pPr marL="0" indent="0" algn="l">
              <a:buNone/>
            </a:pPr>
            <a:r>
              <a:rPr lang="en-US" sz="3000" b="1" dirty="0">
                <a:solidFill>
                  <a:schemeClr val="tx2"/>
                </a:solidFill>
              </a:rPr>
              <a:t>Track A: finish the distance meter</a:t>
            </a:r>
            <a:endParaRPr lang="en-US" sz="3000" dirty="0"/>
          </a:p>
        </p:txBody>
      </p:sp>
      <p:sp>
        <p:nvSpPr>
          <p:cNvPr id="3" name="Shape 1"/>
          <p:cNvSpPr/>
          <p:nvPr/>
        </p:nvSpPr>
        <p:spPr>
          <a:xfrm>
            <a:off x="7818120" y="164592"/>
            <a:ext cx="868680" cy="868680"/>
          </a:xfrm>
          <a:prstGeom prst="ellipse">
            <a:avLst/>
          </a:prstGeom>
          <a:solidFill>
            <a:srgbClr val="F2A900">
              <a:alpha val="30000"/>
            </a:srgbClr>
          </a:solidFill>
          <a:ln w="12700">
            <a:solidFill>
              <a:srgbClr val="F2A900">
                <a:alpha val="0"/>
              </a:srgbClr>
            </a:solidFill>
            <a:prstDash val="solid"/>
          </a:ln>
        </p:spPr>
        <p:txBody>
          <a:bodyPr/>
          <a:lstStyle/>
          <a:p>
            <a:endParaRPr lang="en-US"/>
          </a:p>
        </p:txBody>
      </p:sp>
      <p:sp>
        <p:nvSpPr>
          <p:cNvPr id="4" name="Shape 2"/>
          <p:cNvSpPr/>
          <p:nvPr/>
        </p:nvSpPr>
        <p:spPr>
          <a:xfrm>
            <a:off x="7955280" y="301752"/>
            <a:ext cx="594360" cy="594360"/>
          </a:xfrm>
          <a:prstGeom prst="ellipse">
            <a:avLst/>
          </a:prstGeom>
          <a:solidFill>
            <a:srgbClr val="F2A900"/>
          </a:solidFill>
          <a:ln w="12700">
            <a:solidFill>
              <a:srgbClr val="C98C00"/>
            </a:solidFill>
            <a:prstDash val="solid"/>
          </a:ln>
        </p:spPr>
        <p:txBody>
          <a:bodyPr/>
          <a:lstStyle/>
          <a:p>
            <a:endParaRPr lang="en-US"/>
          </a:p>
        </p:txBody>
      </p:sp>
      <p:sp>
        <p:nvSpPr>
          <p:cNvPr id="5" name="Text 3"/>
          <p:cNvSpPr txBox="1"/>
          <p:nvPr/>
        </p:nvSpPr>
        <p:spPr>
          <a:xfrm>
            <a:off x="7955280" y="301752"/>
            <a:ext cx="594360" cy="594360"/>
          </a:xfrm>
          <a:prstGeom prst="rect">
            <a:avLst/>
          </a:prstGeom>
          <a:noFill/>
          <a:ln/>
        </p:spPr>
        <p:txBody>
          <a:bodyPr wrap="square" lIns="0" tIns="0" rIns="0" bIns="0" rtlCol="0" anchor="ctr"/>
          <a:lstStyle/>
          <a:p>
            <a:pPr marL="0" indent="0" algn="ctr">
              <a:buNone/>
            </a:pPr>
            <a:r>
              <a:rPr lang="en-US" sz="2000" b="1" dirty="0">
                <a:solidFill>
                  <a:srgbClr val="0B3D2E"/>
                </a:solidFill>
              </a:rPr>
              <a:t>A</a:t>
            </a:r>
            <a:endParaRPr lang="en-US" sz="2000" dirty="0"/>
          </a:p>
        </p:txBody>
      </p:sp>
      <p:sp>
        <p:nvSpPr>
          <p:cNvPr id="6" name="Shape 4"/>
          <p:cNvSpPr/>
          <p:nvPr/>
        </p:nvSpPr>
        <p:spPr>
          <a:xfrm>
            <a:off x="457200" y="1115568"/>
            <a:ext cx="329184" cy="329184"/>
          </a:xfrm>
          <a:prstGeom prst="ellipse">
            <a:avLst/>
          </a:prstGeom>
          <a:solidFill>
            <a:srgbClr val="F2A900"/>
          </a:solidFill>
          <a:ln w="12700">
            <a:solidFill>
              <a:srgbClr val="C98C00"/>
            </a:solidFill>
            <a:prstDash val="solid"/>
          </a:ln>
        </p:spPr>
        <p:txBody>
          <a:bodyPr/>
          <a:lstStyle/>
          <a:p>
            <a:endParaRPr lang="en-US"/>
          </a:p>
        </p:txBody>
      </p:sp>
      <p:sp>
        <p:nvSpPr>
          <p:cNvPr id="7" name="Text 5"/>
          <p:cNvSpPr txBox="1"/>
          <p:nvPr/>
        </p:nvSpPr>
        <p:spPr>
          <a:xfrm>
            <a:off x="457200" y="1115568"/>
            <a:ext cx="329184" cy="329184"/>
          </a:xfrm>
          <a:prstGeom prst="rect">
            <a:avLst/>
          </a:prstGeom>
          <a:noFill/>
          <a:ln/>
        </p:spPr>
        <p:txBody>
          <a:bodyPr wrap="square" lIns="0" tIns="0" rIns="0" bIns="0" rtlCol="0" anchor="ctr"/>
          <a:lstStyle/>
          <a:p>
            <a:pPr marL="0" indent="0" algn="ctr">
              <a:buNone/>
            </a:pPr>
            <a:r>
              <a:rPr lang="en-US" sz="1300" b="1" dirty="0">
                <a:solidFill>
                  <a:srgbClr val="0B3D2E"/>
                </a:solidFill>
              </a:rPr>
              <a:t>1</a:t>
            </a:r>
            <a:endParaRPr lang="en-US" sz="1300" dirty="0"/>
          </a:p>
        </p:txBody>
      </p:sp>
      <p:sp>
        <p:nvSpPr>
          <p:cNvPr id="8" name="Text 6"/>
          <p:cNvSpPr txBox="1"/>
          <p:nvPr/>
        </p:nvSpPr>
        <p:spPr>
          <a:xfrm>
            <a:off x="914400" y="1097280"/>
            <a:ext cx="4663440" cy="384048"/>
          </a:xfrm>
          <a:prstGeom prst="rect">
            <a:avLst/>
          </a:prstGeom>
          <a:noFill/>
          <a:ln/>
        </p:spPr>
        <p:txBody>
          <a:bodyPr wrap="square" lIns="0" tIns="0" rIns="0" bIns="0" rtlCol="0" anchor="ctr"/>
          <a:lstStyle/>
          <a:p>
            <a:pPr marL="0" indent="0">
              <a:buNone/>
            </a:pPr>
            <a:r>
              <a:rPr lang="en-US" sz="1500" dirty="0">
                <a:solidFill>
                  <a:srgbClr val="1B1B1B"/>
                </a:solidFill>
              </a:rPr>
              <a:t>Upload the Lesson 3 files you need to the ESP32</a:t>
            </a:r>
            <a:endParaRPr lang="en-US" sz="1500" dirty="0"/>
          </a:p>
        </p:txBody>
      </p:sp>
      <p:sp>
        <p:nvSpPr>
          <p:cNvPr id="9" name="Shape 7"/>
          <p:cNvSpPr/>
          <p:nvPr/>
        </p:nvSpPr>
        <p:spPr>
          <a:xfrm>
            <a:off x="457200" y="1664208"/>
            <a:ext cx="329184" cy="329184"/>
          </a:xfrm>
          <a:prstGeom prst="ellipse">
            <a:avLst/>
          </a:prstGeom>
          <a:solidFill>
            <a:srgbClr val="F2A900"/>
          </a:solidFill>
          <a:ln w="12700">
            <a:solidFill>
              <a:srgbClr val="C98C00"/>
            </a:solidFill>
            <a:prstDash val="solid"/>
          </a:ln>
        </p:spPr>
        <p:txBody>
          <a:bodyPr/>
          <a:lstStyle/>
          <a:p>
            <a:endParaRPr lang="en-US"/>
          </a:p>
        </p:txBody>
      </p:sp>
      <p:sp>
        <p:nvSpPr>
          <p:cNvPr id="10" name="Text 8"/>
          <p:cNvSpPr txBox="1"/>
          <p:nvPr/>
        </p:nvSpPr>
        <p:spPr>
          <a:xfrm>
            <a:off x="457200" y="1664208"/>
            <a:ext cx="329184" cy="329184"/>
          </a:xfrm>
          <a:prstGeom prst="rect">
            <a:avLst/>
          </a:prstGeom>
          <a:noFill/>
          <a:ln/>
        </p:spPr>
        <p:txBody>
          <a:bodyPr wrap="square" lIns="0" tIns="0" rIns="0" bIns="0" rtlCol="0" anchor="ctr"/>
          <a:lstStyle/>
          <a:p>
            <a:pPr marL="0" indent="0" algn="ctr">
              <a:buNone/>
            </a:pPr>
            <a:r>
              <a:rPr lang="en-US" sz="1300" b="1" dirty="0">
                <a:solidFill>
                  <a:srgbClr val="0B3D2E"/>
                </a:solidFill>
              </a:rPr>
              <a:t>2</a:t>
            </a:r>
            <a:endParaRPr lang="en-US" sz="1300" dirty="0"/>
          </a:p>
        </p:txBody>
      </p:sp>
      <p:sp>
        <p:nvSpPr>
          <p:cNvPr id="11" name="Text 9"/>
          <p:cNvSpPr txBox="1"/>
          <p:nvPr/>
        </p:nvSpPr>
        <p:spPr>
          <a:xfrm>
            <a:off x="914400" y="1645920"/>
            <a:ext cx="4663440" cy="384048"/>
          </a:xfrm>
          <a:prstGeom prst="rect">
            <a:avLst/>
          </a:prstGeom>
          <a:noFill/>
          <a:ln/>
        </p:spPr>
        <p:txBody>
          <a:bodyPr wrap="square" lIns="0" tIns="0" rIns="0" bIns="0" rtlCol="0" anchor="ctr"/>
          <a:lstStyle/>
          <a:p>
            <a:pPr marL="0" indent="0">
              <a:buNone/>
            </a:pPr>
            <a:r>
              <a:rPr lang="en-US" sz="1500" dirty="0">
                <a:solidFill>
                  <a:srgbClr val="1B1B1B"/>
                </a:solidFill>
              </a:rPr>
              <a:t>Check the LEDs: step3a_check_leds.py</a:t>
            </a:r>
            <a:endParaRPr lang="en-US" sz="1500" dirty="0"/>
          </a:p>
        </p:txBody>
      </p:sp>
      <p:sp>
        <p:nvSpPr>
          <p:cNvPr id="12" name="Shape 10"/>
          <p:cNvSpPr/>
          <p:nvPr/>
        </p:nvSpPr>
        <p:spPr>
          <a:xfrm>
            <a:off x="457200" y="2212848"/>
            <a:ext cx="329184" cy="329184"/>
          </a:xfrm>
          <a:prstGeom prst="ellipse">
            <a:avLst/>
          </a:prstGeom>
          <a:solidFill>
            <a:srgbClr val="F2A900"/>
          </a:solidFill>
          <a:ln w="12700">
            <a:solidFill>
              <a:srgbClr val="C98C00"/>
            </a:solidFill>
            <a:prstDash val="solid"/>
          </a:ln>
        </p:spPr>
        <p:txBody>
          <a:bodyPr/>
          <a:lstStyle/>
          <a:p>
            <a:endParaRPr lang="en-US"/>
          </a:p>
        </p:txBody>
      </p:sp>
      <p:sp>
        <p:nvSpPr>
          <p:cNvPr id="13" name="Text 11"/>
          <p:cNvSpPr txBox="1"/>
          <p:nvPr/>
        </p:nvSpPr>
        <p:spPr>
          <a:xfrm>
            <a:off x="457200" y="2212848"/>
            <a:ext cx="329184" cy="329184"/>
          </a:xfrm>
          <a:prstGeom prst="rect">
            <a:avLst/>
          </a:prstGeom>
          <a:noFill/>
          <a:ln/>
        </p:spPr>
        <p:txBody>
          <a:bodyPr wrap="square" lIns="0" tIns="0" rIns="0" bIns="0" rtlCol="0" anchor="ctr"/>
          <a:lstStyle/>
          <a:p>
            <a:pPr marL="0" indent="0" algn="ctr">
              <a:buNone/>
            </a:pPr>
            <a:r>
              <a:rPr lang="en-US" sz="1300" b="1" dirty="0">
                <a:solidFill>
                  <a:srgbClr val="0B3D2E"/>
                </a:solidFill>
              </a:rPr>
              <a:t>3</a:t>
            </a:r>
            <a:endParaRPr lang="en-US" sz="1300" dirty="0"/>
          </a:p>
        </p:txBody>
      </p:sp>
      <p:sp>
        <p:nvSpPr>
          <p:cNvPr id="14" name="Text 12"/>
          <p:cNvSpPr txBox="1"/>
          <p:nvPr/>
        </p:nvSpPr>
        <p:spPr>
          <a:xfrm>
            <a:off x="914400" y="2194560"/>
            <a:ext cx="4663440" cy="384048"/>
          </a:xfrm>
          <a:prstGeom prst="rect">
            <a:avLst/>
          </a:prstGeom>
          <a:noFill/>
          <a:ln/>
        </p:spPr>
        <p:txBody>
          <a:bodyPr wrap="square" lIns="0" tIns="0" rIns="0" bIns="0" rtlCol="0" anchor="ctr"/>
          <a:lstStyle/>
          <a:p>
            <a:pPr marL="0" indent="0">
              <a:buNone/>
            </a:pPr>
            <a:r>
              <a:rPr lang="en-US" sz="1500" dirty="0">
                <a:solidFill>
                  <a:srgbClr val="1B1B1B"/>
                </a:solidFill>
              </a:rPr>
              <a:t>Add the sensor: Lesson 3 PDF, page 25</a:t>
            </a:r>
            <a:endParaRPr lang="en-US" sz="1500" dirty="0"/>
          </a:p>
        </p:txBody>
      </p:sp>
      <p:sp>
        <p:nvSpPr>
          <p:cNvPr id="15" name="Shape 13"/>
          <p:cNvSpPr/>
          <p:nvPr/>
        </p:nvSpPr>
        <p:spPr>
          <a:xfrm>
            <a:off x="457200" y="2761488"/>
            <a:ext cx="329184" cy="329184"/>
          </a:xfrm>
          <a:prstGeom prst="ellipse">
            <a:avLst/>
          </a:prstGeom>
          <a:solidFill>
            <a:srgbClr val="F2A900"/>
          </a:solidFill>
          <a:ln w="12700">
            <a:solidFill>
              <a:srgbClr val="C98C00"/>
            </a:solidFill>
            <a:prstDash val="solid"/>
          </a:ln>
        </p:spPr>
        <p:txBody>
          <a:bodyPr/>
          <a:lstStyle/>
          <a:p>
            <a:endParaRPr lang="en-US"/>
          </a:p>
        </p:txBody>
      </p:sp>
      <p:sp>
        <p:nvSpPr>
          <p:cNvPr id="16" name="Text 14"/>
          <p:cNvSpPr txBox="1"/>
          <p:nvPr/>
        </p:nvSpPr>
        <p:spPr>
          <a:xfrm>
            <a:off x="457200" y="2761488"/>
            <a:ext cx="329184" cy="329184"/>
          </a:xfrm>
          <a:prstGeom prst="rect">
            <a:avLst/>
          </a:prstGeom>
          <a:noFill/>
          <a:ln/>
        </p:spPr>
        <p:txBody>
          <a:bodyPr wrap="square" lIns="0" tIns="0" rIns="0" bIns="0" rtlCol="0" anchor="ctr"/>
          <a:lstStyle/>
          <a:p>
            <a:pPr marL="0" indent="0" algn="ctr">
              <a:buNone/>
            </a:pPr>
            <a:r>
              <a:rPr lang="en-US" sz="1300" b="1" dirty="0">
                <a:solidFill>
                  <a:srgbClr val="0B3D2E"/>
                </a:solidFill>
              </a:rPr>
              <a:t>4</a:t>
            </a:r>
            <a:endParaRPr lang="en-US" sz="1300" dirty="0"/>
          </a:p>
        </p:txBody>
      </p:sp>
      <p:sp>
        <p:nvSpPr>
          <p:cNvPr id="17" name="Text 15"/>
          <p:cNvSpPr txBox="1"/>
          <p:nvPr/>
        </p:nvSpPr>
        <p:spPr>
          <a:xfrm>
            <a:off x="914400" y="2743200"/>
            <a:ext cx="4663440" cy="384048"/>
          </a:xfrm>
          <a:prstGeom prst="rect">
            <a:avLst/>
          </a:prstGeom>
          <a:noFill/>
          <a:ln/>
        </p:spPr>
        <p:txBody>
          <a:bodyPr wrap="square" lIns="0" tIns="0" rIns="0" bIns="0" rtlCol="0" anchor="ctr"/>
          <a:lstStyle/>
          <a:p>
            <a:pPr marL="0" indent="0">
              <a:buNone/>
            </a:pPr>
            <a:r>
              <a:rPr lang="en-US" sz="1500" dirty="0">
                <a:solidFill>
                  <a:srgbClr val="1B1B1B"/>
                </a:solidFill>
              </a:rPr>
              <a:t>Run step4_ultrasonic_print.py, then step5_solution.py</a:t>
            </a:r>
            <a:endParaRPr lang="en-US" sz="1500" dirty="0"/>
          </a:p>
        </p:txBody>
      </p:sp>
      <p:sp>
        <p:nvSpPr>
          <p:cNvPr id="18" name="Shape 16"/>
          <p:cNvSpPr/>
          <p:nvPr/>
        </p:nvSpPr>
        <p:spPr>
          <a:xfrm>
            <a:off x="457200" y="3310128"/>
            <a:ext cx="329184" cy="329184"/>
          </a:xfrm>
          <a:prstGeom prst="ellipse">
            <a:avLst/>
          </a:prstGeom>
          <a:solidFill>
            <a:srgbClr val="F2A900"/>
          </a:solidFill>
          <a:ln w="12700">
            <a:solidFill>
              <a:srgbClr val="C98C00"/>
            </a:solidFill>
            <a:prstDash val="solid"/>
          </a:ln>
        </p:spPr>
        <p:txBody>
          <a:bodyPr/>
          <a:lstStyle/>
          <a:p>
            <a:endParaRPr lang="en-US"/>
          </a:p>
        </p:txBody>
      </p:sp>
      <p:sp>
        <p:nvSpPr>
          <p:cNvPr id="19" name="Text 17"/>
          <p:cNvSpPr txBox="1"/>
          <p:nvPr/>
        </p:nvSpPr>
        <p:spPr>
          <a:xfrm>
            <a:off x="457200" y="3310128"/>
            <a:ext cx="329184" cy="329184"/>
          </a:xfrm>
          <a:prstGeom prst="rect">
            <a:avLst/>
          </a:prstGeom>
          <a:noFill/>
          <a:ln/>
        </p:spPr>
        <p:txBody>
          <a:bodyPr wrap="square" lIns="0" tIns="0" rIns="0" bIns="0" rtlCol="0" anchor="ctr"/>
          <a:lstStyle/>
          <a:p>
            <a:pPr marL="0" indent="0" algn="ctr">
              <a:buNone/>
            </a:pPr>
            <a:r>
              <a:rPr lang="en-US" sz="1300" b="1" dirty="0">
                <a:solidFill>
                  <a:srgbClr val="0B3D2E"/>
                </a:solidFill>
              </a:rPr>
              <a:t>5</a:t>
            </a:r>
            <a:endParaRPr lang="en-US" sz="1300" dirty="0"/>
          </a:p>
        </p:txBody>
      </p:sp>
      <p:sp>
        <p:nvSpPr>
          <p:cNvPr id="20" name="Text 18"/>
          <p:cNvSpPr txBox="1"/>
          <p:nvPr/>
        </p:nvSpPr>
        <p:spPr>
          <a:xfrm>
            <a:off x="914400" y="3291840"/>
            <a:ext cx="4663440" cy="384048"/>
          </a:xfrm>
          <a:prstGeom prst="rect">
            <a:avLst/>
          </a:prstGeom>
          <a:noFill/>
          <a:ln/>
        </p:spPr>
        <p:txBody>
          <a:bodyPr wrap="square" lIns="0" tIns="0" rIns="0" bIns="0" rtlCol="0" anchor="ctr"/>
          <a:lstStyle/>
          <a:p>
            <a:pPr marL="0" indent="0">
              <a:buNone/>
            </a:pPr>
            <a:r>
              <a:rPr lang="en-US" sz="1500" dirty="0">
                <a:solidFill>
                  <a:srgbClr val="1B1B1B"/>
                </a:solidFill>
              </a:rPr>
              <a:t>LED bar works? Go to Track B</a:t>
            </a:r>
            <a:endParaRPr lang="en-US" sz="1500" dirty="0"/>
          </a:p>
        </p:txBody>
      </p:sp>
      <p:sp>
        <p:nvSpPr>
          <p:cNvPr id="21" name="Shape 19"/>
          <p:cNvSpPr/>
          <p:nvPr/>
        </p:nvSpPr>
        <p:spPr>
          <a:xfrm>
            <a:off x="457200" y="3931920"/>
            <a:ext cx="5120640" cy="502920"/>
          </a:xfrm>
          <a:prstGeom prst="roundRect">
            <a:avLst>
              <a:gd name="adj" fmla="val 14545"/>
            </a:avLst>
          </a:prstGeom>
          <a:solidFill>
            <a:srgbClr val="DDF3E9"/>
          </a:solidFill>
          <a:ln w="15875">
            <a:solidFill>
              <a:srgbClr val="1F8A70"/>
            </a:solidFill>
            <a:prstDash val="solid"/>
          </a:ln>
        </p:spPr>
        <p:txBody>
          <a:bodyPr/>
          <a:lstStyle/>
          <a:p>
            <a:endParaRPr lang="en-US"/>
          </a:p>
        </p:txBody>
      </p:sp>
      <p:sp>
        <p:nvSpPr>
          <p:cNvPr id="22" name="Text 20"/>
          <p:cNvSpPr txBox="1"/>
          <p:nvPr/>
        </p:nvSpPr>
        <p:spPr>
          <a:xfrm>
            <a:off x="594360" y="3931920"/>
            <a:ext cx="4846320" cy="502920"/>
          </a:xfrm>
          <a:prstGeom prst="rect">
            <a:avLst/>
          </a:prstGeom>
          <a:noFill/>
          <a:ln/>
        </p:spPr>
        <p:txBody>
          <a:bodyPr wrap="square" lIns="0" tIns="0" rIns="0" bIns="0" rtlCol="0" anchor="ctr"/>
          <a:lstStyle/>
          <a:p>
            <a:pPr marL="0" indent="0">
              <a:buNone/>
            </a:pPr>
            <a:r>
              <a:rPr lang="en-US" sz="1200" b="1" dirty="0">
                <a:solidFill>
                  <a:srgbClr val="1F8A70"/>
                </a:solidFill>
              </a:rPr>
              <a:t>CHECKPOINT  </a:t>
            </a:r>
            <a:r>
              <a:rPr lang="en-US" sz="1400" dirty="0">
                <a:solidFill>
                  <a:srgbClr val="1B1B1B"/>
                </a:solidFill>
              </a:rPr>
              <a:t>Hand closer, more LEDs on.</a:t>
            </a:r>
            <a:endParaRPr lang="en-US" sz="1400" dirty="0"/>
          </a:p>
        </p:txBody>
      </p:sp>
      <p:pic>
        <p:nvPicPr>
          <p:cNvPr id="23" name="Image 0" descr="ESP32 pinout from Lesson 1"/>
          <p:cNvPicPr>
            <a:picLocks noChangeAspect="1"/>
          </p:cNvPicPr>
          <p:nvPr/>
        </p:nvPicPr>
        <p:blipFill>
          <a:blip r:embed="rId3"/>
          <a:stretch>
            <a:fillRect/>
          </a:stretch>
        </p:blipFill>
        <p:spPr>
          <a:xfrm>
            <a:off x="5989320" y="1005840"/>
            <a:ext cx="2708910" cy="3611880"/>
          </a:xfrm>
          <a:prstGeom prst="rect">
            <a:avLst/>
          </a:prstGeom>
        </p:spPr>
      </p:pic>
      <p:sp>
        <p:nvSpPr>
          <p:cNvPr id="24" name="Shape 21"/>
          <p:cNvSpPr/>
          <p:nvPr/>
        </p:nvSpPr>
        <p:spPr>
          <a:xfrm>
            <a:off x="8354004" y="3006343"/>
            <a:ext cx="329260" cy="109753"/>
          </a:xfrm>
          <a:prstGeom prst="roundRect">
            <a:avLst>
              <a:gd name="adj" fmla="val 33326"/>
            </a:avLst>
          </a:prstGeom>
          <a:solidFill>
            <a:srgbClr val="C98C00">
              <a:alpha val="25000"/>
            </a:srgbClr>
          </a:solidFill>
          <a:ln w="25400">
            <a:solidFill>
              <a:srgbClr val="C98C00"/>
            </a:solidFill>
            <a:prstDash val="solid"/>
          </a:ln>
        </p:spPr>
        <p:txBody>
          <a:bodyPr/>
          <a:lstStyle/>
          <a:p>
            <a:endParaRPr lang="en-US"/>
          </a:p>
        </p:txBody>
      </p:sp>
      <p:sp>
        <p:nvSpPr>
          <p:cNvPr id="25" name="Shape 22"/>
          <p:cNvSpPr/>
          <p:nvPr/>
        </p:nvSpPr>
        <p:spPr>
          <a:xfrm>
            <a:off x="8354004" y="2896589"/>
            <a:ext cx="329260" cy="109753"/>
          </a:xfrm>
          <a:prstGeom prst="roundRect">
            <a:avLst>
              <a:gd name="adj" fmla="val 33326"/>
            </a:avLst>
          </a:prstGeom>
          <a:solidFill>
            <a:srgbClr val="C98C00">
              <a:alpha val="25000"/>
            </a:srgbClr>
          </a:solidFill>
          <a:ln w="25400">
            <a:solidFill>
              <a:srgbClr val="C98C00"/>
            </a:solidFill>
            <a:prstDash val="solid"/>
          </a:ln>
        </p:spPr>
        <p:txBody>
          <a:bodyPr/>
          <a:lstStyle/>
          <a:p>
            <a:endParaRPr lang="en-US"/>
          </a:p>
        </p:txBody>
      </p:sp>
      <p:sp>
        <p:nvSpPr>
          <p:cNvPr id="26" name="Shape 23"/>
          <p:cNvSpPr/>
          <p:nvPr/>
        </p:nvSpPr>
        <p:spPr>
          <a:xfrm>
            <a:off x="8354004" y="2682072"/>
            <a:ext cx="329260" cy="109753"/>
          </a:xfrm>
          <a:prstGeom prst="roundRect">
            <a:avLst>
              <a:gd name="adj" fmla="val 33326"/>
            </a:avLst>
          </a:prstGeom>
          <a:solidFill>
            <a:srgbClr val="C98C00">
              <a:alpha val="25000"/>
            </a:srgbClr>
          </a:solidFill>
          <a:ln w="25400">
            <a:solidFill>
              <a:srgbClr val="C98C00"/>
            </a:solidFill>
            <a:prstDash val="solid"/>
          </a:ln>
        </p:spPr>
        <p:txBody>
          <a:bodyPr/>
          <a:lstStyle/>
          <a:p>
            <a:endParaRPr lang="en-US"/>
          </a:p>
        </p:txBody>
      </p:sp>
      <p:sp>
        <p:nvSpPr>
          <p:cNvPr id="27" name="Shape 24"/>
          <p:cNvSpPr/>
          <p:nvPr/>
        </p:nvSpPr>
        <p:spPr>
          <a:xfrm>
            <a:off x="8354004" y="2577307"/>
            <a:ext cx="329260" cy="109753"/>
          </a:xfrm>
          <a:prstGeom prst="roundRect">
            <a:avLst>
              <a:gd name="adj" fmla="val 33326"/>
            </a:avLst>
          </a:prstGeom>
          <a:solidFill>
            <a:srgbClr val="C98C00">
              <a:alpha val="25000"/>
            </a:srgbClr>
          </a:solidFill>
          <a:ln w="25400">
            <a:solidFill>
              <a:srgbClr val="C98C00"/>
            </a:solidFill>
            <a:prstDash val="solid"/>
          </a:ln>
        </p:spPr>
        <p:txBody>
          <a:bodyPr/>
          <a:lstStyle/>
          <a:p>
            <a:endParaRPr lang="en-US"/>
          </a:p>
        </p:txBody>
      </p:sp>
      <p:sp>
        <p:nvSpPr>
          <p:cNvPr id="28" name="Shape 25"/>
          <p:cNvSpPr/>
          <p:nvPr/>
        </p:nvSpPr>
        <p:spPr>
          <a:xfrm>
            <a:off x="8354004" y="1928765"/>
            <a:ext cx="329260" cy="109753"/>
          </a:xfrm>
          <a:prstGeom prst="roundRect">
            <a:avLst>
              <a:gd name="adj" fmla="val 33326"/>
            </a:avLst>
          </a:prstGeom>
          <a:solidFill>
            <a:srgbClr val="C98C00">
              <a:alpha val="25000"/>
            </a:srgbClr>
          </a:solidFill>
          <a:ln w="25400">
            <a:solidFill>
              <a:srgbClr val="C98C00"/>
            </a:solidFill>
            <a:prstDash val="solid"/>
          </a:ln>
        </p:spPr>
        <p:txBody>
          <a:bodyPr/>
          <a:lstStyle/>
          <a:p>
            <a:endParaRPr lang="en-US"/>
          </a:p>
        </p:txBody>
      </p:sp>
      <p:sp>
        <p:nvSpPr>
          <p:cNvPr id="29" name="Shape 26"/>
          <p:cNvSpPr/>
          <p:nvPr/>
        </p:nvSpPr>
        <p:spPr>
          <a:xfrm>
            <a:off x="6298625" y="3779604"/>
            <a:ext cx="309305" cy="109753"/>
          </a:xfrm>
          <a:prstGeom prst="roundRect">
            <a:avLst>
              <a:gd name="adj" fmla="val 33326"/>
            </a:avLst>
          </a:prstGeom>
          <a:solidFill>
            <a:srgbClr val="D64545">
              <a:alpha val="25000"/>
            </a:srgbClr>
          </a:solidFill>
          <a:ln w="25400">
            <a:solidFill>
              <a:srgbClr val="D64545"/>
            </a:solidFill>
            <a:prstDash val="solid"/>
          </a:ln>
        </p:spPr>
        <p:txBody>
          <a:bodyPr/>
          <a:lstStyle/>
          <a:p>
            <a:endParaRPr lang="en-US"/>
          </a:p>
        </p:txBody>
      </p:sp>
      <p:sp>
        <p:nvSpPr>
          <p:cNvPr id="30" name="Shape 27"/>
          <p:cNvSpPr/>
          <p:nvPr/>
        </p:nvSpPr>
        <p:spPr>
          <a:xfrm>
            <a:off x="6298625" y="3345580"/>
            <a:ext cx="309305" cy="109753"/>
          </a:xfrm>
          <a:prstGeom prst="roundRect">
            <a:avLst>
              <a:gd name="adj" fmla="val 33326"/>
            </a:avLst>
          </a:prstGeom>
          <a:solidFill>
            <a:srgbClr val="00A3A3">
              <a:alpha val="25000"/>
            </a:srgbClr>
          </a:solidFill>
          <a:ln w="25400">
            <a:solidFill>
              <a:srgbClr val="00A3A3"/>
            </a:solidFill>
            <a:prstDash val="solid"/>
          </a:ln>
        </p:spPr>
        <p:txBody>
          <a:bodyPr/>
          <a:lstStyle/>
          <a:p>
            <a:endParaRPr lang="en-US"/>
          </a:p>
        </p:txBody>
      </p:sp>
      <p:sp>
        <p:nvSpPr>
          <p:cNvPr id="31" name="Shape 28"/>
          <p:cNvSpPr/>
          <p:nvPr/>
        </p:nvSpPr>
        <p:spPr>
          <a:xfrm>
            <a:off x="6298625" y="3016320"/>
            <a:ext cx="309305" cy="109753"/>
          </a:xfrm>
          <a:prstGeom prst="roundRect">
            <a:avLst>
              <a:gd name="adj" fmla="val 33326"/>
            </a:avLst>
          </a:prstGeom>
          <a:solidFill>
            <a:srgbClr val="C2185B">
              <a:alpha val="25000"/>
            </a:srgbClr>
          </a:solidFill>
          <a:ln w="25400">
            <a:solidFill>
              <a:srgbClr val="C2185B"/>
            </a:solidFill>
            <a:prstDash val="solid"/>
          </a:ln>
        </p:spPr>
        <p:txBody>
          <a:bodyPr/>
          <a:lstStyle/>
          <a:p>
            <a:endParaRPr lang="en-US"/>
          </a:p>
        </p:txBody>
      </p:sp>
      <p:sp>
        <p:nvSpPr>
          <p:cNvPr id="32" name="Shape 29"/>
          <p:cNvSpPr/>
          <p:nvPr/>
        </p:nvSpPr>
        <p:spPr>
          <a:xfrm>
            <a:off x="6298625" y="3240815"/>
            <a:ext cx="309305" cy="109753"/>
          </a:xfrm>
          <a:prstGeom prst="roundRect">
            <a:avLst>
              <a:gd name="adj" fmla="val 33326"/>
            </a:avLst>
          </a:prstGeom>
          <a:solidFill>
            <a:srgbClr val="1B1B1B">
              <a:alpha val="25000"/>
            </a:srgbClr>
          </a:solidFill>
          <a:ln w="25400">
            <a:solidFill>
              <a:srgbClr val="1B1B1B"/>
            </a:solidFill>
            <a:prstDash val="solid"/>
          </a:ln>
        </p:spPr>
        <p:txBody>
          <a:bodyPr/>
          <a:lstStyle/>
          <a:p>
            <a:endParaRPr lang="en-US"/>
          </a:p>
        </p:txBody>
      </p:sp>
      <p:sp>
        <p:nvSpPr>
          <p:cNvPr id="33" name="Shape 30"/>
          <p:cNvSpPr/>
          <p:nvPr/>
        </p:nvSpPr>
        <p:spPr>
          <a:xfrm>
            <a:off x="8354004" y="1709259"/>
            <a:ext cx="329260" cy="109753"/>
          </a:xfrm>
          <a:prstGeom prst="roundRect">
            <a:avLst>
              <a:gd name="adj" fmla="val 33326"/>
            </a:avLst>
          </a:prstGeom>
          <a:solidFill>
            <a:srgbClr val="1B1B1B">
              <a:alpha val="25000"/>
            </a:srgbClr>
          </a:solidFill>
          <a:ln w="25400">
            <a:solidFill>
              <a:srgbClr val="1B1B1B"/>
            </a:solidFill>
            <a:prstDash val="solid"/>
          </a:ln>
        </p:spPr>
        <p:txBody>
          <a:bodyPr/>
          <a:lstStyle/>
          <a:p>
            <a:endParaRPr lang="en-US"/>
          </a:p>
        </p:txBody>
      </p:sp>
      <p:sp>
        <p:nvSpPr>
          <p:cNvPr id="34"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949440" cy="640080"/>
          </a:xfrm>
          <a:prstGeom prst="rect">
            <a:avLst/>
          </a:prstGeom>
          <a:noFill/>
          <a:ln/>
        </p:spPr>
        <p:txBody>
          <a:bodyPr wrap="square" lIns="0" tIns="0" rIns="0" bIns="0" rtlCol="0" anchor="ctr"/>
          <a:lstStyle/>
          <a:p>
            <a:pPr marL="0" indent="0" algn="l">
              <a:buNone/>
            </a:pPr>
            <a:r>
              <a:rPr lang="en-US" sz="3000" b="1" dirty="0">
                <a:solidFill>
                  <a:schemeClr val="tx2"/>
                </a:solidFill>
              </a:rPr>
              <a:t>Two buzzers in your kit</a:t>
            </a:r>
            <a:endParaRPr lang="en-US" sz="3000" dirty="0"/>
          </a:p>
        </p:txBody>
      </p:sp>
      <p:sp>
        <p:nvSpPr>
          <p:cNvPr id="3" name="Shape 1"/>
          <p:cNvSpPr/>
          <p:nvPr/>
        </p:nvSpPr>
        <p:spPr>
          <a:xfrm>
            <a:off x="457200" y="1051560"/>
            <a:ext cx="3931920" cy="3429000"/>
          </a:xfrm>
          <a:prstGeom prst="roundRect">
            <a:avLst>
              <a:gd name="adj" fmla="val 2667"/>
            </a:avLst>
          </a:prstGeom>
          <a:solidFill>
            <a:srgbClr val="DDF3E9"/>
          </a:solidFill>
          <a:ln w="15875">
            <a:solidFill>
              <a:srgbClr val="1F8A70"/>
            </a:solidFill>
            <a:prstDash val="solid"/>
          </a:ln>
        </p:spPr>
        <p:txBody>
          <a:bodyPr/>
          <a:lstStyle/>
          <a:p>
            <a:endParaRPr lang="en-US"/>
          </a:p>
        </p:txBody>
      </p:sp>
      <p:sp>
        <p:nvSpPr>
          <p:cNvPr id="4" name="Text 2"/>
          <p:cNvSpPr txBox="1"/>
          <p:nvPr/>
        </p:nvSpPr>
        <p:spPr>
          <a:xfrm>
            <a:off x="685800" y="1188720"/>
            <a:ext cx="3474720" cy="365760"/>
          </a:xfrm>
          <a:prstGeom prst="rect">
            <a:avLst/>
          </a:prstGeom>
          <a:noFill/>
          <a:ln/>
        </p:spPr>
        <p:txBody>
          <a:bodyPr wrap="square" lIns="0" tIns="0" rIns="0" bIns="0" rtlCol="0" anchor="ctr"/>
          <a:lstStyle/>
          <a:p>
            <a:pPr marL="0" indent="0">
              <a:buNone/>
            </a:pPr>
            <a:r>
              <a:rPr lang="en-US" sz="1800" b="1" dirty="0">
                <a:solidFill>
                  <a:srgbClr val="0B3D2E"/>
                </a:solidFill>
              </a:rPr>
              <a:t>Active buzzer</a:t>
            </a:r>
            <a:endParaRPr lang="en-US" sz="1800" dirty="0"/>
          </a:p>
        </p:txBody>
      </p:sp>
      <p:sp>
        <p:nvSpPr>
          <p:cNvPr id="5" name="Text 3"/>
          <p:cNvSpPr txBox="1"/>
          <p:nvPr/>
        </p:nvSpPr>
        <p:spPr>
          <a:xfrm>
            <a:off x="685800" y="1554480"/>
            <a:ext cx="3474720" cy="274320"/>
          </a:xfrm>
          <a:prstGeom prst="rect">
            <a:avLst/>
          </a:prstGeom>
          <a:noFill/>
          <a:ln/>
        </p:spPr>
        <p:txBody>
          <a:bodyPr wrap="square" lIns="0" tIns="0" rIns="0" bIns="0" rtlCol="0" anchor="ctr"/>
          <a:lstStyle/>
          <a:p>
            <a:pPr marL="0" indent="0">
              <a:buNone/>
            </a:pPr>
            <a:r>
              <a:rPr lang="en-US" sz="1300" dirty="0">
                <a:solidFill>
                  <a:srgbClr val="6B7280"/>
                </a:solidFill>
              </a:rPr>
              <a:t>makes its own tone</a:t>
            </a:r>
            <a:endParaRPr lang="en-US" sz="1300" dirty="0"/>
          </a:p>
        </p:txBody>
      </p:sp>
      <p:sp>
        <p:nvSpPr>
          <p:cNvPr id="6" name="Shape 4"/>
          <p:cNvSpPr/>
          <p:nvPr/>
        </p:nvSpPr>
        <p:spPr>
          <a:xfrm>
            <a:off x="731520" y="1965960"/>
            <a:ext cx="1005840" cy="1005840"/>
          </a:xfrm>
          <a:prstGeom prst="ellipse">
            <a:avLst/>
          </a:prstGeom>
          <a:solidFill>
            <a:srgbClr val="1A1A1A"/>
          </a:solidFill>
          <a:ln w="12700">
            <a:solidFill>
              <a:srgbClr val="000000"/>
            </a:solidFill>
            <a:prstDash val="solid"/>
          </a:ln>
        </p:spPr>
        <p:txBody>
          <a:bodyPr/>
          <a:lstStyle/>
          <a:p>
            <a:endParaRPr lang="en-US"/>
          </a:p>
        </p:txBody>
      </p:sp>
      <p:sp>
        <p:nvSpPr>
          <p:cNvPr id="7" name="Shape 5"/>
          <p:cNvSpPr/>
          <p:nvPr/>
        </p:nvSpPr>
        <p:spPr>
          <a:xfrm>
            <a:off x="1005840" y="2423160"/>
            <a:ext cx="73152" cy="73152"/>
          </a:xfrm>
          <a:prstGeom prst="ellipse">
            <a:avLst/>
          </a:prstGeom>
          <a:solidFill>
            <a:srgbClr val="BDBDBD"/>
          </a:solidFill>
          <a:ln w="12700">
            <a:solidFill>
              <a:srgbClr val="BDBDBD"/>
            </a:solidFill>
            <a:prstDash val="solid"/>
          </a:ln>
        </p:spPr>
        <p:txBody>
          <a:bodyPr/>
          <a:lstStyle/>
          <a:p>
            <a:endParaRPr lang="en-US"/>
          </a:p>
        </p:txBody>
      </p:sp>
      <p:sp>
        <p:nvSpPr>
          <p:cNvPr id="8" name="Shape 6"/>
          <p:cNvSpPr/>
          <p:nvPr/>
        </p:nvSpPr>
        <p:spPr>
          <a:xfrm>
            <a:off x="1389888" y="2423160"/>
            <a:ext cx="73152" cy="73152"/>
          </a:xfrm>
          <a:prstGeom prst="ellipse">
            <a:avLst/>
          </a:prstGeom>
          <a:solidFill>
            <a:srgbClr val="BDBDBD"/>
          </a:solidFill>
          <a:ln w="12700">
            <a:solidFill>
              <a:srgbClr val="BDBDBD"/>
            </a:solidFill>
            <a:prstDash val="solid"/>
          </a:ln>
        </p:spPr>
        <p:txBody>
          <a:bodyPr/>
          <a:lstStyle/>
          <a:p>
            <a:endParaRPr lang="en-US"/>
          </a:p>
        </p:txBody>
      </p:sp>
      <p:sp>
        <p:nvSpPr>
          <p:cNvPr id="9" name="Text 7"/>
          <p:cNvSpPr txBox="1"/>
          <p:nvPr/>
        </p:nvSpPr>
        <p:spPr>
          <a:xfrm>
            <a:off x="640080" y="3017520"/>
            <a:ext cx="1188720" cy="201168"/>
          </a:xfrm>
          <a:prstGeom prst="rect">
            <a:avLst/>
          </a:prstGeom>
          <a:noFill/>
          <a:ln/>
        </p:spPr>
        <p:txBody>
          <a:bodyPr wrap="square" lIns="0" tIns="0" rIns="0" bIns="0" rtlCol="0" anchor="ctr"/>
          <a:lstStyle/>
          <a:p>
            <a:pPr marL="0" indent="0" algn="ctr">
              <a:buNone/>
            </a:pPr>
            <a:r>
              <a:rPr lang="en-US" sz="1000" dirty="0">
                <a:solidFill>
                  <a:srgbClr val="6B7280"/>
                </a:solidFill>
              </a:rPr>
              <a:t>underneath</a:t>
            </a:r>
            <a:endParaRPr lang="en-US" sz="1000" dirty="0"/>
          </a:p>
        </p:txBody>
      </p:sp>
      <p:sp>
        <p:nvSpPr>
          <p:cNvPr id="10" name="Text 8"/>
          <p:cNvSpPr txBox="1"/>
          <p:nvPr/>
        </p:nvSpPr>
        <p:spPr>
          <a:xfrm>
            <a:off x="1965960" y="1965960"/>
            <a:ext cx="2286000" cy="1188720"/>
          </a:xfrm>
          <a:prstGeom prst="rect">
            <a:avLst/>
          </a:prstGeom>
          <a:noFill/>
          <a:ln/>
        </p:spPr>
        <p:txBody>
          <a:bodyPr wrap="square" lIns="0" tIns="0" rIns="0" bIns="0" rtlCol="0" anchor="ctr"/>
          <a:lstStyle/>
          <a:p>
            <a:pPr marL="0" indent="0">
              <a:spcAft>
                <a:spcPts val="600"/>
              </a:spcAft>
              <a:buNone/>
            </a:pPr>
            <a:r>
              <a:rPr lang="en-US" sz="1400" b="1" dirty="0">
                <a:solidFill>
                  <a:srgbClr val="1B1B1B"/>
                </a:solidFill>
              </a:rPr>
              <a:t>Sealed black back</a:t>
            </a:r>
            <a:endParaRPr lang="en-US" sz="1400" dirty="0"/>
          </a:p>
          <a:p>
            <a:pPr marL="0" indent="0">
              <a:spcAft>
                <a:spcPts val="600"/>
              </a:spcAft>
              <a:buNone/>
            </a:pPr>
            <a:r>
              <a:rPr lang="en-US" sz="1400" dirty="0">
                <a:solidFill>
                  <a:srgbClr val="1B1B1B"/>
                </a:solidFill>
              </a:rPr>
              <a:t>+ to 3V3: steady beep</a:t>
            </a:r>
            <a:endParaRPr lang="en-US" sz="1400" dirty="0"/>
          </a:p>
          <a:p>
            <a:pPr marL="0" indent="0">
              <a:spcAft>
                <a:spcPts val="600"/>
              </a:spcAft>
              <a:buNone/>
            </a:pPr>
            <a:r>
              <a:rPr lang="en-US" sz="1400" dirty="0">
                <a:solidFill>
                  <a:srgbClr val="1B1B1B"/>
                </a:solidFill>
              </a:rPr>
              <a:t>Code: value(1)</a:t>
            </a:r>
            <a:endParaRPr lang="en-US" sz="1400" dirty="0"/>
          </a:p>
        </p:txBody>
      </p:sp>
      <p:sp>
        <p:nvSpPr>
          <p:cNvPr id="11" name="Text 9"/>
          <p:cNvSpPr txBox="1"/>
          <p:nvPr/>
        </p:nvSpPr>
        <p:spPr>
          <a:xfrm>
            <a:off x="685800" y="3429000"/>
            <a:ext cx="3474720" cy="320040"/>
          </a:xfrm>
          <a:prstGeom prst="rect">
            <a:avLst/>
          </a:prstGeom>
          <a:noFill/>
          <a:ln/>
        </p:spPr>
        <p:txBody>
          <a:bodyPr wrap="square" lIns="0" tIns="0" rIns="0" bIns="0" rtlCol="0" anchor="ctr"/>
          <a:lstStyle/>
          <a:p>
            <a:pPr marL="0" indent="0">
              <a:buNone/>
            </a:pPr>
            <a:r>
              <a:rPr lang="en-US" sz="1500" b="1" dirty="0">
                <a:solidFill>
                  <a:srgbClr val="1F8A70"/>
                </a:solidFill>
              </a:rPr>
              <a:t>Use for Steps 0–3</a:t>
            </a:r>
            <a:endParaRPr lang="en-US" sz="1500" dirty="0"/>
          </a:p>
        </p:txBody>
      </p:sp>
      <p:sp>
        <p:nvSpPr>
          <p:cNvPr id="12" name="Text 10"/>
          <p:cNvSpPr txBox="1"/>
          <p:nvPr/>
        </p:nvSpPr>
        <p:spPr>
          <a:xfrm>
            <a:off x="685800" y="3794760"/>
            <a:ext cx="3474720" cy="274320"/>
          </a:xfrm>
          <a:prstGeom prst="rect">
            <a:avLst/>
          </a:prstGeom>
          <a:noFill/>
          <a:ln/>
        </p:spPr>
        <p:txBody>
          <a:bodyPr wrap="square" lIns="0" tIns="0" rIns="0" bIns="0" rtlCol="0" anchor="ctr"/>
          <a:lstStyle/>
          <a:p>
            <a:pPr marL="0" indent="0">
              <a:buNone/>
            </a:pPr>
            <a:r>
              <a:rPr lang="en-US" sz="1300" dirty="0">
                <a:solidFill>
                  <a:srgbClr val="6B7280"/>
                </a:solidFill>
              </a:rPr>
              <a:t>有源蜂鸣器 · "with power"</a:t>
            </a:r>
            <a:endParaRPr lang="en-US" sz="1300" dirty="0"/>
          </a:p>
        </p:txBody>
      </p:sp>
      <p:sp>
        <p:nvSpPr>
          <p:cNvPr id="13" name="Shape 11"/>
          <p:cNvSpPr/>
          <p:nvPr/>
        </p:nvSpPr>
        <p:spPr>
          <a:xfrm>
            <a:off x="4754880" y="1051560"/>
            <a:ext cx="3931920" cy="3429000"/>
          </a:xfrm>
          <a:prstGeom prst="roundRect">
            <a:avLst>
              <a:gd name="adj" fmla="val 2667"/>
            </a:avLst>
          </a:prstGeom>
          <a:solidFill>
            <a:srgbClr val="EEF5F1"/>
          </a:solidFill>
          <a:ln w="15875">
            <a:solidFill>
              <a:srgbClr val="D3E4DB"/>
            </a:solidFill>
            <a:prstDash val="solid"/>
          </a:ln>
        </p:spPr>
        <p:txBody>
          <a:bodyPr/>
          <a:lstStyle/>
          <a:p>
            <a:endParaRPr lang="en-US"/>
          </a:p>
        </p:txBody>
      </p:sp>
      <p:sp>
        <p:nvSpPr>
          <p:cNvPr id="14" name="Text 12"/>
          <p:cNvSpPr txBox="1"/>
          <p:nvPr/>
        </p:nvSpPr>
        <p:spPr>
          <a:xfrm>
            <a:off x="4983480" y="1188720"/>
            <a:ext cx="3474720" cy="365760"/>
          </a:xfrm>
          <a:prstGeom prst="rect">
            <a:avLst/>
          </a:prstGeom>
          <a:noFill/>
          <a:ln/>
        </p:spPr>
        <p:txBody>
          <a:bodyPr wrap="square" lIns="0" tIns="0" rIns="0" bIns="0" rtlCol="0" anchor="ctr"/>
          <a:lstStyle/>
          <a:p>
            <a:pPr marL="0" indent="0">
              <a:buNone/>
            </a:pPr>
            <a:r>
              <a:rPr lang="en-US" sz="1800" b="1" dirty="0">
                <a:solidFill>
                  <a:srgbClr val="0B3D2E"/>
                </a:solidFill>
              </a:rPr>
              <a:t>Passive buzzer</a:t>
            </a:r>
            <a:endParaRPr lang="en-US" sz="1800" dirty="0"/>
          </a:p>
        </p:txBody>
      </p:sp>
      <p:sp>
        <p:nvSpPr>
          <p:cNvPr id="15" name="Text 13"/>
          <p:cNvSpPr txBox="1"/>
          <p:nvPr/>
        </p:nvSpPr>
        <p:spPr>
          <a:xfrm>
            <a:off x="4983480" y="1554480"/>
            <a:ext cx="3474720" cy="274320"/>
          </a:xfrm>
          <a:prstGeom prst="rect">
            <a:avLst/>
          </a:prstGeom>
          <a:noFill/>
          <a:ln/>
        </p:spPr>
        <p:txBody>
          <a:bodyPr wrap="square" lIns="0" tIns="0" rIns="0" bIns="0" rtlCol="0" anchor="ctr"/>
          <a:lstStyle/>
          <a:p>
            <a:pPr marL="0" indent="0">
              <a:buNone/>
            </a:pPr>
            <a:r>
              <a:rPr lang="en-US" sz="1300" dirty="0">
                <a:solidFill>
                  <a:srgbClr val="6B7280"/>
                </a:solidFill>
              </a:rPr>
              <a:t>needs the ESP32 to make the tone</a:t>
            </a:r>
            <a:endParaRPr lang="en-US" sz="1300" dirty="0"/>
          </a:p>
        </p:txBody>
      </p:sp>
      <p:sp>
        <p:nvSpPr>
          <p:cNvPr id="16" name="Shape 14"/>
          <p:cNvSpPr/>
          <p:nvPr/>
        </p:nvSpPr>
        <p:spPr>
          <a:xfrm>
            <a:off x="5029200" y="1965960"/>
            <a:ext cx="1005840" cy="1005840"/>
          </a:xfrm>
          <a:prstGeom prst="ellipse">
            <a:avLst/>
          </a:prstGeom>
          <a:solidFill>
            <a:srgbClr val="2E7D32"/>
          </a:solidFill>
          <a:ln w="12700">
            <a:solidFill>
              <a:srgbClr val="000000"/>
            </a:solidFill>
            <a:prstDash val="solid"/>
          </a:ln>
        </p:spPr>
        <p:txBody>
          <a:bodyPr/>
          <a:lstStyle/>
          <a:p>
            <a:endParaRPr lang="en-US"/>
          </a:p>
        </p:txBody>
      </p:sp>
      <p:sp>
        <p:nvSpPr>
          <p:cNvPr id="17" name="Shape 15"/>
          <p:cNvSpPr/>
          <p:nvPr/>
        </p:nvSpPr>
        <p:spPr>
          <a:xfrm>
            <a:off x="5257800" y="2331720"/>
            <a:ext cx="548640" cy="0"/>
          </a:xfrm>
          <a:prstGeom prst="line">
            <a:avLst/>
          </a:prstGeom>
          <a:noFill/>
          <a:ln w="19050">
            <a:solidFill>
              <a:srgbClr val="C9A227"/>
            </a:solidFill>
            <a:prstDash val="solid"/>
          </a:ln>
        </p:spPr>
        <p:txBody>
          <a:bodyPr/>
          <a:lstStyle/>
          <a:p>
            <a:endParaRPr lang="en-US"/>
          </a:p>
        </p:txBody>
      </p:sp>
      <p:sp>
        <p:nvSpPr>
          <p:cNvPr id="18" name="Shape 16"/>
          <p:cNvSpPr/>
          <p:nvPr/>
        </p:nvSpPr>
        <p:spPr>
          <a:xfrm>
            <a:off x="5303520" y="2606040"/>
            <a:ext cx="457200" cy="0"/>
          </a:xfrm>
          <a:prstGeom prst="line">
            <a:avLst/>
          </a:prstGeom>
          <a:noFill/>
          <a:ln w="19050">
            <a:solidFill>
              <a:srgbClr val="C9A227"/>
            </a:solidFill>
            <a:prstDash val="solid"/>
          </a:ln>
        </p:spPr>
        <p:txBody>
          <a:bodyPr/>
          <a:lstStyle/>
          <a:p>
            <a:endParaRPr lang="en-US"/>
          </a:p>
        </p:txBody>
      </p:sp>
      <p:sp>
        <p:nvSpPr>
          <p:cNvPr id="19" name="Shape 17"/>
          <p:cNvSpPr/>
          <p:nvPr/>
        </p:nvSpPr>
        <p:spPr>
          <a:xfrm>
            <a:off x="5303520" y="2423160"/>
            <a:ext cx="73152" cy="73152"/>
          </a:xfrm>
          <a:prstGeom prst="ellipse">
            <a:avLst/>
          </a:prstGeom>
          <a:solidFill>
            <a:srgbClr val="BDBDBD"/>
          </a:solidFill>
          <a:ln w="12700">
            <a:solidFill>
              <a:srgbClr val="BDBDBD"/>
            </a:solidFill>
            <a:prstDash val="solid"/>
          </a:ln>
        </p:spPr>
        <p:txBody>
          <a:bodyPr/>
          <a:lstStyle/>
          <a:p>
            <a:endParaRPr lang="en-US"/>
          </a:p>
        </p:txBody>
      </p:sp>
      <p:sp>
        <p:nvSpPr>
          <p:cNvPr id="20" name="Shape 18"/>
          <p:cNvSpPr/>
          <p:nvPr/>
        </p:nvSpPr>
        <p:spPr>
          <a:xfrm>
            <a:off x="5687568" y="2423160"/>
            <a:ext cx="73152" cy="73152"/>
          </a:xfrm>
          <a:prstGeom prst="ellipse">
            <a:avLst/>
          </a:prstGeom>
          <a:solidFill>
            <a:srgbClr val="BDBDBD"/>
          </a:solidFill>
          <a:ln w="12700">
            <a:solidFill>
              <a:srgbClr val="BDBDBD"/>
            </a:solidFill>
            <a:prstDash val="solid"/>
          </a:ln>
        </p:spPr>
        <p:txBody>
          <a:bodyPr/>
          <a:lstStyle/>
          <a:p>
            <a:endParaRPr lang="en-US"/>
          </a:p>
        </p:txBody>
      </p:sp>
      <p:sp>
        <p:nvSpPr>
          <p:cNvPr id="21" name="Text 19"/>
          <p:cNvSpPr txBox="1"/>
          <p:nvPr/>
        </p:nvSpPr>
        <p:spPr>
          <a:xfrm>
            <a:off x="4937760" y="3017520"/>
            <a:ext cx="1188720" cy="201168"/>
          </a:xfrm>
          <a:prstGeom prst="rect">
            <a:avLst/>
          </a:prstGeom>
          <a:noFill/>
          <a:ln/>
        </p:spPr>
        <p:txBody>
          <a:bodyPr wrap="square" lIns="0" tIns="0" rIns="0" bIns="0" rtlCol="0" anchor="ctr"/>
          <a:lstStyle/>
          <a:p>
            <a:pPr marL="0" indent="0" algn="ctr">
              <a:buNone/>
            </a:pPr>
            <a:r>
              <a:rPr lang="en-US" sz="1000" dirty="0">
                <a:solidFill>
                  <a:srgbClr val="6B7280"/>
                </a:solidFill>
              </a:rPr>
              <a:t>underneath</a:t>
            </a:r>
            <a:endParaRPr lang="en-US" sz="1000" dirty="0"/>
          </a:p>
        </p:txBody>
      </p:sp>
      <p:sp>
        <p:nvSpPr>
          <p:cNvPr id="22" name="Text 20"/>
          <p:cNvSpPr txBox="1"/>
          <p:nvPr/>
        </p:nvSpPr>
        <p:spPr>
          <a:xfrm>
            <a:off x="6263640" y="1965960"/>
            <a:ext cx="2286000" cy="1188720"/>
          </a:xfrm>
          <a:prstGeom prst="rect">
            <a:avLst/>
          </a:prstGeom>
          <a:noFill/>
          <a:ln/>
        </p:spPr>
        <p:txBody>
          <a:bodyPr wrap="square" lIns="0" tIns="0" rIns="0" bIns="0" rtlCol="0" anchor="ctr"/>
          <a:lstStyle/>
          <a:p>
            <a:pPr marL="0" indent="0">
              <a:spcAft>
                <a:spcPts val="600"/>
              </a:spcAft>
              <a:buNone/>
            </a:pPr>
            <a:r>
              <a:rPr lang="en-US" sz="1400" b="1" dirty="0">
                <a:solidFill>
                  <a:srgbClr val="1B1B1B"/>
                </a:solidFill>
              </a:rPr>
              <a:t>Green circuit board</a:t>
            </a:r>
            <a:endParaRPr lang="en-US" sz="1400" dirty="0"/>
          </a:p>
          <a:p>
            <a:pPr marL="0" indent="0">
              <a:spcAft>
                <a:spcPts val="600"/>
              </a:spcAft>
              <a:buNone/>
            </a:pPr>
            <a:r>
              <a:rPr lang="en-US" sz="1400" dirty="0">
                <a:solidFill>
                  <a:srgbClr val="1B1B1B"/>
                </a:solidFill>
              </a:rPr>
              <a:t>+ to 3V3: one click only</a:t>
            </a:r>
            <a:endParaRPr lang="en-US" sz="1400" dirty="0"/>
          </a:p>
          <a:p>
            <a:pPr marL="0" indent="0">
              <a:spcAft>
                <a:spcPts val="600"/>
              </a:spcAft>
              <a:buNone/>
            </a:pPr>
            <a:r>
              <a:rPr lang="en-US" sz="1400" dirty="0">
                <a:solidFill>
                  <a:srgbClr val="1B1B1B"/>
                </a:solidFill>
              </a:rPr>
              <a:t>Code: PWM, choose the note</a:t>
            </a:r>
            <a:endParaRPr lang="en-US" sz="1400" dirty="0"/>
          </a:p>
        </p:txBody>
      </p:sp>
      <p:sp>
        <p:nvSpPr>
          <p:cNvPr id="23" name="Text 21"/>
          <p:cNvSpPr txBox="1"/>
          <p:nvPr/>
        </p:nvSpPr>
        <p:spPr>
          <a:xfrm>
            <a:off x="4983480" y="3429000"/>
            <a:ext cx="3474720" cy="320040"/>
          </a:xfrm>
          <a:prstGeom prst="rect">
            <a:avLst/>
          </a:prstGeom>
          <a:noFill/>
          <a:ln/>
        </p:spPr>
        <p:txBody>
          <a:bodyPr wrap="square" lIns="0" tIns="0" rIns="0" bIns="0" rtlCol="0" anchor="ctr"/>
          <a:lstStyle/>
          <a:p>
            <a:pPr marL="0" indent="0">
              <a:buNone/>
            </a:pPr>
            <a:r>
              <a:rPr lang="en-US" sz="1500" b="1" dirty="0">
                <a:solidFill>
                  <a:srgbClr val="0B3D2E"/>
                </a:solidFill>
              </a:rPr>
              <a:t>Use for the Step 4 stretch</a:t>
            </a:r>
            <a:endParaRPr lang="en-US" sz="1500" dirty="0"/>
          </a:p>
        </p:txBody>
      </p:sp>
      <p:sp>
        <p:nvSpPr>
          <p:cNvPr id="24" name="Text 22"/>
          <p:cNvSpPr txBox="1"/>
          <p:nvPr/>
        </p:nvSpPr>
        <p:spPr>
          <a:xfrm>
            <a:off x="4983480" y="3794760"/>
            <a:ext cx="3474720" cy="274320"/>
          </a:xfrm>
          <a:prstGeom prst="rect">
            <a:avLst/>
          </a:prstGeom>
          <a:noFill/>
          <a:ln/>
        </p:spPr>
        <p:txBody>
          <a:bodyPr wrap="square" lIns="0" tIns="0" rIns="0" bIns="0" rtlCol="0" anchor="ctr"/>
          <a:lstStyle/>
          <a:p>
            <a:pPr marL="0" indent="0">
              <a:buNone/>
            </a:pPr>
            <a:r>
              <a:rPr lang="en-US" sz="1300" dirty="0">
                <a:solidFill>
                  <a:srgbClr val="6B7280"/>
                </a:solidFill>
              </a:rPr>
              <a:t>无源蜂鸣器 · "without power"</a:t>
            </a:r>
            <a:endParaRPr lang="en-US" sz="13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949440" cy="640080"/>
          </a:xfrm>
          <a:prstGeom prst="rect">
            <a:avLst/>
          </a:prstGeom>
          <a:noFill/>
          <a:ln/>
        </p:spPr>
        <p:txBody>
          <a:bodyPr wrap="square" lIns="0" tIns="0" rIns="0" bIns="0" rtlCol="0" anchor="ctr"/>
          <a:lstStyle/>
          <a:p>
            <a:pPr marL="0" indent="0" algn="l">
              <a:buNone/>
            </a:pPr>
            <a:r>
              <a:rPr lang="en-US" sz="3000" b="1" dirty="0">
                <a:solidFill>
                  <a:schemeClr val="tx2"/>
                </a:solidFill>
              </a:rPr>
              <a:t>Find your pins</a:t>
            </a:r>
            <a:endParaRPr lang="en-US" sz="3000" dirty="0"/>
          </a:p>
        </p:txBody>
      </p:sp>
      <p:pic>
        <p:nvPicPr>
          <p:cNvPr id="3" name="Image 0" descr="ESP32 pinout from Lesson 1"/>
          <p:cNvPicPr>
            <a:picLocks noChangeAspect="1"/>
          </p:cNvPicPr>
          <p:nvPr/>
        </p:nvPicPr>
        <p:blipFill>
          <a:blip r:embed="rId3"/>
          <a:stretch>
            <a:fillRect/>
          </a:stretch>
        </p:blipFill>
        <p:spPr>
          <a:xfrm>
            <a:off x="457200" y="960120"/>
            <a:ext cx="2811780" cy="3749040"/>
          </a:xfrm>
          <a:prstGeom prst="rect">
            <a:avLst/>
          </a:prstGeom>
        </p:spPr>
      </p:pic>
      <p:sp>
        <p:nvSpPr>
          <p:cNvPr id="4" name="Shape 1"/>
          <p:cNvSpPr/>
          <p:nvPr/>
        </p:nvSpPr>
        <p:spPr>
          <a:xfrm>
            <a:off x="2911682" y="3036591"/>
            <a:ext cx="341763" cy="113921"/>
          </a:xfrm>
          <a:prstGeom prst="roundRect">
            <a:avLst>
              <a:gd name="adj" fmla="val 32106"/>
            </a:avLst>
          </a:prstGeom>
          <a:solidFill>
            <a:srgbClr val="C98C00">
              <a:alpha val="25000"/>
            </a:srgbClr>
          </a:solidFill>
          <a:ln w="25400">
            <a:solidFill>
              <a:srgbClr val="C98C00"/>
            </a:solidFill>
            <a:prstDash val="solid"/>
          </a:ln>
        </p:spPr>
        <p:txBody>
          <a:bodyPr/>
          <a:lstStyle/>
          <a:p>
            <a:endParaRPr lang="en-US"/>
          </a:p>
        </p:txBody>
      </p:sp>
      <p:sp>
        <p:nvSpPr>
          <p:cNvPr id="5" name="Shape 2"/>
          <p:cNvSpPr/>
          <p:nvPr/>
        </p:nvSpPr>
        <p:spPr>
          <a:xfrm>
            <a:off x="2911682" y="2922670"/>
            <a:ext cx="341763" cy="113921"/>
          </a:xfrm>
          <a:prstGeom prst="roundRect">
            <a:avLst>
              <a:gd name="adj" fmla="val 32106"/>
            </a:avLst>
          </a:prstGeom>
          <a:solidFill>
            <a:srgbClr val="C98C00">
              <a:alpha val="25000"/>
            </a:srgbClr>
          </a:solidFill>
          <a:ln w="25400">
            <a:solidFill>
              <a:srgbClr val="C98C00"/>
            </a:solidFill>
            <a:prstDash val="solid"/>
          </a:ln>
        </p:spPr>
        <p:txBody>
          <a:bodyPr/>
          <a:lstStyle/>
          <a:p>
            <a:endParaRPr lang="en-US"/>
          </a:p>
        </p:txBody>
      </p:sp>
      <p:sp>
        <p:nvSpPr>
          <p:cNvPr id="6" name="Shape 3"/>
          <p:cNvSpPr/>
          <p:nvPr/>
        </p:nvSpPr>
        <p:spPr>
          <a:xfrm>
            <a:off x="2911682" y="2700006"/>
            <a:ext cx="341763" cy="113921"/>
          </a:xfrm>
          <a:prstGeom prst="roundRect">
            <a:avLst>
              <a:gd name="adj" fmla="val 32106"/>
            </a:avLst>
          </a:prstGeom>
          <a:solidFill>
            <a:srgbClr val="C98C00">
              <a:alpha val="25000"/>
            </a:srgbClr>
          </a:solidFill>
          <a:ln w="25400">
            <a:solidFill>
              <a:srgbClr val="C98C00"/>
            </a:solidFill>
            <a:prstDash val="solid"/>
          </a:ln>
        </p:spPr>
        <p:txBody>
          <a:bodyPr/>
          <a:lstStyle/>
          <a:p>
            <a:endParaRPr lang="en-US"/>
          </a:p>
        </p:txBody>
      </p:sp>
      <p:sp>
        <p:nvSpPr>
          <p:cNvPr id="7" name="Shape 4"/>
          <p:cNvSpPr/>
          <p:nvPr/>
        </p:nvSpPr>
        <p:spPr>
          <a:xfrm>
            <a:off x="2911682" y="2591263"/>
            <a:ext cx="341763" cy="113921"/>
          </a:xfrm>
          <a:prstGeom prst="roundRect">
            <a:avLst>
              <a:gd name="adj" fmla="val 32106"/>
            </a:avLst>
          </a:prstGeom>
          <a:solidFill>
            <a:srgbClr val="C98C00">
              <a:alpha val="25000"/>
            </a:srgbClr>
          </a:solidFill>
          <a:ln w="25400">
            <a:solidFill>
              <a:srgbClr val="C98C00"/>
            </a:solidFill>
            <a:prstDash val="solid"/>
          </a:ln>
        </p:spPr>
        <p:txBody>
          <a:bodyPr/>
          <a:lstStyle/>
          <a:p>
            <a:endParaRPr lang="en-US"/>
          </a:p>
        </p:txBody>
      </p:sp>
      <p:sp>
        <p:nvSpPr>
          <p:cNvPr id="8" name="Shape 5"/>
          <p:cNvSpPr/>
          <p:nvPr/>
        </p:nvSpPr>
        <p:spPr>
          <a:xfrm>
            <a:off x="2911682" y="1918093"/>
            <a:ext cx="341763" cy="113921"/>
          </a:xfrm>
          <a:prstGeom prst="roundRect">
            <a:avLst>
              <a:gd name="adj" fmla="val 32106"/>
            </a:avLst>
          </a:prstGeom>
          <a:solidFill>
            <a:srgbClr val="C98C00">
              <a:alpha val="25000"/>
            </a:srgbClr>
          </a:solidFill>
          <a:ln w="25400">
            <a:solidFill>
              <a:srgbClr val="C98C00"/>
            </a:solidFill>
            <a:prstDash val="solid"/>
          </a:ln>
        </p:spPr>
        <p:txBody>
          <a:bodyPr/>
          <a:lstStyle/>
          <a:p>
            <a:endParaRPr lang="en-US"/>
          </a:p>
        </p:txBody>
      </p:sp>
      <p:sp>
        <p:nvSpPr>
          <p:cNvPr id="9" name="Shape 6"/>
          <p:cNvSpPr/>
          <p:nvPr/>
        </p:nvSpPr>
        <p:spPr>
          <a:xfrm>
            <a:off x="778250" y="3839217"/>
            <a:ext cx="321050" cy="113921"/>
          </a:xfrm>
          <a:prstGeom prst="roundRect">
            <a:avLst>
              <a:gd name="adj" fmla="val 32106"/>
            </a:avLst>
          </a:prstGeom>
          <a:solidFill>
            <a:srgbClr val="D64545">
              <a:alpha val="25000"/>
            </a:srgbClr>
          </a:solidFill>
          <a:ln w="25400">
            <a:solidFill>
              <a:srgbClr val="D64545"/>
            </a:solidFill>
            <a:prstDash val="solid"/>
          </a:ln>
        </p:spPr>
        <p:txBody>
          <a:bodyPr/>
          <a:lstStyle/>
          <a:p>
            <a:endParaRPr lang="en-US"/>
          </a:p>
        </p:txBody>
      </p:sp>
      <p:sp>
        <p:nvSpPr>
          <p:cNvPr id="10" name="Shape 7"/>
          <p:cNvSpPr/>
          <p:nvPr/>
        </p:nvSpPr>
        <p:spPr>
          <a:xfrm>
            <a:off x="778250" y="3388711"/>
            <a:ext cx="321050" cy="113921"/>
          </a:xfrm>
          <a:prstGeom prst="roundRect">
            <a:avLst>
              <a:gd name="adj" fmla="val 32106"/>
            </a:avLst>
          </a:prstGeom>
          <a:solidFill>
            <a:srgbClr val="00A3A3">
              <a:alpha val="25000"/>
            </a:srgbClr>
          </a:solidFill>
          <a:ln w="25400">
            <a:solidFill>
              <a:srgbClr val="00A3A3"/>
            </a:solidFill>
            <a:prstDash val="solid"/>
          </a:ln>
        </p:spPr>
        <p:txBody>
          <a:bodyPr/>
          <a:lstStyle/>
          <a:p>
            <a:endParaRPr lang="en-US"/>
          </a:p>
        </p:txBody>
      </p:sp>
      <p:sp>
        <p:nvSpPr>
          <p:cNvPr id="11" name="Shape 8"/>
          <p:cNvSpPr/>
          <p:nvPr/>
        </p:nvSpPr>
        <p:spPr>
          <a:xfrm>
            <a:off x="778250" y="3046948"/>
            <a:ext cx="321050" cy="113921"/>
          </a:xfrm>
          <a:prstGeom prst="roundRect">
            <a:avLst>
              <a:gd name="adj" fmla="val 32106"/>
            </a:avLst>
          </a:prstGeom>
          <a:solidFill>
            <a:srgbClr val="C2185B">
              <a:alpha val="25000"/>
            </a:srgbClr>
          </a:solidFill>
          <a:ln w="25400">
            <a:solidFill>
              <a:srgbClr val="C2185B"/>
            </a:solidFill>
            <a:prstDash val="solid"/>
          </a:ln>
        </p:spPr>
        <p:txBody>
          <a:bodyPr/>
          <a:lstStyle/>
          <a:p>
            <a:endParaRPr lang="en-US"/>
          </a:p>
        </p:txBody>
      </p:sp>
      <p:sp>
        <p:nvSpPr>
          <p:cNvPr id="12" name="Shape 9"/>
          <p:cNvSpPr/>
          <p:nvPr/>
        </p:nvSpPr>
        <p:spPr>
          <a:xfrm>
            <a:off x="778250" y="3279968"/>
            <a:ext cx="321050" cy="113921"/>
          </a:xfrm>
          <a:prstGeom prst="roundRect">
            <a:avLst>
              <a:gd name="adj" fmla="val 32106"/>
            </a:avLst>
          </a:prstGeom>
          <a:solidFill>
            <a:srgbClr val="1B1B1B">
              <a:alpha val="25000"/>
            </a:srgbClr>
          </a:solidFill>
          <a:ln w="25400">
            <a:solidFill>
              <a:srgbClr val="1B1B1B"/>
            </a:solidFill>
            <a:prstDash val="solid"/>
          </a:ln>
        </p:spPr>
        <p:txBody>
          <a:bodyPr/>
          <a:lstStyle/>
          <a:p>
            <a:endParaRPr lang="en-US"/>
          </a:p>
        </p:txBody>
      </p:sp>
      <p:sp>
        <p:nvSpPr>
          <p:cNvPr id="13" name="Shape 10"/>
          <p:cNvSpPr/>
          <p:nvPr/>
        </p:nvSpPr>
        <p:spPr>
          <a:xfrm>
            <a:off x="2911682" y="1690251"/>
            <a:ext cx="341763" cy="113921"/>
          </a:xfrm>
          <a:prstGeom prst="roundRect">
            <a:avLst>
              <a:gd name="adj" fmla="val 32106"/>
            </a:avLst>
          </a:prstGeom>
          <a:solidFill>
            <a:srgbClr val="1B1B1B">
              <a:alpha val="25000"/>
            </a:srgbClr>
          </a:solidFill>
          <a:ln w="25400">
            <a:solidFill>
              <a:srgbClr val="1B1B1B"/>
            </a:solidFill>
            <a:prstDash val="solid"/>
          </a:ln>
        </p:spPr>
        <p:txBody>
          <a:bodyPr/>
          <a:lstStyle/>
          <a:p>
            <a:endParaRPr lang="en-US"/>
          </a:p>
        </p:txBody>
      </p:sp>
      <p:sp>
        <p:nvSpPr>
          <p:cNvPr id="14" name="Shape 11"/>
          <p:cNvSpPr/>
          <p:nvPr/>
        </p:nvSpPr>
        <p:spPr>
          <a:xfrm>
            <a:off x="778250" y="2715541"/>
            <a:ext cx="321050" cy="113921"/>
          </a:xfrm>
          <a:prstGeom prst="roundRect">
            <a:avLst>
              <a:gd name="adj" fmla="val 32106"/>
            </a:avLst>
          </a:prstGeom>
          <a:solidFill>
            <a:srgbClr val="F28C28">
              <a:alpha val="25000"/>
            </a:srgbClr>
          </a:solidFill>
          <a:ln w="25400">
            <a:solidFill>
              <a:srgbClr val="F28C28"/>
            </a:solidFill>
            <a:prstDash val="solid"/>
          </a:ln>
        </p:spPr>
        <p:txBody>
          <a:bodyPr/>
          <a:lstStyle/>
          <a:p>
            <a:endParaRPr lang="en-US"/>
          </a:p>
        </p:txBody>
      </p:sp>
      <p:sp>
        <p:nvSpPr>
          <p:cNvPr id="15" name="Shape 12"/>
          <p:cNvSpPr/>
          <p:nvPr/>
        </p:nvSpPr>
        <p:spPr>
          <a:xfrm>
            <a:off x="778250" y="1814528"/>
            <a:ext cx="321050" cy="113921"/>
          </a:xfrm>
          <a:prstGeom prst="roundRect">
            <a:avLst>
              <a:gd name="adj" fmla="val 32106"/>
            </a:avLst>
          </a:prstGeom>
          <a:solidFill>
            <a:srgbClr val="D64545">
              <a:alpha val="25000"/>
            </a:srgbClr>
          </a:solidFill>
          <a:ln w="25400">
            <a:solidFill>
              <a:srgbClr val="D64545"/>
            </a:solidFill>
            <a:prstDash val="solid"/>
          </a:ln>
        </p:spPr>
        <p:txBody>
          <a:bodyPr/>
          <a:lstStyle/>
          <a:p>
            <a:endParaRPr lang="en-US"/>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657600" y="1051560"/>
          <a:ext cx="5029200" cy="2560320"/>
        </p:xfrm>
        <a:graphic>
          <a:graphicData uri="http://schemas.openxmlformats.org/drawingml/2006/table">
            <a:tbl>
              <a:tblPr/>
              <a:tblGrid>
                <a:gridCol w="21031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36576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On the board</a:t>
                      </a:r>
                      <a:endParaRPr lang="en-US" sz="1400" dirty="0">
                        <a:latin typeface="Calibri" charset="0"/>
                        <a:ea typeface="Calibri" charset="0"/>
                        <a:cs typeface="Calibri" charset="0"/>
                      </a:endParaRPr>
                    </a:p>
                  </a:txBody>
                  <a:tcPr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0B3D2E"/>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Used for</a:t>
                      </a:r>
                      <a:endParaRPr lang="en-US" sz="1400" dirty="0">
                        <a:latin typeface="Calibri" charset="0"/>
                        <a:ea typeface="Calibri" charset="0"/>
                        <a:cs typeface="Calibri" charset="0"/>
                      </a:endParaRPr>
                    </a:p>
                  </a:txBody>
                  <a:tcPr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0B3D2E"/>
                    </a:solidFill>
                  </a:tcPr>
                </a:tc>
                <a:extLst>
                  <a:ext uri="{0D108BD9-81ED-4DB2-BD59-A6C34878D82A}">
                    <a16:rowId xmlns:a16="http://schemas.microsoft.com/office/drawing/2014/main" val="10000"/>
                  </a:ext>
                </a:extLst>
              </a:tr>
              <a:tr h="365760">
                <a:tc>
                  <a:txBody>
                    <a:bodyPr/>
                    <a:lstStyle/>
                    <a:p>
                      <a:pPr marL="0" indent="0">
                        <a:buNone/>
                      </a:pPr>
                      <a:r>
                        <a:rPr lang="en-US" sz="1400" b="1" dirty="0">
                          <a:solidFill>
                            <a:srgbClr val="1B1B1B"/>
                          </a:solidFill>
                          <a:latin typeface="Calibri" pitchFamily="34" charset="0"/>
                          <a:ea typeface="Calibri" pitchFamily="34" charset="-122"/>
                          <a:cs typeface="Calibri" pitchFamily="34" charset="-120"/>
                        </a:rPr>
                        <a:t>IO25</a:t>
                      </a:r>
                      <a:endParaRPr lang="en-US" sz="1400" dirty="0">
                        <a:latin typeface="Calibri" charset="0"/>
                        <a:ea typeface="Calibri" charset="0"/>
                        <a:cs typeface="Calibri" charset="0"/>
                      </a:endParaRPr>
                    </a:p>
                  </a:txBody>
                  <a:tcPr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FFF1C2"/>
                    </a:solidFill>
                  </a:tcPr>
                </a:tc>
                <a:tc>
                  <a:txBody>
                    <a:bodyPr/>
                    <a:lstStyle/>
                    <a:p>
                      <a:pPr marL="0" indent="0">
                        <a:buNone/>
                      </a:pPr>
                      <a:r>
                        <a:rPr lang="en-US" sz="1400" b="1" dirty="0">
                          <a:solidFill>
                            <a:srgbClr val="1B1B1B"/>
                          </a:solidFill>
                          <a:latin typeface="Calibri" pitchFamily="34" charset="0"/>
                          <a:ea typeface="Calibri" pitchFamily="34" charset="-122"/>
                          <a:cs typeface="Calibri" pitchFamily="34" charset="-120"/>
                        </a:rPr>
                        <a:t>Buzzer +  (new today)</a:t>
                      </a:r>
                      <a:endParaRPr lang="en-US" sz="1400" dirty="0">
                        <a:latin typeface="Calibri" charset="0"/>
                        <a:ea typeface="Calibri" charset="0"/>
                        <a:cs typeface="Calibri" charset="0"/>
                      </a:endParaRPr>
                    </a:p>
                  </a:txBody>
                  <a:tcPr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FFF1C2"/>
                    </a:solidFill>
                  </a:tcPr>
                </a:tc>
                <a:extLst>
                  <a:ext uri="{0D108BD9-81ED-4DB2-BD59-A6C34878D82A}">
                    <a16:rowId xmlns:a16="http://schemas.microsoft.com/office/drawing/2014/main" val="10001"/>
                  </a:ext>
                </a:extLst>
              </a:tr>
              <a:tr h="365760">
                <a:tc>
                  <a:txBody>
                    <a:bodyPr/>
                    <a:lstStyle/>
                    <a:p>
                      <a:pPr marL="0" indent="0">
                        <a:buNone/>
                      </a:pPr>
                      <a:r>
                        <a:rPr lang="en-US" sz="1400" b="1" dirty="0">
                          <a:solidFill>
                            <a:srgbClr val="1B1B1B"/>
                          </a:solidFill>
                          <a:latin typeface="Calibri" pitchFamily="34" charset="0"/>
                          <a:ea typeface="Calibri" pitchFamily="34" charset="-122"/>
                          <a:cs typeface="Calibri" pitchFamily="34" charset="-120"/>
                        </a:rPr>
                        <a:t>3.3V</a:t>
                      </a:r>
                      <a:endParaRPr lang="en-US" sz="1400" dirty="0">
                        <a:latin typeface="Calibri" charset="0"/>
                        <a:ea typeface="Calibri" charset="0"/>
                        <a:cs typeface="Calibri" charset="0"/>
                      </a:endParaRPr>
                    </a:p>
                  </a:txBody>
                  <a:tcPr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FFFFFF"/>
                    </a:solidFill>
                  </a:tcPr>
                </a:tc>
                <a:tc>
                  <a:txBody>
                    <a:bodyPr/>
                    <a:lstStyle/>
                    <a:p>
                      <a:pPr marL="0" indent="0">
                        <a:buNone/>
                      </a:pPr>
                      <a:r>
                        <a:rPr lang="en-US" sz="1400" dirty="0">
                          <a:solidFill>
                            <a:srgbClr val="1B1B1B"/>
                          </a:solidFill>
                          <a:latin typeface="Calibri" pitchFamily="34" charset="0"/>
                          <a:ea typeface="Calibri" pitchFamily="34" charset="-122"/>
                          <a:cs typeface="Calibri" pitchFamily="34" charset="-120"/>
                        </a:rPr>
                        <a:t>Buzzer in Step 0 only</a:t>
                      </a:r>
                      <a:endParaRPr lang="en-US" sz="1400" dirty="0">
                        <a:latin typeface="Calibri" charset="0"/>
                        <a:ea typeface="Calibri" charset="0"/>
                        <a:cs typeface="Calibri" charset="0"/>
                      </a:endParaRPr>
                    </a:p>
                  </a:txBody>
                  <a:tcPr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400" b="1" dirty="0">
                          <a:solidFill>
                            <a:srgbClr val="1B1B1B"/>
                          </a:solidFill>
                          <a:latin typeface="Calibri" pitchFamily="34" charset="0"/>
                          <a:ea typeface="Calibri" pitchFamily="34" charset="-122"/>
                          <a:cs typeface="Calibri" pitchFamily="34" charset="-120"/>
                        </a:rPr>
                        <a:t>IO16, 17, 18, 19, 23</a:t>
                      </a:r>
                      <a:endParaRPr lang="en-US" sz="1400" dirty="0">
                        <a:latin typeface="Calibri" charset="0"/>
                        <a:ea typeface="Calibri" charset="0"/>
                        <a:cs typeface="Calibri" charset="0"/>
                      </a:endParaRPr>
                    </a:p>
                  </a:txBody>
                  <a:tcPr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EEF5F1"/>
                    </a:solidFill>
                  </a:tcPr>
                </a:tc>
                <a:tc>
                  <a:txBody>
                    <a:bodyPr/>
                    <a:lstStyle/>
                    <a:p>
                      <a:pPr marL="0" indent="0">
                        <a:buNone/>
                      </a:pPr>
                      <a:r>
                        <a:rPr lang="en-US" sz="1400" dirty="0">
                          <a:solidFill>
                            <a:srgbClr val="1B1B1B"/>
                          </a:solidFill>
                          <a:latin typeface="Calibri" pitchFamily="34" charset="0"/>
                          <a:ea typeface="Calibri" pitchFamily="34" charset="-122"/>
                          <a:cs typeface="Calibri" pitchFamily="34" charset="-120"/>
                        </a:rPr>
                        <a:t>LED 1 – 5</a:t>
                      </a:r>
                      <a:endParaRPr lang="en-US" sz="1400" dirty="0">
                        <a:latin typeface="Calibri" charset="0"/>
                        <a:ea typeface="Calibri" charset="0"/>
                        <a:cs typeface="Calibri" charset="0"/>
                      </a:endParaRPr>
                    </a:p>
                  </a:txBody>
                  <a:tcPr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EEF5F1"/>
                    </a:solidFill>
                  </a:tcPr>
                </a:tc>
                <a:extLst>
                  <a:ext uri="{0D108BD9-81ED-4DB2-BD59-A6C34878D82A}">
                    <a16:rowId xmlns:a16="http://schemas.microsoft.com/office/drawing/2014/main" val="10003"/>
                  </a:ext>
                </a:extLst>
              </a:tr>
              <a:tr h="365760">
                <a:tc>
                  <a:txBody>
                    <a:bodyPr/>
                    <a:lstStyle/>
                    <a:p>
                      <a:pPr marL="0" indent="0">
                        <a:buNone/>
                      </a:pPr>
                      <a:r>
                        <a:rPr lang="en-US" sz="1400" b="1" dirty="0">
                          <a:solidFill>
                            <a:srgbClr val="1B1B1B"/>
                          </a:solidFill>
                          <a:latin typeface="Calibri" pitchFamily="34" charset="0"/>
                          <a:ea typeface="Calibri" pitchFamily="34" charset="-122"/>
                          <a:cs typeface="Calibri" pitchFamily="34" charset="-120"/>
                        </a:rPr>
                        <a:t>5V</a:t>
                      </a:r>
                      <a:endParaRPr lang="en-US" sz="1400" dirty="0">
                        <a:latin typeface="Calibri" charset="0"/>
                        <a:ea typeface="Calibri" charset="0"/>
                        <a:cs typeface="Calibri" charset="0"/>
                      </a:endParaRPr>
                    </a:p>
                  </a:txBody>
                  <a:tcPr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FFFFFF"/>
                    </a:solidFill>
                  </a:tcPr>
                </a:tc>
                <a:tc>
                  <a:txBody>
                    <a:bodyPr/>
                    <a:lstStyle/>
                    <a:p>
                      <a:pPr marL="0" indent="0">
                        <a:buNone/>
                      </a:pPr>
                      <a:r>
                        <a:rPr lang="en-US" sz="1400" dirty="0">
                          <a:solidFill>
                            <a:srgbClr val="1B1B1B"/>
                          </a:solidFill>
                          <a:latin typeface="Calibri" pitchFamily="34" charset="0"/>
                          <a:ea typeface="Calibri" pitchFamily="34" charset="-122"/>
                          <a:cs typeface="Calibri" pitchFamily="34" charset="-120"/>
                        </a:rPr>
                        <a:t>Sensor VCC</a:t>
                      </a:r>
                      <a:endParaRPr lang="en-US" sz="1400" dirty="0">
                        <a:latin typeface="Calibri" charset="0"/>
                        <a:ea typeface="Calibri" charset="0"/>
                        <a:cs typeface="Calibri" charset="0"/>
                      </a:endParaRPr>
                    </a:p>
                  </a:txBody>
                  <a:tcPr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buNone/>
                      </a:pPr>
                      <a:r>
                        <a:rPr lang="en-US" sz="1400" b="1" dirty="0">
                          <a:solidFill>
                            <a:srgbClr val="1B1B1B"/>
                          </a:solidFill>
                          <a:latin typeface="Calibri" pitchFamily="34" charset="0"/>
                          <a:ea typeface="Calibri" pitchFamily="34" charset="-122"/>
                          <a:cs typeface="Calibri" pitchFamily="34" charset="-120"/>
                        </a:rPr>
                        <a:t>IO13 / IO14</a:t>
                      </a:r>
                      <a:endParaRPr lang="en-US" sz="1400" dirty="0">
                        <a:latin typeface="Calibri" charset="0"/>
                        <a:ea typeface="Calibri" charset="0"/>
                        <a:cs typeface="Calibri" charset="0"/>
                      </a:endParaRPr>
                    </a:p>
                  </a:txBody>
                  <a:tcPr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EEF5F1"/>
                    </a:solidFill>
                  </a:tcPr>
                </a:tc>
                <a:tc>
                  <a:txBody>
                    <a:bodyPr/>
                    <a:lstStyle/>
                    <a:p>
                      <a:pPr marL="0" indent="0">
                        <a:buNone/>
                      </a:pPr>
                      <a:r>
                        <a:rPr lang="en-US" sz="1400" dirty="0">
                          <a:solidFill>
                            <a:srgbClr val="1B1B1B"/>
                          </a:solidFill>
                          <a:latin typeface="Calibri" pitchFamily="34" charset="0"/>
                          <a:ea typeface="Calibri" pitchFamily="34" charset="-122"/>
                          <a:cs typeface="Calibri" pitchFamily="34" charset="-120"/>
                        </a:rPr>
                        <a:t>Sensor Trig / Echo</a:t>
                      </a:r>
                      <a:endParaRPr lang="en-US" sz="1400" dirty="0">
                        <a:latin typeface="Calibri" charset="0"/>
                        <a:ea typeface="Calibri" charset="0"/>
                        <a:cs typeface="Calibri" charset="0"/>
                      </a:endParaRPr>
                    </a:p>
                  </a:txBody>
                  <a:tcPr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EEF5F1"/>
                    </a:solidFill>
                  </a:tcPr>
                </a:tc>
                <a:extLst>
                  <a:ext uri="{0D108BD9-81ED-4DB2-BD59-A6C34878D82A}">
                    <a16:rowId xmlns:a16="http://schemas.microsoft.com/office/drawing/2014/main" val="10005"/>
                  </a:ext>
                </a:extLst>
              </a:tr>
              <a:tr h="365760">
                <a:tc>
                  <a:txBody>
                    <a:bodyPr/>
                    <a:lstStyle/>
                    <a:p>
                      <a:pPr marL="0" indent="0">
                        <a:buNone/>
                      </a:pPr>
                      <a:r>
                        <a:rPr lang="en-US" sz="1400" b="1" dirty="0">
                          <a:solidFill>
                            <a:srgbClr val="1B1B1B"/>
                          </a:solidFill>
                          <a:latin typeface="Calibri" pitchFamily="34" charset="0"/>
                          <a:ea typeface="Calibri" pitchFamily="34" charset="-122"/>
                          <a:cs typeface="Calibri" pitchFamily="34" charset="-120"/>
                        </a:rPr>
                        <a:t>GND</a:t>
                      </a:r>
                      <a:endParaRPr lang="en-US" sz="1400" dirty="0">
                        <a:latin typeface="Calibri" charset="0"/>
                        <a:ea typeface="Calibri" charset="0"/>
                        <a:cs typeface="Calibri" charset="0"/>
                      </a:endParaRPr>
                    </a:p>
                  </a:txBody>
                  <a:tcPr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FFFFFF"/>
                    </a:solidFill>
                  </a:tcPr>
                </a:tc>
                <a:tc>
                  <a:txBody>
                    <a:bodyPr/>
                    <a:lstStyle/>
                    <a:p>
                      <a:pPr marL="0" indent="0">
                        <a:buNone/>
                      </a:pPr>
                      <a:r>
                        <a:rPr lang="en-US" sz="1400" dirty="0">
                          <a:solidFill>
                            <a:srgbClr val="1B1B1B"/>
                          </a:solidFill>
                          <a:latin typeface="Calibri" pitchFamily="34" charset="0"/>
                          <a:ea typeface="Calibri" pitchFamily="34" charset="-122"/>
                          <a:cs typeface="Calibri" pitchFamily="34" charset="-120"/>
                        </a:rPr>
                        <a:t>Every minus leg</a:t>
                      </a:r>
                      <a:endParaRPr lang="en-US" sz="1400" dirty="0">
                        <a:latin typeface="Calibri" charset="0"/>
                        <a:ea typeface="Calibri" charset="0"/>
                        <a:cs typeface="Calibri" charset="0"/>
                      </a:endParaRPr>
                    </a:p>
                  </a:txBody>
                  <a:tcPr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7" name="Text 13"/>
          <p:cNvSpPr txBox="1"/>
          <p:nvPr/>
        </p:nvSpPr>
        <p:spPr>
          <a:xfrm>
            <a:off x="3657600" y="3749040"/>
            <a:ext cx="5029200" cy="320040"/>
          </a:xfrm>
          <a:prstGeom prst="rect">
            <a:avLst/>
          </a:prstGeom>
          <a:noFill/>
          <a:ln/>
        </p:spPr>
        <p:txBody>
          <a:bodyPr wrap="square" lIns="0" tIns="0" rIns="0" bIns="0" rtlCol="0" anchor="ctr"/>
          <a:lstStyle/>
          <a:p>
            <a:pPr marL="0" indent="0">
              <a:buNone/>
            </a:pPr>
            <a:r>
              <a:rPr lang="en-US" sz="1500" b="1" dirty="0">
                <a:solidFill>
                  <a:srgbClr val="0B3D2E"/>
                </a:solidFill>
              </a:rPr>
              <a:t>The board says IO25. The code says Pin(25). Same pin.</a:t>
            </a:r>
            <a:endParaRPr lang="en-US" sz="1500" dirty="0"/>
          </a:p>
        </p:txBody>
      </p:sp>
      <p:sp>
        <p:nvSpPr>
          <p:cNvPr id="18" name="Text 14"/>
          <p:cNvSpPr txBox="1"/>
          <p:nvPr/>
        </p:nvSpPr>
        <p:spPr>
          <a:xfrm>
            <a:off x="3657600" y="4114800"/>
            <a:ext cx="5029200" cy="320040"/>
          </a:xfrm>
          <a:prstGeom prst="rect">
            <a:avLst/>
          </a:prstGeom>
          <a:noFill/>
          <a:ln/>
        </p:spPr>
        <p:txBody>
          <a:bodyPr wrap="square" lIns="0" tIns="0" rIns="0" bIns="0" rtlCol="0" anchor="ctr"/>
          <a:lstStyle/>
          <a:p>
            <a:pPr marL="0" indent="0">
              <a:buNone/>
            </a:pPr>
            <a:r>
              <a:rPr lang="en-US" sz="1400" dirty="0">
                <a:solidFill>
                  <a:srgbClr val="1B1B1B"/>
                </a:solidFill>
              </a:rPr>
              <a:t>There are three GND pins. Any of them works.</a:t>
            </a:r>
            <a:endParaRPr lang="en-US" sz="14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949440" cy="640080"/>
          </a:xfrm>
          <a:prstGeom prst="rect">
            <a:avLst/>
          </a:prstGeom>
          <a:noFill/>
          <a:ln/>
        </p:spPr>
        <p:txBody>
          <a:bodyPr wrap="square" lIns="0" tIns="0" rIns="0" bIns="0" rtlCol="0" anchor="ctr"/>
          <a:lstStyle/>
          <a:p>
            <a:pPr marL="0" indent="0" algn="l">
              <a:buNone/>
            </a:pPr>
            <a:r>
              <a:rPr lang="en-US" sz="3000" b="1" dirty="0">
                <a:solidFill>
                  <a:schemeClr val="tx2"/>
                </a:solidFill>
              </a:rPr>
              <a:t>How to use the code today</a:t>
            </a:r>
            <a:endParaRPr lang="en-US" sz="3000" dirty="0"/>
          </a:p>
        </p:txBody>
      </p:sp>
      <p:sp>
        <p:nvSpPr>
          <p:cNvPr id="3" name="Shape 1"/>
          <p:cNvSpPr/>
          <p:nvPr/>
        </p:nvSpPr>
        <p:spPr>
          <a:xfrm>
            <a:off x="457200" y="1069848"/>
            <a:ext cx="329184" cy="329184"/>
          </a:xfrm>
          <a:prstGeom prst="ellipse">
            <a:avLst/>
          </a:prstGeom>
          <a:solidFill>
            <a:srgbClr val="F2A900"/>
          </a:solidFill>
          <a:ln w="12700">
            <a:solidFill>
              <a:srgbClr val="C98C00"/>
            </a:solidFill>
            <a:prstDash val="solid"/>
          </a:ln>
        </p:spPr>
        <p:txBody>
          <a:bodyPr/>
          <a:lstStyle/>
          <a:p>
            <a:endParaRPr lang="en-US"/>
          </a:p>
        </p:txBody>
      </p:sp>
      <p:sp>
        <p:nvSpPr>
          <p:cNvPr id="4" name="Text 2"/>
          <p:cNvSpPr txBox="1"/>
          <p:nvPr/>
        </p:nvSpPr>
        <p:spPr>
          <a:xfrm>
            <a:off x="457200" y="1069848"/>
            <a:ext cx="329184" cy="329184"/>
          </a:xfrm>
          <a:prstGeom prst="rect">
            <a:avLst/>
          </a:prstGeom>
          <a:noFill/>
          <a:ln/>
        </p:spPr>
        <p:txBody>
          <a:bodyPr wrap="square" lIns="0" tIns="0" rIns="0" bIns="0" rtlCol="0" anchor="ctr"/>
          <a:lstStyle/>
          <a:p>
            <a:pPr marL="0" indent="0" algn="ctr">
              <a:buNone/>
            </a:pPr>
            <a:r>
              <a:rPr lang="en-US" sz="1300" b="1" dirty="0">
                <a:solidFill>
                  <a:srgbClr val="0B3D2E"/>
                </a:solidFill>
              </a:rPr>
              <a:t>1</a:t>
            </a:r>
            <a:endParaRPr lang="en-US" sz="1300" dirty="0"/>
          </a:p>
        </p:txBody>
      </p:sp>
      <p:sp>
        <p:nvSpPr>
          <p:cNvPr id="5" name="Text 3"/>
          <p:cNvSpPr txBox="1"/>
          <p:nvPr/>
        </p:nvSpPr>
        <p:spPr>
          <a:xfrm>
            <a:off x="914400" y="1051560"/>
            <a:ext cx="4206240" cy="384048"/>
          </a:xfrm>
          <a:prstGeom prst="rect">
            <a:avLst/>
          </a:prstGeom>
          <a:noFill/>
          <a:ln/>
        </p:spPr>
        <p:txBody>
          <a:bodyPr wrap="square" lIns="0" tIns="0" rIns="0" bIns="0" rtlCol="0" anchor="ctr"/>
          <a:lstStyle/>
          <a:p>
            <a:pPr marL="0" indent="0">
              <a:buNone/>
            </a:pPr>
            <a:r>
              <a:rPr lang="en-US" sz="1500" dirty="0">
                <a:solidFill>
                  <a:srgbClr val="1B1B1B"/>
                </a:solidFill>
              </a:rPr>
              <a:t>Bottom-right of Thonny says </a:t>
            </a:r>
            <a:r>
              <a:rPr lang="en-US" sz="1500" b="1" dirty="0">
                <a:solidFill>
                  <a:srgbClr val="1B1B1B"/>
                </a:solidFill>
              </a:rPr>
              <a:t>MicroPython (ESP32)</a:t>
            </a:r>
            <a:endParaRPr lang="en-US" sz="1500" dirty="0"/>
          </a:p>
        </p:txBody>
      </p:sp>
      <p:sp>
        <p:nvSpPr>
          <p:cNvPr id="6" name="Shape 4"/>
          <p:cNvSpPr/>
          <p:nvPr/>
        </p:nvSpPr>
        <p:spPr>
          <a:xfrm>
            <a:off x="457200" y="1600200"/>
            <a:ext cx="329184" cy="329184"/>
          </a:xfrm>
          <a:prstGeom prst="ellipse">
            <a:avLst/>
          </a:prstGeom>
          <a:solidFill>
            <a:srgbClr val="F2A900"/>
          </a:solidFill>
          <a:ln w="12700">
            <a:solidFill>
              <a:srgbClr val="C98C00"/>
            </a:solidFill>
            <a:prstDash val="solid"/>
          </a:ln>
        </p:spPr>
        <p:txBody>
          <a:bodyPr/>
          <a:lstStyle/>
          <a:p>
            <a:endParaRPr lang="en-US"/>
          </a:p>
        </p:txBody>
      </p:sp>
      <p:sp>
        <p:nvSpPr>
          <p:cNvPr id="7" name="Text 5"/>
          <p:cNvSpPr txBox="1"/>
          <p:nvPr/>
        </p:nvSpPr>
        <p:spPr>
          <a:xfrm>
            <a:off x="457200" y="1600200"/>
            <a:ext cx="329184" cy="329184"/>
          </a:xfrm>
          <a:prstGeom prst="rect">
            <a:avLst/>
          </a:prstGeom>
          <a:noFill/>
          <a:ln/>
        </p:spPr>
        <p:txBody>
          <a:bodyPr wrap="square" lIns="0" tIns="0" rIns="0" bIns="0" rtlCol="0" anchor="ctr"/>
          <a:lstStyle/>
          <a:p>
            <a:pPr marL="0" indent="0" algn="ctr">
              <a:buNone/>
            </a:pPr>
            <a:r>
              <a:rPr lang="en-US" sz="1300" b="1" dirty="0">
                <a:solidFill>
                  <a:srgbClr val="0B3D2E"/>
                </a:solidFill>
              </a:rPr>
              <a:t>2</a:t>
            </a:r>
            <a:endParaRPr lang="en-US" sz="1300" dirty="0"/>
          </a:p>
        </p:txBody>
      </p:sp>
      <p:sp>
        <p:nvSpPr>
          <p:cNvPr id="8" name="Text 6"/>
          <p:cNvSpPr txBox="1"/>
          <p:nvPr/>
        </p:nvSpPr>
        <p:spPr>
          <a:xfrm>
            <a:off x="914400" y="1581912"/>
            <a:ext cx="4206240" cy="384048"/>
          </a:xfrm>
          <a:prstGeom prst="rect">
            <a:avLst/>
          </a:prstGeom>
          <a:noFill/>
          <a:ln/>
        </p:spPr>
        <p:txBody>
          <a:bodyPr wrap="square" lIns="0" tIns="0" rIns="0" bIns="0" rtlCol="0" anchor="ctr"/>
          <a:lstStyle/>
          <a:p>
            <a:pPr marL="0" indent="0">
              <a:buNone/>
            </a:pPr>
            <a:r>
              <a:rPr lang="en-US" sz="1500" b="1" dirty="0">
                <a:solidFill>
                  <a:srgbClr val="1B1B1B"/>
                </a:solidFill>
              </a:rPr>
              <a:t>View &gt; Files</a:t>
            </a:r>
            <a:r>
              <a:rPr lang="en-US" sz="1500" dirty="0">
                <a:solidFill>
                  <a:srgbClr val="1B1B1B"/>
                </a:solidFill>
              </a:rPr>
              <a:t>, then open JA05 &gt; 20261016_L4</a:t>
            </a:r>
            <a:endParaRPr lang="en-US" sz="1500" dirty="0"/>
          </a:p>
        </p:txBody>
      </p:sp>
      <p:sp>
        <p:nvSpPr>
          <p:cNvPr id="9" name="Shape 7"/>
          <p:cNvSpPr/>
          <p:nvPr/>
        </p:nvSpPr>
        <p:spPr>
          <a:xfrm>
            <a:off x="457200" y="2130552"/>
            <a:ext cx="329184" cy="329184"/>
          </a:xfrm>
          <a:prstGeom prst="ellipse">
            <a:avLst/>
          </a:prstGeom>
          <a:solidFill>
            <a:srgbClr val="F2A900"/>
          </a:solidFill>
          <a:ln w="12700">
            <a:solidFill>
              <a:srgbClr val="C98C00"/>
            </a:solidFill>
            <a:prstDash val="solid"/>
          </a:ln>
        </p:spPr>
        <p:txBody>
          <a:bodyPr/>
          <a:lstStyle/>
          <a:p>
            <a:endParaRPr lang="en-US"/>
          </a:p>
        </p:txBody>
      </p:sp>
      <p:sp>
        <p:nvSpPr>
          <p:cNvPr id="10" name="Text 8"/>
          <p:cNvSpPr txBox="1"/>
          <p:nvPr/>
        </p:nvSpPr>
        <p:spPr>
          <a:xfrm>
            <a:off x="457200" y="2130552"/>
            <a:ext cx="329184" cy="329184"/>
          </a:xfrm>
          <a:prstGeom prst="rect">
            <a:avLst/>
          </a:prstGeom>
          <a:noFill/>
          <a:ln/>
        </p:spPr>
        <p:txBody>
          <a:bodyPr wrap="square" lIns="0" tIns="0" rIns="0" bIns="0" rtlCol="0" anchor="ctr"/>
          <a:lstStyle/>
          <a:p>
            <a:pPr marL="0" indent="0" algn="ctr">
              <a:buNone/>
            </a:pPr>
            <a:r>
              <a:rPr lang="en-US" sz="1300" b="1" dirty="0">
                <a:solidFill>
                  <a:srgbClr val="0B3D2E"/>
                </a:solidFill>
              </a:rPr>
              <a:t>3</a:t>
            </a:r>
            <a:endParaRPr lang="en-US" sz="1300" dirty="0"/>
          </a:p>
        </p:txBody>
      </p:sp>
      <p:sp>
        <p:nvSpPr>
          <p:cNvPr id="11" name="Text 9"/>
          <p:cNvSpPr txBox="1"/>
          <p:nvPr/>
        </p:nvSpPr>
        <p:spPr>
          <a:xfrm>
            <a:off x="914400" y="2112264"/>
            <a:ext cx="4206240" cy="384048"/>
          </a:xfrm>
          <a:prstGeom prst="rect">
            <a:avLst/>
          </a:prstGeom>
          <a:noFill/>
          <a:ln/>
        </p:spPr>
        <p:txBody>
          <a:bodyPr wrap="square" lIns="0" tIns="0" rIns="0" bIns="0" rtlCol="0" anchor="ctr"/>
          <a:lstStyle/>
          <a:p>
            <a:pPr marL="0" indent="0">
              <a:buNone/>
            </a:pPr>
            <a:r>
              <a:rPr lang="en-US" sz="1500" dirty="0">
                <a:solidFill>
                  <a:srgbClr val="1B1B1B"/>
                </a:solidFill>
              </a:rPr>
              <a:t>Right-click the step file &gt; </a:t>
            </a:r>
            <a:r>
              <a:rPr lang="en-US" sz="1500" b="1" dirty="0">
                <a:solidFill>
                  <a:srgbClr val="1B1B1B"/>
                </a:solidFill>
              </a:rPr>
              <a:t>Upload to /</a:t>
            </a:r>
            <a:endParaRPr lang="en-US" sz="1500" dirty="0"/>
          </a:p>
        </p:txBody>
      </p:sp>
      <p:sp>
        <p:nvSpPr>
          <p:cNvPr id="12" name="Shape 10"/>
          <p:cNvSpPr/>
          <p:nvPr/>
        </p:nvSpPr>
        <p:spPr>
          <a:xfrm>
            <a:off x="457200" y="2660904"/>
            <a:ext cx="329184" cy="329184"/>
          </a:xfrm>
          <a:prstGeom prst="ellipse">
            <a:avLst/>
          </a:prstGeom>
          <a:solidFill>
            <a:srgbClr val="F2A900"/>
          </a:solidFill>
          <a:ln w="12700">
            <a:solidFill>
              <a:srgbClr val="C98C00"/>
            </a:solidFill>
            <a:prstDash val="solid"/>
          </a:ln>
        </p:spPr>
        <p:txBody>
          <a:bodyPr/>
          <a:lstStyle/>
          <a:p>
            <a:endParaRPr lang="en-US"/>
          </a:p>
        </p:txBody>
      </p:sp>
      <p:sp>
        <p:nvSpPr>
          <p:cNvPr id="13" name="Text 11"/>
          <p:cNvSpPr txBox="1"/>
          <p:nvPr/>
        </p:nvSpPr>
        <p:spPr>
          <a:xfrm>
            <a:off x="457200" y="2660904"/>
            <a:ext cx="329184" cy="329184"/>
          </a:xfrm>
          <a:prstGeom prst="rect">
            <a:avLst/>
          </a:prstGeom>
          <a:noFill/>
          <a:ln/>
        </p:spPr>
        <p:txBody>
          <a:bodyPr wrap="square" lIns="0" tIns="0" rIns="0" bIns="0" rtlCol="0" anchor="ctr"/>
          <a:lstStyle/>
          <a:p>
            <a:pPr marL="0" indent="0" algn="ctr">
              <a:buNone/>
            </a:pPr>
            <a:r>
              <a:rPr lang="en-US" sz="1300" b="1" dirty="0">
                <a:solidFill>
                  <a:srgbClr val="0B3D2E"/>
                </a:solidFill>
              </a:rPr>
              <a:t>4</a:t>
            </a:r>
            <a:endParaRPr lang="en-US" sz="1300" dirty="0"/>
          </a:p>
        </p:txBody>
      </p:sp>
      <p:sp>
        <p:nvSpPr>
          <p:cNvPr id="14" name="Text 12"/>
          <p:cNvSpPr txBox="1"/>
          <p:nvPr/>
        </p:nvSpPr>
        <p:spPr>
          <a:xfrm>
            <a:off x="914400" y="2642616"/>
            <a:ext cx="4206240" cy="384048"/>
          </a:xfrm>
          <a:prstGeom prst="rect">
            <a:avLst/>
          </a:prstGeom>
          <a:noFill/>
          <a:ln/>
        </p:spPr>
        <p:txBody>
          <a:bodyPr wrap="square" lIns="0" tIns="0" rIns="0" bIns="0" rtlCol="0" anchor="ctr"/>
          <a:lstStyle/>
          <a:p>
            <a:pPr marL="0" indent="0">
              <a:buNone/>
            </a:pPr>
            <a:r>
              <a:rPr lang="en-US" sz="1500" dirty="0">
                <a:solidFill>
                  <a:srgbClr val="1B1B1B"/>
                </a:solidFill>
              </a:rPr>
              <a:t>Double-click it under </a:t>
            </a:r>
            <a:r>
              <a:rPr lang="en-US" sz="1500" b="1" dirty="0">
                <a:solidFill>
                  <a:srgbClr val="1B1B1B"/>
                </a:solidFill>
              </a:rPr>
              <a:t>MicroPython device</a:t>
            </a:r>
            <a:endParaRPr lang="en-US" sz="1500" dirty="0"/>
          </a:p>
        </p:txBody>
      </p:sp>
      <p:sp>
        <p:nvSpPr>
          <p:cNvPr id="15" name="Shape 13"/>
          <p:cNvSpPr/>
          <p:nvPr/>
        </p:nvSpPr>
        <p:spPr>
          <a:xfrm>
            <a:off x="457200" y="3191256"/>
            <a:ext cx="329184" cy="329184"/>
          </a:xfrm>
          <a:prstGeom prst="ellipse">
            <a:avLst/>
          </a:prstGeom>
          <a:solidFill>
            <a:srgbClr val="F2A900"/>
          </a:solidFill>
          <a:ln w="12700">
            <a:solidFill>
              <a:srgbClr val="C98C00"/>
            </a:solidFill>
            <a:prstDash val="solid"/>
          </a:ln>
        </p:spPr>
        <p:txBody>
          <a:bodyPr/>
          <a:lstStyle/>
          <a:p>
            <a:endParaRPr lang="en-US"/>
          </a:p>
        </p:txBody>
      </p:sp>
      <p:sp>
        <p:nvSpPr>
          <p:cNvPr id="16" name="Text 14"/>
          <p:cNvSpPr txBox="1"/>
          <p:nvPr/>
        </p:nvSpPr>
        <p:spPr>
          <a:xfrm>
            <a:off x="457200" y="3191256"/>
            <a:ext cx="329184" cy="329184"/>
          </a:xfrm>
          <a:prstGeom prst="rect">
            <a:avLst/>
          </a:prstGeom>
          <a:noFill/>
          <a:ln/>
        </p:spPr>
        <p:txBody>
          <a:bodyPr wrap="square" lIns="0" tIns="0" rIns="0" bIns="0" rtlCol="0" anchor="ctr"/>
          <a:lstStyle/>
          <a:p>
            <a:pPr marL="0" indent="0" algn="ctr">
              <a:buNone/>
            </a:pPr>
            <a:r>
              <a:rPr lang="en-US" sz="1300" b="1" dirty="0">
                <a:solidFill>
                  <a:srgbClr val="0B3D2E"/>
                </a:solidFill>
              </a:rPr>
              <a:t>5</a:t>
            </a:r>
            <a:endParaRPr lang="en-US" sz="1300" dirty="0"/>
          </a:p>
        </p:txBody>
      </p:sp>
      <p:sp>
        <p:nvSpPr>
          <p:cNvPr id="17" name="Text 15"/>
          <p:cNvSpPr txBox="1"/>
          <p:nvPr/>
        </p:nvSpPr>
        <p:spPr>
          <a:xfrm>
            <a:off x="914400" y="3172968"/>
            <a:ext cx="4206240" cy="384048"/>
          </a:xfrm>
          <a:prstGeom prst="rect">
            <a:avLst/>
          </a:prstGeom>
          <a:noFill/>
          <a:ln/>
        </p:spPr>
        <p:txBody>
          <a:bodyPr wrap="square" lIns="0" tIns="0" rIns="0" bIns="0" rtlCol="0" anchor="ctr"/>
          <a:lstStyle/>
          <a:p>
            <a:pPr marL="0" indent="0">
              <a:buNone/>
            </a:pPr>
            <a:r>
              <a:rPr lang="en-US" sz="1500" b="1" dirty="0">
                <a:solidFill>
                  <a:srgbClr val="1B1B1B"/>
                </a:solidFill>
              </a:rPr>
              <a:t>Run ▶ (F5)</a:t>
            </a:r>
            <a:r>
              <a:rPr lang="en-US" sz="1500" dirty="0">
                <a:solidFill>
                  <a:srgbClr val="1B1B1B"/>
                </a:solidFill>
              </a:rPr>
              <a:t> without changes first</a:t>
            </a:r>
            <a:endParaRPr lang="en-US" sz="1500" dirty="0"/>
          </a:p>
        </p:txBody>
      </p:sp>
      <p:sp>
        <p:nvSpPr>
          <p:cNvPr id="18" name="Shape 16"/>
          <p:cNvSpPr/>
          <p:nvPr/>
        </p:nvSpPr>
        <p:spPr>
          <a:xfrm>
            <a:off x="457200" y="3721608"/>
            <a:ext cx="329184" cy="329184"/>
          </a:xfrm>
          <a:prstGeom prst="ellipse">
            <a:avLst/>
          </a:prstGeom>
          <a:solidFill>
            <a:srgbClr val="F2A900"/>
          </a:solidFill>
          <a:ln w="12700">
            <a:solidFill>
              <a:srgbClr val="C98C00"/>
            </a:solidFill>
            <a:prstDash val="solid"/>
          </a:ln>
        </p:spPr>
        <p:txBody>
          <a:bodyPr/>
          <a:lstStyle/>
          <a:p>
            <a:endParaRPr lang="en-US"/>
          </a:p>
        </p:txBody>
      </p:sp>
      <p:sp>
        <p:nvSpPr>
          <p:cNvPr id="19" name="Text 17"/>
          <p:cNvSpPr txBox="1"/>
          <p:nvPr/>
        </p:nvSpPr>
        <p:spPr>
          <a:xfrm>
            <a:off x="457200" y="3721608"/>
            <a:ext cx="329184" cy="329184"/>
          </a:xfrm>
          <a:prstGeom prst="rect">
            <a:avLst/>
          </a:prstGeom>
          <a:noFill/>
          <a:ln/>
        </p:spPr>
        <p:txBody>
          <a:bodyPr wrap="square" lIns="0" tIns="0" rIns="0" bIns="0" rtlCol="0" anchor="ctr"/>
          <a:lstStyle/>
          <a:p>
            <a:pPr marL="0" indent="0" algn="ctr">
              <a:buNone/>
            </a:pPr>
            <a:r>
              <a:rPr lang="en-US" sz="1300" b="1" dirty="0">
                <a:solidFill>
                  <a:srgbClr val="0B3D2E"/>
                </a:solidFill>
              </a:rPr>
              <a:t>6</a:t>
            </a:r>
            <a:endParaRPr lang="en-US" sz="1300" dirty="0"/>
          </a:p>
        </p:txBody>
      </p:sp>
      <p:sp>
        <p:nvSpPr>
          <p:cNvPr id="20" name="Text 18"/>
          <p:cNvSpPr txBox="1"/>
          <p:nvPr/>
        </p:nvSpPr>
        <p:spPr>
          <a:xfrm>
            <a:off x="914400" y="3703320"/>
            <a:ext cx="4206240" cy="384048"/>
          </a:xfrm>
          <a:prstGeom prst="rect">
            <a:avLst/>
          </a:prstGeom>
          <a:noFill/>
          <a:ln/>
        </p:spPr>
        <p:txBody>
          <a:bodyPr wrap="square" lIns="0" tIns="0" rIns="0" bIns="0" rtlCol="0" anchor="ctr"/>
          <a:lstStyle/>
          <a:p>
            <a:pPr marL="0" indent="0">
              <a:buNone/>
            </a:pPr>
            <a:r>
              <a:rPr lang="en-US" sz="1500" dirty="0">
                <a:solidFill>
                  <a:srgbClr val="1B1B1B"/>
                </a:solidFill>
              </a:rPr>
              <a:t>Change only Try it / YOUR CODE lines. </a:t>
            </a:r>
            <a:r>
              <a:rPr lang="en-US" sz="1500" b="1" dirty="0">
                <a:solidFill>
                  <a:srgbClr val="1B1B1B"/>
                </a:solidFill>
              </a:rPr>
              <a:t>⌘S</a:t>
            </a:r>
            <a:r>
              <a:rPr lang="en-US" sz="1500" dirty="0">
                <a:solidFill>
                  <a:srgbClr val="1B1B1B"/>
                </a:solidFill>
              </a:rPr>
              <a:t> saves on the ESP32</a:t>
            </a:r>
            <a:endParaRPr lang="en-US" sz="1500" dirty="0"/>
          </a:p>
        </p:txBody>
      </p:sp>
      <p:sp>
        <p:nvSpPr>
          <p:cNvPr id="21" name="Shape 19"/>
          <p:cNvSpPr/>
          <p:nvPr/>
        </p:nvSpPr>
        <p:spPr>
          <a:xfrm>
            <a:off x="5440680" y="1051560"/>
            <a:ext cx="3246120" cy="3429000"/>
          </a:xfrm>
          <a:prstGeom prst="roundRect">
            <a:avLst>
              <a:gd name="adj" fmla="val 2817"/>
            </a:avLst>
          </a:prstGeom>
          <a:solidFill>
            <a:srgbClr val="FDECEC"/>
          </a:solidFill>
          <a:ln w="19050">
            <a:solidFill>
              <a:srgbClr val="D64545"/>
            </a:solidFill>
            <a:prstDash val="solid"/>
          </a:ln>
        </p:spPr>
        <p:txBody>
          <a:bodyPr/>
          <a:lstStyle/>
          <a:p>
            <a:endParaRPr lang="en-US"/>
          </a:p>
        </p:txBody>
      </p:sp>
      <p:sp>
        <p:nvSpPr>
          <p:cNvPr id="22" name="Text 20"/>
          <p:cNvSpPr txBox="1"/>
          <p:nvPr/>
        </p:nvSpPr>
        <p:spPr>
          <a:xfrm>
            <a:off x="5623560" y="1188720"/>
            <a:ext cx="2926080" cy="640080"/>
          </a:xfrm>
          <a:prstGeom prst="rect">
            <a:avLst/>
          </a:prstGeom>
          <a:noFill/>
          <a:ln/>
        </p:spPr>
        <p:txBody>
          <a:bodyPr wrap="square" lIns="0" tIns="0" rIns="0" bIns="0" rtlCol="0" anchor="ctr"/>
          <a:lstStyle/>
          <a:p>
            <a:pPr marL="0" indent="0">
              <a:buNone/>
            </a:pPr>
            <a:r>
              <a:rPr lang="en-US" sz="1800" b="1" dirty="0">
                <a:solidFill>
                  <a:srgbClr val="D64545"/>
                </a:solidFill>
              </a:rPr>
              <a:t>Don't type code from the slides</a:t>
            </a:r>
            <a:endParaRPr lang="en-US" sz="1800" dirty="0"/>
          </a:p>
        </p:txBody>
      </p:sp>
      <p:sp>
        <p:nvSpPr>
          <p:cNvPr id="23" name="Text 21"/>
          <p:cNvSpPr txBox="1"/>
          <p:nvPr/>
        </p:nvSpPr>
        <p:spPr>
          <a:xfrm>
            <a:off x="5623560" y="1874520"/>
            <a:ext cx="2926080" cy="731520"/>
          </a:xfrm>
          <a:prstGeom prst="rect">
            <a:avLst/>
          </a:prstGeom>
          <a:noFill/>
          <a:ln/>
        </p:spPr>
        <p:txBody>
          <a:bodyPr wrap="square" lIns="0" tIns="0" rIns="0" bIns="0" rtlCol="0" anchor="ctr"/>
          <a:lstStyle/>
          <a:p>
            <a:pPr marL="0" indent="0">
              <a:buNone/>
            </a:pPr>
            <a:r>
              <a:rPr lang="en-US" sz="1400" dirty="0">
                <a:solidFill>
                  <a:srgbClr val="1B1B1B"/>
                </a:solidFill>
              </a:rPr>
              <a:t>Slides show only PART of a program. The full program is already in the file.</a:t>
            </a:r>
            <a:endParaRPr lang="en-US" sz="1400" dirty="0"/>
          </a:p>
        </p:txBody>
      </p:sp>
      <p:sp>
        <p:nvSpPr>
          <p:cNvPr id="24" name="Shape 22"/>
          <p:cNvSpPr/>
          <p:nvPr/>
        </p:nvSpPr>
        <p:spPr>
          <a:xfrm>
            <a:off x="5623560" y="2743200"/>
            <a:ext cx="2880360" cy="411480"/>
          </a:xfrm>
          <a:prstGeom prst="roundRect">
            <a:avLst>
              <a:gd name="adj" fmla="val 13333"/>
            </a:avLst>
          </a:prstGeom>
          <a:solidFill>
            <a:srgbClr val="14261F"/>
          </a:solidFill>
          <a:ln w="12700">
            <a:solidFill>
              <a:srgbClr val="14261F"/>
            </a:solidFill>
            <a:prstDash val="solid"/>
          </a:ln>
        </p:spPr>
        <p:txBody>
          <a:bodyPr/>
          <a:lstStyle/>
          <a:p>
            <a:endParaRPr lang="en-US"/>
          </a:p>
        </p:txBody>
      </p:sp>
      <p:sp>
        <p:nvSpPr>
          <p:cNvPr id="25" name="Text 23"/>
          <p:cNvSpPr txBox="1"/>
          <p:nvPr/>
        </p:nvSpPr>
        <p:spPr>
          <a:xfrm>
            <a:off x="5715000" y="2743200"/>
            <a:ext cx="2743200" cy="411480"/>
          </a:xfrm>
          <a:prstGeom prst="rect">
            <a:avLst/>
          </a:prstGeom>
          <a:noFill/>
          <a:ln/>
        </p:spPr>
        <p:txBody>
          <a:bodyPr wrap="square" lIns="0" tIns="0" rIns="0" bIns="0" rtlCol="0" anchor="ctr"/>
          <a:lstStyle/>
          <a:p>
            <a:pPr marL="0" indent="0">
              <a:buNone/>
            </a:pPr>
            <a:r>
              <a:rPr lang="en-US" sz="1100" b="1" dirty="0">
                <a:solidFill>
                  <a:srgbClr val="F2A900"/>
                </a:solidFill>
              </a:rPr>
              <a:t>step2_buzzer_beep.py</a:t>
            </a:r>
            <a:r>
              <a:rPr lang="en-US" sz="1100" dirty="0">
                <a:solidFill>
                  <a:srgbClr val="9FB8AD"/>
                </a:solidFill>
              </a:rPr>
              <a:t>  ·  lines 13–18</a:t>
            </a:r>
            <a:endParaRPr lang="en-US" sz="1100" dirty="0"/>
          </a:p>
        </p:txBody>
      </p:sp>
      <p:sp>
        <p:nvSpPr>
          <p:cNvPr id="26" name="Text 24"/>
          <p:cNvSpPr txBox="1"/>
          <p:nvPr/>
        </p:nvSpPr>
        <p:spPr>
          <a:xfrm>
            <a:off x="5623560" y="3291840"/>
            <a:ext cx="2926080" cy="731520"/>
          </a:xfrm>
          <a:prstGeom prst="rect">
            <a:avLst/>
          </a:prstGeom>
          <a:noFill/>
          <a:ln/>
        </p:spPr>
        <p:txBody>
          <a:bodyPr wrap="square" lIns="0" tIns="0" rIns="0" bIns="0" rtlCol="0" anchor="ctr"/>
          <a:lstStyle/>
          <a:p>
            <a:pPr marL="0" indent="0">
              <a:buNone/>
            </a:pPr>
            <a:r>
              <a:rPr lang="en-US" sz="1400" dirty="0">
                <a:solidFill>
                  <a:srgbClr val="1B1B1B"/>
                </a:solidFill>
              </a:rPr>
              <a:t>This header tells you which file and which lines to look at.</a:t>
            </a:r>
            <a:endParaRPr lang="en-US" sz="1400" dirty="0"/>
          </a:p>
        </p:txBody>
      </p:sp>
      <p:sp>
        <p:nvSpPr>
          <p:cNvPr id="27"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949440" cy="640080"/>
          </a:xfrm>
          <a:prstGeom prst="rect">
            <a:avLst/>
          </a:prstGeom>
          <a:noFill/>
          <a:ln/>
        </p:spPr>
        <p:txBody>
          <a:bodyPr wrap="square" lIns="0" tIns="0" rIns="0" bIns="0" rtlCol="0" anchor="ctr"/>
          <a:lstStyle/>
          <a:p>
            <a:pPr marL="0" indent="0" algn="l">
              <a:buNone/>
            </a:pPr>
            <a:r>
              <a:rPr lang="en-US" sz="3000" b="1" dirty="0">
                <a:solidFill>
                  <a:schemeClr val="tx2"/>
                </a:solidFill>
              </a:rPr>
              <a:t>Step 0: beep with no code</a:t>
            </a:r>
            <a:endParaRPr lang="en-US" sz="3000" dirty="0"/>
          </a:p>
        </p:txBody>
      </p:sp>
      <p:sp>
        <p:nvSpPr>
          <p:cNvPr id="3" name="Shape 1"/>
          <p:cNvSpPr/>
          <p:nvPr/>
        </p:nvSpPr>
        <p:spPr>
          <a:xfrm>
            <a:off x="7818120" y="164592"/>
            <a:ext cx="868680" cy="868680"/>
          </a:xfrm>
          <a:prstGeom prst="ellipse">
            <a:avLst/>
          </a:prstGeom>
          <a:solidFill>
            <a:srgbClr val="F2A900">
              <a:alpha val="30000"/>
            </a:srgbClr>
          </a:solidFill>
          <a:ln w="12700">
            <a:solidFill>
              <a:srgbClr val="F2A900">
                <a:alpha val="0"/>
              </a:srgbClr>
            </a:solidFill>
            <a:prstDash val="solid"/>
          </a:ln>
        </p:spPr>
        <p:txBody>
          <a:bodyPr/>
          <a:lstStyle/>
          <a:p>
            <a:endParaRPr lang="en-US"/>
          </a:p>
        </p:txBody>
      </p:sp>
      <p:sp>
        <p:nvSpPr>
          <p:cNvPr id="4" name="Shape 2"/>
          <p:cNvSpPr/>
          <p:nvPr/>
        </p:nvSpPr>
        <p:spPr>
          <a:xfrm>
            <a:off x="7955280" y="301752"/>
            <a:ext cx="594360" cy="594360"/>
          </a:xfrm>
          <a:prstGeom prst="ellipse">
            <a:avLst/>
          </a:prstGeom>
          <a:solidFill>
            <a:srgbClr val="F2A900"/>
          </a:solidFill>
          <a:ln w="12700">
            <a:solidFill>
              <a:srgbClr val="C98C00"/>
            </a:solidFill>
            <a:prstDash val="solid"/>
          </a:ln>
        </p:spPr>
        <p:txBody>
          <a:bodyPr/>
          <a:lstStyle/>
          <a:p>
            <a:endParaRPr lang="en-US"/>
          </a:p>
        </p:txBody>
      </p:sp>
      <p:sp>
        <p:nvSpPr>
          <p:cNvPr id="5" name="Text 3"/>
          <p:cNvSpPr txBox="1"/>
          <p:nvPr/>
        </p:nvSpPr>
        <p:spPr>
          <a:xfrm>
            <a:off x="7955280" y="301752"/>
            <a:ext cx="594360" cy="594360"/>
          </a:xfrm>
          <a:prstGeom prst="rect">
            <a:avLst/>
          </a:prstGeom>
          <a:noFill/>
          <a:ln/>
        </p:spPr>
        <p:txBody>
          <a:bodyPr wrap="square" lIns="0" tIns="0" rIns="0" bIns="0" rtlCol="0" anchor="ctr"/>
          <a:lstStyle/>
          <a:p>
            <a:pPr marL="0" indent="0" algn="ctr">
              <a:buNone/>
            </a:pPr>
            <a:r>
              <a:rPr lang="en-US" sz="2000" b="1" dirty="0">
                <a:solidFill>
                  <a:srgbClr val="0B3D2E"/>
                </a:solidFill>
              </a:rPr>
              <a:t>0</a:t>
            </a:r>
            <a:endParaRPr lang="en-US" sz="2000" dirty="0"/>
          </a:p>
        </p:txBody>
      </p:sp>
      <p:sp>
        <p:nvSpPr>
          <p:cNvPr id="6" name="Text 4"/>
          <p:cNvSpPr txBox="1"/>
          <p:nvPr/>
        </p:nvSpPr>
        <p:spPr>
          <a:xfrm>
            <a:off x="457200" y="1051560"/>
            <a:ext cx="3840480" cy="1645920"/>
          </a:xfrm>
          <a:prstGeom prst="rect">
            <a:avLst/>
          </a:prstGeom>
          <a:noFill/>
          <a:ln/>
        </p:spPr>
        <p:txBody>
          <a:bodyPr wrap="square" lIns="0" tIns="0" rIns="0" bIns="0" rtlCol="0" anchor="ctr"/>
          <a:lstStyle/>
          <a:p>
            <a:pPr marL="342900" indent="-342900">
              <a:spcAft>
                <a:spcPts val="600"/>
              </a:spcAft>
              <a:buSzPct val="100000"/>
              <a:buFont typeface="+mj-lt"/>
              <a:buAutoNum type="arabicPeriod"/>
            </a:pPr>
            <a:r>
              <a:rPr lang="en-US" sz="1500" dirty="0">
                <a:solidFill>
                  <a:srgbClr val="1B1B1B"/>
                </a:solidFill>
              </a:rPr>
              <a:t>Keep the Lesson 3 circuit plugged in.</a:t>
            </a:r>
            <a:endParaRPr lang="en-US" sz="1500" dirty="0"/>
          </a:p>
          <a:p>
            <a:pPr marL="342900" indent="-342900">
              <a:spcAft>
                <a:spcPts val="600"/>
              </a:spcAft>
              <a:buSzPct val="100000"/>
              <a:buFont typeface="+mj-lt"/>
              <a:buAutoNum type="arabicPeriod"/>
            </a:pPr>
            <a:r>
              <a:rPr lang="en-US" sz="1500" dirty="0">
                <a:solidFill>
                  <a:srgbClr val="1B1B1B"/>
                </a:solidFill>
              </a:rPr>
              <a:t>Take the ACTIVE buzzer.</a:t>
            </a:r>
            <a:endParaRPr lang="en-US" sz="1500" dirty="0"/>
          </a:p>
          <a:p>
            <a:pPr marL="342900" indent="-342900">
              <a:spcAft>
                <a:spcPts val="600"/>
              </a:spcAft>
              <a:buSzPct val="100000"/>
              <a:buFont typeface="+mj-lt"/>
              <a:buAutoNum type="arabicPeriod"/>
            </a:pPr>
            <a:r>
              <a:rPr lang="en-US" sz="1500" dirty="0">
                <a:solidFill>
                  <a:srgbClr val="1B1B1B"/>
                </a:solidFill>
              </a:rPr>
              <a:t>Red wire: 3V3 → buzzer + (long leg).</a:t>
            </a:r>
            <a:endParaRPr lang="en-US" sz="1500" dirty="0"/>
          </a:p>
          <a:p>
            <a:pPr marL="342900" indent="-342900">
              <a:spcAft>
                <a:spcPts val="600"/>
              </a:spcAft>
              <a:buSzPct val="100000"/>
              <a:buFont typeface="+mj-lt"/>
              <a:buAutoNum type="arabicPeriod"/>
            </a:pPr>
            <a:r>
              <a:rPr lang="en-US" sz="1500" dirty="0">
                <a:solidFill>
                  <a:srgbClr val="1B1B1B"/>
                </a:solidFill>
              </a:rPr>
              <a:t>Black wire: buzzer − → GND rail.</a:t>
            </a:r>
            <a:endParaRPr lang="en-US" sz="1500" dirty="0"/>
          </a:p>
        </p:txBody>
      </p:sp>
      <p:sp>
        <p:nvSpPr>
          <p:cNvPr id="7" name="Shape 5"/>
          <p:cNvSpPr/>
          <p:nvPr/>
        </p:nvSpPr>
        <p:spPr>
          <a:xfrm>
            <a:off x="457200" y="2788920"/>
            <a:ext cx="3840480" cy="502920"/>
          </a:xfrm>
          <a:prstGeom prst="roundRect">
            <a:avLst>
              <a:gd name="adj" fmla="val 14545"/>
            </a:avLst>
          </a:prstGeom>
          <a:solidFill>
            <a:srgbClr val="DDF3E9"/>
          </a:solidFill>
          <a:ln w="15875">
            <a:solidFill>
              <a:srgbClr val="1F8A70"/>
            </a:solidFill>
            <a:prstDash val="solid"/>
          </a:ln>
        </p:spPr>
        <p:txBody>
          <a:bodyPr/>
          <a:lstStyle/>
          <a:p>
            <a:endParaRPr lang="en-US"/>
          </a:p>
        </p:txBody>
      </p:sp>
      <p:sp>
        <p:nvSpPr>
          <p:cNvPr id="8" name="Text 6"/>
          <p:cNvSpPr txBox="1"/>
          <p:nvPr/>
        </p:nvSpPr>
        <p:spPr>
          <a:xfrm>
            <a:off x="594360" y="2788920"/>
            <a:ext cx="3566160" cy="502920"/>
          </a:xfrm>
          <a:prstGeom prst="rect">
            <a:avLst/>
          </a:prstGeom>
          <a:noFill/>
          <a:ln/>
        </p:spPr>
        <p:txBody>
          <a:bodyPr wrap="square" lIns="0" tIns="0" rIns="0" bIns="0" rtlCol="0" anchor="ctr"/>
          <a:lstStyle/>
          <a:p>
            <a:pPr marL="0" indent="0">
              <a:buNone/>
            </a:pPr>
            <a:r>
              <a:rPr lang="en-US" sz="1200" b="1" dirty="0">
                <a:solidFill>
                  <a:srgbClr val="1F8A70"/>
                </a:solidFill>
              </a:rPr>
              <a:t>CHECKPOINT  </a:t>
            </a:r>
            <a:r>
              <a:rPr lang="en-US" sz="1400" dirty="0">
                <a:solidFill>
                  <a:srgbClr val="1B1B1B"/>
                </a:solidFill>
              </a:rPr>
              <a:t>Steady beep as soon as USB is in.</a:t>
            </a:r>
            <a:endParaRPr lang="en-US" sz="1400" dirty="0"/>
          </a:p>
        </p:txBody>
      </p:sp>
      <p:sp>
        <p:nvSpPr>
          <p:cNvPr id="9" name="Shape 7"/>
          <p:cNvSpPr/>
          <p:nvPr/>
        </p:nvSpPr>
        <p:spPr>
          <a:xfrm>
            <a:off x="457200" y="3429000"/>
            <a:ext cx="3840480" cy="502920"/>
          </a:xfrm>
          <a:prstGeom prst="roundRect">
            <a:avLst>
              <a:gd name="adj" fmla="val 14545"/>
            </a:avLst>
          </a:prstGeom>
          <a:solidFill>
            <a:srgbClr val="FFF4D6"/>
          </a:solidFill>
          <a:ln w="12700">
            <a:solidFill>
              <a:srgbClr val="E0A800"/>
            </a:solidFill>
            <a:prstDash val="solid"/>
          </a:ln>
        </p:spPr>
        <p:txBody>
          <a:bodyPr/>
          <a:lstStyle/>
          <a:p>
            <a:endParaRPr lang="en-US"/>
          </a:p>
        </p:txBody>
      </p:sp>
      <p:sp>
        <p:nvSpPr>
          <p:cNvPr id="10" name="Text 8"/>
          <p:cNvSpPr txBox="1"/>
          <p:nvPr/>
        </p:nvSpPr>
        <p:spPr>
          <a:xfrm>
            <a:off x="594360" y="3429000"/>
            <a:ext cx="3566160" cy="502920"/>
          </a:xfrm>
          <a:prstGeom prst="rect">
            <a:avLst/>
          </a:prstGeom>
          <a:noFill/>
          <a:ln/>
        </p:spPr>
        <p:txBody>
          <a:bodyPr wrap="square" lIns="0" tIns="0" rIns="0" bIns="0" rtlCol="0" anchor="ctr"/>
          <a:lstStyle/>
          <a:p>
            <a:pPr marL="0" indent="0">
              <a:buNone/>
            </a:pPr>
            <a:r>
              <a:rPr lang="en-US" sz="1200" b="1" dirty="0">
                <a:solidFill>
                  <a:srgbClr val="9A6B00"/>
                </a:solidFill>
              </a:rPr>
              <a:t>STUCK?  </a:t>
            </a:r>
            <a:r>
              <a:rPr lang="en-US" sz="1400" dirty="0">
                <a:solidFill>
                  <a:srgbClr val="1B1B1B"/>
                </a:solidFill>
              </a:rPr>
              <a:t>Only a click? Wrong buzzer. Swap it.</a:t>
            </a:r>
            <a:endParaRPr lang="en-US" sz="1400" dirty="0"/>
          </a:p>
        </p:txBody>
      </p:sp>
      <p:sp>
        <p:nvSpPr>
          <p:cNvPr id="11" name="Shape 9"/>
          <p:cNvSpPr/>
          <p:nvPr/>
        </p:nvSpPr>
        <p:spPr>
          <a:xfrm>
            <a:off x="457200" y="4069080"/>
            <a:ext cx="3840480" cy="548640"/>
          </a:xfrm>
          <a:prstGeom prst="roundRect">
            <a:avLst>
              <a:gd name="adj" fmla="val 13333"/>
            </a:avLst>
          </a:prstGeom>
          <a:solidFill>
            <a:srgbClr val="EEF5F1"/>
          </a:solidFill>
          <a:ln w="12700">
            <a:solidFill>
              <a:srgbClr val="D3E4DB"/>
            </a:solidFill>
            <a:prstDash val="solid"/>
          </a:ln>
        </p:spPr>
        <p:txBody>
          <a:bodyPr/>
          <a:lstStyle/>
          <a:p>
            <a:endParaRPr lang="en-US"/>
          </a:p>
        </p:txBody>
      </p:sp>
      <p:sp>
        <p:nvSpPr>
          <p:cNvPr id="12" name="Text 10"/>
          <p:cNvSpPr txBox="1"/>
          <p:nvPr/>
        </p:nvSpPr>
        <p:spPr>
          <a:xfrm>
            <a:off x="594360" y="4069080"/>
            <a:ext cx="3611880" cy="548640"/>
          </a:xfrm>
          <a:prstGeom prst="rect">
            <a:avLst/>
          </a:prstGeom>
          <a:noFill/>
          <a:ln/>
        </p:spPr>
        <p:txBody>
          <a:bodyPr wrap="square" lIns="0" tIns="0" rIns="0" bIns="0" rtlCol="0" anchor="ctr"/>
          <a:lstStyle/>
          <a:p>
            <a:pPr marL="0" indent="0">
              <a:buNone/>
            </a:pPr>
            <a:r>
              <a:rPr lang="en-US" sz="1400" b="1" dirty="0">
                <a:solidFill>
                  <a:srgbClr val="0B3D2E"/>
                </a:solidFill>
              </a:rPr>
              <a:t>3-pin board?  </a:t>
            </a:r>
            <a:r>
              <a:rPr lang="en-US" sz="1400" dirty="0">
                <a:solidFill>
                  <a:srgbClr val="1B1B1B"/>
                </a:solidFill>
              </a:rPr>
              <a:t>S → GPIO25, V → 3V3, G → GND</a:t>
            </a:r>
            <a:endParaRPr lang="en-US" sz="1400" dirty="0"/>
          </a:p>
        </p:txBody>
      </p:sp>
      <p:sp>
        <p:nvSpPr>
          <p:cNvPr id="13" name="Shape 11"/>
          <p:cNvSpPr/>
          <p:nvPr/>
        </p:nvSpPr>
        <p:spPr>
          <a:xfrm>
            <a:off x="4572000" y="1234440"/>
            <a:ext cx="1143000" cy="3017520"/>
          </a:xfrm>
          <a:prstGeom prst="roundRect">
            <a:avLst>
              <a:gd name="adj" fmla="val 6400"/>
            </a:avLst>
          </a:prstGeom>
          <a:solidFill>
            <a:srgbClr val="263238"/>
          </a:solidFill>
          <a:ln w="12700">
            <a:solidFill>
              <a:srgbClr val="263238"/>
            </a:solidFill>
            <a:prstDash val="solid"/>
          </a:ln>
        </p:spPr>
        <p:txBody>
          <a:bodyPr/>
          <a:lstStyle/>
          <a:p>
            <a:endParaRPr lang="en-US"/>
          </a:p>
        </p:txBody>
      </p:sp>
      <p:sp>
        <p:nvSpPr>
          <p:cNvPr id="14" name="Text 12"/>
          <p:cNvSpPr txBox="1"/>
          <p:nvPr/>
        </p:nvSpPr>
        <p:spPr>
          <a:xfrm>
            <a:off x="4663440" y="1307592"/>
            <a:ext cx="960120" cy="228600"/>
          </a:xfrm>
          <a:prstGeom prst="rect">
            <a:avLst/>
          </a:prstGeom>
          <a:noFill/>
          <a:ln/>
        </p:spPr>
        <p:txBody>
          <a:bodyPr wrap="square" lIns="0" tIns="0" rIns="0" bIns="0" rtlCol="0" anchor="ctr"/>
          <a:lstStyle/>
          <a:p>
            <a:pPr marL="0" indent="0">
              <a:buNone/>
            </a:pPr>
            <a:r>
              <a:rPr lang="en-US" sz="1100" b="1" dirty="0">
                <a:solidFill>
                  <a:srgbClr val="B0BEC5"/>
                </a:solidFill>
              </a:rPr>
              <a:t>ESP32</a:t>
            </a:r>
            <a:endParaRPr lang="en-US" sz="1100" dirty="0"/>
          </a:p>
        </p:txBody>
      </p:sp>
      <p:sp>
        <p:nvSpPr>
          <p:cNvPr id="15" name="Shape 13"/>
          <p:cNvSpPr/>
          <p:nvPr/>
        </p:nvSpPr>
        <p:spPr>
          <a:xfrm>
            <a:off x="5650992" y="1764792"/>
            <a:ext cx="128016" cy="128016"/>
          </a:xfrm>
          <a:prstGeom prst="rect">
            <a:avLst/>
          </a:prstGeom>
          <a:solidFill>
            <a:srgbClr val="FFD54F"/>
          </a:solidFill>
          <a:ln w="6350">
            <a:solidFill>
              <a:srgbClr val="37474F"/>
            </a:solidFill>
            <a:prstDash val="solid"/>
          </a:ln>
        </p:spPr>
        <p:txBody>
          <a:bodyPr/>
          <a:lstStyle/>
          <a:p>
            <a:endParaRPr lang="en-US"/>
          </a:p>
        </p:txBody>
      </p:sp>
      <p:sp>
        <p:nvSpPr>
          <p:cNvPr id="16" name="Text 14"/>
          <p:cNvSpPr txBox="1"/>
          <p:nvPr/>
        </p:nvSpPr>
        <p:spPr>
          <a:xfrm>
            <a:off x="4617720" y="1728216"/>
            <a:ext cx="987552" cy="201168"/>
          </a:xfrm>
          <a:prstGeom prst="rect">
            <a:avLst/>
          </a:prstGeom>
          <a:noFill/>
          <a:ln/>
        </p:spPr>
        <p:txBody>
          <a:bodyPr wrap="square" lIns="0" tIns="0" rIns="0" bIns="0" rtlCol="0" anchor="ctr"/>
          <a:lstStyle/>
          <a:p>
            <a:pPr marL="0" indent="0" algn="r">
              <a:buNone/>
            </a:pPr>
            <a:r>
              <a:rPr lang="en-US" sz="1100" b="1" dirty="0">
                <a:solidFill>
                  <a:srgbClr val="FFFFFF"/>
                </a:solidFill>
              </a:rPr>
              <a:t>3V3</a:t>
            </a:r>
            <a:endParaRPr lang="en-US" sz="1100" dirty="0"/>
          </a:p>
        </p:txBody>
      </p:sp>
      <p:sp>
        <p:nvSpPr>
          <p:cNvPr id="17" name="Shape 15"/>
          <p:cNvSpPr/>
          <p:nvPr/>
        </p:nvSpPr>
        <p:spPr>
          <a:xfrm>
            <a:off x="5650992" y="2450592"/>
            <a:ext cx="128016" cy="128016"/>
          </a:xfrm>
          <a:prstGeom prst="rect">
            <a:avLst/>
          </a:prstGeom>
          <a:solidFill>
            <a:srgbClr val="546E7A"/>
          </a:solidFill>
          <a:ln w="6350">
            <a:solidFill>
              <a:srgbClr val="37474F"/>
            </a:solidFill>
            <a:prstDash val="solid"/>
          </a:ln>
        </p:spPr>
        <p:txBody>
          <a:bodyPr/>
          <a:lstStyle/>
          <a:p>
            <a:endParaRPr lang="en-US"/>
          </a:p>
        </p:txBody>
      </p:sp>
      <p:sp>
        <p:nvSpPr>
          <p:cNvPr id="18" name="Text 16"/>
          <p:cNvSpPr txBox="1"/>
          <p:nvPr/>
        </p:nvSpPr>
        <p:spPr>
          <a:xfrm>
            <a:off x="4617720" y="2414016"/>
            <a:ext cx="987552" cy="201168"/>
          </a:xfrm>
          <a:prstGeom prst="rect">
            <a:avLst/>
          </a:prstGeom>
          <a:noFill/>
          <a:ln/>
        </p:spPr>
        <p:txBody>
          <a:bodyPr wrap="square" lIns="0" tIns="0" rIns="0" bIns="0" rtlCol="0" anchor="ctr"/>
          <a:lstStyle/>
          <a:p>
            <a:pPr marL="0" indent="0" algn="r">
              <a:buNone/>
            </a:pPr>
            <a:r>
              <a:rPr lang="en-US" sz="1100" dirty="0">
                <a:solidFill>
                  <a:srgbClr val="78909C"/>
                </a:solidFill>
              </a:rPr>
              <a:t>GPIO25</a:t>
            </a:r>
            <a:endParaRPr lang="en-US" sz="1100" dirty="0"/>
          </a:p>
        </p:txBody>
      </p:sp>
      <p:sp>
        <p:nvSpPr>
          <p:cNvPr id="19" name="Shape 17"/>
          <p:cNvSpPr/>
          <p:nvPr/>
        </p:nvSpPr>
        <p:spPr>
          <a:xfrm>
            <a:off x="5650992" y="3822192"/>
            <a:ext cx="128016" cy="128016"/>
          </a:xfrm>
          <a:prstGeom prst="rect">
            <a:avLst/>
          </a:prstGeom>
          <a:solidFill>
            <a:srgbClr val="FFD54F"/>
          </a:solidFill>
          <a:ln w="6350">
            <a:solidFill>
              <a:srgbClr val="37474F"/>
            </a:solidFill>
            <a:prstDash val="solid"/>
          </a:ln>
        </p:spPr>
        <p:txBody>
          <a:bodyPr/>
          <a:lstStyle/>
          <a:p>
            <a:endParaRPr lang="en-US"/>
          </a:p>
        </p:txBody>
      </p:sp>
      <p:sp>
        <p:nvSpPr>
          <p:cNvPr id="20" name="Text 18"/>
          <p:cNvSpPr txBox="1"/>
          <p:nvPr/>
        </p:nvSpPr>
        <p:spPr>
          <a:xfrm>
            <a:off x="4617720" y="3785616"/>
            <a:ext cx="987552" cy="201168"/>
          </a:xfrm>
          <a:prstGeom prst="rect">
            <a:avLst/>
          </a:prstGeom>
          <a:noFill/>
          <a:ln/>
        </p:spPr>
        <p:txBody>
          <a:bodyPr wrap="square" lIns="0" tIns="0" rIns="0" bIns="0" rtlCol="0" anchor="ctr"/>
          <a:lstStyle/>
          <a:p>
            <a:pPr marL="0" indent="0" algn="r">
              <a:buNone/>
            </a:pPr>
            <a:r>
              <a:rPr lang="en-US" sz="1100" b="1" dirty="0">
                <a:solidFill>
                  <a:srgbClr val="FFFFFF"/>
                </a:solidFill>
              </a:rPr>
              <a:t>GND</a:t>
            </a:r>
            <a:endParaRPr lang="en-US" sz="1100" dirty="0"/>
          </a:p>
        </p:txBody>
      </p:sp>
      <p:sp>
        <p:nvSpPr>
          <p:cNvPr id="21" name="Shape 19"/>
          <p:cNvSpPr/>
          <p:nvPr/>
        </p:nvSpPr>
        <p:spPr>
          <a:xfrm>
            <a:off x="5779008" y="1828800"/>
            <a:ext cx="804672" cy="0"/>
          </a:xfrm>
          <a:prstGeom prst="line">
            <a:avLst/>
          </a:prstGeom>
          <a:noFill/>
          <a:ln w="44450">
            <a:solidFill>
              <a:srgbClr val="D64545"/>
            </a:solidFill>
            <a:prstDash val="solid"/>
          </a:ln>
        </p:spPr>
        <p:txBody>
          <a:bodyPr/>
          <a:lstStyle/>
          <a:p>
            <a:endParaRPr lang="en-US"/>
          </a:p>
        </p:txBody>
      </p:sp>
      <p:sp>
        <p:nvSpPr>
          <p:cNvPr id="22" name="Shape 20"/>
          <p:cNvSpPr/>
          <p:nvPr/>
        </p:nvSpPr>
        <p:spPr>
          <a:xfrm>
            <a:off x="6583680" y="1828800"/>
            <a:ext cx="237744" cy="0"/>
          </a:xfrm>
          <a:prstGeom prst="line">
            <a:avLst/>
          </a:prstGeom>
          <a:noFill/>
          <a:ln w="25400">
            <a:solidFill>
              <a:srgbClr val="9AA0A6"/>
            </a:solidFill>
            <a:prstDash val="solid"/>
          </a:ln>
        </p:spPr>
        <p:txBody>
          <a:bodyPr/>
          <a:lstStyle/>
          <a:p>
            <a:endParaRPr lang="en-US"/>
          </a:p>
        </p:txBody>
      </p:sp>
      <p:sp>
        <p:nvSpPr>
          <p:cNvPr id="23" name="Shape 21"/>
          <p:cNvSpPr/>
          <p:nvPr/>
        </p:nvSpPr>
        <p:spPr>
          <a:xfrm>
            <a:off x="7242048" y="1828800"/>
            <a:ext cx="109728" cy="0"/>
          </a:xfrm>
          <a:prstGeom prst="line">
            <a:avLst/>
          </a:prstGeom>
          <a:noFill/>
          <a:ln w="25400">
            <a:solidFill>
              <a:srgbClr val="9AA0A6"/>
            </a:solidFill>
            <a:prstDash val="solid"/>
          </a:ln>
        </p:spPr>
        <p:txBody>
          <a:bodyPr/>
          <a:lstStyle/>
          <a:p>
            <a:endParaRPr lang="en-US"/>
          </a:p>
        </p:txBody>
      </p:sp>
      <p:sp>
        <p:nvSpPr>
          <p:cNvPr id="24" name="Shape 22"/>
          <p:cNvSpPr/>
          <p:nvPr/>
        </p:nvSpPr>
        <p:spPr>
          <a:xfrm>
            <a:off x="6821424" y="1618488"/>
            <a:ext cx="420624" cy="420624"/>
          </a:xfrm>
          <a:prstGeom prst="ellipse">
            <a:avLst/>
          </a:prstGeom>
          <a:solidFill>
            <a:srgbClr val="222222"/>
          </a:solidFill>
          <a:ln w="12700">
            <a:solidFill>
              <a:srgbClr val="000000"/>
            </a:solidFill>
            <a:prstDash val="solid"/>
          </a:ln>
        </p:spPr>
        <p:txBody>
          <a:bodyPr/>
          <a:lstStyle/>
          <a:p>
            <a:endParaRPr lang="en-US"/>
          </a:p>
        </p:txBody>
      </p:sp>
      <p:sp>
        <p:nvSpPr>
          <p:cNvPr id="25" name="Shape 23"/>
          <p:cNvSpPr/>
          <p:nvPr/>
        </p:nvSpPr>
        <p:spPr>
          <a:xfrm>
            <a:off x="6986016" y="1783080"/>
            <a:ext cx="91440" cy="91440"/>
          </a:xfrm>
          <a:prstGeom prst="ellipse">
            <a:avLst/>
          </a:prstGeom>
          <a:solidFill>
            <a:srgbClr val="555555"/>
          </a:solidFill>
          <a:ln w="12700">
            <a:solidFill>
              <a:srgbClr val="555555"/>
            </a:solidFill>
            <a:prstDash val="solid"/>
          </a:ln>
        </p:spPr>
        <p:txBody>
          <a:bodyPr/>
          <a:lstStyle/>
          <a:p>
            <a:endParaRPr lang="en-US"/>
          </a:p>
        </p:txBody>
      </p:sp>
      <p:sp>
        <p:nvSpPr>
          <p:cNvPr id="26" name="Text 24"/>
          <p:cNvSpPr txBox="1"/>
          <p:nvPr/>
        </p:nvSpPr>
        <p:spPr>
          <a:xfrm>
            <a:off x="6601968" y="1554480"/>
            <a:ext cx="182880" cy="182880"/>
          </a:xfrm>
          <a:prstGeom prst="rect">
            <a:avLst/>
          </a:prstGeom>
          <a:noFill/>
          <a:ln/>
        </p:spPr>
        <p:txBody>
          <a:bodyPr wrap="square" lIns="0" tIns="0" rIns="0" bIns="0" rtlCol="0" anchor="ctr"/>
          <a:lstStyle/>
          <a:p>
            <a:pPr marL="0" indent="0" algn="ctr">
              <a:buNone/>
            </a:pPr>
            <a:r>
              <a:rPr lang="en-US" sz="1200" b="1" dirty="0">
                <a:solidFill>
                  <a:srgbClr val="D64545"/>
                </a:solidFill>
              </a:rPr>
              <a:t>+</a:t>
            </a:r>
            <a:endParaRPr lang="en-US" sz="1200" dirty="0"/>
          </a:p>
        </p:txBody>
      </p:sp>
      <p:sp>
        <p:nvSpPr>
          <p:cNvPr id="27" name="Text 25"/>
          <p:cNvSpPr txBox="1"/>
          <p:nvPr/>
        </p:nvSpPr>
        <p:spPr>
          <a:xfrm>
            <a:off x="7223760" y="1554480"/>
            <a:ext cx="182880" cy="182880"/>
          </a:xfrm>
          <a:prstGeom prst="rect">
            <a:avLst/>
          </a:prstGeom>
          <a:noFill/>
          <a:ln/>
        </p:spPr>
        <p:txBody>
          <a:bodyPr wrap="square" lIns="0" tIns="0" rIns="0" bIns="0" rtlCol="0" anchor="ctr"/>
          <a:lstStyle/>
          <a:p>
            <a:pPr marL="0" indent="0" algn="ctr">
              <a:buNone/>
            </a:pPr>
            <a:r>
              <a:rPr lang="en-US" sz="1200" b="1" dirty="0">
                <a:solidFill>
                  <a:srgbClr val="1B1B1B"/>
                </a:solidFill>
              </a:rPr>
              <a:t>−</a:t>
            </a:r>
            <a:endParaRPr lang="en-US" sz="1200" dirty="0"/>
          </a:p>
        </p:txBody>
      </p:sp>
      <p:sp>
        <p:nvSpPr>
          <p:cNvPr id="28" name="Text 26"/>
          <p:cNvSpPr txBox="1"/>
          <p:nvPr/>
        </p:nvSpPr>
        <p:spPr>
          <a:xfrm>
            <a:off x="6858000" y="1289304"/>
            <a:ext cx="457200" cy="274320"/>
          </a:xfrm>
          <a:prstGeom prst="rect">
            <a:avLst/>
          </a:prstGeom>
          <a:noFill/>
          <a:ln/>
        </p:spPr>
        <p:txBody>
          <a:bodyPr wrap="square" lIns="0" tIns="0" rIns="0" bIns="0" rtlCol="0" anchor="ctr"/>
          <a:lstStyle/>
          <a:p>
            <a:pPr marL="0" indent="0" algn="ctr">
              <a:buNone/>
            </a:pPr>
            <a:r>
              <a:rPr lang="en-US" sz="1600" b="1" dirty="0">
                <a:solidFill>
                  <a:srgbClr val="C98C00"/>
                </a:solidFill>
              </a:rPr>
              <a:t>)))</a:t>
            </a:r>
            <a:endParaRPr lang="en-US" sz="1600" dirty="0"/>
          </a:p>
        </p:txBody>
      </p:sp>
      <p:sp>
        <p:nvSpPr>
          <p:cNvPr id="29" name="Shape 27"/>
          <p:cNvSpPr/>
          <p:nvPr/>
        </p:nvSpPr>
        <p:spPr>
          <a:xfrm>
            <a:off x="7351776" y="1828800"/>
            <a:ext cx="1060704" cy="0"/>
          </a:xfrm>
          <a:prstGeom prst="line">
            <a:avLst/>
          </a:prstGeom>
          <a:noFill/>
          <a:ln w="44450">
            <a:solidFill>
              <a:srgbClr val="1B1B1B"/>
            </a:solidFill>
            <a:prstDash val="solid"/>
          </a:ln>
        </p:spPr>
        <p:txBody>
          <a:bodyPr/>
          <a:lstStyle/>
          <a:p>
            <a:endParaRPr lang="en-US"/>
          </a:p>
        </p:txBody>
      </p:sp>
      <p:sp>
        <p:nvSpPr>
          <p:cNvPr id="30" name="Shape 28"/>
          <p:cNvSpPr/>
          <p:nvPr/>
        </p:nvSpPr>
        <p:spPr>
          <a:xfrm>
            <a:off x="8412480" y="1828800"/>
            <a:ext cx="0" cy="2057400"/>
          </a:xfrm>
          <a:prstGeom prst="line">
            <a:avLst/>
          </a:prstGeom>
          <a:noFill/>
          <a:ln w="44450">
            <a:solidFill>
              <a:srgbClr val="1B1B1B"/>
            </a:solidFill>
            <a:prstDash val="solid"/>
          </a:ln>
        </p:spPr>
        <p:txBody>
          <a:bodyPr/>
          <a:lstStyle/>
          <a:p>
            <a:endParaRPr lang="en-US"/>
          </a:p>
        </p:txBody>
      </p:sp>
      <p:sp>
        <p:nvSpPr>
          <p:cNvPr id="31" name="Shape 29"/>
          <p:cNvSpPr/>
          <p:nvPr/>
        </p:nvSpPr>
        <p:spPr>
          <a:xfrm>
            <a:off x="5779008" y="3886200"/>
            <a:ext cx="2633472" cy="0"/>
          </a:xfrm>
          <a:prstGeom prst="line">
            <a:avLst/>
          </a:prstGeom>
          <a:noFill/>
          <a:ln w="44450">
            <a:solidFill>
              <a:srgbClr val="1B1B1B"/>
            </a:solidFill>
            <a:prstDash val="solid"/>
          </a:ln>
        </p:spPr>
        <p:txBody>
          <a:bodyPr/>
          <a:lstStyle/>
          <a:p>
            <a:endParaRPr lang="en-US"/>
          </a:p>
        </p:txBody>
      </p:sp>
      <p:sp>
        <p:nvSpPr>
          <p:cNvPr id="32" name="Text 30"/>
          <p:cNvSpPr txBox="1"/>
          <p:nvPr/>
        </p:nvSpPr>
        <p:spPr>
          <a:xfrm>
            <a:off x="6400800" y="2121408"/>
            <a:ext cx="2194560" cy="201168"/>
          </a:xfrm>
          <a:prstGeom prst="rect">
            <a:avLst/>
          </a:prstGeom>
          <a:noFill/>
          <a:ln/>
        </p:spPr>
        <p:txBody>
          <a:bodyPr wrap="square" lIns="0" tIns="0" rIns="0" bIns="0" rtlCol="0" anchor="ctr"/>
          <a:lstStyle/>
          <a:p>
            <a:pPr marL="0" indent="0">
              <a:buNone/>
            </a:pPr>
            <a:r>
              <a:rPr lang="en-US" sz="1100" dirty="0">
                <a:solidFill>
                  <a:srgbClr val="6B7280"/>
                </a:solidFill>
              </a:rPr>
              <a:t>long leg (+) faces the ESP32</a:t>
            </a:r>
            <a:endParaRPr lang="en-US" sz="1100" dirty="0"/>
          </a:p>
        </p:txBody>
      </p:sp>
      <p:sp>
        <p:nvSpPr>
          <p:cNvPr id="33" name="Text 31"/>
          <p:cNvSpPr txBox="1"/>
          <p:nvPr/>
        </p:nvSpPr>
        <p:spPr>
          <a:xfrm>
            <a:off x="5852160" y="3246120"/>
            <a:ext cx="2743200" cy="219456"/>
          </a:xfrm>
          <a:prstGeom prst="rect">
            <a:avLst/>
          </a:prstGeom>
          <a:noFill/>
          <a:ln/>
        </p:spPr>
        <p:txBody>
          <a:bodyPr wrap="square" lIns="0" tIns="0" rIns="0" bIns="0" rtlCol="0" anchor="ctr"/>
          <a:lstStyle/>
          <a:p>
            <a:pPr marL="0" indent="0">
              <a:buNone/>
            </a:pPr>
            <a:r>
              <a:rPr lang="en-US" sz="1100" i="1" dirty="0">
                <a:solidFill>
                  <a:srgbClr val="6B7280"/>
                </a:solidFill>
              </a:rPr>
              <a:t>No resistor needed for the buzzer.</a:t>
            </a:r>
            <a:endParaRPr lang="en-US" sz="1100" dirty="0"/>
          </a:p>
        </p:txBody>
      </p:sp>
      <p:sp>
        <p:nvSpPr>
          <p:cNvPr id="34"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949440" cy="640080"/>
          </a:xfrm>
          <a:prstGeom prst="rect">
            <a:avLst/>
          </a:prstGeom>
          <a:noFill/>
          <a:ln/>
        </p:spPr>
        <p:txBody>
          <a:bodyPr wrap="square" lIns="0" tIns="0" rIns="0" bIns="0" rtlCol="0" anchor="ctr"/>
          <a:lstStyle/>
          <a:p>
            <a:pPr marL="0" indent="0" algn="l">
              <a:buNone/>
            </a:pPr>
            <a:r>
              <a:rPr lang="en-US" sz="3000" b="1" dirty="0">
                <a:solidFill>
                  <a:schemeClr val="tx2"/>
                </a:solidFill>
              </a:rPr>
              <a:t>Step 1: let the ESP32 beep</a:t>
            </a:r>
            <a:endParaRPr lang="en-US" sz="3000" dirty="0"/>
          </a:p>
        </p:txBody>
      </p:sp>
      <p:sp>
        <p:nvSpPr>
          <p:cNvPr id="3" name="Shape 1"/>
          <p:cNvSpPr/>
          <p:nvPr/>
        </p:nvSpPr>
        <p:spPr>
          <a:xfrm>
            <a:off x="7818120" y="164592"/>
            <a:ext cx="868680" cy="868680"/>
          </a:xfrm>
          <a:prstGeom prst="ellipse">
            <a:avLst/>
          </a:prstGeom>
          <a:solidFill>
            <a:srgbClr val="F2A900">
              <a:alpha val="30000"/>
            </a:srgbClr>
          </a:solidFill>
          <a:ln w="12700">
            <a:solidFill>
              <a:srgbClr val="F2A900">
                <a:alpha val="0"/>
              </a:srgbClr>
            </a:solidFill>
            <a:prstDash val="solid"/>
          </a:ln>
        </p:spPr>
        <p:txBody>
          <a:bodyPr/>
          <a:lstStyle/>
          <a:p>
            <a:endParaRPr lang="en-US"/>
          </a:p>
        </p:txBody>
      </p:sp>
      <p:sp>
        <p:nvSpPr>
          <p:cNvPr id="4" name="Shape 2"/>
          <p:cNvSpPr/>
          <p:nvPr/>
        </p:nvSpPr>
        <p:spPr>
          <a:xfrm>
            <a:off x="7955280" y="301752"/>
            <a:ext cx="594360" cy="594360"/>
          </a:xfrm>
          <a:prstGeom prst="ellipse">
            <a:avLst/>
          </a:prstGeom>
          <a:solidFill>
            <a:srgbClr val="F2A900"/>
          </a:solidFill>
          <a:ln w="12700">
            <a:solidFill>
              <a:srgbClr val="C98C00"/>
            </a:solidFill>
            <a:prstDash val="solid"/>
          </a:ln>
        </p:spPr>
        <p:txBody>
          <a:bodyPr/>
          <a:lstStyle/>
          <a:p>
            <a:endParaRPr lang="en-US"/>
          </a:p>
        </p:txBody>
      </p:sp>
      <p:sp>
        <p:nvSpPr>
          <p:cNvPr id="5" name="Text 3"/>
          <p:cNvSpPr txBox="1"/>
          <p:nvPr/>
        </p:nvSpPr>
        <p:spPr>
          <a:xfrm>
            <a:off x="7955280" y="301752"/>
            <a:ext cx="594360" cy="594360"/>
          </a:xfrm>
          <a:prstGeom prst="rect">
            <a:avLst/>
          </a:prstGeom>
          <a:noFill/>
          <a:ln/>
        </p:spPr>
        <p:txBody>
          <a:bodyPr wrap="square" lIns="0" tIns="0" rIns="0" bIns="0" rtlCol="0" anchor="ctr"/>
          <a:lstStyle/>
          <a:p>
            <a:pPr marL="0" indent="0" algn="ctr">
              <a:buNone/>
            </a:pPr>
            <a:r>
              <a:rPr lang="en-US" sz="2000" b="1" dirty="0">
                <a:solidFill>
                  <a:srgbClr val="0B3D2E"/>
                </a:solidFill>
              </a:rPr>
              <a:t>1</a:t>
            </a:r>
            <a:endParaRPr lang="en-US" sz="2000" dirty="0"/>
          </a:p>
        </p:txBody>
      </p:sp>
      <p:sp>
        <p:nvSpPr>
          <p:cNvPr id="6" name="Text 4"/>
          <p:cNvSpPr txBox="1"/>
          <p:nvPr/>
        </p:nvSpPr>
        <p:spPr>
          <a:xfrm>
            <a:off x="457200" y="1005840"/>
            <a:ext cx="3931920" cy="411480"/>
          </a:xfrm>
          <a:prstGeom prst="rect">
            <a:avLst/>
          </a:prstGeom>
          <a:noFill/>
          <a:ln/>
        </p:spPr>
        <p:txBody>
          <a:bodyPr wrap="square" lIns="0" tIns="0" rIns="0" bIns="0" rtlCol="0" anchor="ctr"/>
          <a:lstStyle/>
          <a:p>
            <a:pPr marL="0" indent="0">
              <a:buNone/>
            </a:pPr>
            <a:r>
              <a:rPr lang="en-US" sz="1400" b="1" dirty="0">
                <a:solidFill>
                  <a:srgbClr val="0B3D2E"/>
                </a:solidFill>
              </a:rPr>
              <a:t>Move ONE wire: from 3V3 to GPIO25 (IO25 on the board).</a:t>
            </a:r>
            <a:endParaRPr lang="en-US" sz="1400" dirty="0"/>
          </a:p>
        </p:txBody>
      </p:sp>
      <p:sp>
        <p:nvSpPr>
          <p:cNvPr id="7" name="Shape 5"/>
          <p:cNvSpPr/>
          <p:nvPr/>
        </p:nvSpPr>
        <p:spPr>
          <a:xfrm>
            <a:off x="457200" y="1463040"/>
            <a:ext cx="3931920" cy="1371600"/>
          </a:xfrm>
          <a:prstGeom prst="roundRect">
            <a:avLst>
              <a:gd name="adj" fmla="val 5333"/>
            </a:avLst>
          </a:prstGeom>
          <a:solidFill>
            <a:srgbClr val="14261F"/>
          </a:solidFill>
          <a:ln w="12700">
            <a:solidFill>
              <a:srgbClr val="14261F"/>
            </a:solidFill>
            <a:prstDash val="solid"/>
          </a:ln>
        </p:spPr>
        <p:txBody>
          <a:bodyPr/>
          <a:lstStyle/>
          <a:p>
            <a:endParaRPr lang="en-US"/>
          </a:p>
        </p:txBody>
      </p:sp>
      <p:sp>
        <p:nvSpPr>
          <p:cNvPr id="8" name="Text 6"/>
          <p:cNvSpPr txBox="1"/>
          <p:nvPr/>
        </p:nvSpPr>
        <p:spPr>
          <a:xfrm>
            <a:off x="594360" y="1527048"/>
            <a:ext cx="3657600" cy="219456"/>
          </a:xfrm>
          <a:prstGeom prst="rect">
            <a:avLst/>
          </a:prstGeom>
          <a:noFill/>
          <a:ln/>
        </p:spPr>
        <p:txBody>
          <a:bodyPr wrap="square" lIns="0" tIns="0" rIns="0" bIns="0" rtlCol="0" anchor="ctr"/>
          <a:lstStyle/>
          <a:p>
            <a:pPr marL="0" indent="0">
              <a:buNone/>
            </a:pPr>
            <a:r>
              <a:rPr lang="en-US" sz="1100" b="1" dirty="0">
                <a:solidFill>
                  <a:srgbClr val="F2A900"/>
                </a:solidFill>
              </a:rPr>
              <a:t>step1_buzzer_on.py</a:t>
            </a:r>
            <a:r>
              <a:rPr lang="en-US" sz="1100" dirty="0">
                <a:solidFill>
                  <a:srgbClr val="9FB8AD"/>
                </a:solidFill>
              </a:rPr>
              <a:t>  ·  lines 12–16</a:t>
            </a:r>
            <a:endParaRPr lang="en-US" sz="1100" dirty="0"/>
          </a:p>
        </p:txBody>
      </p:sp>
      <p:sp>
        <p:nvSpPr>
          <p:cNvPr id="9" name="Shape 7"/>
          <p:cNvSpPr/>
          <p:nvPr/>
        </p:nvSpPr>
        <p:spPr>
          <a:xfrm>
            <a:off x="566928" y="1783080"/>
            <a:ext cx="3712464" cy="0"/>
          </a:xfrm>
          <a:prstGeom prst="line">
            <a:avLst/>
          </a:prstGeom>
          <a:noFill/>
          <a:ln w="12700">
            <a:solidFill>
              <a:srgbClr val="2F4A3F"/>
            </a:solidFill>
            <a:prstDash val="solid"/>
          </a:ln>
        </p:spPr>
        <p:txBody>
          <a:bodyPr/>
          <a:lstStyle/>
          <a:p>
            <a:endParaRPr lang="en-US"/>
          </a:p>
        </p:txBody>
      </p:sp>
      <p:sp>
        <p:nvSpPr>
          <p:cNvPr id="10" name="Text 8"/>
          <p:cNvSpPr txBox="1"/>
          <p:nvPr/>
        </p:nvSpPr>
        <p:spPr>
          <a:xfrm>
            <a:off x="548640" y="1847088"/>
            <a:ext cx="3749040" cy="914400"/>
          </a:xfrm>
          <a:prstGeom prst="rect">
            <a:avLst/>
          </a:prstGeom>
          <a:noFill/>
          <a:ln/>
        </p:spPr>
        <p:txBody>
          <a:bodyPr wrap="square" lIns="0" tIns="0" rIns="0" bIns="0" rtlCol="0" anchor="t"/>
          <a:lstStyle/>
          <a:p>
            <a:pPr marL="0" indent="0">
              <a:buNone/>
            </a:pPr>
            <a:r>
              <a:rPr lang="en-US" sz="1200" dirty="0">
                <a:solidFill>
                  <a:srgbClr val="6F8A7F"/>
                </a:solidFill>
                <a:latin typeface="Courier New" pitchFamily="34" charset="0"/>
                <a:ea typeface="Courier New" pitchFamily="34" charset="-122"/>
                <a:cs typeface="Courier New" pitchFamily="34" charset="-120"/>
              </a:rPr>
              <a:t> 12  </a:t>
            </a:r>
            <a:r>
              <a:rPr lang="en-US" sz="1200" dirty="0">
                <a:solidFill>
                  <a:srgbClr val="E6F2EC"/>
                </a:solidFill>
                <a:latin typeface="Courier New" pitchFamily="34" charset="0"/>
                <a:ea typeface="Courier New" pitchFamily="34" charset="-122"/>
                <a:cs typeface="Courier New" pitchFamily="34" charset="-120"/>
              </a:rPr>
              <a:t>from machine import Pin</a:t>
            </a:r>
            <a:endParaRPr lang="en-US" sz="1200" dirty="0"/>
          </a:p>
          <a:p>
            <a:pPr marL="0" indent="0">
              <a:buNone/>
            </a:pPr>
            <a:r>
              <a:rPr lang="en-US" sz="1200" dirty="0">
                <a:solidFill>
                  <a:srgbClr val="6F8A7F"/>
                </a:solidFill>
                <a:latin typeface="Courier New" pitchFamily="34" charset="0"/>
                <a:ea typeface="Courier New" pitchFamily="34" charset="-122"/>
                <a:cs typeface="Courier New" pitchFamily="34" charset="-120"/>
              </a:rPr>
              <a:t> 13  </a:t>
            </a:r>
            <a:r>
              <a:rPr lang="en-US" sz="1200" dirty="0">
                <a:solidFill>
                  <a:srgbClr val="E6F2EC"/>
                </a:solidFill>
                <a:latin typeface="Courier New" pitchFamily="34" charset="0"/>
                <a:ea typeface="Courier New" pitchFamily="34" charset="-122"/>
                <a:cs typeface="Courier New" pitchFamily="34" charset="-120"/>
              </a:rPr>
              <a:t> </a:t>
            </a:r>
            <a:endParaRPr lang="en-US" sz="1200" dirty="0"/>
          </a:p>
          <a:p>
            <a:pPr marL="0" indent="0">
              <a:buNone/>
            </a:pPr>
            <a:r>
              <a:rPr lang="en-US" sz="1200" dirty="0">
                <a:solidFill>
                  <a:srgbClr val="6F8A7F"/>
                </a:solidFill>
                <a:latin typeface="Courier New" pitchFamily="34" charset="0"/>
                <a:ea typeface="Courier New" pitchFamily="34" charset="-122"/>
                <a:cs typeface="Courier New" pitchFamily="34" charset="-120"/>
              </a:rPr>
              <a:t> 14  </a:t>
            </a:r>
            <a:r>
              <a:rPr lang="en-US" sz="1200" dirty="0">
                <a:solidFill>
                  <a:srgbClr val="E6F2EC"/>
                </a:solidFill>
                <a:latin typeface="Courier New" pitchFamily="34" charset="0"/>
                <a:ea typeface="Courier New" pitchFamily="34" charset="-122"/>
                <a:cs typeface="Courier New" pitchFamily="34" charset="-120"/>
              </a:rPr>
              <a:t>buzzer = Pin(25, Pin.OUT)</a:t>
            </a:r>
            <a:endParaRPr lang="en-US" sz="1200" dirty="0"/>
          </a:p>
          <a:p>
            <a:pPr marL="0" indent="0">
              <a:buNone/>
            </a:pPr>
            <a:r>
              <a:rPr lang="en-US" sz="1200" dirty="0">
                <a:solidFill>
                  <a:srgbClr val="6F8A7F"/>
                </a:solidFill>
                <a:latin typeface="Courier New" pitchFamily="34" charset="0"/>
                <a:ea typeface="Courier New" pitchFamily="34" charset="-122"/>
                <a:cs typeface="Courier New" pitchFamily="34" charset="-120"/>
              </a:rPr>
              <a:t> 15  </a:t>
            </a:r>
            <a:r>
              <a:rPr lang="en-US" sz="1200" dirty="0">
                <a:solidFill>
                  <a:srgbClr val="E6F2EC"/>
                </a:solidFill>
                <a:latin typeface="Courier New" pitchFamily="34" charset="0"/>
                <a:ea typeface="Courier New" pitchFamily="34" charset="-122"/>
                <a:cs typeface="Courier New" pitchFamily="34" charset="-120"/>
              </a:rPr>
              <a:t> </a:t>
            </a:r>
            <a:endParaRPr lang="en-US" sz="1200" dirty="0"/>
          </a:p>
          <a:p>
            <a:pPr marL="0" indent="0">
              <a:buNone/>
            </a:pPr>
            <a:r>
              <a:rPr lang="en-US" sz="1200" dirty="0">
                <a:solidFill>
                  <a:srgbClr val="6F8A7F"/>
                </a:solidFill>
                <a:latin typeface="Courier New" pitchFamily="34" charset="0"/>
                <a:ea typeface="Courier New" pitchFamily="34" charset="-122"/>
                <a:cs typeface="Courier New" pitchFamily="34" charset="-120"/>
              </a:rPr>
              <a:t> 16  </a:t>
            </a:r>
            <a:r>
              <a:rPr lang="en-US" sz="1200" dirty="0">
                <a:solidFill>
                  <a:srgbClr val="E6F2EC"/>
                </a:solidFill>
                <a:latin typeface="Courier New" pitchFamily="34" charset="0"/>
                <a:ea typeface="Courier New" pitchFamily="34" charset="-122"/>
                <a:cs typeface="Courier New" pitchFamily="34" charset="-120"/>
              </a:rPr>
              <a:t>buzzer.value(1)          # 1 = beep</a:t>
            </a:r>
            <a:endParaRPr lang="en-US" sz="1200" dirty="0"/>
          </a:p>
        </p:txBody>
      </p:sp>
      <p:sp>
        <p:nvSpPr>
          <p:cNvPr id="11" name="Text 9"/>
          <p:cNvSpPr txBox="1"/>
          <p:nvPr/>
        </p:nvSpPr>
        <p:spPr>
          <a:xfrm>
            <a:off x="457200" y="2898648"/>
            <a:ext cx="3931920" cy="228600"/>
          </a:xfrm>
          <a:prstGeom prst="rect">
            <a:avLst/>
          </a:prstGeom>
          <a:noFill/>
          <a:ln/>
        </p:spPr>
        <p:txBody>
          <a:bodyPr wrap="square" lIns="0" tIns="0" rIns="0" bIns="0" rtlCol="0" anchor="ctr"/>
          <a:lstStyle/>
          <a:p>
            <a:pPr marL="0" indent="0">
              <a:buNone/>
            </a:pPr>
            <a:r>
              <a:rPr lang="en-US" sz="1200" dirty="0">
                <a:solidFill>
                  <a:srgbClr val="6B7280"/>
                </a:solidFill>
              </a:rPr>
              <a:t>Run the whole file. Then try: change 1 to 0 on line 16.</a:t>
            </a:r>
            <a:endParaRPr lang="en-US" sz="1200" dirty="0"/>
          </a:p>
        </p:txBody>
      </p:sp>
      <p:sp>
        <p:nvSpPr>
          <p:cNvPr id="12" name="Shape 10"/>
          <p:cNvSpPr/>
          <p:nvPr/>
        </p:nvSpPr>
        <p:spPr>
          <a:xfrm>
            <a:off x="457200" y="3246120"/>
            <a:ext cx="3931920" cy="502920"/>
          </a:xfrm>
          <a:prstGeom prst="roundRect">
            <a:avLst>
              <a:gd name="adj" fmla="val 14545"/>
            </a:avLst>
          </a:prstGeom>
          <a:solidFill>
            <a:srgbClr val="DDF3E9"/>
          </a:solidFill>
          <a:ln w="15875">
            <a:solidFill>
              <a:srgbClr val="1F8A70"/>
            </a:solidFill>
            <a:prstDash val="solid"/>
          </a:ln>
        </p:spPr>
        <p:txBody>
          <a:bodyPr/>
          <a:lstStyle/>
          <a:p>
            <a:endParaRPr lang="en-US"/>
          </a:p>
        </p:txBody>
      </p:sp>
      <p:sp>
        <p:nvSpPr>
          <p:cNvPr id="13" name="Text 11"/>
          <p:cNvSpPr txBox="1"/>
          <p:nvPr/>
        </p:nvSpPr>
        <p:spPr>
          <a:xfrm>
            <a:off x="594360" y="3246120"/>
            <a:ext cx="3657600" cy="502920"/>
          </a:xfrm>
          <a:prstGeom prst="rect">
            <a:avLst/>
          </a:prstGeom>
          <a:noFill/>
          <a:ln/>
        </p:spPr>
        <p:txBody>
          <a:bodyPr wrap="square" lIns="0" tIns="0" rIns="0" bIns="0" rtlCol="0" anchor="ctr"/>
          <a:lstStyle/>
          <a:p>
            <a:pPr marL="0" indent="0">
              <a:buNone/>
            </a:pPr>
            <a:r>
              <a:rPr lang="en-US" sz="1200" b="1" dirty="0">
                <a:solidFill>
                  <a:srgbClr val="1F8A70"/>
                </a:solidFill>
              </a:rPr>
              <a:t>CHECKPOINT  </a:t>
            </a:r>
            <a:r>
              <a:rPr lang="en-US" sz="1400" dirty="0">
                <a:solidFill>
                  <a:srgbClr val="1B1B1B"/>
                </a:solidFill>
              </a:rPr>
              <a:t>Beeps after you run the code.</a:t>
            </a:r>
            <a:endParaRPr lang="en-US" sz="1400" dirty="0"/>
          </a:p>
        </p:txBody>
      </p:sp>
      <p:sp>
        <p:nvSpPr>
          <p:cNvPr id="14" name="Shape 12"/>
          <p:cNvSpPr/>
          <p:nvPr/>
        </p:nvSpPr>
        <p:spPr>
          <a:xfrm>
            <a:off x="457200" y="3886200"/>
            <a:ext cx="3931920" cy="502920"/>
          </a:xfrm>
          <a:prstGeom prst="roundRect">
            <a:avLst>
              <a:gd name="adj" fmla="val 14545"/>
            </a:avLst>
          </a:prstGeom>
          <a:solidFill>
            <a:srgbClr val="FFF4D6"/>
          </a:solidFill>
          <a:ln w="12700">
            <a:solidFill>
              <a:srgbClr val="E0A800"/>
            </a:solidFill>
            <a:prstDash val="solid"/>
          </a:ln>
        </p:spPr>
        <p:txBody>
          <a:bodyPr/>
          <a:lstStyle/>
          <a:p>
            <a:endParaRPr lang="en-US"/>
          </a:p>
        </p:txBody>
      </p:sp>
      <p:sp>
        <p:nvSpPr>
          <p:cNvPr id="15" name="Text 13"/>
          <p:cNvSpPr txBox="1"/>
          <p:nvPr/>
        </p:nvSpPr>
        <p:spPr>
          <a:xfrm>
            <a:off x="594360" y="3886200"/>
            <a:ext cx="3657600" cy="502920"/>
          </a:xfrm>
          <a:prstGeom prst="rect">
            <a:avLst/>
          </a:prstGeom>
          <a:noFill/>
          <a:ln/>
        </p:spPr>
        <p:txBody>
          <a:bodyPr wrap="square" lIns="0" tIns="0" rIns="0" bIns="0" rtlCol="0" anchor="ctr"/>
          <a:lstStyle/>
          <a:p>
            <a:pPr marL="0" indent="0">
              <a:buNone/>
            </a:pPr>
            <a:r>
              <a:rPr lang="en-US" sz="1200" b="1" dirty="0">
                <a:solidFill>
                  <a:srgbClr val="9A6B00"/>
                </a:solidFill>
              </a:rPr>
              <a:t>STUCK?  </a:t>
            </a:r>
            <a:r>
              <a:rPr lang="en-US" sz="1400" dirty="0">
                <a:solidFill>
                  <a:srgbClr val="1B1B1B"/>
                </a:solidFill>
              </a:rPr>
              <a:t>Wire back to 3V3. Does Step 0 still beep?</a:t>
            </a:r>
            <a:endParaRPr lang="en-US" sz="1400" dirty="0"/>
          </a:p>
        </p:txBody>
      </p:sp>
      <p:sp>
        <p:nvSpPr>
          <p:cNvPr id="16" name="Shape 14"/>
          <p:cNvSpPr/>
          <p:nvPr/>
        </p:nvSpPr>
        <p:spPr>
          <a:xfrm>
            <a:off x="4572000" y="1234440"/>
            <a:ext cx="1143000" cy="3017520"/>
          </a:xfrm>
          <a:prstGeom prst="roundRect">
            <a:avLst>
              <a:gd name="adj" fmla="val 6400"/>
            </a:avLst>
          </a:prstGeom>
          <a:solidFill>
            <a:srgbClr val="263238"/>
          </a:solidFill>
          <a:ln w="12700">
            <a:solidFill>
              <a:srgbClr val="263238"/>
            </a:solidFill>
            <a:prstDash val="solid"/>
          </a:ln>
        </p:spPr>
        <p:txBody>
          <a:bodyPr/>
          <a:lstStyle/>
          <a:p>
            <a:endParaRPr lang="en-US"/>
          </a:p>
        </p:txBody>
      </p:sp>
      <p:sp>
        <p:nvSpPr>
          <p:cNvPr id="17" name="Text 15"/>
          <p:cNvSpPr txBox="1"/>
          <p:nvPr/>
        </p:nvSpPr>
        <p:spPr>
          <a:xfrm>
            <a:off x="4663440" y="1307592"/>
            <a:ext cx="960120" cy="228600"/>
          </a:xfrm>
          <a:prstGeom prst="rect">
            <a:avLst/>
          </a:prstGeom>
          <a:noFill/>
          <a:ln/>
        </p:spPr>
        <p:txBody>
          <a:bodyPr wrap="square" lIns="0" tIns="0" rIns="0" bIns="0" rtlCol="0" anchor="ctr"/>
          <a:lstStyle/>
          <a:p>
            <a:pPr marL="0" indent="0">
              <a:buNone/>
            </a:pPr>
            <a:r>
              <a:rPr lang="en-US" sz="1100" b="1" dirty="0">
                <a:solidFill>
                  <a:srgbClr val="B0BEC5"/>
                </a:solidFill>
              </a:rPr>
              <a:t>ESP32</a:t>
            </a:r>
            <a:endParaRPr lang="en-US" sz="1100" dirty="0"/>
          </a:p>
        </p:txBody>
      </p:sp>
      <p:sp>
        <p:nvSpPr>
          <p:cNvPr id="18" name="Shape 16"/>
          <p:cNvSpPr/>
          <p:nvPr/>
        </p:nvSpPr>
        <p:spPr>
          <a:xfrm>
            <a:off x="5650992" y="1764792"/>
            <a:ext cx="128016" cy="128016"/>
          </a:xfrm>
          <a:prstGeom prst="rect">
            <a:avLst/>
          </a:prstGeom>
          <a:solidFill>
            <a:srgbClr val="546E7A"/>
          </a:solidFill>
          <a:ln w="6350">
            <a:solidFill>
              <a:srgbClr val="37474F"/>
            </a:solidFill>
            <a:prstDash val="solid"/>
          </a:ln>
        </p:spPr>
        <p:txBody>
          <a:bodyPr/>
          <a:lstStyle/>
          <a:p>
            <a:endParaRPr lang="en-US"/>
          </a:p>
        </p:txBody>
      </p:sp>
      <p:sp>
        <p:nvSpPr>
          <p:cNvPr id="19" name="Text 17"/>
          <p:cNvSpPr txBox="1"/>
          <p:nvPr/>
        </p:nvSpPr>
        <p:spPr>
          <a:xfrm>
            <a:off x="4617720" y="1728216"/>
            <a:ext cx="987552" cy="201168"/>
          </a:xfrm>
          <a:prstGeom prst="rect">
            <a:avLst/>
          </a:prstGeom>
          <a:noFill/>
          <a:ln/>
        </p:spPr>
        <p:txBody>
          <a:bodyPr wrap="square" lIns="0" tIns="0" rIns="0" bIns="0" rtlCol="0" anchor="ctr"/>
          <a:lstStyle/>
          <a:p>
            <a:pPr marL="0" indent="0" algn="r">
              <a:buNone/>
            </a:pPr>
            <a:r>
              <a:rPr lang="en-US" sz="1100" dirty="0">
                <a:solidFill>
                  <a:srgbClr val="78909C"/>
                </a:solidFill>
              </a:rPr>
              <a:t>3V3</a:t>
            </a:r>
            <a:endParaRPr lang="en-US" sz="1100" dirty="0"/>
          </a:p>
        </p:txBody>
      </p:sp>
      <p:sp>
        <p:nvSpPr>
          <p:cNvPr id="20" name="Shape 18"/>
          <p:cNvSpPr/>
          <p:nvPr/>
        </p:nvSpPr>
        <p:spPr>
          <a:xfrm>
            <a:off x="5650992" y="2450592"/>
            <a:ext cx="128016" cy="128016"/>
          </a:xfrm>
          <a:prstGeom prst="rect">
            <a:avLst/>
          </a:prstGeom>
          <a:solidFill>
            <a:srgbClr val="FFD54F"/>
          </a:solidFill>
          <a:ln w="6350">
            <a:solidFill>
              <a:srgbClr val="37474F"/>
            </a:solidFill>
            <a:prstDash val="solid"/>
          </a:ln>
        </p:spPr>
        <p:txBody>
          <a:bodyPr/>
          <a:lstStyle/>
          <a:p>
            <a:endParaRPr lang="en-US"/>
          </a:p>
        </p:txBody>
      </p:sp>
      <p:sp>
        <p:nvSpPr>
          <p:cNvPr id="21" name="Text 19"/>
          <p:cNvSpPr txBox="1"/>
          <p:nvPr/>
        </p:nvSpPr>
        <p:spPr>
          <a:xfrm>
            <a:off x="4617720" y="2414016"/>
            <a:ext cx="987552" cy="201168"/>
          </a:xfrm>
          <a:prstGeom prst="rect">
            <a:avLst/>
          </a:prstGeom>
          <a:noFill/>
          <a:ln/>
        </p:spPr>
        <p:txBody>
          <a:bodyPr wrap="square" lIns="0" tIns="0" rIns="0" bIns="0" rtlCol="0" anchor="ctr"/>
          <a:lstStyle/>
          <a:p>
            <a:pPr marL="0" indent="0" algn="r">
              <a:buNone/>
            </a:pPr>
            <a:r>
              <a:rPr lang="en-US" sz="1100" b="1" dirty="0">
                <a:solidFill>
                  <a:srgbClr val="FFFFFF"/>
                </a:solidFill>
              </a:rPr>
              <a:t>GPIO25</a:t>
            </a:r>
            <a:endParaRPr lang="en-US" sz="1100" dirty="0"/>
          </a:p>
        </p:txBody>
      </p:sp>
      <p:sp>
        <p:nvSpPr>
          <p:cNvPr id="22" name="Shape 20"/>
          <p:cNvSpPr/>
          <p:nvPr/>
        </p:nvSpPr>
        <p:spPr>
          <a:xfrm>
            <a:off x="5650992" y="3822192"/>
            <a:ext cx="128016" cy="128016"/>
          </a:xfrm>
          <a:prstGeom prst="rect">
            <a:avLst/>
          </a:prstGeom>
          <a:solidFill>
            <a:srgbClr val="FFD54F"/>
          </a:solidFill>
          <a:ln w="6350">
            <a:solidFill>
              <a:srgbClr val="37474F"/>
            </a:solidFill>
            <a:prstDash val="solid"/>
          </a:ln>
        </p:spPr>
        <p:txBody>
          <a:bodyPr/>
          <a:lstStyle/>
          <a:p>
            <a:endParaRPr lang="en-US"/>
          </a:p>
        </p:txBody>
      </p:sp>
      <p:sp>
        <p:nvSpPr>
          <p:cNvPr id="23" name="Text 21"/>
          <p:cNvSpPr txBox="1"/>
          <p:nvPr/>
        </p:nvSpPr>
        <p:spPr>
          <a:xfrm>
            <a:off x="4617720" y="3785616"/>
            <a:ext cx="987552" cy="201168"/>
          </a:xfrm>
          <a:prstGeom prst="rect">
            <a:avLst/>
          </a:prstGeom>
          <a:noFill/>
          <a:ln/>
        </p:spPr>
        <p:txBody>
          <a:bodyPr wrap="square" lIns="0" tIns="0" rIns="0" bIns="0" rtlCol="0" anchor="ctr"/>
          <a:lstStyle/>
          <a:p>
            <a:pPr marL="0" indent="0" algn="r">
              <a:buNone/>
            </a:pPr>
            <a:r>
              <a:rPr lang="en-US" sz="1100" b="1" dirty="0">
                <a:solidFill>
                  <a:srgbClr val="FFFFFF"/>
                </a:solidFill>
              </a:rPr>
              <a:t>GND</a:t>
            </a:r>
            <a:endParaRPr lang="en-US" sz="1100" dirty="0"/>
          </a:p>
        </p:txBody>
      </p:sp>
      <p:sp>
        <p:nvSpPr>
          <p:cNvPr id="24" name="Shape 22"/>
          <p:cNvSpPr/>
          <p:nvPr/>
        </p:nvSpPr>
        <p:spPr>
          <a:xfrm>
            <a:off x="5779008" y="2514600"/>
            <a:ext cx="804672" cy="0"/>
          </a:xfrm>
          <a:prstGeom prst="line">
            <a:avLst/>
          </a:prstGeom>
          <a:noFill/>
          <a:ln w="44450">
            <a:solidFill>
              <a:srgbClr val="F28C28"/>
            </a:solidFill>
            <a:prstDash val="solid"/>
          </a:ln>
        </p:spPr>
        <p:txBody>
          <a:bodyPr/>
          <a:lstStyle/>
          <a:p>
            <a:endParaRPr lang="en-US"/>
          </a:p>
        </p:txBody>
      </p:sp>
      <p:sp>
        <p:nvSpPr>
          <p:cNvPr id="25" name="Shape 23"/>
          <p:cNvSpPr/>
          <p:nvPr/>
        </p:nvSpPr>
        <p:spPr>
          <a:xfrm>
            <a:off x="6583680" y="2514600"/>
            <a:ext cx="237744" cy="0"/>
          </a:xfrm>
          <a:prstGeom prst="line">
            <a:avLst/>
          </a:prstGeom>
          <a:noFill/>
          <a:ln w="25400">
            <a:solidFill>
              <a:srgbClr val="9AA0A6"/>
            </a:solidFill>
            <a:prstDash val="solid"/>
          </a:ln>
        </p:spPr>
        <p:txBody>
          <a:bodyPr/>
          <a:lstStyle/>
          <a:p>
            <a:endParaRPr lang="en-US"/>
          </a:p>
        </p:txBody>
      </p:sp>
      <p:sp>
        <p:nvSpPr>
          <p:cNvPr id="26" name="Shape 24"/>
          <p:cNvSpPr/>
          <p:nvPr/>
        </p:nvSpPr>
        <p:spPr>
          <a:xfrm>
            <a:off x="7242048" y="2514600"/>
            <a:ext cx="109728" cy="0"/>
          </a:xfrm>
          <a:prstGeom prst="line">
            <a:avLst/>
          </a:prstGeom>
          <a:noFill/>
          <a:ln w="25400">
            <a:solidFill>
              <a:srgbClr val="9AA0A6"/>
            </a:solidFill>
            <a:prstDash val="solid"/>
          </a:ln>
        </p:spPr>
        <p:txBody>
          <a:bodyPr/>
          <a:lstStyle/>
          <a:p>
            <a:endParaRPr lang="en-US"/>
          </a:p>
        </p:txBody>
      </p:sp>
      <p:sp>
        <p:nvSpPr>
          <p:cNvPr id="27" name="Shape 25"/>
          <p:cNvSpPr/>
          <p:nvPr/>
        </p:nvSpPr>
        <p:spPr>
          <a:xfrm>
            <a:off x="6821424" y="2304288"/>
            <a:ext cx="420624" cy="420624"/>
          </a:xfrm>
          <a:prstGeom prst="ellipse">
            <a:avLst/>
          </a:prstGeom>
          <a:solidFill>
            <a:srgbClr val="222222"/>
          </a:solidFill>
          <a:ln w="12700">
            <a:solidFill>
              <a:srgbClr val="000000"/>
            </a:solidFill>
            <a:prstDash val="solid"/>
          </a:ln>
        </p:spPr>
        <p:txBody>
          <a:bodyPr/>
          <a:lstStyle/>
          <a:p>
            <a:endParaRPr lang="en-US"/>
          </a:p>
        </p:txBody>
      </p:sp>
      <p:sp>
        <p:nvSpPr>
          <p:cNvPr id="28" name="Shape 26"/>
          <p:cNvSpPr/>
          <p:nvPr/>
        </p:nvSpPr>
        <p:spPr>
          <a:xfrm>
            <a:off x="6986016" y="2468880"/>
            <a:ext cx="91440" cy="91440"/>
          </a:xfrm>
          <a:prstGeom prst="ellipse">
            <a:avLst/>
          </a:prstGeom>
          <a:solidFill>
            <a:srgbClr val="555555"/>
          </a:solidFill>
          <a:ln w="12700">
            <a:solidFill>
              <a:srgbClr val="555555"/>
            </a:solidFill>
            <a:prstDash val="solid"/>
          </a:ln>
        </p:spPr>
        <p:txBody>
          <a:bodyPr/>
          <a:lstStyle/>
          <a:p>
            <a:endParaRPr lang="en-US"/>
          </a:p>
        </p:txBody>
      </p:sp>
      <p:sp>
        <p:nvSpPr>
          <p:cNvPr id="29" name="Text 27"/>
          <p:cNvSpPr txBox="1"/>
          <p:nvPr/>
        </p:nvSpPr>
        <p:spPr>
          <a:xfrm>
            <a:off x="6601968" y="2240280"/>
            <a:ext cx="182880" cy="182880"/>
          </a:xfrm>
          <a:prstGeom prst="rect">
            <a:avLst/>
          </a:prstGeom>
          <a:noFill/>
          <a:ln/>
        </p:spPr>
        <p:txBody>
          <a:bodyPr wrap="square" lIns="0" tIns="0" rIns="0" bIns="0" rtlCol="0" anchor="ctr"/>
          <a:lstStyle/>
          <a:p>
            <a:pPr marL="0" indent="0" algn="ctr">
              <a:buNone/>
            </a:pPr>
            <a:r>
              <a:rPr lang="en-US" sz="1200" b="1" dirty="0">
                <a:solidFill>
                  <a:srgbClr val="D64545"/>
                </a:solidFill>
              </a:rPr>
              <a:t>+</a:t>
            </a:r>
            <a:endParaRPr lang="en-US" sz="1200" dirty="0"/>
          </a:p>
        </p:txBody>
      </p:sp>
      <p:sp>
        <p:nvSpPr>
          <p:cNvPr id="30" name="Text 28"/>
          <p:cNvSpPr txBox="1"/>
          <p:nvPr/>
        </p:nvSpPr>
        <p:spPr>
          <a:xfrm>
            <a:off x="7223760" y="2240280"/>
            <a:ext cx="182880" cy="182880"/>
          </a:xfrm>
          <a:prstGeom prst="rect">
            <a:avLst/>
          </a:prstGeom>
          <a:noFill/>
          <a:ln/>
        </p:spPr>
        <p:txBody>
          <a:bodyPr wrap="square" lIns="0" tIns="0" rIns="0" bIns="0" rtlCol="0" anchor="ctr"/>
          <a:lstStyle/>
          <a:p>
            <a:pPr marL="0" indent="0" algn="ctr">
              <a:buNone/>
            </a:pPr>
            <a:r>
              <a:rPr lang="en-US" sz="1200" b="1" dirty="0">
                <a:solidFill>
                  <a:srgbClr val="1B1B1B"/>
                </a:solidFill>
              </a:rPr>
              <a:t>−</a:t>
            </a:r>
            <a:endParaRPr lang="en-US" sz="1200" dirty="0"/>
          </a:p>
        </p:txBody>
      </p:sp>
      <p:sp>
        <p:nvSpPr>
          <p:cNvPr id="31" name="Text 29"/>
          <p:cNvSpPr txBox="1"/>
          <p:nvPr/>
        </p:nvSpPr>
        <p:spPr>
          <a:xfrm>
            <a:off x="6858000" y="1975104"/>
            <a:ext cx="457200" cy="274320"/>
          </a:xfrm>
          <a:prstGeom prst="rect">
            <a:avLst/>
          </a:prstGeom>
          <a:noFill/>
          <a:ln/>
        </p:spPr>
        <p:txBody>
          <a:bodyPr wrap="square" lIns="0" tIns="0" rIns="0" bIns="0" rtlCol="0" anchor="ctr"/>
          <a:lstStyle/>
          <a:p>
            <a:pPr marL="0" indent="0" algn="ctr">
              <a:buNone/>
            </a:pPr>
            <a:r>
              <a:rPr lang="en-US" sz="1600" b="1" dirty="0">
                <a:solidFill>
                  <a:srgbClr val="C98C00"/>
                </a:solidFill>
              </a:rPr>
              <a:t>)))</a:t>
            </a:r>
            <a:endParaRPr lang="en-US" sz="1600" dirty="0"/>
          </a:p>
        </p:txBody>
      </p:sp>
      <p:sp>
        <p:nvSpPr>
          <p:cNvPr id="32" name="Shape 30"/>
          <p:cNvSpPr/>
          <p:nvPr/>
        </p:nvSpPr>
        <p:spPr>
          <a:xfrm>
            <a:off x="7351776" y="2514600"/>
            <a:ext cx="1060704" cy="0"/>
          </a:xfrm>
          <a:prstGeom prst="line">
            <a:avLst/>
          </a:prstGeom>
          <a:noFill/>
          <a:ln w="44450">
            <a:solidFill>
              <a:srgbClr val="1B1B1B"/>
            </a:solidFill>
            <a:prstDash val="solid"/>
          </a:ln>
        </p:spPr>
        <p:txBody>
          <a:bodyPr/>
          <a:lstStyle/>
          <a:p>
            <a:endParaRPr lang="en-US"/>
          </a:p>
        </p:txBody>
      </p:sp>
      <p:sp>
        <p:nvSpPr>
          <p:cNvPr id="33" name="Shape 31"/>
          <p:cNvSpPr/>
          <p:nvPr/>
        </p:nvSpPr>
        <p:spPr>
          <a:xfrm>
            <a:off x="8412480" y="2514600"/>
            <a:ext cx="0" cy="1371600"/>
          </a:xfrm>
          <a:prstGeom prst="line">
            <a:avLst/>
          </a:prstGeom>
          <a:noFill/>
          <a:ln w="44450">
            <a:solidFill>
              <a:srgbClr val="1B1B1B"/>
            </a:solidFill>
            <a:prstDash val="solid"/>
          </a:ln>
        </p:spPr>
        <p:txBody>
          <a:bodyPr/>
          <a:lstStyle/>
          <a:p>
            <a:endParaRPr lang="en-US"/>
          </a:p>
        </p:txBody>
      </p:sp>
      <p:sp>
        <p:nvSpPr>
          <p:cNvPr id="34" name="Shape 32"/>
          <p:cNvSpPr/>
          <p:nvPr/>
        </p:nvSpPr>
        <p:spPr>
          <a:xfrm>
            <a:off x="5779008" y="3886200"/>
            <a:ext cx="2633472" cy="0"/>
          </a:xfrm>
          <a:prstGeom prst="line">
            <a:avLst/>
          </a:prstGeom>
          <a:noFill/>
          <a:ln w="44450">
            <a:solidFill>
              <a:srgbClr val="1B1B1B"/>
            </a:solidFill>
            <a:prstDash val="solid"/>
          </a:ln>
        </p:spPr>
        <p:txBody>
          <a:bodyPr/>
          <a:lstStyle/>
          <a:p>
            <a:endParaRPr lang="en-US"/>
          </a:p>
        </p:txBody>
      </p:sp>
      <p:sp>
        <p:nvSpPr>
          <p:cNvPr id="35" name="Shape 33"/>
          <p:cNvSpPr/>
          <p:nvPr/>
        </p:nvSpPr>
        <p:spPr>
          <a:xfrm>
            <a:off x="5779008" y="1828800"/>
            <a:ext cx="210312" cy="0"/>
          </a:xfrm>
          <a:prstGeom prst="line">
            <a:avLst/>
          </a:prstGeom>
          <a:noFill/>
          <a:ln w="25400">
            <a:solidFill>
              <a:srgbClr val="D64545"/>
            </a:solidFill>
            <a:prstDash val="dash"/>
          </a:ln>
        </p:spPr>
        <p:txBody>
          <a:bodyPr/>
          <a:lstStyle/>
          <a:p>
            <a:endParaRPr lang="en-US"/>
          </a:p>
        </p:txBody>
      </p:sp>
      <p:sp>
        <p:nvSpPr>
          <p:cNvPr id="36" name="Text 34"/>
          <p:cNvSpPr txBox="1"/>
          <p:nvPr/>
        </p:nvSpPr>
        <p:spPr>
          <a:xfrm>
            <a:off x="6080760" y="1719072"/>
            <a:ext cx="1645920" cy="219456"/>
          </a:xfrm>
          <a:prstGeom prst="rect">
            <a:avLst/>
          </a:prstGeom>
          <a:noFill/>
          <a:ln/>
        </p:spPr>
        <p:txBody>
          <a:bodyPr wrap="square" lIns="0" tIns="0" rIns="0" bIns="0" rtlCol="0" anchor="ctr"/>
          <a:lstStyle/>
          <a:p>
            <a:pPr marL="0" indent="0">
              <a:buNone/>
            </a:pPr>
            <a:r>
              <a:rPr lang="en-US" sz="1100" i="1" dirty="0">
                <a:solidFill>
                  <a:srgbClr val="6B7280"/>
                </a:solidFill>
              </a:rPr>
              <a:t>was here in Step 0</a:t>
            </a:r>
            <a:endParaRPr lang="en-US" sz="1100" dirty="0"/>
          </a:p>
        </p:txBody>
      </p:sp>
      <p:sp>
        <p:nvSpPr>
          <p:cNvPr id="37" name="Text 35"/>
          <p:cNvSpPr txBox="1"/>
          <p:nvPr/>
        </p:nvSpPr>
        <p:spPr>
          <a:xfrm>
            <a:off x="5852160" y="2130552"/>
            <a:ext cx="1463040" cy="219456"/>
          </a:xfrm>
          <a:prstGeom prst="rect">
            <a:avLst/>
          </a:prstGeom>
          <a:noFill/>
          <a:ln/>
        </p:spPr>
        <p:txBody>
          <a:bodyPr wrap="square" lIns="0" tIns="0" rIns="0" bIns="0" rtlCol="0" anchor="ctr"/>
          <a:lstStyle/>
          <a:p>
            <a:pPr marL="0" indent="0">
              <a:buNone/>
            </a:pPr>
            <a:r>
              <a:rPr lang="en-US" sz="1100" b="1" dirty="0">
                <a:solidFill>
                  <a:srgbClr val="C25E00"/>
                </a:solidFill>
              </a:rPr>
              <a:t>moved to GPIO25</a:t>
            </a:r>
            <a:endParaRPr lang="en-US" sz="1100" dirty="0"/>
          </a:p>
        </p:txBody>
      </p:sp>
      <p:sp>
        <p:nvSpPr>
          <p:cNvPr id="38" name="Text 36"/>
          <p:cNvSpPr txBox="1"/>
          <p:nvPr/>
        </p:nvSpPr>
        <p:spPr>
          <a:xfrm>
            <a:off x="6400800" y="2807208"/>
            <a:ext cx="2194560" cy="201168"/>
          </a:xfrm>
          <a:prstGeom prst="rect">
            <a:avLst/>
          </a:prstGeom>
          <a:noFill/>
          <a:ln/>
        </p:spPr>
        <p:txBody>
          <a:bodyPr wrap="square" lIns="0" tIns="0" rIns="0" bIns="0" rtlCol="0" anchor="ctr"/>
          <a:lstStyle/>
          <a:p>
            <a:pPr marL="0" indent="0">
              <a:buNone/>
            </a:pPr>
            <a:r>
              <a:rPr lang="en-US" sz="1100" dirty="0">
                <a:solidFill>
                  <a:srgbClr val="6B7280"/>
                </a:solidFill>
              </a:rPr>
              <a:t>long leg (+) faces the ESP32</a:t>
            </a:r>
            <a:endParaRPr lang="en-US" sz="1100" dirty="0"/>
          </a:p>
        </p:txBody>
      </p:sp>
      <p:sp>
        <p:nvSpPr>
          <p:cNvPr id="39" name="Text 37"/>
          <p:cNvSpPr txBox="1"/>
          <p:nvPr/>
        </p:nvSpPr>
        <p:spPr>
          <a:xfrm>
            <a:off x="5852160" y="3246120"/>
            <a:ext cx="2743200" cy="219456"/>
          </a:xfrm>
          <a:prstGeom prst="rect">
            <a:avLst/>
          </a:prstGeom>
          <a:noFill/>
          <a:ln/>
        </p:spPr>
        <p:txBody>
          <a:bodyPr wrap="square" lIns="0" tIns="0" rIns="0" bIns="0" rtlCol="0" anchor="ctr"/>
          <a:lstStyle/>
          <a:p>
            <a:pPr marL="0" indent="0">
              <a:buNone/>
            </a:pPr>
            <a:r>
              <a:rPr lang="en-US" sz="1100" i="1" dirty="0">
                <a:solidFill>
                  <a:srgbClr val="6B7280"/>
                </a:solidFill>
              </a:rPr>
              <a:t>No resistor needed for the buzzer.</a:t>
            </a:r>
            <a:endParaRPr lang="en-US" sz="1100" dirty="0"/>
          </a:p>
        </p:txBody>
      </p:sp>
      <p:sp>
        <p:nvSpPr>
          <p:cNvPr id="40"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949440" cy="640080"/>
          </a:xfrm>
          <a:prstGeom prst="rect">
            <a:avLst/>
          </a:prstGeom>
          <a:noFill/>
          <a:ln/>
        </p:spPr>
        <p:txBody>
          <a:bodyPr wrap="square" lIns="0" tIns="0" rIns="0" bIns="0" rtlCol="0" anchor="ctr"/>
          <a:lstStyle/>
          <a:p>
            <a:pPr marL="0" indent="0" algn="l">
              <a:buNone/>
            </a:pPr>
            <a:r>
              <a:rPr lang="en-US" sz="3000" b="1" dirty="0">
                <a:solidFill>
                  <a:schemeClr val="tx2"/>
                </a:solidFill>
              </a:rPr>
              <a:t>Read the code: Step 1</a:t>
            </a:r>
            <a:endParaRPr lang="en-US" sz="3000" dirty="0"/>
          </a:p>
        </p:txBody>
      </p:sp>
      <p:sp>
        <p:nvSpPr>
          <p:cNvPr id="3" name="Shape 1"/>
          <p:cNvSpPr/>
          <p:nvPr/>
        </p:nvSpPr>
        <p:spPr>
          <a:xfrm>
            <a:off x="7818120" y="164592"/>
            <a:ext cx="868680" cy="868680"/>
          </a:xfrm>
          <a:prstGeom prst="ellipse">
            <a:avLst/>
          </a:prstGeom>
          <a:solidFill>
            <a:srgbClr val="F2A900">
              <a:alpha val="30000"/>
            </a:srgbClr>
          </a:solidFill>
          <a:ln w="12700">
            <a:solidFill>
              <a:srgbClr val="F2A900">
                <a:alpha val="0"/>
              </a:srgbClr>
            </a:solidFill>
            <a:prstDash val="solid"/>
          </a:ln>
        </p:spPr>
        <p:txBody>
          <a:bodyPr/>
          <a:lstStyle/>
          <a:p>
            <a:endParaRPr lang="en-US"/>
          </a:p>
        </p:txBody>
      </p:sp>
      <p:sp>
        <p:nvSpPr>
          <p:cNvPr id="4" name="Shape 2"/>
          <p:cNvSpPr/>
          <p:nvPr/>
        </p:nvSpPr>
        <p:spPr>
          <a:xfrm>
            <a:off x="7955280" y="301752"/>
            <a:ext cx="594360" cy="594360"/>
          </a:xfrm>
          <a:prstGeom prst="ellipse">
            <a:avLst/>
          </a:prstGeom>
          <a:solidFill>
            <a:srgbClr val="F2A900"/>
          </a:solidFill>
          <a:ln w="12700">
            <a:solidFill>
              <a:srgbClr val="C98C00"/>
            </a:solidFill>
            <a:prstDash val="solid"/>
          </a:ln>
        </p:spPr>
        <p:txBody>
          <a:bodyPr/>
          <a:lstStyle/>
          <a:p>
            <a:endParaRPr lang="en-US"/>
          </a:p>
        </p:txBody>
      </p:sp>
      <p:sp>
        <p:nvSpPr>
          <p:cNvPr id="5" name="Text 3"/>
          <p:cNvSpPr txBox="1"/>
          <p:nvPr/>
        </p:nvSpPr>
        <p:spPr>
          <a:xfrm>
            <a:off x="7955280" y="301752"/>
            <a:ext cx="594360" cy="594360"/>
          </a:xfrm>
          <a:prstGeom prst="rect">
            <a:avLst/>
          </a:prstGeom>
          <a:noFill/>
          <a:ln/>
        </p:spPr>
        <p:txBody>
          <a:bodyPr wrap="square" lIns="0" tIns="0" rIns="0" bIns="0" rtlCol="0" anchor="ctr"/>
          <a:lstStyle/>
          <a:p>
            <a:pPr marL="0" indent="0" algn="ctr">
              <a:buNone/>
            </a:pPr>
            <a:r>
              <a:rPr lang="en-US" sz="2000" b="1" dirty="0">
                <a:solidFill>
                  <a:srgbClr val="0B3D2E"/>
                </a:solidFill>
              </a:rPr>
              <a:t>1</a:t>
            </a:r>
            <a:endParaRPr lang="en-US" sz="2000" dirty="0"/>
          </a:p>
        </p:txBody>
      </p:sp>
      <p:sp>
        <p:nvSpPr>
          <p:cNvPr id="6" name="Shape 4"/>
          <p:cNvSpPr/>
          <p:nvPr/>
        </p:nvSpPr>
        <p:spPr>
          <a:xfrm>
            <a:off x="457200" y="1051560"/>
            <a:ext cx="4023360" cy="1600200"/>
          </a:xfrm>
          <a:prstGeom prst="roundRect">
            <a:avLst>
              <a:gd name="adj" fmla="val 4571"/>
            </a:avLst>
          </a:prstGeom>
          <a:solidFill>
            <a:srgbClr val="14261F"/>
          </a:solidFill>
          <a:ln w="12700">
            <a:solidFill>
              <a:srgbClr val="14261F"/>
            </a:solidFill>
            <a:prstDash val="solid"/>
          </a:ln>
        </p:spPr>
        <p:txBody>
          <a:bodyPr/>
          <a:lstStyle/>
          <a:p>
            <a:endParaRPr lang="en-US"/>
          </a:p>
        </p:txBody>
      </p:sp>
      <p:sp>
        <p:nvSpPr>
          <p:cNvPr id="7" name="Text 5"/>
          <p:cNvSpPr txBox="1"/>
          <p:nvPr/>
        </p:nvSpPr>
        <p:spPr>
          <a:xfrm>
            <a:off x="594360" y="1115568"/>
            <a:ext cx="3749040" cy="219456"/>
          </a:xfrm>
          <a:prstGeom prst="rect">
            <a:avLst/>
          </a:prstGeom>
          <a:noFill/>
          <a:ln/>
        </p:spPr>
        <p:txBody>
          <a:bodyPr wrap="square" lIns="0" tIns="0" rIns="0" bIns="0" rtlCol="0" anchor="ctr"/>
          <a:lstStyle/>
          <a:p>
            <a:pPr marL="0" indent="0">
              <a:buNone/>
            </a:pPr>
            <a:r>
              <a:rPr lang="en-US" sz="1100" b="1" dirty="0">
                <a:solidFill>
                  <a:srgbClr val="F2A900"/>
                </a:solidFill>
              </a:rPr>
              <a:t>step1_buzzer_on.py</a:t>
            </a:r>
            <a:r>
              <a:rPr lang="en-US" sz="1100" dirty="0">
                <a:solidFill>
                  <a:srgbClr val="9FB8AD"/>
                </a:solidFill>
              </a:rPr>
              <a:t>  ·  lines 12–17</a:t>
            </a:r>
            <a:endParaRPr lang="en-US" sz="1100" dirty="0"/>
          </a:p>
        </p:txBody>
      </p:sp>
      <p:sp>
        <p:nvSpPr>
          <p:cNvPr id="8" name="Shape 6"/>
          <p:cNvSpPr/>
          <p:nvPr/>
        </p:nvSpPr>
        <p:spPr>
          <a:xfrm>
            <a:off x="566928" y="1371600"/>
            <a:ext cx="3803904" cy="0"/>
          </a:xfrm>
          <a:prstGeom prst="line">
            <a:avLst/>
          </a:prstGeom>
          <a:noFill/>
          <a:ln w="12700">
            <a:solidFill>
              <a:srgbClr val="2F4A3F"/>
            </a:solidFill>
            <a:prstDash val="solid"/>
          </a:ln>
        </p:spPr>
        <p:txBody>
          <a:bodyPr/>
          <a:lstStyle/>
          <a:p>
            <a:endParaRPr lang="en-US"/>
          </a:p>
        </p:txBody>
      </p:sp>
      <p:sp>
        <p:nvSpPr>
          <p:cNvPr id="9" name="Text 7"/>
          <p:cNvSpPr txBox="1"/>
          <p:nvPr/>
        </p:nvSpPr>
        <p:spPr>
          <a:xfrm>
            <a:off x="548640" y="1435608"/>
            <a:ext cx="3840480" cy="1143000"/>
          </a:xfrm>
          <a:prstGeom prst="rect">
            <a:avLst/>
          </a:prstGeom>
          <a:noFill/>
          <a:ln/>
        </p:spPr>
        <p:txBody>
          <a:bodyPr wrap="square" lIns="0" tIns="0" rIns="0" bIns="0" rtlCol="0" anchor="t"/>
          <a:lstStyle/>
          <a:p>
            <a:pPr marL="0" indent="0">
              <a:buNone/>
            </a:pPr>
            <a:r>
              <a:rPr lang="en-US" sz="1200" dirty="0">
                <a:solidFill>
                  <a:srgbClr val="6F8A7F"/>
                </a:solidFill>
                <a:latin typeface="Courier New" pitchFamily="34" charset="0"/>
                <a:ea typeface="Courier New" pitchFamily="34" charset="-122"/>
                <a:cs typeface="Courier New" pitchFamily="34" charset="-120"/>
              </a:rPr>
              <a:t> 12  </a:t>
            </a:r>
            <a:r>
              <a:rPr lang="en-US" sz="1200" dirty="0">
                <a:solidFill>
                  <a:srgbClr val="E6F2EC"/>
                </a:solidFill>
                <a:latin typeface="Courier New" pitchFamily="34" charset="0"/>
                <a:ea typeface="Courier New" pitchFamily="34" charset="-122"/>
                <a:cs typeface="Courier New" pitchFamily="34" charset="-120"/>
              </a:rPr>
              <a:t>from machine import Pin</a:t>
            </a:r>
            <a:endParaRPr lang="en-US" sz="1200" dirty="0"/>
          </a:p>
          <a:p>
            <a:pPr marL="0" indent="0">
              <a:buNone/>
            </a:pPr>
            <a:r>
              <a:rPr lang="en-US" sz="1200" dirty="0">
                <a:solidFill>
                  <a:srgbClr val="6F8A7F"/>
                </a:solidFill>
                <a:latin typeface="Courier New" pitchFamily="34" charset="0"/>
                <a:ea typeface="Courier New" pitchFamily="34" charset="-122"/>
                <a:cs typeface="Courier New" pitchFamily="34" charset="-120"/>
              </a:rPr>
              <a:t> 13  </a:t>
            </a:r>
            <a:r>
              <a:rPr lang="en-US" sz="1200" dirty="0">
                <a:solidFill>
                  <a:srgbClr val="E6F2EC"/>
                </a:solidFill>
                <a:latin typeface="Courier New" pitchFamily="34" charset="0"/>
                <a:ea typeface="Courier New" pitchFamily="34" charset="-122"/>
                <a:cs typeface="Courier New" pitchFamily="34" charset="-120"/>
              </a:rPr>
              <a:t> </a:t>
            </a:r>
            <a:endParaRPr lang="en-US" sz="1200" dirty="0"/>
          </a:p>
          <a:p>
            <a:pPr marL="0" indent="0">
              <a:buNone/>
            </a:pPr>
            <a:r>
              <a:rPr lang="en-US" sz="1200" dirty="0">
                <a:solidFill>
                  <a:srgbClr val="6F8A7F"/>
                </a:solidFill>
                <a:latin typeface="Courier New" pitchFamily="34" charset="0"/>
                <a:ea typeface="Courier New" pitchFamily="34" charset="-122"/>
                <a:cs typeface="Courier New" pitchFamily="34" charset="-120"/>
              </a:rPr>
              <a:t> 14  </a:t>
            </a:r>
            <a:r>
              <a:rPr lang="en-US" sz="1200" dirty="0">
                <a:solidFill>
                  <a:srgbClr val="E6F2EC"/>
                </a:solidFill>
                <a:latin typeface="Courier New" pitchFamily="34" charset="0"/>
                <a:ea typeface="Courier New" pitchFamily="34" charset="-122"/>
                <a:cs typeface="Courier New" pitchFamily="34" charset="-120"/>
              </a:rPr>
              <a:t>buzzer = Pin(25, Pin.OUT)</a:t>
            </a:r>
            <a:endParaRPr lang="en-US" sz="1200" dirty="0"/>
          </a:p>
          <a:p>
            <a:pPr marL="0" indent="0">
              <a:buNone/>
            </a:pPr>
            <a:r>
              <a:rPr lang="en-US" sz="1200" dirty="0">
                <a:solidFill>
                  <a:srgbClr val="6F8A7F"/>
                </a:solidFill>
                <a:latin typeface="Courier New" pitchFamily="34" charset="0"/>
                <a:ea typeface="Courier New" pitchFamily="34" charset="-122"/>
                <a:cs typeface="Courier New" pitchFamily="34" charset="-120"/>
              </a:rPr>
              <a:t> 15  </a:t>
            </a:r>
            <a:r>
              <a:rPr lang="en-US" sz="1200" dirty="0">
                <a:solidFill>
                  <a:srgbClr val="E6F2EC"/>
                </a:solidFill>
                <a:latin typeface="Courier New" pitchFamily="34" charset="0"/>
                <a:ea typeface="Courier New" pitchFamily="34" charset="-122"/>
                <a:cs typeface="Courier New" pitchFamily="34" charset="-120"/>
              </a:rPr>
              <a:t> </a:t>
            </a:r>
            <a:endParaRPr lang="en-US" sz="1200" dirty="0"/>
          </a:p>
          <a:p>
            <a:pPr marL="0" indent="0">
              <a:buNone/>
            </a:pPr>
            <a:r>
              <a:rPr lang="en-US" sz="1200" dirty="0">
                <a:solidFill>
                  <a:srgbClr val="6F8A7F"/>
                </a:solidFill>
                <a:latin typeface="Courier New" pitchFamily="34" charset="0"/>
                <a:ea typeface="Courier New" pitchFamily="34" charset="-122"/>
                <a:cs typeface="Courier New" pitchFamily="34" charset="-120"/>
              </a:rPr>
              <a:t> 16  </a:t>
            </a:r>
            <a:r>
              <a:rPr lang="en-US" sz="1200" dirty="0">
                <a:solidFill>
                  <a:srgbClr val="E6F2EC"/>
                </a:solidFill>
                <a:latin typeface="Courier New" pitchFamily="34" charset="0"/>
                <a:ea typeface="Courier New" pitchFamily="34" charset="-122"/>
                <a:cs typeface="Courier New" pitchFamily="34" charset="-120"/>
              </a:rPr>
              <a:t>buzzer.value(1)</a:t>
            </a:r>
            <a:endParaRPr lang="en-US" sz="1200" dirty="0"/>
          </a:p>
          <a:p>
            <a:pPr marL="0" indent="0">
              <a:buNone/>
            </a:pPr>
            <a:r>
              <a:rPr lang="en-US" sz="1200" dirty="0">
                <a:solidFill>
                  <a:srgbClr val="6F8A7F"/>
                </a:solidFill>
                <a:latin typeface="Courier New" pitchFamily="34" charset="0"/>
                <a:ea typeface="Courier New" pitchFamily="34" charset="-122"/>
                <a:cs typeface="Courier New" pitchFamily="34" charset="-120"/>
              </a:rPr>
              <a:t> 17  </a:t>
            </a:r>
            <a:r>
              <a:rPr lang="en-US" sz="1200" dirty="0">
                <a:solidFill>
                  <a:srgbClr val="E6F2EC"/>
                </a:solidFill>
                <a:latin typeface="Courier New" pitchFamily="34" charset="0"/>
                <a:ea typeface="Courier New" pitchFamily="34" charset="-122"/>
                <a:cs typeface="Courier New" pitchFamily="34" charset="-120"/>
              </a:rPr>
              <a:t>print("Buzzer should be beeping")</a:t>
            </a:r>
            <a:endParaRPr lang="en-US" sz="1200" dirty="0"/>
          </a:p>
        </p:txBody>
      </p:sp>
      <p:sp>
        <p:nvSpPr>
          <p:cNvPr id="10" name="Shape 8"/>
          <p:cNvSpPr/>
          <p:nvPr/>
        </p:nvSpPr>
        <p:spPr>
          <a:xfrm>
            <a:off x="4754880" y="1097280"/>
            <a:ext cx="868680" cy="292608"/>
          </a:xfrm>
          <a:prstGeom prst="roundRect">
            <a:avLst>
              <a:gd name="adj" fmla="val 18750"/>
            </a:avLst>
          </a:prstGeom>
          <a:solidFill>
            <a:srgbClr val="FFF1C2"/>
          </a:solidFill>
          <a:ln w="9525">
            <a:solidFill>
              <a:srgbClr val="E0A800"/>
            </a:solidFill>
            <a:prstDash val="solid"/>
          </a:ln>
        </p:spPr>
        <p:txBody>
          <a:bodyPr/>
          <a:lstStyle/>
          <a:p>
            <a:endParaRPr lang="en-US"/>
          </a:p>
        </p:txBody>
      </p:sp>
      <p:sp>
        <p:nvSpPr>
          <p:cNvPr id="11" name="Text 9"/>
          <p:cNvSpPr txBox="1"/>
          <p:nvPr/>
        </p:nvSpPr>
        <p:spPr>
          <a:xfrm>
            <a:off x="4754880" y="1097280"/>
            <a:ext cx="868680" cy="292608"/>
          </a:xfrm>
          <a:prstGeom prst="rect">
            <a:avLst/>
          </a:prstGeom>
          <a:noFill/>
          <a:ln/>
        </p:spPr>
        <p:txBody>
          <a:bodyPr wrap="square" lIns="0" tIns="0" rIns="0" bIns="0" rtlCol="0" anchor="ctr"/>
          <a:lstStyle/>
          <a:p>
            <a:pPr marL="0" indent="0" algn="ctr">
              <a:buNone/>
            </a:pPr>
            <a:r>
              <a:rPr lang="en-US" sz="1100" b="1" dirty="0">
                <a:solidFill>
                  <a:srgbClr val="7A5600"/>
                </a:solidFill>
              </a:rPr>
              <a:t>Line 12</a:t>
            </a:r>
            <a:endParaRPr lang="en-US" sz="1100" dirty="0"/>
          </a:p>
        </p:txBody>
      </p:sp>
      <p:sp>
        <p:nvSpPr>
          <p:cNvPr id="12" name="Text 10"/>
          <p:cNvSpPr txBox="1"/>
          <p:nvPr/>
        </p:nvSpPr>
        <p:spPr>
          <a:xfrm>
            <a:off x="5760720" y="1060704"/>
            <a:ext cx="2926080" cy="676656"/>
          </a:xfrm>
          <a:prstGeom prst="rect">
            <a:avLst/>
          </a:prstGeom>
          <a:noFill/>
          <a:ln/>
        </p:spPr>
        <p:txBody>
          <a:bodyPr wrap="square" lIns="0" tIns="0" rIns="0" bIns="0" rtlCol="0" anchor="t"/>
          <a:lstStyle/>
          <a:p>
            <a:pPr marL="0" indent="0">
              <a:buNone/>
            </a:pPr>
            <a:r>
              <a:rPr lang="en-US" sz="1400" dirty="0">
                <a:solidFill>
                  <a:srgbClr val="1B1B1B"/>
                </a:solidFill>
              </a:rPr>
              <a:t>Bring in Pin, the tool that controls the pins.</a:t>
            </a:r>
            <a:endParaRPr lang="en-US" sz="1400" dirty="0"/>
          </a:p>
        </p:txBody>
      </p:sp>
      <p:sp>
        <p:nvSpPr>
          <p:cNvPr id="13" name="Shape 11"/>
          <p:cNvSpPr/>
          <p:nvPr/>
        </p:nvSpPr>
        <p:spPr>
          <a:xfrm>
            <a:off x="4754880" y="1810512"/>
            <a:ext cx="868680" cy="292608"/>
          </a:xfrm>
          <a:prstGeom prst="roundRect">
            <a:avLst>
              <a:gd name="adj" fmla="val 18750"/>
            </a:avLst>
          </a:prstGeom>
          <a:solidFill>
            <a:srgbClr val="FFF1C2"/>
          </a:solidFill>
          <a:ln w="9525">
            <a:solidFill>
              <a:srgbClr val="E0A800"/>
            </a:solidFill>
            <a:prstDash val="solid"/>
          </a:ln>
        </p:spPr>
        <p:txBody>
          <a:bodyPr/>
          <a:lstStyle/>
          <a:p>
            <a:endParaRPr lang="en-US"/>
          </a:p>
        </p:txBody>
      </p:sp>
      <p:sp>
        <p:nvSpPr>
          <p:cNvPr id="14" name="Text 12"/>
          <p:cNvSpPr txBox="1"/>
          <p:nvPr/>
        </p:nvSpPr>
        <p:spPr>
          <a:xfrm>
            <a:off x="4754880" y="1810512"/>
            <a:ext cx="868680" cy="292608"/>
          </a:xfrm>
          <a:prstGeom prst="rect">
            <a:avLst/>
          </a:prstGeom>
          <a:noFill/>
          <a:ln/>
        </p:spPr>
        <p:txBody>
          <a:bodyPr wrap="square" lIns="0" tIns="0" rIns="0" bIns="0" rtlCol="0" anchor="ctr"/>
          <a:lstStyle/>
          <a:p>
            <a:pPr marL="0" indent="0" algn="ctr">
              <a:buNone/>
            </a:pPr>
            <a:r>
              <a:rPr lang="en-US" sz="1100" b="1" dirty="0">
                <a:solidFill>
                  <a:srgbClr val="7A5600"/>
                </a:solidFill>
              </a:rPr>
              <a:t>Line 14</a:t>
            </a:r>
            <a:endParaRPr lang="en-US" sz="1100" dirty="0"/>
          </a:p>
        </p:txBody>
      </p:sp>
      <p:sp>
        <p:nvSpPr>
          <p:cNvPr id="15" name="Text 13"/>
          <p:cNvSpPr txBox="1"/>
          <p:nvPr/>
        </p:nvSpPr>
        <p:spPr>
          <a:xfrm>
            <a:off x="5760720" y="1773936"/>
            <a:ext cx="2926080" cy="676656"/>
          </a:xfrm>
          <a:prstGeom prst="rect">
            <a:avLst/>
          </a:prstGeom>
          <a:noFill/>
          <a:ln/>
        </p:spPr>
        <p:txBody>
          <a:bodyPr wrap="square" lIns="0" tIns="0" rIns="0" bIns="0" rtlCol="0" anchor="t"/>
          <a:lstStyle/>
          <a:p>
            <a:pPr marL="0" indent="0">
              <a:buNone/>
            </a:pPr>
            <a:r>
              <a:rPr lang="en-US" sz="1400" dirty="0">
                <a:solidFill>
                  <a:srgbClr val="1B1B1B"/>
                </a:solidFill>
              </a:rPr>
              <a:t>GPIO25 is an OUTPUT: the ESP32 sends power out. We name it buzzer.</a:t>
            </a:r>
            <a:endParaRPr lang="en-US" sz="1400" dirty="0"/>
          </a:p>
        </p:txBody>
      </p:sp>
      <p:sp>
        <p:nvSpPr>
          <p:cNvPr id="16" name="Shape 14"/>
          <p:cNvSpPr/>
          <p:nvPr/>
        </p:nvSpPr>
        <p:spPr>
          <a:xfrm>
            <a:off x="4754880" y="2523744"/>
            <a:ext cx="868680" cy="292608"/>
          </a:xfrm>
          <a:prstGeom prst="roundRect">
            <a:avLst>
              <a:gd name="adj" fmla="val 18750"/>
            </a:avLst>
          </a:prstGeom>
          <a:solidFill>
            <a:srgbClr val="FFF1C2"/>
          </a:solidFill>
          <a:ln w="9525">
            <a:solidFill>
              <a:srgbClr val="E0A800"/>
            </a:solidFill>
            <a:prstDash val="solid"/>
          </a:ln>
        </p:spPr>
        <p:txBody>
          <a:bodyPr/>
          <a:lstStyle/>
          <a:p>
            <a:endParaRPr lang="en-US"/>
          </a:p>
        </p:txBody>
      </p:sp>
      <p:sp>
        <p:nvSpPr>
          <p:cNvPr id="17" name="Text 15"/>
          <p:cNvSpPr txBox="1"/>
          <p:nvPr/>
        </p:nvSpPr>
        <p:spPr>
          <a:xfrm>
            <a:off x="4754880" y="2523744"/>
            <a:ext cx="868680" cy="292608"/>
          </a:xfrm>
          <a:prstGeom prst="rect">
            <a:avLst/>
          </a:prstGeom>
          <a:noFill/>
          <a:ln/>
        </p:spPr>
        <p:txBody>
          <a:bodyPr wrap="square" lIns="0" tIns="0" rIns="0" bIns="0" rtlCol="0" anchor="ctr"/>
          <a:lstStyle/>
          <a:p>
            <a:pPr marL="0" indent="0" algn="ctr">
              <a:buNone/>
            </a:pPr>
            <a:r>
              <a:rPr lang="en-US" sz="1100" b="1" dirty="0">
                <a:solidFill>
                  <a:srgbClr val="7A5600"/>
                </a:solidFill>
              </a:rPr>
              <a:t>Line 16</a:t>
            </a:r>
            <a:endParaRPr lang="en-US" sz="1100" dirty="0"/>
          </a:p>
        </p:txBody>
      </p:sp>
      <p:sp>
        <p:nvSpPr>
          <p:cNvPr id="18" name="Text 16"/>
          <p:cNvSpPr txBox="1"/>
          <p:nvPr/>
        </p:nvSpPr>
        <p:spPr>
          <a:xfrm>
            <a:off x="5760720" y="2487168"/>
            <a:ext cx="2926080" cy="676656"/>
          </a:xfrm>
          <a:prstGeom prst="rect">
            <a:avLst/>
          </a:prstGeom>
          <a:noFill/>
          <a:ln/>
        </p:spPr>
        <p:txBody>
          <a:bodyPr wrap="square" lIns="0" tIns="0" rIns="0" bIns="0" rtlCol="0" anchor="t"/>
          <a:lstStyle/>
          <a:p>
            <a:pPr marL="0" indent="0">
              <a:buNone/>
            </a:pPr>
            <a:r>
              <a:rPr lang="en-US" sz="1400" dirty="0">
                <a:solidFill>
                  <a:srgbClr val="1B1B1B"/>
                </a:solidFill>
              </a:rPr>
              <a:t>value(1) puts 3.3 V on the pin, so it beeps. value(0) stops it.</a:t>
            </a:r>
            <a:endParaRPr lang="en-US" sz="1400" dirty="0"/>
          </a:p>
        </p:txBody>
      </p:sp>
      <p:sp>
        <p:nvSpPr>
          <p:cNvPr id="19" name="Shape 17"/>
          <p:cNvSpPr/>
          <p:nvPr/>
        </p:nvSpPr>
        <p:spPr>
          <a:xfrm>
            <a:off x="4754880" y="3236976"/>
            <a:ext cx="868680" cy="292608"/>
          </a:xfrm>
          <a:prstGeom prst="roundRect">
            <a:avLst>
              <a:gd name="adj" fmla="val 18750"/>
            </a:avLst>
          </a:prstGeom>
          <a:solidFill>
            <a:srgbClr val="FFF1C2"/>
          </a:solidFill>
          <a:ln w="9525">
            <a:solidFill>
              <a:srgbClr val="E0A800"/>
            </a:solidFill>
            <a:prstDash val="solid"/>
          </a:ln>
        </p:spPr>
        <p:txBody>
          <a:bodyPr/>
          <a:lstStyle/>
          <a:p>
            <a:endParaRPr lang="en-US"/>
          </a:p>
        </p:txBody>
      </p:sp>
      <p:sp>
        <p:nvSpPr>
          <p:cNvPr id="20" name="Text 18"/>
          <p:cNvSpPr txBox="1"/>
          <p:nvPr/>
        </p:nvSpPr>
        <p:spPr>
          <a:xfrm>
            <a:off x="4754880" y="3236976"/>
            <a:ext cx="868680" cy="292608"/>
          </a:xfrm>
          <a:prstGeom prst="rect">
            <a:avLst/>
          </a:prstGeom>
          <a:noFill/>
          <a:ln/>
        </p:spPr>
        <p:txBody>
          <a:bodyPr wrap="square" lIns="0" tIns="0" rIns="0" bIns="0" rtlCol="0" anchor="ctr"/>
          <a:lstStyle/>
          <a:p>
            <a:pPr marL="0" indent="0" algn="ctr">
              <a:buNone/>
            </a:pPr>
            <a:r>
              <a:rPr lang="en-US" sz="1100" b="1" dirty="0">
                <a:solidFill>
                  <a:srgbClr val="7A5600"/>
                </a:solidFill>
              </a:rPr>
              <a:t>Line 17</a:t>
            </a:r>
            <a:endParaRPr lang="en-US" sz="1100" dirty="0"/>
          </a:p>
        </p:txBody>
      </p:sp>
      <p:sp>
        <p:nvSpPr>
          <p:cNvPr id="21" name="Text 19"/>
          <p:cNvSpPr txBox="1"/>
          <p:nvPr/>
        </p:nvSpPr>
        <p:spPr>
          <a:xfrm>
            <a:off x="5760720" y="3200400"/>
            <a:ext cx="2926080" cy="676656"/>
          </a:xfrm>
          <a:prstGeom prst="rect">
            <a:avLst/>
          </a:prstGeom>
          <a:noFill/>
          <a:ln/>
        </p:spPr>
        <p:txBody>
          <a:bodyPr wrap="square" lIns="0" tIns="0" rIns="0" bIns="0" rtlCol="0" anchor="t"/>
          <a:lstStyle/>
          <a:p>
            <a:pPr marL="0" indent="0">
              <a:buNone/>
            </a:pPr>
            <a:r>
              <a:rPr lang="en-US" sz="1400" dirty="0">
                <a:solidFill>
                  <a:srgbClr val="1B1B1B"/>
                </a:solidFill>
              </a:rPr>
              <a:t>Prints a message in the Shell, so you know the code ran.</a:t>
            </a:r>
            <a:endParaRPr lang="en-US" sz="1400" dirty="0"/>
          </a:p>
        </p:txBody>
      </p:sp>
      <p:sp>
        <p:nvSpPr>
          <p:cNvPr id="22" name="Shape 20"/>
          <p:cNvSpPr/>
          <p:nvPr/>
        </p:nvSpPr>
        <p:spPr>
          <a:xfrm>
            <a:off x="457200" y="2880360"/>
            <a:ext cx="4023360" cy="1371600"/>
          </a:xfrm>
          <a:prstGeom prst="roundRect">
            <a:avLst>
              <a:gd name="adj" fmla="val 5333"/>
            </a:avLst>
          </a:prstGeom>
          <a:solidFill>
            <a:srgbClr val="EEF5F1"/>
          </a:solidFill>
          <a:ln w="12700">
            <a:solidFill>
              <a:srgbClr val="D3E4DB"/>
            </a:solidFill>
            <a:prstDash val="solid"/>
          </a:ln>
        </p:spPr>
        <p:txBody>
          <a:bodyPr/>
          <a:lstStyle/>
          <a:p>
            <a:endParaRPr lang="en-US"/>
          </a:p>
        </p:txBody>
      </p:sp>
      <p:sp>
        <p:nvSpPr>
          <p:cNvPr id="23" name="Text 21"/>
          <p:cNvSpPr txBox="1"/>
          <p:nvPr/>
        </p:nvSpPr>
        <p:spPr>
          <a:xfrm>
            <a:off x="640080" y="2971800"/>
            <a:ext cx="3657600" cy="320040"/>
          </a:xfrm>
          <a:prstGeom prst="rect">
            <a:avLst/>
          </a:prstGeom>
          <a:noFill/>
          <a:ln/>
        </p:spPr>
        <p:txBody>
          <a:bodyPr wrap="square" lIns="0" tIns="0" rIns="0" bIns="0" rtlCol="0" anchor="ctr"/>
          <a:lstStyle/>
          <a:p>
            <a:pPr marL="0" indent="0">
              <a:buNone/>
            </a:pPr>
            <a:r>
              <a:rPr lang="en-US" sz="1500" b="1" dirty="0">
                <a:solidFill>
                  <a:srgbClr val="0B3D2E"/>
                </a:solidFill>
              </a:rPr>
              <a:t>Predict, then try</a:t>
            </a:r>
            <a:endParaRPr lang="en-US" sz="1500" dirty="0"/>
          </a:p>
        </p:txBody>
      </p:sp>
      <p:sp>
        <p:nvSpPr>
          <p:cNvPr id="24" name="Text 22"/>
          <p:cNvSpPr txBox="1"/>
          <p:nvPr/>
        </p:nvSpPr>
        <p:spPr>
          <a:xfrm>
            <a:off x="640080" y="3337560"/>
            <a:ext cx="3657600" cy="822960"/>
          </a:xfrm>
          <a:prstGeom prst="rect">
            <a:avLst/>
          </a:prstGeom>
          <a:noFill/>
          <a:ln/>
        </p:spPr>
        <p:txBody>
          <a:bodyPr wrap="square" lIns="0" tIns="0" rIns="0" bIns="0" rtlCol="0" anchor="ctr"/>
          <a:lstStyle/>
          <a:p>
            <a:pPr marL="342900" indent="-342900">
              <a:spcAft>
                <a:spcPts val="400"/>
              </a:spcAft>
              <a:buSzPct val="100000"/>
              <a:buChar char="•"/>
            </a:pPr>
            <a:r>
              <a:rPr lang="en-US" sz="1400" dirty="0">
                <a:solidFill>
                  <a:srgbClr val="1B1B1B"/>
                </a:solidFill>
              </a:rPr>
              <a:t>What happens if line 16 says value(0)?</a:t>
            </a:r>
            <a:endParaRPr lang="en-US" sz="1400" dirty="0"/>
          </a:p>
          <a:p>
            <a:pPr marL="342900" indent="-342900">
              <a:spcAft>
                <a:spcPts val="400"/>
              </a:spcAft>
              <a:buSzPct val="100000"/>
              <a:buChar char="•"/>
            </a:pPr>
            <a:r>
              <a:rPr lang="en-US" sz="1400" dirty="0">
                <a:solidFill>
                  <a:srgbClr val="1B1B1B"/>
                </a:solidFill>
              </a:rPr>
              <a:t>Where have you seen Pin(…, Pin.OUT) before?</a:t>
            </a:r>
            <a:endParaRPr lang="en-US" sz="14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949440" cy="640080"/>
          </a:xfrm>
          <a:prstGeom prst="rect">
            <a:avLst/>
          </a:prstGeom>
          <a:noFill/>
          <a:ln/>
        </p:spPr>
        <p:txBody>
          <a:bodyPr wrap="square" lIns="0" tIns="0" rIns="0" bIns="0" rtlCol="0" anchor="ctr"/>
          <a:lstStyle/>
          <a:p>
            <a:pPr marL="0" indent="0" algn="l">
              <a:buNone/>
            </a:pPr>
            <a:r>
              <a:rPr lang="en-US" sz="3000" b="1" dirty="0">
                <a:solidFill>
                  <a:schemeClr val="tx2"/>
                </a:solidFill>
              </a:rPr>
              <a:t>Step 2: beep, beep, beep</a:t>
            </a:r>
            <a:endParaRPr lang="en-US" sz="3000" dirty="0"/>
          </a:p>
        </p:txBody>
      </p:sp>
      <p:sp>
        <p:nvSpPr>
          <p:cNvPr id="3" name="Shape 1"/>
          <p:cNvSpPr/>
          <p:nvPr/>
        </p:nvSpPr>
        <p:spPr>
          <a:xfrm>
            <a:off x="7818120" y="164592"/>
            <a:ext cx="868680" cy="868680"/>
          </a:xfrm>
          <a:prstGeom prst="ellipse">
            <a:avLst/>
          </a:prstGeom>
          <a:solidFill>
            <a:srgbClr val="F2A900">
              <a:alpha val="30000"/>
            </a:srgbClr>
          </a:solidFill>
          <a:ln w="12700">
            <a:solidFill>
              <a:srgbClr val="F2A900">
                <a:alpha val="0"/>
              </a:srgbClr>
            </a:solidFill>
            <a:prstDash val="solid"/>
          </a:ln>
        </p:spPr>
        <p:txBody>
          <a:bodyPr/>
          <a:lstStyle/>
          <a:p>
            <a:endParaRPr lang="en-US"/>
          </a:p>
        </p:txBody>
      </p:sp>
      <p:sp>
        <p:nvSpPr>
          <p:cNvPr id="4" name="Shape 2"/>
          <p:cNvSpPr/>
          <p:nvPr/>
        </p:nvSpPr>
        <p:spPr>
          <a:xfrm>
            <a:off x="7955280" y="301752"/>
            <a:ext cx="594360" cy="594360"/>
          </a:xfrm>
          <a:prstGeom prst="ellipse">
            <a:avLst/>
          </a:prstGeom>
          <a:solidFill>
            <a:srgbClr val="F2A900"/>
          </a:solidFill>
          <a:ln w="12700">
            <a:solidFill>
              <a:srgbClr val="C98C00"/>
            </a:solidFill>
            <a:prstDash val="solid"/>
          </a:ln>
        </p:spPr>
        <p:txBody>
          <a:bodyPr/>
          <a:lstStyle/>
          <a:p>
            <a:endParaRPr lang="en-US"/>
          </a:p>
        </p:txBody>
      </p:sp>
      <p:sp>
        <p:nvSpPr>
          <p:cNvPr id="5" name="Text 3"/>
          <p:cNvSpPr txBox="1"/>
          <p:nvPr/>
        </p:nvSpPr>
        <p:spPr>
          <a:xfrm>
            <a:off x="7955280" y="301752"/>
            <a:ext cx="594360" cy="594360"/>
          </a:xfrm>
          <a:prstGeom prst="rect">
            <a:avLst/>
          </a:prstGeom>
          <a:noFill/>
          <a:ln/>
        </p:spPr>
        <p:txBody>
          <a:bodyPr wrap="square" lIns="0" tIns="0" rIns="0" bIns="0" rtlCol="0" anchor="ctr"/>
          <a:lstStyle/>
          <a:p>
            <a:pPr marL="0" indent="0" algn="ctr">
              <a:buNone/>
            </a:pPr>
            <a:r>
              <a:rPr lang="en-US" sz="2000" b="1" dirty="0">
                <a:solidFill>
                  <a:srgbClr val="0B3D2E"/>
                </a:solidFill>
              </a:rPr>
              <a:t>2</a:t>
            </a:r>
            <a:endParaRPr lang="en-US" sz="2000" dirty="0"/>
          </a:p>
        </p:txBody>
      </p:sp>
      <p:sp>
        <p:nvSpPr>
          <p:cNvPr id="6" name="Text 4"/>
          <p:cNvSpPr txBox="1"/>
          <p:nvPr/>
        </p:nvSpPr>
        <p:spPr>
          <a:xfrm>
            <a:off x="457200" y="1005840"/>
            <a:ext cx="3931920" cy="365760"/>
          </a:xfrm>
          <a:prstGeom prst="rect">
            <a:avLst/>
          </a:prstGeom>
          <a:noFill/>
          <a:ln/>
        </p:spPr>
        <p:txBody>
          <a:bodyPr wrap="square" lIns="0" tIns="0" rIns="0" bIns="0" rtlCol="0" anchor="ctr"/>
          <a:lstStyle/>
          <a:p>
            <a:pPr marL="0" indent="0">
              <a:buNone/>
            </a:pPr>
            <a:r>
              <a:rPr lang="en-US" sz="1400" b="1" dirty="0">
                <a:solidFill>
                  <a:srgbClr val="0B3D2E"/>
                </a:solidFill>
              </a:rPr>
              <a:t>No wiring change. Upload and run step2_buzzer_beep.py.</a:t>
            </a:r>
            <a:endParaRPr lang="en-US" sz="1400" dirty="0"/>
          </a:p>
        </p:txBody>
      </p:sp>
      <p:sp>
        <p:nvSpPr>
          <p:cNvPr id="7" name="Shape 5"/>
          <p:cNvSpPr/>
          <p:nvPr/>
        </p:nvSpPr>
        <p:spPr>
          <a:xfrm>
            <a:off x="457200" y="1417320"/>
            <a:ext cx="3931920" cy="1874520"/>
          </a:xfrm>
          <a:prstGeom prst="roundRect">
            <a:avLst>
              <a:gd name="adj" fmla="val 3902"/>
            </a:avLst>
          </a:prstGeom>
          <a:solidFill>
            <a:srgbClr val="14261F"/>
          </a:solidFill>
          <a:ln w="12700">
            <a:solidFill>
              <a:srgbClr val="14261F"/>
            </a:solidFill>
            <a:prstDash val="solid"/>
          </a:ln>
        </p:spPr>
        <p:txBody>
          <a:bodyPr/>
          <a:lstStyle/>
          <a:p>
            <a:endParaRPr lang="en-US"/>
          </a:p>
        </p:txBody>
      </p:sp>
      <p:sp>
        <p:nvSpPr>
          <p:cNvPr id="8" name="Text 6"/>
          <p:cNvSpPr txBox="1"/>
          <p:nvPr/>
        </p:nvSpPr>
        <p:spPr>
          <a:xfrm>
            <a:off x="594360" y="1481328"/>
            <a:ext cx="3657600" cy="219456"/>
          </a:xfrm>
          <a:prstGeom prst="rect">
            <a:avLst/>
          </a:prstGeom>
          <a:noFill/>
          <a:ln/>
        </p:spPr>
        <p:txBody>
          <a:bodyPr wrap="square" lIns="0" tIns="0" rIns="0" bIns="0" rtlCol="0" anchor="ctr"/>
          <a:lstStyle/>
          <a:p>
            <a:pPr marL="0" indent="0">
              <a:buNone/>
            </a:pPr>
            <a:r>
              <a:rPr lang="en-US" sz="1100" b="1" dirty="0">
                <a:solidFill>
                  <a:srgbClr val="F2A900"/>
                </a:solidFill>
              </a:rPr>
              <a:t>step2_buzzer_beep.py</a:t>
            </a:r>
            <a:r>
              <a:rPr lang="en-US" sz="1100" dirty="0">
                <a:solidFill>
                  <a:srgbClr val="9FB8AD"/>
                </a:solidFill>
              </a:rPr>
              <a:t>  ·  lines 13–18</a:t>
            </a:r>
            <a:endParaRPr lang="en-US" sz="1100" dirty="0"/>
          </a:p>
        </p:txBody>
      </p:sp>
      <p:sp>
        <p:nvSpPr>
          <p:cNvPr id="9" name="Shape 7"/>
          <p:cNvSpPr/>
          <p:nvPr/>
        </p:nvSpPr>
        <p:spPr>
          <a:xfrm>
            <a:off x="566928" y="1737360"/>
            <a:ext cx="3712464" cy="0"/>
          </a:xfrm>
          <a:prstGeom prst="line">
            <a:avLst/>
          </a:prstGeom>
          <a:noFill/>
          <a:ln w="12700">
            <a:solidFill>
              <a:srgbClr val="2F4A3F"/>
            </a:solidFill>
            <a:prstDash val="solid"/>
          </a:ln>
        </p:spPr>
        <p:txBody>
          <a:bodyPr/>
          <a:lstStyle/>
          <a:p>
            <a:endParaRPr lang="en-US"/>
          </a:p>
        </p:txBody>
      </p:sp>
      <p:sp>
        <p:nvSpPr>
          <p:cNvPr id="10" name="Text 8"/>
          <p:cNvSpPr txBox="1"/>
          <p:nvPr/>
        </p:nvSpPr>
        <p:spPr>
          <a:xfrm>
            <a:off x="548640" y="1801368"/>
            <a:ext cx="3749040" cy="1417320"/>
          </a:xfrm>
          <a:prstGeom prst="rect">
            <a:avLst/>
          </a:prstGeom>
          <a:noFill/>
          <a:ln/>
        </p:spPr>
        <p:txBody>
          <a:bodyPr wrap="square" lIns="0" tIns="0" rIns="0" bIns="0" rtlCol="0" anchor="t"/>
          <a:lstStyle/>
          <a:p>
            <a:pPr marL="0" indent="0">
              <a:buNone/>
            </a:pPr>
            <a:r>
              <a:rPr lang="en-US" sz="900" dirty="0">
                <a:solidFill>
                  <a:srgbClr val="6F8A7F"/>
                </a:solidFill>
                <a:latin typeface="Courier New" pitchFamily="34" charset="0"/>
                <a:ea typeface="Courier New" pitchFamily="34" charset="-122"/>
                <a:cs typeface="Courier New" pitchFamily="34" charset="-120"/>
              </a:rPr>
              <a:t> 13  </a:t>
            </a:r>
            <a:r>
              <a:rPr lang="en-US" sz="900" dirty="0">
                <a:solidFill>
                  <a:srgbClr val="E6F2EC"/>
                </a:solidFill>
                <a:latin typeface="Courier New" pitchFamily="34" charset="0"/>
                <a:ea typeface="Courier New" pitchFamily="34" charset="-122"/>
                <a:cs typeface="Courier New" pitchFamily="34" charset="-120"/>
              </a:rPr>
              <a:t>try:</a:t>
            </a:r>
            <a:endParaRPr lang="en-US" sz="900" dirty="0"/>
          </a:p>
          <a:p>
            <a:pPr marL="0" indent="0">
              <a:buNone/>
            </a:pPr>
            <a:r>
              <a:rPr lang="en-US" sz="900" dirty="0">
                <a:solidFill>
                  <a:srgbClr val="6F8A7F"/>
                </a:solidFill>
                <a:latin typeface="Courier New" pitchFamily="34" charset="0"/>
                <a:ea typeface="Courier New" pitchFamily="34" charset="-122"/>
                <a:cs typeface="Courier New" pitchFamily="34" charset="-120"/>
              </a:rPr>
              <a:t> 14  </a:t>
            </a:r>
            <a:r>
              <a:rPr lang="en-US" sz="900" dirty="0">
                <a:solidFill>
                  <a:srgbClr val="E6F2EC"/>
                </a:solidFill>
                <a:latin typeface="Courier New" pitchFamily="34" charset="0"/>
                <a:ea typeface="Courier New" pitchFamily="34" charset="-122"/>
                <a:cs typeface="Courier New" pitchFamily="34" charset="-120"/>
              </a:rPr>
              <a:t>    while True:</a:t>
            </a:r>
            <a:endParaRPr lang="en-US" sz="900" dirty="0"/>
          </a:p>
          <a:p>
            <a:pPr marL="0" indent="0">
              <a:buNone/>
            </a:pPr>
            <a:r>
              <a:rPr lang="en-US" sz="900" dirty="0">
                <a:solidFill>
                  <a:srgbClr val="6F8A7F"/>
                </a:solidFill>
                <a:latin typeface="Courier New" pitchFamily="34" charset="0"/>
                <a:ea typeface="Courier New" pitchFamily="34" charset="-122"/>
                <a:cs typeface="Courier New" pitchFamily="34" charset="-120"/>
              </a:rPr>
              <a:t> 15  </a:t>
            </a:r>
            <a:r>
              <a:rPr lang="en-US" sz="900" dirty="0">
                <a:solidFill>
                  <a:srgbClr val="E6F2EC"/>
                </a:solidFill>
                <a:latin typeface="Courier New" pitchFamily="34" charset="0"/>
                <a:ea typeface="Courier New" pitchFamily="34" charset="-122"/>
                <a:cs typeface="Courier New" pitchFamily="34" charset="-120"/>
              </a:rPr>
              <a:t>        buzzer.value(1)    # beep</a:t>
            </a:r>
            <a:endParaRPr lang="en-US" sz="900" dirty="0"/>
          </a:p>
          <a:p>
            <a:pPr marL="0" indent="0">
              <a:buNone/>
            </a:pPr>
            <a:r>
              <a:rPr lang="en-US" sz="900" dirty="0">
                <a:solidFill>
                  <a:srgbClr val="6F8A7F"/>
                </a:solidFill>
                <a:latin typeface="Courier New" pitchFamily="34" charset="0"/>
                <a:ea typeface="Courier New" pitchFamily="34" charset="-122"/>
                <a:cs typeface="Courier New" pitchFamily="34" charset="-120"/>
              </a:rPr>
              <a:t> 16  </a:t>
            </a:r>
            <a:r>
              <a:rPr lang="en-US" sz="900" dirty="0">
                <a:solidFill>
                  <a:srgbClr val="E6F2EC"/>
                </a:solidFill>
                <a:latin typeface="Courier New" pitchFamily="34" charset="0"/>
                <a:ea typeface="Courier New" pitchFamily="34" charset="-122"/>
                <a:cs typeface="Courier New" pitchFamily="34" charset="-120"/>
              </a:rPr>
              <a:t>        time.sleep(0.05)   # a short beep: 0.05 s</a:t>
            </a:r>
            <a:endParaRPr lang="en-US" sz="900" dirty="0"/>
          </a:p>
          <a:p>
            <a:pPr marL="0" indent="0">
              <a:buNone/>
            </a:pPr>
            <a:r>
              <a:rPr lang="en-US" sz="900" dirty="0">
                <a:solidFill>
                  <a:srgbClr val="6F8A7F"/>
                </a:solidFill>
                <a:latin typeface="Courier New" pitchFamily="34" charset="0"/>
                <a:ea typeface="Courier New" pitchFamily="34" charset="-122"/>
                <a:cs typeface="Courier New" pitchFamily="34" charset="-120"/>
              </a:rPr>
              <a:t> 17  </a:t>
            </a:r>
            <a:r>
              <a:rPr lang="en-US" sz="900" dirty="0">
                <a:solidFill>
                  <a:srgbClr val="E6F2EC"/>
                </a:solidFill>
                <a:latin typeface="Courier New" pitchFamily="34" charset="0"/>
                <a:ea typeface="Courier New" pitchFamily="34" charset="-122"/>
                <a:cs typeface="Courier New" pitchFamily="34" charset="-120"/>
              </a:rPr>
              <a:t>        buzzer.value(0)    # quiet</a:t>
            </a:r>
            <a:endParaRPr lang="en-US" sz="900" dirty="0"/>
          </a:p>
          <a:p>
            <a:pPr marL="0" indent="0">
              <a:buNone/>
            </a:pPr>
            <a:r>
              <a:rPr lang="en-US" sz="900" dirty="0">
                <a:solidFill>
                  <a:srgbClr val="6F8A7F"/>
                </a:solidFill>
                <a:latin typeface="Courier New" pitchFamily="34" charset="0"/>
                <a:ea typeface="Courier New" pitchFamily="34" charset="-122"/>
                <a:cs typeface="Courier New" pitchFamily="34" charset="-120"/>
              </a:rPr>
              <a:t> 18  </a:t>
            </a:r>
            <a:r>
              <a:rPr lang="en-US" sz="900" dirty="0">
                <a:solidFill>
                  <a:srgbClr val="E6F2EC"/>
                </a:solidFill>
                <a:latin typeface="Courier New" pitchFamily="34" charset="0"/>
                <a:ea typeface="Courier New" pitchFamily="34" charset="-122"/>
                <a:cs typeface="Courier New" pitchFamily="34" charset="-120"/>
              </a:rPr>
              <a:t>        time.sleep(0.5)    # wait 0.5 s</a:t>
            </a:r>
            <a:endParaRPr lang="en-US" sz="900" dirty="0"/>
          </a:p>
        </p:txBody>
      </p:sp>
      <p:sp>
        <p:nvSpPr>
          <p:cNvPr id="11" name="Text 9"/>
          <p:cNvSpPr txBox="1"/>
          <p:nvPr/>
        </p:nvSpPr>
        <p:spPr>
          <a:xfrm>
            <a:off x="457200" y="3355848"/>
            <a:ext cx="3931920" cy="228600"/>
          </a:xfrm>
          <a:prstGeom prst="rect">
            <a:avLst/>
          </a:prstGeom>
          <a:noFill/>
          <a:ln/>
        </p:spPr>
        <p:txBody>
          <a:bodyPr wrap="square" lIns="0" tIns="0" rIns="0" bIns="0" rtlCol="0" anchor="ctr"/>
          <a:lstStyle/>
          <a:p>
            <a:pPr marL="0" indent="0">
              <a:buNone/>
            </a:pPr>
            <a:r>
              <a:rPr lang="en-US" sz="1200" dirty="0">
                <a:solidFill>
                  <a:srgbClr val="6B7280"/>
                </a:solidFill>
              </a:rPr>
              <a:t>Ctrl+C to stop   ·   Try it: line 18, change 0.5 to 0.1</a:t>
            </a:r>
            <a:endParaRPr lang="en-US" sz="1200" dirty="0"/>
          </a:p>
        </p:txBody>
      </p:sp>
      <p:sp>
        <p:nvSpPr>
          <p:cNvPr id="12" name="Shape 10"/>
          <p:cNvSpPr/>
          <p:nvPr/>
        </p:nvSpPr>
        <p:spPr>
          <a:xfrm>
            <a:off x="457200" y="3749040"/>
            <a:ext cx="3931920" cy="502920"/>
          </a:xfrm>
          <a:prstGeom prst="roundRect">
            <a:avLst>
              <a:gd name="adj" fmla="val 14545"/>
            </a:avLst>
          </a:prstGeom>
          <a:solidFill>
            <a:srgbClr val="DDF3E9"/>
          </a:solidFill>
          <a:ln w="15875">
            <a:solidFill>
              <a:srgbClr val="1F8A70"/>
            </a:solidFill>
            <a:prstDash val="solid"/>
          </a:ln>
        </p:spPr>
        <p:txBody>
          <a:bodyPr/>
          <a:lstStyle/>
          <a:p>
            <a:endParaRPr lang="en-US"/>
          </a:p>
        </p:txBody>
      </p:sp>
      <p:sp>
        <p:nvSpPr>
          <p:cNvPr id="13" name="Text 11"/>
          <p:cNvSpPr txBox="1"/>
          <p:nvPr/>
        </p:nvSpPr>
        <p:spPr>
          <a:xfrm>
            <a:off x="594360" y="3749040"/>
            <a:ext cx="3657600" cy="502920"/>
          </a:xfrm>
          <a:prstGeom prst="rect">
            <a:avLst/>
          </a:prstGeom>
          <a:noFill/>
          <a:ln/>
        </p:spPr>
        <p:txBody>
          <a:bodyPr wrap="square" lIns="0" tIns="0" rIns="0" bIns="0" rtlCol="0" anchor="ctr"/>
          <a:lstStyle/>
          <a:p>
            <a:pPr marL="0" indent="0">
              <a:buNone/>
            </a:pPr>
            <a:r>
              <a:rPr lang="en-US" sz="1200" b="1" dirty="0">
                <a:solidFill>
                  <a:srgbClr val="1F8A70"/>
                </a:solidFill>
              </a:rPr>
              <a:t>CHECKPOINT  </a:t>
            </a:r>
            <a:r>
              <a:rPr lang="en-US" sz="1400" dirty="0">
                <a:solidFill>
                  <a:srgbClr val="1B1B1B"/>
                </a:solidFill>
              </a:rPr>
              <a:t>Short beeps, about twice a second.</a:t>
            </a:r>
            <a:endParaRPr lang="en-US" sz="1400" dirty="0"/>
          </a:p>
        </p:txBody>
      </p:sp>
      <p:sp>
        <p:nvSpPr>
          <p:cNvPr id="14" name="Text 12"/>
          <p:cNvSpPr txBox="1"/>
          <p:nvPr/>
        </p:nvSpPr>
        <p:spPr>
          <a:xfrm>
            <a:off x="4572000" y="1051560"/>
            <a:ext cx="4114800" cy="320040"/>
          </a:xfrm>
          <a:prstGeom prst="rect">
            <a:avLst/>
          </a:prstGeom>
          <a:noFill/>
          <a:ln/>
        </p:spPr>
        <p:txBody>
          <a:bodyPr wrap="square" lIns="0" tIns="0" rIns="0" bIns="0" rtlCol="0" anchor="ctr"/>
          <a:lstStyle/>
          <a:p>
            <a:pPr marL="0" indent="0">
              <a:buNone/>
            </a:pPr>
            <a:r>
              <a:rPr lang="en-US" sz="1600" b="1" dirty="0">
                <a:solidFill>
                  <a:srgbClr val="0B3D2E"/>
                </a:solidFill>
              </a:rPr>
              <a:t>What the pin does</a:t>
            </a:r>
            <a:endParaRPr lang="en-US" sz="1600" dirty="0"/>
          </a:p>
        </p:txBody>
      </p:sp>
      <p:sp>
        <p:nvSpPr>
          <p:cNvPr id="15" name="Shape 13"/>
          <p:cNvSpPr/>
          <p:nvPr/>
        </p:nvSpPr>
        <p:spPr>
          <a:xfrm>
            <a:off x="4663440" y="2651760"/>
            <a:ext cx="182880" cy="0"/>
          </a:xfrm>
          <a:prstGeom prst="line">
            <a:avLst/>
          </a:prstGeom>
          <a:noFill/>
          <a:ln w="38100">
            <a:solidFill>
              <a:srgbClr val="F28C28"/>
            </a:solidFill>
            <a:prstDash val="solid"/>
          </a:ln>
        </p:spPr>
        <p:txBody>
          <a:bodyPr/>
          <a:lstStyle/>
          <a:p>
            <a:endParaRPr lang="en-US"/>
          </a:p>
        </p:txBody>
      </p:sp>
      <p:sp>
        <p:nvSpPr>
          <p:cNvPr id="16" name="Shape 14"/>
          <p:cNvSpPr/>
          <p:nvPr/>
        </p:nvSpPr>
        <p:spPr>
          <a:xfrm>
            <a:off x="4846320" y="1783080"/>
            <a:ext cx="0" cy="868680"/>
          </a:xfrm>
          <a:prstGeom prst="line">
            <a:avLst/>
          </a:prstGeom>
          <a:noFill/>
          <a:ln w="38100">
            <a:solidFill>
              <a:srgbClr val="F28C28"/>
            </a:solidFill>
            <a:prstDash val="solid"/>
          </a:ln>
        </p:spPr>
        <p:txBody>
          <a:bodyPr/>
          <a:lstStyle/>
          <a:p>
            <a:endParaRPr lang="en-US"/>
          </a:p>
        </p:txBody>
      </p:sp>
      <p:sp>
        <p:nvSpPr>
          <p:cNvPr id="17" name="Shape 15"/>
          <p:cNvSpPr/>
          <p:nvPr/>
        </p:nvSpPr>
        <p:spPr>
          <a:xfrm>
            <a:off x="4846320" y="1783080"/>
            <a:ext cx="109728" cy="0"/>
          </a:xfrm>
          <a:prstGeom prst="line">
            <a:avLst/>
          </a:prstGeom>
          <a:noFill/>
          <a:ln w="38100">
            <a:solidFill>
              <a:srgbClr val="F28C28"/>
            </a:solidFill>
            <a:prstDash val="solid"/>
          </a:ln>
        </p:spPr>
        <p:txBody>
          <a:bodyPr/>
          <a:lstStyle/>
          <a:p>
            <a:endParaRPr lang="en-US"/>
          </a:p>
        </p:txBody>
      </p:sp>
      <p:sp>
        <p:nvSpPr>
          <p:cNvPr id="18" name="Shape 16"/>
          <p:cNvSpPr/>
          <p:nvPr/>
        </p:nvSpPr>
        <p:spPr>
          <a:xfrm>
            <a:off x="4956048" y="1783080"/>
            <a:ext cx="0" cy="868680"/>
          </a:xfrm>
          <a:prstGeom prst="line">
            <a:avLst/>
          </a:prstGeom>
          <a:noFill/>
          <a:ln w="38100">
            <a:solidFill>
              <a:srgbClr val="F28C28"/>
            </a:solidFill>
            <a:prstDash val="solid"/>
          </a:ln>
        </p:spPr>
        <p:txBody>
          <a:bodyPr/>
          <a:lstStyle/>
          <a:p>
            <a:endParaRPr lang="en-US"/>
          </a:p>
        </p:txBody>
      </p:sp>
      <p:sp>
        <p:nvSpPr>
          <p:cNvPr id="19" name="Shape 17"/>
          <p:cNvSpPr/>
          <p:nvPr/>
        </p:nvSpPr>
        <p:spPr>
          <a:xfrm>
            <a:off x="4956048" y="2651760"/>
            <a:ext cx="1078992" cy="0"/>
          </a:xfrm>
          <a:prstGeom prst="line">
            <a:avLst/>
          </a:prstGeom>
          <a:noFill/>
          <a:ln w="38100">
            <a:solidFill>
              <a:srgbClr val="F28C28"/>
            </a:solidFill>
            <a:prstDash val="solid"/>
          </a:ln>
        </p:spPr>
        <p:txBody>
          <a:bodyPr/>
          <a:lstStyle/>
          <a:p>
            <a:endParaRPr lang="en-US"/>
          </a:p>
        </p:txBody>
      </p:sp>
      <p:sp>
        <p:nvSpPr>
          <p:cNvPr id="20" name="Shape 18"/>
          <p:cNvSpPr/>
          <p:nvPr/>
        </p:nvSpPr>
        <p:spPr>
          <a:xfrm>
            <a:off x="6035040" y="1783080"/>
            <a:ext cx="0" cy="868680"/>
          </a:xfrm>
          <a:prstGeom prst="line">
            <a:avLst/>
          </a:prstGeom>
          <a:noFill/>
          <a:ln w="38100">
            <a:solidFill>
              <a:srgbClr val="F28C28"/>
            </a:solidFill>
            <a:prstDash val="solid"/>
          </a:ln>
        </p:spPr>
        <p:txBody>
          <a:bodyPr/>
          <a:lstStyle/>
          <a:p>
            <a:endParaRPr lang="en-US"/>
          </a:p>
        </p:txBody>
      </p:sp>
      <p:sp>
        <p:nvSpPr>
          <p:cNvPr id="21" name="Shape 19"/>
          <p:cNvSpPr/>
          <p:nvPr/>
        </p:nvSpPr>
        <p:spPr>
          <a:xfrm>
            <a:off x="6035040" y="1783080"/>
            <a:ext cx="109728" cy="0"/>
          </a:xfrm>
          <a:prstGeom prst="line">
            <a:avLst/>
          </a:prstGeom>
          <a:noFill/>
          <a:ln w="38100">
            <a:solidFill>
              <a:srgbClr val="F28C28"/>
            </a:solidFill>
            <a:prstDash val="solid"/>
          </a:ln>
        </p:spPr>
        <p:txBody>
          <a:bodyPr/>
          <a:lstStyle/>
          <a:p>
            <a:endParaRPr lang="en-US"/>
          </a:p>
        </p:txBody>
      </p:sp>
      <p:sp>
        <p:nvSpPr>
          <p:cNvPr id="22" name="Shape 20"/>
          <p:cNvSpPr/>
          <p:nvPr/>
        </p:nvSpPr>
        <p:spPr>
          <a:xfrm>
            <a:off x="6144768" y="1783080"/>
            <a:ext cx="0" cy="868680"/>
          </a:xfrm>
          <a:prstGeom prst="line">
            <a:avLst/>
          </a:prstGeom>
          <a:noFill/>
          <a:ln w="38100">
            <a:solidFill>
              <a:srgbClr val="F28C28"/>
            </a:solidFill>
            <a:prstDash val="solid"/>
          </a:ln>
        </p:spPr>
        <p:txBody>
          <a:bodyPr/>
          <a:lstStyle/>
          <a:p>
            <a:endParaRPr lang="en-US"/>
          </a:p>
        </p:txBody>
      </p:sp>
      <p:sp>
        <p:nvSpPr>
          <p:cNvPr id="23" name="Shape 21"/>
          <p:cNvSpPr/>
          <p:nvPr/>
        </p:nvSpPr>
        <p:spPr>
          <a:xfrm>
            <a:off x="6144768" y="2651760"/>
            <a:ext cx="1078992" cy="0"/>
          </a:xfrm>
          <a:prstGeom prst="line">
            <a:avLst/>
          </a:prstGeom>
          <a:noFill/>
          <a:ln w="38100">
            <a:solidFill>
              <a:srgbClr val="F28C28"/>
            </a:solidFill>
            <a:prstDash val="solid"/>
          </a:ln>
        </p:spPr>
        <p:txBody>
          <a:bodyPr/>
          <a:lstStyle/>
          <a:p>
            <a:endParaRPr lang="en-US"/>
          </a:p>
        </p:txBody>
      </p:sp>
      <p:sp>
        <p:nvSpPr>
          <p:cNvPr id="24" name="Shape 22"/>
          <p:cNvSpPr/>
          <p:nvPr/>
        </p:nvSpPr>
        <p:spPr>
          <a:xfrm>
            <a:off x="7223760" y="1783080"/>
            <a:ext cx="0" cy="868680"/>
          </a:xfrm>
          <a:prstGeom prst="line">
            <a:avLst/>
          </a:prstGeom>
          <a:noFill/>
          <a:ln w="38100">
            <a:solidFill>
              <a:srgbClr val="F28C28"/>
            </a:solidFill>
            <a:prstDash val="solid"/>
          </a:ln>
        </p:spPr>
        <p:txBody>
          <a:bodyPr/>
          <a:lstStyle/>
          <a:p>
            <a:endParaRPr lang="en-US"/>
          </a:p>
        </p:txBody>
      </p:sp>
      <p:sp>
        <p:nvSpPr>
          <p:cNvPr id="25" name="Shape 23"/>
          <p:cNvSpPr/>
          <p:nvPr/>
        </p:nvSpPr>
        <p:spPr>
          <a:xfrm>
            <a:off x="7223760" y="1783080"/>
            <a:ext cx="109728" cy="0"/>
          </a:xfrm>
          <a:prstGeom prst="line">
            <a:avLst/>
          </a:prstGeom>
          <a:noFill/>
          <a:ln w="38100">
            <a:solidFill>
              <a:srgbClr val="F28C28"/>
            </a:solidFill>
            <a:prstDash val="solid"/>
          </a:ln>
        </p:spPr>
        <p:txBody>
          <a:bodyPr/>
          <a:lstStyle/>
          <a:p>
            <a:endParaRPr lang="en-US"/>
          </a:p>
        </p:txBody>
      </p:sp>
      <p:sp>
        <p:nvSpPr>
          <p:cNvPr id="26" name="Shape 24"/>
          <p:cNvSpPr/>
          <p:nvPr/>
        </p:nvSpPr>
        <p:spPr>
          <a:xfrm>
            <a:off x="7333488" y="1783080"/>
            <a:ext cx="0" cy="868680"/>
          </a:xfrm>
          <a:prstGeom prst="line">
            <a:avLst/>
          </a:prstGeom>
          <a:noFill/>
          <a:ln w="38100">
            <a:solidFill>
              <a:srgbClr val="F28C28"/>
            </a:solidFill>
            <a:prstDash val="solid"/>
          </a:ln>
        </p:spPr>
        <p:txBody>
          <a:bodyPr/>
          <a:lstStyle/>
          <a:p>
            <a:endParaRPr lang="en-US"/>
          </a:p>
        </p:txBody>
      </p:sp>
      <p:sp>
        <p:nvSpPr>
          <p:cNvPr id="27" name="Shape 25"/>
          <p:cNvSpPr/>
          <p:nvPr/>
        </p:nvSpPr>
        <p:spPr>
          <a:xfrm>
            <a:off x="7333488" y="2651760"/>
            <a:ext cx="1261872" cy="0"/>
          </a:xfrm>
          <a:prstGeom prst="line">
            <a:avLst/>
          </a:prstGeom>
          <a:noFill/>
          <a:ln w="38100">
            <a:solidFill>
              <a:srgbClr val="F28C28"/>
            </a:solidFill>
            <a:prstDash val="solid"/>
          </a:ln>
        </p:spPr>
        <p:txBody>
          <a:bodyPr/>
          <a:lstStyle/>
          <a:p>
            <a:endParaRPr lang="en-US"/>
          </a:p>
        </p:txBody>
      </p:sp>
      <p:sp>
        <p:nvSpPr>
          <p:cNvPr id="28" name="Text 26"/>
          <p:cNvSpPr txBox="1"/>
          <p:nvPr/>
        </p:nvSpPr>
        <p:spPr>
          <a:xfrm>
            <a:off x="4526280" y="1481328"/>
            <a:ext cx="914400" cy="228600"/>
          </a:xfrm>
          <a:prstGeom prst="rect">
            <a:avLst/>
          </a:prstGeom>
          <a:noFill/>
          <a:ln/>
        </p:spPr>
        <p:txBody>
          <a:bodyPr wrap="square" lIns="0" tIns="0" rIns="0" bIns="0" rtlCol="0" anchor="ctr"/>
          <a:lstStyle/>
          <a:p>
            <a:pPr marL="0" indent="0" algn="ctr">
              <a:buNone/>
            </a:pPr>
            <a:r>
              <a:rPr lang="en-US" sz="1100" dirty="0">
                <a:solidFill>
                  <a:srgbClr val="6B7280"/>
                </a:solidFill>
              </a:rPr>
              <a:t>beep 0.05 s</a:t>
            </a:r>
            <a:endParaRPr lang="en-US" sz="1100" dirty="0"/>
          </a:p>
        </p:txBody>
      </p:sp>
      <p:sp>
        <p:nvSpPr>
          <p:cNvPr id="29" name="Shape 27"/>
          <p:cNvSpPr/>
          <p:nvPr/>
        </p:nvSpPr>
        <p:spPr>
          <a:xfrm>
            <a:off x="4983480" y="2834640"/>
            <a:ext cx="1051560" cy="0"/>
          </a:xfrm>
          <a:prstGeom prst="line">
            <a:avLst/>
          </a:prstGeom>
          <a:noFill/>
          <a:ln w="12700">
            <a:solidFill>
              <a:srgbClr val="1B1B1B"/>
            </a:solidFill>
            <a:prstDash val="solid"/>
            <a:headEnd type="arrow"/>
            <a:tailEnd type="arrow"/>
          </a:ln>
        </p:spPr>
        <p:txBody>
          <a:bodyPr/>
          <a:lstStyle/>
          <a:p>
            <a:endParaRPr lang="en-US"/>
          </a:p>
        </p:txBody>
      </p:sp>
      <p:sp>
        <p:nvSpPr>
          <p:cNvPr id="30" name="Text 28"/>
          <p:cNvSpPr txBox="1"/>
          <p:nvPr/>
        </p:nvSpPr>
        <p:spPr>
          <a:xfrm>
            <a:off x="4983480" y="2898648"/>
            <a:ext cx="1051560" cy="228600"/>
          </a:xfrm>
          <a:prstGeom prst="rect">
            <a:avLst/>
          </a:prstGeom>
          <a:noFill/>
          <a:ln/>
        </p:spPr>
        <p:txBody>
          <a:bodyPr wrap="square" lIns="0" tIns="0" rIns="0" bIns="0" rtlCol="0" anchor="ctr"/>
          <a:lstStyle/>
          <a:p>
            <a:pPr marL="0" indent="0" algn="ctr">
              <a:buNone/>
            </a:pPr>
            <a:r>
              <a:rPr lang="en-US" sz="1100" dirty="0">
                <a:solidFill>
                  <a:srgbClr val="1B1B1B"/>
                </a:solidFill>
              </a:rPr>
              <a:t>gap 0.5 s</a:t>
            </a:r>
            <a:endParaRPr lang="en-US" sz="1100" dirty="0"/>
          </a:p>
        </p:txBody>
      </p:sp>
      <p:sp>
        <p:nvSpPr>
          <p:cNvPr id="31" name="Text 29"/>
          <p:cNvSpPr txBox="1"/>
          <p:nvPr/>
        </p:nvSpPr>
        <p:spPr>
          <a:xfrm>
            <a:off x="4572000" y="3429000"/>
            <a:ext cx="4114800" cy="548640"/>
          </a:xfrm>
          <a:prstGeom prst="rect">
            <a:avLst/>
          </a:prstGeom>
          <a:noFill/>
          <a:ln/>
        </p:spPr>
        <p:txBody>
          <a:bodyPr wrap="square" lIns="0" tIns="0" rIns="0" bIns="0" rtlCol="0" anchor="ctr"/>
          <a:lstStyle/>
          <a:p>
            <a:pPr marL="0" indent="0">
              <a:buNone/>
            </a:pPr>
            <a:r>
              <a:rPr lang="en-US" sz="1500" i="1" dirty="0">
                <a:solidFill>
                  <a:srgbClr val="0B3D2E"/>
                </a:solidFill>
              </a:rPr>
              <a:t>Line 16 sets the beep. Line 18 sets the gap.</a:t>
            </a:r>
            <a:endParaRPr lang="en-US" sz="1500" dirty="0"/>
          </a:p>
        </p:txBody>
      </p:sp>
      <p:sp>
        <p:nvSpPr>
          <p:cNvPr id="32"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949440" cy="640080"/>
          </a:xfrm>
          <a:prstGeom prst="rect">
            <a:avLst/>
          </a:prstGeom>
          <a:noFill/>
          <a:ln/>
        </p:spPr>
        <p:txBody>
          <a:bodyPr wrap="square" lIns="0" tIns="0" rIns="0" bIns="0" rtlCol="0" anchor="ctr"/>
          <a:lstStyle/>
          <a:p>
            <a:pPr marL="0" indent="0" algn="l">
              <a:buNone/>
            </a:pPr>
            <a:r>
              <a:rPr lang="en-US" sz="3000" b="1" dirty="0">
                <a:solidFill>
                  <a:schemeClr val="tx2"/>
                </a:solidFill>
              </a:rPr>
              <a:t>Read the code: Step 2</a:t>
            </a:r>
            <a:endParaRPr lang="en-US" sz="3000" dirty="0"/>
          </a:p>
        </p:txBody>
      </p:sp>
      <p:sp>
        <p:nvSpPr>
          <p:cNvPr id="3" name="Shape 1"/>
          <p:cNvSpPr/>
          <p:nvPr/>
        </p:nvSpPr>
        <p:spPr>
          <a:xfrm>
            <a:off x="7818120" y="164592"/>
            <a:ext cx="868680" cy="868680"/>
          </a:xfrm>
          <a:prstGeom prst="ellipse">
            <a:avLst/>
          </a:prstGeom>
          <a:solidFill>
            <a:srgbClr val="F2A900">
              <a:alpha val="30000"/>
            </a:srgbClr>
          </a:solidFill>
          <a:ln w="12700">
            <a:solidFill>
              <a:srgbClr val="F2A900">
                <a:alpha val="0"/>
              </a:srgbClr>
            </a:solidFill>
            <a:prstDash val="solid"/>
          </a:ln>
        </p:spPr>
        <p:txBody>
          <a:bodyPr/>
          <a:lstStyle/>
          <a:p>
            <a:endParaRPr lang="en-US"/>
          </a:p>
        </p:txBody>
      </p:sp>
      <p:sp>
        <p:nvSpPr>
          <p:cNvPr id="4" name="Shape 2"/>
          <p:cNvSpPr/>
          <p:nvPr/>
        </p:nvSpPr>
        <p:spPr>
          <a:xfrm>
            <a:off x="7955280" y="301752"/>
            <a:ext cx="594360" cy="594360"/>
          </a:xfrm>
          <a:prstGeom prst="ellipse">
            <a:avLst/>
          </a:prstGeom>
          <a:solidFill>
            <a:srgbClr val="F2A900"/>
          </a:solidFill>
          <a:ln w="12700">
            <a:solidFill>
              <a:srgbClr val="C98C00"/>
            </a:solidFill>
            <a:prstDash val="solid"/>
          </a:ln>
        </p:spPr>
        <p:txBody>
          <a:bodyPr/>
          <a:lstStyle/>
          <a:p>
            <a:endParaRPr lang="en-US"/>
          </a:p>
        </p:txBody>
      </p:sp>
      <p:sp>
        <p:nvSpPr>
          <p:cNvPr id="5" name="Text 3"/>
          <p:cNvSpPr txBox="1"/>
          <p:nvPr/>
        </p:nvSpPr>
        <p:spPr>
          <a:xfrm>
            <a:off x="7955280" y="301752"/>
            <a:ext cx="594360" cy="594360"/>
          </a:xfrm>
          <a:prstGeom prst="rect">
            <a:avLst/>
          </a:prstGeom>
          <a:noFill/>
          <a:ln/>
        </p:spPr>
        <p:txBody>
          <a:bodyPr wrap="square" lIns="0" tIns="0" rIns="0" bIns="0" rtlCol="0" anchor="ctr"/>
          <a:lstStyle/>
          <a:p>
            <a:pPr marL="0" indent="0" algn="ctr">
              <a:buNone/>
            </a:pPr>
            <a:r>
              <a:rPr lang="en-US" sz="2000" b="1" dirty="0">
                <a:solidFill>
                  <a:srgbClr val="0B3D2E"/>
                </a:solidFill>
              </a:rPr>
              <a:t>2</a:t>
            </a:r>
            <a:endParaRPr lang="en-US" sz="2000" dirty="0"/>
          </a:p>
        </p:txBody>
      </p:sp>
      <p:sp>
        <p:nvSpPr>
          <p:cNvPr id="6" name="Shape 4"/>
          <p:cNvSpPr/>
          <p:nvPr/>
        </p:nvSpPr>
        <p:spPr>
          <a:xfrm>
            <a:off x="457200" y="1051560"/>
            <a:ext cx="4023360" cy="2743200"/>
          </a:xfrm>
          <a:prstGeom prst="roundRect">
            <a:avLst>
              <a:gd name="adj" fmla="val 2667"/>
            </a:avLst>
          </a:prstGeom>
          <a:solidFill>
            <a:srgbClr val="14261F"/>
          </a:solidFill>
          <a:ln w="12700">
            <a:solidFill>
              <a:srgbClr val="14261F"/>
            </a:solidFill>
            <a:prstDash val="solid"/>
          </a:ln>
        </p:spPr>
        <p:txBody>
          <a:bodyPr/>
          <a:lstStyle/>
          <a:p>
            <a:endParaRPr lang="en-US"/>
          </a:p>
        </p:txBody>
      </p:sp>
      <p:sp>
        <p:nvSpPr>
          <p:cNvPr id="7" name="Text 5"/>
          <p:cNvSpPr txBox="1"/>
          <p:nvPr/>
        </p:nvSpPr>
        <p:spPr>
          <a:xfrm>
            <a:off x="594360" y="1115568"/>
            <a:ext cx="3749040" cy="219456"/>
          </a:xfrm>
          <a:prstGeom prst="rect">
            <a:avLst/>
          </a:prstGeom>
          <a:noFill/>
          <a:ln/>
        </p:spPr>
        <p:txBody>
          <a:bodyPr wrap="square" lIns="0" tIns="0" rIns="0" bIns="0" rtlCol="0" anchor="ctr"/>
          <a:lstStyle/>
          <a:p>
            <a:pPr marL="0" indent="0">
              <a:buNone/>
            </a:pPr>
            <a:r>
              <a:rPr lang="en-US" sz="1100" b="1" dirty="0">
                <a:solidFill>
                  <a:srgbClr val="F2A900"/>
                </a:solidFill>
              </a:rPr>
              <a:t>step2_buzzer_beep.py</a:t>
            </a:r>
            <a:r>
              <a:rPr lang="en-US" sz="1100" dirty="0">
                <a:solidFill>
                  <a:srgbClr val="9FB8AD"/>
                </a:solidFill>
              </a:rPr>
              <a:t>  ·  lines 13–22</a:t>
            </a:r>
            <a:endParaRPr lang="en-US" sz="1100" dirty="0"/>
          </a:p>
        </p:txBody>
      </p:sp>
      <p:sp>
        <p:nvSpPr>
          <p:cNvPr id="8" name="Shape 6"/>
          <p:cNvSpPr/>
          <p:nvPr/>
        </p:nvSpPr>
        <p:spPr>
          <a:xfrm>
            <a:off x="566928" y="1371600"/>
            <a:ext cx="3803904" cy="0"/>
          </a:xfrm>
          <a:prstGeom prst="line">
            <a:avLst/>
          </a:prstGeom>
          <a:noFill/>
          <a:ln w="12700">
            <a:solidFill>
              <a:srgbClr val="2F4A3F"/>
            </a:solidFill>
            <a:prstDash val="solid"/>
          </a:ln>
        </p:spPr>
        <p:txBody>
          <a:bodyPr/>
          <a:lstStyle/>
          <a:p>
            <a:endParaRPr lang="en-US"/>
          </a:p>
        </p:txBody>
      </p:sp>
      <p:sp>
        <p:nvSpPr>
          <p:cNvPr id="9" name="Text 7"/>
          <p:cNvSpPr txBox="1"/>
          <p:nvPr/>
        </p:nvSpPr>
        <p:spPr>
          <a:xfrm>
            <a:off x="548640" y="1435608"/>
            <a:ext cx="3840480" cy="2286000"/>
          </a:xfrm>
          <a:prstGeom prst="rect">
            <a:avLst/>
          </a:prstGeom>
          <a:noFill/>
          <a:ln/>
        </p:spPr>
        <p:txBody>
          <a:bodyPr wrap="square" lIns="0" tIns="0" rIns="0" bIns="0" rtlCol="0" anchor="t"/>
          <a:lstStyle/>
          <a:p>
            <a:pPr marL="0" indent="0">
              <a:buNone/>
            </a:pPr>
            <a:r>
              <a:rPr lang="en-US" sz="1200" dirty="0">
                <a:solidFill>
                  <a:srgbClr val="6F8A7F"/>
                </a:solidFill>
                <a:latin typeface="Courier New" pitchFamily="34" charset="0"/>
                <a:ea typeface="Courier New" pitchFamily="34" charset="-122"/>
                <a:cs typeface="Courier New" pitchFamily="34" charset="-120"/>
              </a:rPr>
              <a:t> 13  </a:t>
            </a:r>
            <a:r>
              <a:rPr lang="en-US" sz="1200" dirty="0">
                <a:solidFill>
                  <a:srgbClr val="E6F2EC"/>
                </a:solidFill>
                <a:latin typeface="Courier New" pitchFamily="34" charset="0"/>
                <a:ea typeface="Courier New" pitchFamily="34" charset="-122"/>
                <a:cs typeface="Courier New" pitchFamily="34" charset="-120"/>
              </a:rPr>
              <a:t>try:</a:t>
            </a:r>
            <a:endParaRPr lang="en-US" sz="1200" dirty="0"/>
          </a:p>
          <a:p>
            <a:pPr marL="0" indent="0">
              <a:buNone/>
            </a:pPr>
            <a:r>
              <a:rPr lang="en-US" sz="1200" dirty="0">
                <a:solidFill>
                  <a:srgbClr val="6F8A7F"/>
                </a:solidFill>
                <a:latin typeface="Courier New" pitchFamily="34" charset="0"/>
                <a:ea typeface="Courier New" pitchFamily="34" charset="-122"/>
                <a:cs typeface="Courier New" pitchFamily="34" charset="-120"/>
              </a:rPr>
              <a:t> 14  </a:t>
            </a:r>
            <a:r>
              <a:rPr lang="en-US" sz="1200" dirty="0">
                <a:solidFill>
                  <a:srgbClr val="E6F2EC"/>
                </a:solidFill>
                <a:latin typeface="Courier New" pitchFamily="34" charset="0"/>
                <a:ea typeface="Courier New" pitchFamily="34" charset="-122"/>
                <a:cs typeface="Courier New" pitchFamily="34" charset="-120"/>
              </a:rPr>
              <a:t>    while True:</a:t>
            </a:r>
            <a:endParaRPr lang="en-US" sz="1200" dirty="0"/>
          </a:p>
          <a:p>
            <a:pPr marL="0" indent="0">
              <a:buNone/>
            </a:pPr>
            <a:r>
              <a:rPr lang="en-US" sz="1200" dirty="0">
                <a:solidFill>
                  <a:srgbClr val="6F8A7F"/>
                </a:solidFill>
                <a:latin typeface="Courier New" pitchFamily="34" charset="0"/>
                <a:ea typeface="Courier New" pitchFamily="34" charset="-122"/>
                <a:cs typeface="Courier New" pitchFamily="34" charset="-120"/>
              </a:rPr>
              <a:t> 15  </a:t>
            </a:r>
            <a:r>
              <a:rPr lang="en-US" sz="1200" dirty="0">
                <a:solidFill>
                  <a:srgbClr val="E6F2EC"/>
                </a:solidFill>
                <a:latin typeface="Courier New" pitchFamily="34" charset="0"/>
                <a:ea typeface="Courier New" pitchFamily="34" charset="-122"/>
                <a:cs typeface="Courier New" pitchFamily="34" charset="-120"/>
              </a:rPr>
              <a:t>        buzzer.value(1)</a:t>
            </a:r>
            <a:endParaRPr lang="en-US" sz="1200" dirty="0"/>
          </a:p>
          <a:p>
            <a:pPr marL="0" indent="0">
              <a:buNone/>
            </a:pPr>
            <a:r>
              <a:rPr lang="en-US" sz="1200" dirty="0">
                <a:solidFill>
                  <a:srgbClr val="6F8A7F"/>
                </a:solidFill>
                <a:latin typeface="Courier New" pitchFamily="34" charset="0"/>
                <a:ea typeface="Courier New" pitchFamily="34" charset="-122"/>
                <a:cs typeface="Courier New" pitchFamily="34" charset="-120"/>
              </a:rPr>
              <a:t> 16  </a:t>
            </a:r>
            <a:r>
              <a:rPr lang="en-US" sz="1200" dirty="0">
                <a:solidFill>
                  <a:srgbClr val="E6F2EC"/>
                </a:solidFill>
                <a:latin typeface="Courier New" pitchFamily="34" charset="0"/>
                <a:ea typeface="Courier New" pitchFamily="34" charset="-122"/>
                <a:cs typeface="Courier New" pitchFamily="34" charset="-120"/>
              </a:rPr>
              <a:t>        time.sleep(0.05)</a:t>
            </a:r>
            <a:endParaRPr lang="en-US" sz="1200" dirty="0"/>
          </a:p>
          <a:p>
            <a:pPr marL="0" indent="0">
              <a:buNone/>
            </a:pPr>
            <a:r>
              <a:rPr lang="en-US" sz="1200" dirty="0">
                <a:solidFill>
                  <a:srgbClr val="6F8A7F"/>
                </a:solidFill>
                <a:latin typeface="Courier New" pitchFamily="34" charset="0"/>
                <a:ea typeface="Courier New" pitchFamily="34" charset="-122"/>
                <a:cs typeface="Courier New" pitchFamily="34" charset="-120"/>
              </a:rPr>
              <a:t> 17  </a:t>
            </a:r>
            <a:r>
              <a:rPr lang="en-US" sz="1200" dirty="0">
                <a:solidFill>
                  <a:srgbClr val="E6F2EC"/>
                </a:solidFill>
                <a:latin typeface="Courier New" pitchFamily="34" charset="0"/>
                <a:ea typeface="Courier New" pitchFamily="34" charset="-122"/>
                <a:cs typeface="Courier New" pitchFamily="34" charset="-120"/>
              </a:rPr>
              <a:t>        buzzer.value(0)</a:t>
            </a:r>
            <a:endParaRPr lang="en-US" sz="1200" dirty="0"/>
          </a:p>
          <a:p>
            <a:pPr marL="0" indent="0">
              <a:buNone/>
            </a:pPr>
            <a:r>
              <a:rPr lang="en-US" sz="1200" dirty="0">
                <a:solidFill>
                  <a:srgbClr val="6F8A7F"/>
                </a:solidFill>
                <a:latin typeface="Courier New" pitchFamily="34" charset="0"/>
                <a:ea typeface="Courier New" pitchFamily="34" charset="-122"/>
                <a:cs typeface="Courier New" pitchFamily="34" charset="-120"/>
              </a:rPr>
              <a:t> 18  </a:t>
            </a:r>
            <a:r>
              <a:rPr lang="en-US" sz="1200" dirty="0">
                <a:solidFill>
                  <a:srgbClr val="E6F2EC"/>
                </a:solidFill>
                <a:latin typeface="Courier New" pitchFamily="34" charset="0"/>
                <a:ea typeface="Courier New" pitchFamily="34" charset="-122"/>
                <a:cs typeface="Courier New" pitchFamily="34" charset="-120"/>
              </a:rPr>
              <a:t>        time.sleep(0.5)</a:t>
            </a:r>
            <a:endParaRPr lang="en-US" sz="1200" dirty="0"/>
          </a:p>
          <a:p>
            <a:pPr marL="0" indent="0">
              <a:buNone/>
            </a:pPr>
            <a:r>
              <a:rPr lang="en-US" sz="1200" dirty="0">
                <a:solidFill>
                  <a:srgbClr val="6F8A7F"/>
                </a:solidFill>
                <a:latin typeface="Courier New" pitchFamily="34" charset="0"/>
                <a:ea typeface="Courier New" pitchFamily="34" charset="-122"/>
                <a:cs typeface="Courier New" pitchFamily="34" charset="-120"/>
              </a:rPr>
              <a:t> 19  </a:t>
            </a:r>
            <a:r>
              <a:rPr lang="en-US" sz="1200" dirty="0">
                <a:solidFill>
                  <a:srgbClr val="E6F2EC"/>
                </a:solidFill>
                <a:latin typeface="Courier New" pitchFamily="34" charset="0"/>
                <a:ea typeface="Courier New" pitchFamily="34" charset="-122"/>
                <a:cs typeface="Courier New" pitchFamily="34" charset="-120"/>
              </a:rPr>
              <a:t> </a:t>
            </a:r>
            <a:endParaRPr lang="en-US" sz="1200" dirty="0"/>
          </a:p>
          <a:p>
            <a:pPr marL="0" indent="0">
              <a:buNone/>
            </a:pPr>
            <a:r>
              <a:rPr lang="en-US" sz="1200" dirty="0">
                <a:solidFill>
                  <a:srgbClr val="6F8A7F"/>
                </a:solidFill>
                <a:latin typeface="Courier New" pitchFamily="34" charset="0"/>
                <a:ea typeface="Courier New" pitchFamily="34" charset="-122"/>
                <a:cs typeface="Courier New" pitchFamily="34" charset="-120"/>
              </a:rPr>
              <a:t> 20  </a:t>
            </a:r>
            <a:r>
              <a:rPr lang="en-US" sz="1200" dirty="0">
                <a:solidFill>
                  <a:srgbClr val="9FB8AD"/>
                </a:solidFill>
                <a:latin typeface="Courier New" pitchFamily="34" charset="0"/>
                <a:ea typeface="Courier New" pitchFamily="34" charset="-122"/>
                <a:cs typeface="Courier New" pitchFamily="34" charset="-120"/>
              </a:rPr>
              <a:t>        # Try it: change 0.5 to 0.1</a:t>
            </a:r>
            <a:endParaRPr lang="en-US" sz="1200" dirty="0"/>
          </a:p>
          <a:p>
            <a:pPr marL="0" indent="0">
              <a:buNone/>
            </a:pPr>
            <a:r>
              <a:rPr lang="en-US" sz="1200" dirty="0">
                <a:solidFill>
                  <a:srgbClr val="6F8A7F"/>
                </a:solidFill>
                <a:latin typeface="Courier New" pitchFamily="34" charset="0"/>
                <a:ea typeface="Courier New" pitchFamily="34" charset="-122"/>
                <a:cs typeface="Courier New" pitchFamily="34" charset="-120"/>
              </a:rPr>
              <a:t> 21  </a:t>
            </a:r>
            <a:r>
              <a:rPr lang="en-US" sz="1200" dirty="0">
                <a:solidFill>
                  <a:srgbClr val="E6F2EC"/>
                </a:solidFill>
                <a:latin typeface="Courier New" pitchFamily="34" charset="0"/>
                <a:ea typeface="Courier New" pitchFamily="34" charset="-122"/>
                <a:cs typeface="Courier New" pitchFamily="34" charset="-120"/>
              </a:rPr>
              <a:t>finally:</a:t>
            </a:r>
            <a:endParaRPr lang="en-US" sz="1200" dirty="0"/>
          </a:p>
          <a:p>
            <a:pPr marL="0" indent="0">
              <a:buNone/>
            </a:pPr>
            <a:r>
              <a:rPr lang="en-US" sz="1200" dirty="0">
                <a:solidFill>
                  <a:srgbClr val="6F8A7F"/>
                </a:solidFill>
                <a:latin typeface="Courier New" pitchFamily="34" charset="0"/>
                <a:ea typeface="Courier New" pitchFamily="34" charset="-122"/>
                <a:cs typeface="Courier New" pitchFamily="34" charset="-120"/>
              </a:rPr>
              <a:t> 22  </a:t>
            </a:r>
            <a:r>
              <a:rPr lang="en-US" sz="1200" dirty="0">
                <a:solidFill>
                  <a:srgbClr val="E6F2EC"/>
                </a:solidFill>
                <a:latin typeface="Courier New" pitchFamily="34" charset="0"/>
                <a:ea typeface="Courier New" pitchFamily="34" charset="-122"/>
                <a:cs typeface="Courier New" pitchFamily="34" charset="-120"/>
              </a:rPr>
              <a:t>    buzzer.value(0)</a:t>
            </a:r>
            <a:endParaRPr lang="en-US" sz="1200" dirty="0"/>
          </a:p>
        </p:txBody>
      </p:sp>
      <p:sp>
        <p:nvSpPr>
          <p:cNvPr id="10" name="Shape 8"/>
          <p:cNvSpPr/>
          <p:nvPr/>
        </p:nvSpPr>
        <p:spPr>
          <a:xfrm>
            <a:off x="4754880" y="1097280"/>
            <a:ext cx="868680" cy="292608"/>
          </a:xfrm>
          <a:prstGeom prst="roundRect">
            <a:avLst>
              <a:gd name="adj" fmla="val 18750"/>
            </a:avLst>
          </a:prstGeom>
          <a:solidFill>
            <a:srgbClr val="FFF1C2"/>
          </a:solidFill>
          <a:ln w="9525">
            <a:solidFill>
              <a:srgbClr val="E0A800"/>
            </a:solidFill>
            <a:prstDash val="solid"/>
          </a:ln>
        </p:spPr>
        <p:txBody>
          <a:bodyPr/>
          <a:lstStyle/>
          <a:p>
            <a:endParaRPr lang="en-US"/>
          </a:p>
        </p:txBody>
      </p:sp>
      <p:sp>
        <p:nvSpPr>
          <p:cNvPr id="11" name="Text 9"/>
          <p:cNvSpPr txBox="1"/>
          <p:nvPr/>
        </p:nvSpPr>
        <p:spPr>
          <a:xfrm>
            <a:off x="4754880" y="1097280"/>
            <a:ext cx="868680" cy="292608"/>
          </a:xfrm>
          <a:prstGeom prst="rect">
            <a:avLst/>
          </a:prstGeom>
          <a:noFill/>
          <a:ln/>
        </p:spPr>
        <p:txBody>
          <a:bodyPr wrap="square" lIns="0" tIns="0" rIns="0" bIns="0" rtlCol="0" anchor="ctr"/>
          <a:lstStyle/>
          <a:p>
            <a:pPr marL="0" indent="0" algn="ctr">
              <a:buNone/>
            </a:pPr>
            <a:r>
              <a:rPr lang="en-US" sz="1100" b="1" dirty="0">
                <a:solidFill>
                  <a:srgbClr val="7A5600"/>
                </a:solidFill>
              </a:rPr>
              <a:t>Line 14</a:t>
            </a:r>
            <a:endParaRPr lang="en-US" sz="1100" dirty="0"/>
          </a:p>
        </p:txBody>
      </p:sp>
      <p:sp>
        <p:nvSpPr>
          <p:cNvPr id="12" name="Text 10"/>
          <p:cNvSpPr txBox="1"/>
          <p:nvPr/>
        </p:nvSpPr>
        <p:spPr>
          <a:xfrm>
            <a:off x="5760720" y="1060704"/>
            <a:ext cx="2926080" cy="694944"/>
          </a:xfrm>
          <a:prstGeom prst="rect">
            <a:avLst/>
          </a:prstGeom>
          <a:noFill/>
          <a:ln/>
        </p:spPr>
        <p:txBody>
          <a:bodyPr wrap="square" lIns="0" tIns="0" rIns="0" bIns="0" rtlCol="0" anchor="t"/>
          <a:lstStyle/>
          <a:p>
            <a:pPr marL="0" indent="0">
              <a:buNone/>
            </a:pPr>
            <a:r>
              <a:rPr lang="en-US" sz="1400" dirty="0">
                <a:solidFill>
                  <a:srgbClr val="1B1B1B"/>
                </a:solidFill>
              </a:rPr>
              <a:t>while True: repeat the indented lines forever.</a:t>
            </a:r>
            <a:endParaRPr lang="en-US" sz="1400" dirty="0"/>
          </a:p>
        </p:txBody>
      </p:sp>
      <p:sp>
        <p:nvSpPr>
          <p:cNvPr id="13" name="Shape 11"/>
          <p:cNvSpPr/>
          <p:nvPr/>
        </p:nvSpPr>
        <p:spPr>
          <a:xfrm>
            <a:off x="4754880" y="1828800"/>
            <a:ext cx="868680" cy="292608"/>
          </a:xfrm>
          <a:prstGeom prst="roundRect">
            <a:avLst>
              <a:gd name="adj" fmla="val 18750"/>
            </a:avLst>
          </a:prstGeom>
          <a:solidFill>
            <a:srgbClr val="FFF1C2"/>
          </a:solidFill>
          <a:ln w="9525">
            <a:solidFill>
              <a:srgbClr val="E0A800"/>
            </a:solidFill>
            <a:prstDash val="solid"/>
          </a:ln>
        </p:spPr>
        <p:txBody>
          <a:bodyPr/>
          <a:lstStyle/>
          <a:p>
            <a:endParaRPr lang="en-US"/>
          </a:p>
        </p:txBody>
      </p:sp>
      <p:sp>
        <p:nvSpPr>
          <p:cNvPr id="14" name="Text 12"/>
          <p:cNvSpPr txBox="1"/>
          <p:nvPr/>
        </p:nvSpPr>
        <p:spPr>
          <a:xfrm>
            <a:off x="4754880" y="1828800"/>
            <a:ext cx="868680" cy="292608"/>
          </a:xfrm>
          <a:prstGeom prst="rect">
            <a:avLst/>
          </a:prstGeom>
          <a:noFill/>
          <a:ln/>
        </p:spPr>
        <p:txBody>
          <a:bodyPr wrap="square" lIns="0" tIns="0" rIns="0" bIns="0" rtlCol="0" anchor="ctr"/>
          <a:lstStyle/>
          <a:p>
            <a:pPr marL="0" indent="0" algn="ctr">
              <a:buNone/>
            </a:pPr>
            <a:r>
              <a:rPr lang="en-US" sz="1100" b="1" dirty="0">
                <a:solidFill>
                  <a:srgbClr val="7A5600"/>
                </a:solidFill>
              </a:rPr>
              <a:t>Line 15–16</a:t>
            </a:r>
            <a:endParaRPr lang="en-US" sz="1100" dirty="0"/>
          </a:p>
        </p:txBody>
      </p:sp>
      <p:sp>
        <p:nvSpPr>
          <p:cNvPr id="15" name="Text 13"/>
          <p:cNvSpPr txBox="1"/>
          <p:nvPr/>
        </p:nvSpPr>
        <p:spPr>
          <a:xfrm>
            <a:off x="5760720" y="1792224"/>
            <a:ext cx="2926080" cy="694944"/>
          </a:xfrm>
          <a:prstGeom prst="rect">
            <a:avLst/>
          </a:prstGeom>
          <a:noFill/>
          <a:ln/>
        </p:spPr>
        <p:txBody>
          <a:bodyPr wrap="square" lIns="0" tIns="0" rIns="0" bIns="0" rtlCol="0" anchor="t"/>
          <a:lstStyle/>
          <a:p>
            <a:pPr marL="0" indent="0">
              <a:buNone/>
            </a:pPr>
            <a:r>
              <a:rPr lang="en-US" sz="1400" dirty="0">
                <a:solidFill>
                  <a:srgbClr val="1B1B1B"/>
                </a:solidFill>
              </a:rPr>
              <a:t>Beep, and keep beeping for 0.05 s.</a:t>
            </a:r>
            <a:endParaRPr lang="en-US" sz="1400" dirty="0"/>
          </a:p>
        </p:txBody>
      </p:sp>
      <p:sp>
        <p:nvSpPr>
          <p:cNvPr id="16" name="Shape 14"/>
          <p:cNvSpPr/>
          <p:nvPr/>
        </p:nvSpPr>
        <p:spPr>
          <a:xfrm>
            <a:off x="4754880" y="2560320"/>
            <a:ext cx="868680" cy="292608"/>
          </a:xfrm>
          <a:prstGeom prst="roundRect">
            <a:avLst>
              <a:gd name="adj" fmla="val 18750"/>
            </a:avLst>
          </a:prstGeom>
          <a:solidFill>
            <a:srgbClr val="FFF1C2"/>
          </a:solidFill>
          <a:ln w="9525">
            <a:solidFill>
              <a:srgbClr val="E0A800"/>
            </a:solidFill>
            <a:prstDash val="solid"/>
          </a:ln>
        </p:spPr>
        <p:txBody>
          <a:bodyPr/>
          <a:lstStyle/>
          <a:p>
            <a:endParaRPr lang="en-US"/>
          </a:p>
        </p:txBody>
      </p:sp>
      <p:sp>
        <p:nvSpPr>
          <p:cNvPr id="17" name="Text 15"/>
          <p:cNvSpPr txBox="1"/>
          <p:nvPr/>
        </p:nvSpPr>
        <p:spPr>
          <a:xfrm>
            <a:off x="4754880" y="2560320"/>
            <a:ext cx="868680" cy="292608"/>
          </a:xfrm>
          <a:prstGeom prst="rect">
            <a:avLst/>
          </a:prstGeom>
          <a:noFill/>
          <a:ln/>
        </p:spPr>
        <p:txBody>
          <a:bodyPr wrap="square" lIns="0" tIns="0" rIns="0" bIns="0" rtlCol="0" anchor="ctr"/>
          <a:lstStyle/>
          <a:p>
            <a:pPr marL="0" indent="0" algn="ctr">
              <a:buNone/>
            </a:pPr>
            <a:r>
              <a:rPr lang="en-US" sz="1100" b="1" dirty="0">
                <a:solidFill>
                  <a:srgbClr val="7A5600"/>
                </a:solidFill>
              </a:rPr>
              <a:t>Line 17–18</a:t>
            </a:r>
            <a:endParaRPr lang="en-US" sz="1100" dirty="0"/>
          </a:p>
        </p:txBody>
      </p:sp>
      <p:sp>
        <p:nvSpPr>
          <p:cNvPr id="18" name="Text 16"/>
          <p:cNvSpPr txBox="1"/>
          <p:nvPr/>
        </p:nvSpPr>
        <p:spPr>
          <a:xfrm>
            <a:off x="5760720" y="2523744"/>
            <a:ext cx="2926080" cy="694944"/>
          </a:xfrm>
          <a:prstGeom prst="rect">
            <a:avLst/>
          </a:prstGeom>
          <a:noFill/>
          <a:ln/>
        </p:spPr>
        <p:txBody>
          <a:bodyPr wrap="square" lIns="0" tIns="0" rIns="0" bIns="0" rtlCol="0" anchor="t"/>
          <a:lstStyle/>
          <a:p>
            <a:pPr marL="0" indent="0">
              <a:buNone/>
            </a:pPr>
            <a:r>
              <a:rPr lang="en-US" sz="1400" dirty="0">
                <a:solidFill>
                  <a:srgbClr val="1B1B1B"/>
                </a:solidFill>
              </a:rPr>
              <a:t>Quiet, and wait 0.5 s. Then back to line 15.</a:t>
            </a:r>
            <a:endParaRPr lang="en-US" sz="1400" dirty="0"/>
          </a:p>
        </p:txBody>
      </p:sp>
      <p:sp>
        <p:nvSpPr>
          <p:cNvPr id="19" name="Shape 17"/>
          <p:cNvSpPr/>
          <p:nvPr/>
        </p:nvSpPr>
        <p:spPr>
          <a:xfrm>
            <a:off x="4754880" y="3291840"/>
            <a:ext cx="868680" cy="292608"/>
          </a:xfrm>
          <a:prstGeom prst="roundRect">
            <a:avLst>
              <a:gd name="adj" fmla="val 18750"/>
            </a:avLst>
          </a:prstGeom>
          <a:solidFill>
            <a:srgbClr val="FFF1C2"/>
          </a:solidFill>
          <a:ln w="9525">
            <a:solidFill>
              <a:srgbClr val="E0A800"/>
            </a:solidFill>
            <a:prstDash val="solid"/>
          </a:ln>
        </p:spPr>
        <p:txBody>
          <a:bodyPr/>
          <a:lstStyle/>
          <a:p>
            <a:endParaRPr lang="en-US"/>
          </a:p>
        </p:txBody>
      </p:sp>
      <p:sp>
        <p:nvSpPr>
          <p:cNvPr id="20" name="Text 18"/>
          <p:cNvSpPr txBox="1"/>
          <p:nvPr/>
        </p:nvSpPr>
        <p:spPr>
          <a:xfrm>
            <a:off x="4754880" y="3291840"/>
            <a:ext cx="868680" cy="292608"/>
          </a:xfrm>
          <a:prstGeom prst="rect">
            <a:avLst/>
          </a:prstGeom>
          <a:noFill/>
          <a:ln/>
        </p:spPr>
        <p:txBody>
          <a:bodyPr wrap="square" lIns="0" tIns="0" rIns="0" bIns="0" rtlCol="0" anchor="ctr"/>
          <a:lstStyle/>
          <a:p>
            <a:pPr marL="0" indent="0" algn="ctr">
              <a:buNone/>
            </a:pPr>
            <a:r>
              <a:rPr lang="en-US" sz="1100" b="1" dirty="0">
                <a:solidFill>
                  <a:srgbClr val="7A5600"/>
                </a:solidFill>
              </a:rPr>
              <a:t>Line 13, 21</a:t>
            </a:r>
            <a:endParaRPr lang="en-US" sz="1100" dirty="0"/>
          </a:p>
        </p:txBody>
      </p:sp>
      <p:sp>
        <p:nvSpPr>
          <p:cNvPr id="21" name="Text 19"/>
          <p:cNvSpPr txBox="1"/>
          <p:nvPr/>
        </p:nvSpPr>
        <p:spPr>
          <a:xfrm>
            <a:off x="5760720" y="3255264"/>
            <a:ext cx="2926080" cy="694944"/>
          </a:xfrm>
          <a:prstGeom prst="rect">
            <a:avLst/>
          </a:prstGeom>
          <a:noFill/>
          <a:ln/>
        </p:spPr>
        <p:txBody>
          <a:bodyPr wrap="square" lIns="0" tIns="0" rIns="0" bIns="0" rtlCol="0" anchor="t"/>
          <a:lstStyle/>
          <a:p>
            <a:pPr marL="0" indent="0">
              <a:buNone/>
            </a:pPr>
            <a:r>
              <a:rPr lang="en-US" sz="1400" dirty="0">
                <a:solidFill>
                  <a:srgbClr val="1B1B1B"/>
                </a:solidFill>
              </a:rPr>
              <a:t>try / finally: when you press Ctrl+C, line 22 runs and the buzzer stops.</a:t>
            </a:r>
            <a:endParaRPr lang="en-US" sz="1400" dirty="0"/>
          </a:p>
        </p:txBody>
      </p:sp>
      <p:sp>
        <p:nvSpPr>
          <p:cNvPr id="22" name="Shape 20"/>
          <p:cNvSpPr/>
          <p:nvPr/>
        </p:nvSpPr>
        <p:spPr>
          <a:xfrm>
            <a:off x="457200" y="3931920"/>
            <a:ext cx="8229600" cy="548640"/>
          </a:xfrm>
          <a:prstGeom prst="roundRect">
            <a:avLst>
              <a:gd name="adj" fmla="val 13333"/>
            </a:avLst>
          </a:prstGeom>
          <a:solidFill>
            <a:srgbClr val="EEF5F1"/>
          </a:solidFill>
          <a:ln w="12700">
            <a:solidFill>
              <a:srgbClr val="D3E4DB"/>
            </a:solidFill>
            <a:prstDash val="solid"/>
          </a:ln>
        </p:spPr>
        <p:txBody>
          <a:bodyPr/>
          <a:lstStyle/>
          <a:p>
            <a:endParaRPr lang="en-US"/>
          </a:p>
        </p:txBody>
      </p:sp>
      <p:sp>
        <p:nvSpPr>
          <p:cNvPr id="23" name="Text 21"/>
          <p:cNvSpPr txBox="1"/>
          <p:nvPr/>
        </p:nvSpPr>
        <p:spPr>
          <a:xfrm>
            <a:off x="640080" y="3931920"/>
            <a:ext cx="7863840" cy="548640"/>
          </a:xfrm>
          <a:prstGeom prst="rect">
            <a:avLst/>
          </a:prstGeom>
          <a:noFill/>
          <a:ln/>
        </p:spPr>
        <p:txBody>
          <a:bodyPr wrap="square" lIns="0" tIns="0" rIns="0" bIns="0" rtlCol="0" anchor="ctr"/>
          <a:lstStyle/>
          <a:p>
            <a:pPr marL="0" indent="0">
              <a:buNone/>
            </a:pPr>
            <a:r>
              <a:rPr lang="en-US" sz="1400" b="1" dirty="0">
                <a:solidFill>
                  <a:srgbClr val="0B3D2E"/>
                </a:solidFill>
              </a:rPr>
              <a:t>Predict, then try:  </a:t>
            </a:r>
            <a:r>
              <a:rPr lang="en-US" sz="1400" dirty="0">
                <a:solidFill>
                  <a:srgbClr val="1B1B1B"/>
                </a:solidFill>
              </a:rPr>
              <a:t>swap 0.05 and 0.5. What do you hear? Why?</a:t>
            </a:r>
            <a:endParaRPr lang="en-US" sz="14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949440" cy="640080"/>
          </a:xfrm>
          <a:prstGeom prst="rect">
            <a:avLst/>
          </a:prstGeom>
          <a:noFill/>
          <a:ln/>
        </p:spPr>
        <p:txBody>
          <a:bodyPr wrap="square" lIns="0" tIns="0" rIns="0" bIns="0" rtlCol="0" anchor="ctr"/>
          <a:lstStyle/>
          <a:p>
            <a:pPr marL="0" indent="0" algn="l">
              <a:buNone/>
            </a:pPr>
            <a:r>
              <a:rPr lang="en-US" sz="3000" b="1" dirty="0">
                <a:solidFill>
                  <a:schemeClr val="tx2"/>
                </a:solidFill>
              </a:rPr>
              <a:t>Step 3: closer = faster beeps</a:t>
            </a:r>
            <a:endParaRPr lang="en-US" sz="3000" dirty="0"/>
          </a:p>
        </p:txBody>
      </p:sp>
      <p:sp>
        <p:nvSpPr>
          <p:cNvPr id="3" name="Shape 1"/>
          <p:cNvSpPr/>
          <p:nvPr/>
        </p:nvSpPr>
        <p:spPr>
          <a:xfrm>
            <a:off x="7818120" y="164592"/>
            <a:ext cx="868680" cy="868680"/>
          </a:xfrm>
          <a:prstGeom prst="ellipse">
            <a:avLst/>
          </a:prstGeom>
          <a:solidFill>
            <a:srgbClr val="F2A900">
              <a:alpha val="30000"/>
            </a:srgbClr>
          </a:solidFill>
          <a:ln w="12700">
            <a:solidFill>
              <a:srgbClr val="F2A900">
                <a:alpha val="0"/>
              </a:srgbClr>
            </a:solidFill>
            <a:prstDash val="solid"/>
          </a:ln>
        </p:spPr>
        <p:txBody>
          <a:bodyPr/>
          <a:lstStyle/>
          <a:p>
            <a:endParaRPr lang="en-US"/>
          </a:p>
        </p:txBody>
      </p:sp>
      <p:sp>
        <p:nvSpPr>
          <p:cNvPr id="4" name="Shape 2"/>
          <p:cNvSpPr/>
          <p:nvPr/>
        </p:nvSpPr>
        <p:spPr>
          <a:xfrm>
            <a:off x="7955280" y="301752"/>
            <a:ext cx="594360" cy="594360"/>
          </a:xfrm>
          <a:prstGeom prst="ellipse">
            <a:avLst/>
          </a:prstGeom>
          <a:solidFill>
            <a:srgbClr val="F2A900"/>
          </a:solidFill>
          <a:ln w="12700">
            <a:solidFill>
              <a:srgbClr val="C98C00"/>
            </a:solidFill>
            <a:prstDash val="solid"/>
          </a:ln>
        </p:spPr>
        <p:txBody>
          <a:bodyPr/>
          <a:lstStyle/>
          <a:p>
            <a:endParaRPr lang="en-US"/>
          </a:p>
        </p:txBody>
      </p:sp>
      <p:sp>
        <p:nvSpPr>
          <p:cNvPr id="5" name="Text 3"/>
          <p:cNvSpPr txBox="1"/>
          <p:nvPr/>
        </p:nvSpPr>
        <p:spPr>
          <a:xfrm>
            <a:off x="7955280" y="301752"/>
            <a:ext cx="594360" cy="594360"/>
          </a:xfrm>
          <a:prstGeom prst="rect">
            <a:avLst/>
          </a:prstGeom>
          <a:noFill/>
          <a:ln/>
        </p:spPr>
        <p:txBody>
          <a:bodyPr wrap="square" lIns="0" tIns="0" rIns="0" bIns="0" rtlCol="0" anchor="ctr"/>
          <a:lstStyle/>
          <a:p>
            <a:pPr marL="0" indent="0" algn="ctr">
              <a:buNone/>
            </a:pPr>
            <a:r>
              <a:rPr lang="en-US" sz="2000" b="1" dirty="0">
                <a:solidFill>
                  <a:srgbClr val="0B3D2E"/>
                </a:solidFill>
              </a:rPr>
              <a:t>3</a:t>
            </a:r>
            <a:endParaRPr lang="en-US" sz="2000" dirty="0"/>
          </a:p>
        </p:txBody>
      </p:sp>
      <p:sp>
        <p:nvSpPr>
          <p:cNvPr id="6" name="Text 4"/>
          <p:cNvSpPr txBox="1"/>
          <p:nvPr/>
        </p:nvSpPr>
        <p:spPr>
          <a:xfrm>
            <a:off x="548640" y="1106424"/>
            <a:ext cx="1371600" cy="256032"/>
          </a:xfrm>
          <a:prstGeom prst="rect">
            <a:avLst/>
          </a:prstGeom>
          <a:noFill/>
          <a:ln/>
        </p:spPr>
        <p:txBody>
          <a:bodyPr wrap="square" lIns="0" tIns="0" rIns="0" bIns="0" rtlCol="0" anchor="ctr"/>
          <a:lstStyle/>
          <a:p>
            <a:pPr marL="0" indent="0" algn="r">
              <a:buNone/>
            </a:pPr>
            <a:r>
              <a:rPr lang="en-US" sz="1400" dirty="0">
                <a:solidFill>
                  <a:srgbClr val="1B1B1B"/>
                </a:solidFill>
              </a:rPr>
              <a:t>25 cm or more</a:t>
            </a:r>
            <a:endParaRPr lang="en-US" sz="1400" dirty="0"/>
          </a:p>
        </p:txBody>
      </p:sp>
      <p:sp>
        <p:nvSpPr>
          <p:cNvPr id="7" name="Shape 5"/>
          <p:cNvSpPr/>
          <p:nvPr/>
        </p:nvSpPr>
        <p:spPr>
          <a:xfrm>
            <a:off x="2011680" y="1380744"/>
            <a:ext cx="2377440" cy="0"/>
          </a:xfrm>
          <a:prstGeom prst="line">
            <a:avLst/>
          </a:prstGeom>
          <a:noFill/>
          <a:ln w="12700">
            <a:solidFill>
              <a:srgbClr val="C8C8C8"/>
            </a:solidFill>
            <a:prstDash val="solid"/>
          </a:ln>
        </p:spPr>
        <p:txBody>
          <a:bodyPr/>
          <a:lstStyle/>
          <a:p>
            <a:endParaRPr lang="en-US"/>
          </a:p>
        </p:txBody>
      </p:sp>
      <p:sp>
        <p:nvSpPr>
          <p:cNvPr id="8" name="Text 6"/>
          <p:cNvSpPr txBox="1"/>
          <p:nvPr/>
        </p:nvSpPr>
        <p:spPr>
          <a:xfrm>
            <a:off x="2011680" y="1106424"/>
            <a:ext cx="1371600" cy="256032"/>
          </a:xfrm>
          <a:prstGeom prst="rect">
            <a:avLst/>
          </a:prstGeom>
          <a:noFill/>
          <a:ln/>
        </p:spPr>
        <p:txBody>
          <a:bodyPr wrap="square" lIns="0" tIns="0" rIns="0" bIns="0" rtlCol="0" anchor="ctr"/>
          <a:lstStyle/>
          <a:p>
            <a:pPr marL="0" indent="0">
              <a:buNone/>
            </a:pPr>
            <a:r>
              <a:rPr lang="en-US" sz="1300" i="1" dirty="0">
                <a:solidFill>
                  <a:srgbClr val="6B7280"/>
                </a:solidFill>
              </a:rPr>
              <a:t>quiet</a:t>
            </a:r>
            <a:endParaRPr lang="en-US" sz="1300" dirty="0"/>
          </a:p>
        </p:txBody>
      </p:sp>
      <p:sp>
        <p:nvSpPr>
          <p:cNvPr id="9" name="Text 7"/>
          <p:cNvSpPr txBox="1"/>
          <p:nvPr/>
        </p:nvSpPr>
        <p:spPr>
          <a:xfrm>
            <a:off x="548640" y="1563624"/>
            <a:ext cx="1371600" cy="256032"/>
          </a:xfrm>
          <a:prstGeom prst="rect">
            <a:avLst/>
          </a:prstGeom>
          <a:noFill/>
          <a:ln/>
        </p:spPr>
        <p:txBody>
          <a:bodyPr wrap="square" lIns="0" tIns="0" rIns="0" bIns="0" rtlCol="0" anchor="ctr"/>
          <a:lstStyle/>
          <a:p>
            <a:pPr marL="0" indent="0" algn="r">
              <a:buNone/>
            </a:pPr>
            <a:r>
              <a:rPr lang="en-US" sz="1400" dirty="0">
                <a:solidFill>
                  <a:srgbClr val="1B1B1B"/>
                </a:solidFill>
              </a:rPr>
              <a:t>20 cm</a:t>
            </a:r>
            <a:endParaRPr lang="en-US" sz="1400" dirty="0"/>
          </a:p>
        </p:txBody>
      </p:sp>
      <p:sp>
        <p:nvSpPr>
          <p:cNvPr id="10" name="Shape 8"/>
          <p:cNvSpPr/>
          <p:nvPr/>
        </p:nvSpPr>
        <p:spPr>
          <a:xfrm>
            <a:off x="2011680" y="1837944"/>
            <a:ext cx="2377440" cy="0"/>
          </a:xfrm>
          <a:prstGeom prst="line">
            <a:avLst/>
          </a:prstGeom>
          <a:noFill/>
          <a:ln w="12700">
            <a:solidFill>
              <a:srgbClr val="C8C8C8"/>
            </a:solidFill>
            <a:prstDash val="solid"/>
          </a:ln>
        </p:spPr>
        <p:txBody>
          <a:bodyPr/>
          <a:lstStyle/>
          <a:p>
            <a:endParaRPr lang="en-US"/>
          </a:p>
        </p:txBody>
      </p:sp>
      <p:sp>
        <p:nvSpPr>
          <p:cNvPr id="11" name="Shape 9"/>
          <p:cNvSpPr/>
          <p:nvPr/>
        </p:nvSpPr>
        <p:spPr>
          <a:xfrm>
            <a:off x="2011680" y="1581912"/>
            <a:ext cx="91440" cy="219456"/>
          </a:xfrm>
          <a:prstGeom prst="roundRect">
            <a:avLst>
              <a:gd name="adj" fmla="val 30000"/>
            </a:avLst>
          </a:prstGeom>
          <a:solidFill>
            <a:srgbClr val="F2A900"/>
          </a:solidFill>
          <a:ln w="12700">
            <a:solidFill>
              <a:srgbClr val="C98C00"/>
            </a:solidFill>
            <a:prstDash val="solid"/>
          </a:ln>
        </p:spPr>
        <p:txBody>
          <a:bodyPr/>
          <a:lstStyle/>
          <a:p>
            <a:endParaRPr lang="en-US"/>
          </a:p>
        </p:txBody>
      </p:sp>
      <p:sp>
        <p:nvSpPr>
          <p:cNvPr id="12" name="Shape 10"/>
          <p:cNvSpPr/>
          <p:nvPr/>
        </p:nvSpPr>
        <p:spPr>
          <a:xfrm>
            <a:off x="2743200" y="1581912"/>
            <a:ext cx="91440" cy="219456"/>
          </a:xfrm>
          <a:prstGeom prst="roundRect">
            <a:avLst>
              <a:gd name="adj" fmla="val 30000"/>
            </a:avLst>
          </a:prstGeom>
          <a:solidFill>
            <a:srgbClr val="F2A900"/>
          </a:solidFill>
          <a:ln w="12700">
            <a:solidFill>
              <a:srgbClr val="C98C00"/>
            </a:solidFill>
            <a:prstDash val="solid"/>
          </a:ln>
        </p:spPr>
        <p:txBody>
          <a:bodyPr/>
          <a:lstStyle/>
          <a:p>
            <a:endParaRPr lang="en-US"/>
          </a:p>
        </p:txBody>
      </p:sp>
      <p:sp>
        <p:nvSpPr>
          <p:cNvPr id="13" name="Shape 11"/>
          <p:cNvSpPr/>
          <p:nvPr/>
        </p:nvSpPr>
        <p:spPr>
          <a:xfrm>
            <a:off x="3474720" y="1581912"/>
            <a:ext cx="91440" cy="219456"/>
          </a:xfrm>
          <a:prstGeom prst="roundRect">
            <a:avLst>
              <a:gd name="adj" fmla="val 30000"/>
            </a:avLst>
          </a:prstGeom>
          <a:solidFill>
            <a:srgbClr val="F2A900"/>
          </a:solidFill>
          <a:ln w="12700">
            <a:solidFill>
              <a:srgbClr val="C98C00"/>
            </a:solidFill>
            <a:prstDash val="solid"/>
          </a:ln>
        </p:spPr>
        <p:txBody>
          <a:bodyPr/>
          <a:lstStyle/>
          <a:p>
            <a:endParaRPr lang="en-US"/>
          </a:p>
        </p:txBody>
      </p:sp>
      <p:sp>
        <p:nvSpPr>
          <p:cNvPr id="14" name="Shape 12"/>
          <p:cNvSpPr/>
          <p:nvPr/>
        </p:nvSpPr>
        <p:spPr>
          <a:xfrm>
            <a:off x="4206240" y="1581912"/>
            <a:ext cx="91440" cy="219456"/>
          </a:xfrm>
          <a:prstGeom prst="roundRect">
            <a:avLst>
              <a:gd name="adj" fmla="val 30000"/>
            </a:avLst>
          </a:prstGeom>
          <a:solidFill>
            <a:srgbClr val="F2A900"/>
          </a:solidFill>
          <a:ln w="12700">
            <a:solidFill>
              <a:srgbClr val="C98C00"/>
            </a:solidFill>
            <a:prstDash val="solid"/>
          </a:ln>
        </p:spPr>
        <p:txBody>
          <a:bodyPr/>
          <a:lstStyle/>
          <a:p>
            <a:endParaRPr lang="en-US"/>
          </a:p>
        </p:txBody>
      </p:sp>
      <p:sp>
        <p:nvSpPr>
          <p:cNvPr id="15" name="Text 13"/>
          <p:cNvSpPr txBox="1"/>
          <p:nvPr/>
        </p:nvSpPr>
        <p:spPr>
          <a:xfrm>
            <a:off x="548640" y="2020824"/>
            <a:ext cx="1371600" cy="256032"/>
          </a:xfrm>
          <a:prstGeom prst="rect">
            <a:avLst/>
          </a:prstGeom>
          <a:noFill/>
          <a:ln/>
        </p:spPr>
        <p:txBody>
          <a:bodyPr wrap="square" lIns="0" tIns="0" rIns="0" bIns="0" rtlCol="0" anchor="ctr"/>
          <a:lstStyle/>
          <a:p>
            <a:pPr marL="0" indent="0" algn="r">
              <a:buNone/>
            </a:pPr>
            <a:r>
              <a:rPr lang="en-US" sz="1400" dirty="0">
                <a:solidFill>
                  <a:srgbClr val="1B1B1B"/>
                </a:solidFill>
              </a:rPr>
              <a:t>10 cm</a:t>
            </a:r>
            <a:endParaRPr lang="en-US" sz="1400" dirty="0"/>
          </a:p>
        </p:txBody>
      </p:sp>
      <p:sp>
        <p:nvSpPr>
          <p:cNvPr id="16" name="Shape 14"/>
          <p:cNvSpPr/>
          <p:nvPr/>
        </p:nvSpPr>
        <p:spPr>
          <a:xfrm>
            <a:off x="2011680" y="2295144"/>
            <a:ext cx="2377440" cy="0"/>
          </a:xfrm>
          <a:prstGeom prst="line">
            <a:avLst/>
          </a:prstGeom>
          <a:noFill/>
          <a:ln w="12700">
            <a:solidFill>
              <a:srgbClr val="C8C8C8"/>
            </a:solidFill>
            <a:prstDash val="solid"/>
          </a:ln>
        </p:spPr>
        <p:txBody>
          <a:bodyPr/>
          <a:lstStyle/>
          <a:p>
            <a:endParaRPr lang="en-US"/>
          </a:p>
        </p:txBody>
      </p:sp>
      <p:sp>
        <p:nvSpPr>
          <p:cNvPr id="17" name="Shape 15"/>
          <p:cNvSpPr/>
          <p:nvPr/>
        </p:nvSpPr>
        <p:spPr>
          <a:xfrm>
            <a:off x="2011680" y="2039112"/>
            <a:ext cx="91440" cy="219456"/>
          </a:xfrm>
          <a:prstGeom prst="roundRect">
            <a:avLst>
              <a:gd name="adj" fmla="val 30000"/>
            </a:avLst>
          </a:prstGeom>
          <a:solidFill>
            <a:srgbClr val="F2A900"/>
          </a:solidFill>
          <a:ln w="12700">
            <a:solidFill>
              <a:srgbClr val="C98C00"/>
            </a:solidFill>
            <a:prstDash val="solid"/>
          </a:ln>
        </p:spPr>
        <p:txBody>
          <a:bodyPr/>
          <a:lstStyle/>
          <a:p>
            <a:endParaRPr lang="en-US"/>
          </a:p>
        </p:txBody>
      </p:sp>
      <p:sp>
        <p:nvSpPr>
          <p:cNvPr id="18" name="Shape 16"/>
          <p:cNvSpPr/>
          <p:nvPr/>
        </p:nvSpPr>
        <p:spPr>
          <a:xfrm>
            <a:off x="2377440" y="2039112"/>
            <a:ext cx="91440" cy="219456"/>
          </a:xfrm>
          <a:prstGeom prst="roundRect">
            <a:avLst>
              <a:gd name="adj" fmla="val 30000"/>
            </a:avLst>
          </a:prstGeom>
          <a:solidFill>
            <a:srgbClr val="F2A900"/>
          </a:solidFill>
          <a:ln w="12700">
            <a:solidFill>
              <a:srgbClr val="C98C00"/>
            </a:solidFill>
            <a:prstDash val="solid"/>
          </a:ln>
        </p:spPr>
        <p:txBody>
          <a:bodyPr/>
          <a:lstStyle/>
          <a:p>
            <a:endParaRPr lang="en-US"/>
          </a:p>
        </p:txBody>
      </p:sp>
      <p:sp>
        <p:nvSpPr>
          <p:cNvPr id="19" name="Shape 17"/>
          <p:cNvSpPr/>
          <p:nvPr/>
        </p:nvSpPr>
        <p:spPr>
          <a:xfrm>
            <a:off x="2743200" y="2039112"/>
            <a:ext cx="91440" cy="219456"/>
          </a:xfrm>
          <a:prstGeom prst="roundRect">
            <a:avLst>
              <a:gd name="adj" fmla="val 30000"/>
            </a:avLst>
          </a:prstGeom>
          <a:solidFill>
            <a:srgbClr val="F2A900"/>
          </a:solidFill>
          <a:ln w="12700">
            <a:solidFill>
              <a:srgbClr val="C98C00"/>
            </a:solidFill>
            <a:prstDash val="solid"/>
          </a:ln>
        </p:spPr>
        <p:txBody>
          <a:bodyPr/>
          <a:lstStyle/>
          <a:p>
            <a:endParaRPr lang="en-US"/>
          </a:p>
        </p:txBody>
      </p:sp>
      <p:sp>
        <p:nvSpPr>
          <p:cNvPr id="20" name="Shape 18"/>
          <p:cNvSpPr/>
          <p:nvPr/>
        </p:nvSpPr>
        <p:spPr>
          <a:xfrm>
            <a:off x="3108960" y="2039112"/>
            <a:ext cx="91440" cy="219456"/>
          </a:xfrm>
          <a:prstGeom prst="roundRect">
            <a:avLst>
              <a:gd name="adj" fmla="val 30000"/>
            </a:avLst>
          </a:prstGeom>
          <a:solidFill>
            <a:srgbClr val="F2A900"/>
          </a:solidFill>
          <a:ln w="12700">
            <a:solidFill>
              <a:srgbClr val="C98C00"/>
            </a:solidFill>
            <a:prstDash val="solid"/>
          </a:ln>
        </p:spPr>
        <p:txBody>
          <a:bodyPr/>
          <a:lstStyle/>
          <a:p>
            <a:endParaRPr lang="en-US"/>
          </a:p>
        </p:txBody>
      </p:sp>
      <p:sp>
        <p:nvSpPr>
          <p:cNvPr id="21" name="Shape 19"/>
          <p:cNvSpPr/>
          <p:nvPr/>
        </p:nvSpPr>
        <p:spPr>
          <a:xfrm>
            <a:off x="3474720" y="2039112"/>
            <a:ext cx="91440" cy="219456"/>
          </a:xfrm>
          <a:prstGeom prst="roundRect">
            <a:avLst>
              <a:gd name="adj" fmla="val 30000"/>
            </a:avLst>
          </a:prstGeom>
          <a:solidFill>
            <a:srgbClr val="F2A900"/>
          </a:solidFill>
          <a:ln w="12700">
            <a:solidFill>
              <a:srgbClr val="C98C00"/>
            </a:solidFill>
            <a:prstDash val="solid"/>
          </a:ln>
        </p:spPr>
        <p:txBody>
          <a:bodyPr/>
          <a:lstStyle/>
          <a:p>
            <a:endParaRPr lang="en-US"/>
          </a:p>
        </p:txBody>
      </p:sp>
      <p:sp>
        <p:nvSpPr>
          <p:cNvPr id="22" name="Shape 20"/>
          <p:cNvSpPr/>
          <p:nvPr/>
        </p:nvSpPr>
        <p:spPr>
          <a:xfrm>
            <a:off x="3840480" y="2039112"/>
            <a:ext cx="91440" cy="219456"/>
          </a:xfrm>
          <a:prstGeom prst="roundRect">
            <a:avLst>
              <a:gd name="adj" fmla="val 30000"/>
            </a:avLst>
          </a:prstGeom>
          <a:solidFill>
            <a:srgbClr val="F2A900"/>
          </a:solidFill>
          <a:ln w="12700">
            <a:solidFill>
              <a:srgbClr val="C98C00"/>
            </a:solidFill>
            <a:prstDash val="solid"/>
          </a:ln>
        </p:spPr>
        <p:txBody>
          <a:bodyPr/>
          <a:lstStyle/>
          <a:p>
            <a:endParaRPr lang="en-US"/>
          </a:p>
        </p:txBody>
      </p:sp>
      <p:sp>
        <p:nvSpPr>
          <p:cNvPr id="23" name="Shape 21"/>
          <p:cNvSpPr/>
          <p:nvPr/>
        </p:nvSpPr>
        <p:spPr>
          <a:xfrm>
            <a:off x="4206240" y="2039112"/>
            <a:ext cx="91440" cy="219456"/>
          </a:xfrm>
          <a:prstGeom prst="roundRect">
            <a:avLst>
              <a:gd name="adj" fmla="val 30000"/>
            </a:avLst>
          </a:prstGeom>
          <a:solidFill>
            <a:srgbClr val="F2A900"/>
          </a:solidFill>
          <a:ln w="12700">
            <a:solidFill>
              <a:srgbClr val="C98C00"/>
            </a:solidFill>
            <a:prstDash val="solid"/>
          </a:ln>
        </p:spPr>
        <p:txBody>
          <a:bodyPr/>
          <a:lstStyle/>
          <a:p>
            <a:endParaRPr lang="en-US"/>
          </a:p>
        </p:txBody>
      </p:sp>
      <p:sp>
        <p:nvSpPr>
          <p:cNvPr id="24" name="Text 22"/>
          <p:cNvSpPr txBox="1"/>
          <p:nvPr/>
        </p:nvSpPr>
        <p:spPr>
          <a:xfrm>
            <a:off x="548640" y="2478024"/>
            <a:ext cx="1371600" cy="256032"/>
          </a:xfrm>
          <a:prstGeom prst="rect">
            <a:avLst/>
          </a:prstGeom>
          <a:noFill/>
          <a:ln/>
        </p:spPr>
        <p:txBody>
          <a:bodyPr wrap="square" lIns="0" tIns="0" rIns="0" bIns="0" rtlCol="0" anchor="ctr"/>
          <a:lstStyle/>
          <a:p>
            <a:pPr marL="0" indent="0" algn="r">
              <a:buNone/>
            </a:pPr>
            <a:r>
              <a:rPr lang="en-US" sz="1400" dirty="0">
                <a:solidFill>
                  <a:srgbClr val="1B1B1B"/>
                </a:solidFill>
              </a:rPr>
              <a:t>5 cm</a:t>
            </a:r>
            <a:endParaRPr lang="en-US" sz="1400" dirty="0"/>
          </a:p>
        </p:txBody>
      </p:sp>
      <p:sp>
        <p:nvSpPr>
          <p:cNvPr id="25" name="Shape 23"/>
          <p:cNvSpPr/>
          <p:nvPr/>
        </p:nvSpPr>
        <p:spPr>
          <a:xfrm>
            <a:off x="2011680" y="2752344"/>
            <a:ext cx="2377440" cy="0"/>
          </a:xfrm>
          <a:prstGeom prst="line">
            <a:avLst/>
          </a:prstGeom>
          <a:noFill/>
          <a:ln w="12700">
            <a:solidFill>
              <a:srgbClr val="C8C8C8"/>
            </a:solidFill>
            <a:prstDash val="solid"/>
          </a:ln>
        </p:spPr>
        <p:txBody>
          <a:bodyPr/>
          <a:lstStyle/>
          <a:p>
            <a:endParaRPr lang="en-US"/>
          </a:p>
        </p:txBody>
      </p:sp>
      <p:sp>
        <p:nvSpPr>
          <p:cNvPr id="26" name="Shape 24"/>
          <p:cNvSpPr/>
          <p:nvPr/>
        </p:nvSpPr>
        <p:spPr>
          <a:xfrm>
            <a:off x="2011680" y="2496312"/>
            <a:ext cx="91440" cy="219456"/>
          </a:xfrm>
          <a:prstGeom prst="roundRect">
            <a:avLst>
              <a:gd name="adj" fmla="val 30000"/>
            </a:avLst>
          </a:prstGeom>
          <a:solidFill>
            <a:srgbClr val="F2A900"/>
          </a:solidFill>
          <a:ln w="12700">
            <a:solidFill>
              <a:srgbClr val="C98C00"/>
            </a:solidFill>
            <a:prstDash val="solid"/>
          </a:ln>
        </p:spPr>
        <p:txBody>
          <a:bodyPr/>
          <a:lstStyle/>
          <a:p>
            <a:endParaRPr lang="en-US"/>
          </a:p>
        </p:txBody>
      </p:sp>
      <p:sp>
        <p:nvSpPr>
          <p:cNvPr id="27" name="Shape 25"/>
          <p:cNvSpPr/>
          <p:nvPr/>
        </p:nvSpPr>
        <p:spPr>
          <a:xfrm>
            <a:off x="2194560" y="2496312"/>
            <a:ext cx="91440" cy="219456"/>
          </a:xfrm>
          <a:prstGeom prst="roundRect">
            <a:avLst>
              <a:gd name="adj" fmla="val 30000"/>
            </a:avLst>
          </a:prstGeom>
          <a:solidFill>
            <a:srgbClr val="F2A900"/>
          </a:solidFill>
          <a:ln w="12700">
            <a:solidFill>
              <a:srgbClr val="C98C00"/>
            </a:solidFill>
            <a:prstDash val="solid"/>
          </a:ln>
        </p:spPr>
        <p:txBody>
          <a:bodyPr/>
          <a:lstStyle/>
          <a:p>
            <a:endParaRPr lang="en-US"/>
          </a:p>
        </p:txBody>
      </p:sp>
      <p:sp>
        <p:nvSpPr>
          <p:cNvPr id="28" name="Shape 26"/>
          <p:cNvSpPr/>
          <p:nvPr/>
        </p:nvSpPr>
        <p:spPr>
          <a:xfrm>
            <a:off x="2377440" y="2496312"/>
            <a:ext cx="91440" cy="219456"/>
          </a:xfrm>
          <a:prstGeom prst="roundRect">
            <a:avLst>
              <a:gd name="adj" fmla="val 30000"/>
            </a:avLst>
          </a:prstGeom>
          <a:solidFill>
            <a:srgbClr val="F2A900"/>
          </a:solidFill>
          <a:ln w="12700">
            <a:solidFill>
              <a:srgbClr val="C98C00"/>
            </a:solidFill>
            <a:prstDash val="solid"/>
          </a:ln>
        </p:spPr>
        <p:txBody>
          <a:bodyPr/>
          <a:lstStyle/>
          <a:p>
            <a:endParaRPr lang="en-US"/>
          </a:p>
        </p:txBody>
      </p:sp>
      <p:sp>
        <p:nvSpPr>
          <p:cNvPr id="29" name="Shape 27"/>
          <p:cNvSpPr/>
          <p:nvPr/>
        </p:nvSpPr>
        <p:spPr>
          <a:xfrm>
            <a:off x="2560320" y="2496312"/>
            <a:ext cx="91440" cy="219456"/>
          </a:xfrm>
          <a:prstGeom prst="roundRect">
            <a:avLst>
              <a:gd name="adj" fmla="val 30000"/>
            </a:avLst>
          </a:prstGeom>
          <a:solidFill>
            <a:srgbClr val="F2A900"/>
          </a:solidFill>
          <a:ln w="12700">
            <a:solidFill>
              <a:srgbClr val="C98C00"/>
            </a:solidFill>
            <a:prstDash val="solid"/>
          </a:ln>
        </p:spPr>
        <p:txBody>
          <a:bodyPr/>
          <a:lstStyle/>
          <a:p>
            <a:endParaRPr lang="en-US"/>
          </a:p>
        </p:txBody>
      </p:sp>
      <p:sp>
        <p:nvSpPr>
          <p:cNvPr id="30" name="Shape 28"/>
          <p:cNvSpPr/>
          <p:nvPr/>
        </p:nvSpPr>
        <p:spPr>
          <a:xfrm>
            <a:off x="2743200" y="2496312"/>
            <a:ext cx="91440" cy="219456"/>
          </a:xfrm>
          <a:prstGeom prst="roundRect">
            <a:avLst>
              <a:gd name="adj" fmla="val 30000"/>
            </a:avLst>
          </a:prstGeom>
          <a:solidFill>
            <a:srgbClr val="F2A900"/>
          </a:solidFill>
          <a:ln w="12700">
            <a:solidFill>
              <a:srgbClr val="C98C00"/>
            </a:solidFill>
            <a:prstDash val="solid"/>
          </a:ln>
        </p:spPr>
        <p:txBody>
          <a:bodyPr/>
          <a:lstStyle/>
          <a:p>
            <a:endParaRPr lang="en-US"/>
          </a:p>
        </p:txBody>
      </p:sp>
      <p:sp>
        <p:nvSpPr>
          <p:cNvPr id="31" name="Shape 29"/>
          <p:cNvSpPr/>
          <p:nvPr/>
        </p:nvSpPr>
        <p:spPr>
          <a:xfrm>
            <a:off x="2926080" y="2496312"/>
            <a:ext cx="91440" cy="219456"/>
          </a:xfrm>
          <a:prstGeom prst="roundRect">
            <a:avLst>
              <a:gd name="adj" fmla="val 30000"/>
            </a:avLst>
          </a:prstGeom>
          <a:solidFill>
            <a:srgbClr val="F2A900"/>
          </a:solidFill>
          <a:ln w="12700">
            <a:solidFill>
              <a:srgbClr val="C98C00"/>
            </a:solidFill>
            <a:prstDash val="solid"/>
          </a:ln>
        </p:spPr>
        <p:txBody>
          <a:bodyPr/>
          <a:lstStyle/>
          <a:p>
            <a:endParaRPr lang="en-US"/>
          </a:p>
        </p:txBody>
      </p:sp>
      <p:sp>
        <p:nvSpPr>
          <p:cNvPr id="32" name="Shape 30"/>
          <p:cNvSpPr/>
          <p:nvPr/>
        </p:nvSpPr>
        <p:spPr>
          <a:xfrm>
            <a:off x="3108960" y="2496312"/>
            <a:ext cx="91440" cy="219456"/>
          </a:xfrm>
          <a:prstGeom prst="roundRect">
            <a:avLst>
              <a:gd name="adj" fmla="val 30000"/>
            </a:avLst>
          </a:prstGeom>
          <a:solidFill>
            <a:srgbClr val="F2A900"/>
          </a:solidFill>
          <a:ln w="12700">
            <a:solidFill>
              <a:srgbClr val="C98C00"/>
            </a:solidFill>
            <a:prstDash val="solid"/>
          </a:ln>
        </p:spPr>
        <p:txBody>
          <a:bodyPr/>
          <a:lstStyle/>
          <a:p>
            <a:endParaRPr lang="en-US"/>
          </a:p>
        </p:txBody>
      </p:sp>
      <p:sp>
        <p:nvSpPr>
          <p:cNvPr id="33" name="Shape 31"/>
          <p:cNvSpPr/>
          <p:nvPr/>
        </p:nvSpPr>
        <p:spPr>
          <a:xfrm>
            <a:off x="3291840" y="2496312"/>
            <a:ext cx="91440" cy="219456"/>
          </a:xfrm>
          <a:prstGeom prst="roundRect">
            <a:avLst>
              <a:gd name="adj" fmla="val 30000"/>
            </a:avLst>
          </a:prstGeom>
          <a:solidFill>
            <a:srgbClr val="F2A900"/>
          </a:solidFill>
          <a:ln w="12700">
            <a:solidFill>
              <a:srgbClr val="C98C00"/>
            </a:solidFill>
            <a:prstDash val="solid"/>
          </a:ln>
        </p:spPr>
        <p:txBody>
          <a:bodyPr/>
          <a:lstStyle/>
          <a:p>
            <a:endParaRPr lang="en-US"/>
          </a:p>
        </p:txBody>
      </p:sp>
      <p:sp>
        <p:nvSpPr>
          <p:cNvPr id="34" name="Shape 32"/>
          <p:cNvSpPr/>
          <p:nvPr/>
        </p:nvSpPr>
        <p:spPr>
          <a:xfrm>
            <a:off x="3474720" y="2496312"/>
            <a:ext cx="91440" cy="219456"/>
          </a:xfrm>
          <a:prstGeom prst="roundRect">
            <a:avLst>
              <a:gd name="adj" fmla="val 30000"/>
            </a:avLst>
          </a:prstGeom>
          <a:solidFill>
            <a:srgbClr val="F2A900"/>
          </a:solidFill>
          <a:ln w="12700">
            <a:solidFill>
              <a:srgbClr val="C98C00"/>
            </a:solidFill>
            <a:prstDash val="solid"/>
          </a:ln>
        </p:spPr>
        <p:txBody>
          <a:bodyPr/>
          <a:lstStyle/>
          <a:p>
            <a:endParaRPr lang="en-US"/>
          </a:p>
        </p:txBody>
      </p:sp>
      <p:sp>
        <p:nvSpPr>
          <p:cNvPr id="35" name="Shape 33"/>
          <p:cNvSpPr/>
          <p:nvPr/>
        </p:nvSpPr>
        <p:spPr>
          <a:xfrm>
            <a:off x="3657600" y="2496312"/>
            <a:ext cx="91440" cy="219456"/>
          </a:xfrm>
          <a:prstGeom prst="roundRect">
            <a:avLst>
              <a:gd name="adj" fmla="val 30000"/>
            </a:avLst>
          </a:prstGeom>
          <a:solidFill>
            <a:srgbClr val="F2A900"/>
          </a:solidFill>
          <a:ln w="12700">
            <a:solidFill>
              <a:srgbClr val="C98C00"/>
            </a:solidFill>
            <a:prstDash val="solid"/>
          </a:ln>
        </p:spPr>
        <p:txBody>
          <a:bodyPr/>
          <a:lstStyle/>
          <a:p>
            <a:endParaRPr lang="en-US"/>
          </a:p>
        </p:txBody>
      </p:sp>
      <p:sp>
        <p:nvSpPr>
          <p:cNvPr id="36" name="Shape 34"/>
          <p:cNvSpPr/>
          <p:nvPr/>
        </p:nvSpPr>
        <p:spPr>
          <a:xfrm>
            <a:off x="3840480" y="2496312"/>
            <a:ext cx="91440" cy="219456"/>
          </a:xfrm>
          <a:prstGeom prst="roundRect">
            <a:avLst>
              <a:gd name="adj" fmla="val 30000"/>
            </a:avLst>
          </a:prstGeom>
          <a:solidFill>
            <a:srgbClr val="F2A900"/>
          </a:solidFill>
          <a:ln w="12700">
            <a:solidFill>
              <a:srgbClr val="C98C00"/>
            </a:solidFill>
            <a:prstDash val="solid"/>
          </a:ln>
        </p:spPr>
        <p:txBody>
          <a:bodyPr/>
          <a:lstStyle/>
          <a:p>
            <a:endParaRPr lang="en-US"/>
          </a:p>
        </p:txBody>
      </p:sp>
      <p:sp>
        <p:nvSpPr>
          <p:cNvPr id="37" name="Shape 35"/>
          <p:cNvSpPr/>
          <p:nvPr/>
        </p:nvSpPr>
        <p:spPr>
          <a:xfrm>
            <a:off x="4023360" y="2496312"/>
            <a:ext cx="91440" cy="219456"/>
          </a:xfrm>
          <a:prstGeom prst="roundRect">
            <a:avLst>
              <a:gd name="adj" fmla="val 30000"/>
            </a:avLst>
          </a:prstGeom>
          <a:solidFill>
            <a:srgbClr val="F2A900"/>
          </a:solidFill>
          <a:ln w="12700">
            <a:solidFill>
              <a:srgbClr val="C98C00"/>
            </a:solidFill>
            <a:prstDash val="solid"/>
          </a:ln>
        </p:spPr>
        <p:txBody>
          <a:bodyPr/>
          <a:lstStyle/>
          <a:p>
            <a:endParaRPr lang="en-US"/>
          </a:p>
        </p:txBody>
      </p:sp>
      <p:sp>
        <p:nvSpPr>
          <p:cNvPr id="38" name="Shape 36"/>
          <p:cNvSpPr/>
          <p:nvPr/>
        </p:nvSpPr>
        <p:spPr>
          <a:xfrm>
            <a:off x="4206240" y="2496312"/>
            <a:ext cx="91440" cy="219456"/>
          </a:xfrm>
          <a:prstGeom prst="roundRect">
            <a:avLst>
              <a:gd name="adj" fmla="val 30000"/>
            </a:avLst>
          </a:prstGeom>
          <a:solidFill>
            <a:srgbClr val="F2A900"/>
          </a:solidFill>
          <a:ln w="12700">
            <a:solidFill>
              <a:srgbClr val="C98C00"/>
            </a:solidFill>
            <a:prstDash val="solid"/>
          </a:ln>
        </p:spPr>
        <p:txBody>
          <a:bodyPr/>
          <a:lstStyle/>
          <a:p>
            <a:endParaRPr lang="en-US"/>
          </a:p>
        </p:txBody>
      </p:sp>
      <p:sp>
        <p:nvSpPr>
          <p:cNvPr id="39" name="Text 37"/>
          <p:cNvSpPr txBox="1"/>
          <p:nvPr/>
        </p:nvSpPr>
        <p:spPr>
          <a:xfrm>
            <a:off x="548640" y="2935224"/>
            <a:ext cx="1371600" cy="256032"/>
          </a:xfrm>
          <a:prstGeom prst="rect">
            <a:avLst/>
          </a:prstGeom>
          <a:noFill/>
          <a:ln/>
        </p:spPr>
        <p:txBody>
          <a:bodyPr wrap="square" lIns="0" tIns="0" rIns="0" bIns="0" rtlCol="0" anchor="ctr"/>
          <a:lstStyle/>
          <a:p>
            <a:pPr marL="0" indent="0" algn="r">
              <a:buNone/>
            </a:pPr>
            <a:r>
              <a:rPr lang="en-US" sz="1400" dirty="0">
                <a:solidFill>
                  <a:srgbClr val="1B1B1B"/>
                </a:solidFill>
              </a:rPr>
              <a:t>under 5 cm</a:t>
            </a:r>
            <a:endParaRPr lang="en-US" sz="1400" dirty="0"/>
          </a:p>
        </p:txBody>
      </p:sp>
      <p:sp>
        <p:nvSpPr>
          <p:cNvPr id="40" name="Shape 38"/>
          <p:cNvSpPr/>
          <p:nvPr/>
        </p:nvSpPr>
        <p:spPr>
          <a:xfrm>
            <a:off x="2011680" y="3209544"/>
            <a:ext cx="2377440" cy="0"/>
          </a:xfrm>
          <a:prstGeom prst="line">
            <a:avLst/>
          </a:prstGeom>
          <a:noFill/>
          <a:ln w="12700">
            <a:solidFill>
              <a:srgbClr val="C8C8C8"/>
            </a:solidFill>
            <a:prstDash val="solid"/>
          </a:ln>
        </p:spPr>
        <p:txBody>
          <a:bodyPr/>
          <a:lstStyle/>
          <a:p>
            <a:endParaRPr lang="en-US"/>
          </a:p>
        </p:txBody>
      </p:sp>
      <p:sp>
        <p:nvSpPr>
          <p:cNvPr id="41" name="Shape 39"/>
          <p:cNvSpPr/>
          <p:nvPr/>
        </p:nvSpPr>
        <p:spPr>
          <a:xfrm>
            <a:off x="2011680" y="2953512"/>
            <a:ext cx="2377440" cy="219456"/>
          </a:xfrm>
          <a:prstGeom prst="roundRect">
            <a:avLst>
              <a:gd name="adj" fmla="val 20833"/>
            </a:avLst>
          </a:prstGeom>
          <a:solidFill>
            <a:srgbClr val="F2A900"/>
          </a:solidFill>
          <a:ln w="12700">
            <a:solidFill>
              <a:srgbClr val="C98C00"/>
            </a:solidFill>
            <a:prstDash val="solid"/>
          </a:ln>
        </p:spPr>
        <p:txBody>
          <a:bodyPr/>
          <a:lstStyle/>
          <a:p>
            <a:endParaRPr lang="en-US"/>
          </a:p>
        </p:txBody>
      </p:sp>
      <p:sp>
        <p:nvSpPr>
          <p:cNvPr id="42" name="Text 40"/>
          <p:cNvSpPr txBox="1"/>
          <p:nvPr/>
        </p:nvSpPr>
        <p:spPr>
          <a:xfrm>
            <a:off x="457200" y="3474720"/>
            <a:ext cx="4023360" cy="548640"/>
          </a:xfrm>
          <a:prstGeom prst="rect">
            <a:avLst/>
          </a:prstGeom>
          <a:noFill/>
          <a:ln/>
        </p:spPr>
        <p:txBody>
          <a:bodyPr wrap="square" lIns="0" tIns="0" rIns="0" bIns="0" rtlCol="0" anchor="ctr"/>
          <a:lstStyle/>
          <a:p>
            <a:pPr marL="0" indent="0">
              <a:buNone/>
            </a:pPr>
            <a:r>
              <a:rPr lang="en-US" sz="1400" i="1" dirty="0">
                <a:solidFill>
                  <a:srgbClr val="0B3D2E"/>
                </a:solidFill>
              </a:rPr>
              <a:t>The gap between beeps gets shorter as you get closer.</a:t>
            </a:r>
            <a:endParaRPr lang="en-US" sz="1400" dirty="0"/>
          </a:p>
        </p:txBody>
      </p:sp>
      <p:sp>
        <p:nvSpPr>
          <p:cNvPr id="43" name="Shape 41"/>
          <p:cNvSpPr/>
          <p:nvPr/>
        </p:nvSpPr>
        <p:spPr>
          <a:xfrm>
            <a:off x="4663440" y="1051560"/>
            <a:ext cx="4023360" cy="1691640"/>
          </a:xfrm>
          <a:prstGeom prst="roundRect">
            <a:avLst>
              <a:gd name="adj" fmla="val 4324"/>
            </a:avLst>
          </a:prstGeom>
          <a:solidFill>
            <a:srgbClr val="14261F"/>
          </a:solidFill>
          <a:ln w="12700">
            <a:solidFill>
              <a:srgbClr val="14261F"/>
            </a:solidFill>
            <a:prstDash val="solid"/>
          </a:ln>
        </p:spPr>
        <p:txBody>
          <a:bodyPr/>
          <a:lstStyle/>
          <a:p>
            <a:endParaRPr lang="en-US"/>
          </a:p>
        </p:txBody>
      </p:sp>
      <p:sp>
        <p:nvSpPr>
          <p:cNvPr id="44" name="Text 42"/>
          <p:cNvSpPr txBox="1"/>
          <p:nvPr/>
        </p:nvSpPr>
        <p:spPr>
          <a:xfrm>
            <a:off x="4800600" y="1115568"/>
            <a:ext cx="3749040" cy="219456"/>
          </a:xfrm>
          <a:prstGeom prst="rect">
            <a:avLst/>
          </a:prstGeom>
          <a:noFill/>
          <a:ln/>
        </p:spPr>
        <p:txBody>
          <a:bodyPr wrap="square" lIns="0" tIns="0" rIns="0" bIns="0" rtlCol="0" anchor="ctr"/>
          <a:lstStyle/>
          <a:p>
            <a:pPr marL="0" indent="0">
              <a:buNone/>
            </a:pPr>
            <a:r>
              <a:rPr lang="en-US" sz="1100" b="1" dirty="0">
                <a:solidFill>
                  <a:srgbClr val="F2A900"/>
                </a:solidFill>
              </a:rPr>
              <a:t>step3_parking_beep.py</a:t>
            </a:r>
            <a:r>
              <a:rPr lang="en-US" sz="1100" dirty="0">
                <a:solidFill>
                  <a:srgbClr val="9FB8AD"/>
                </a:solidFill>
              </a:rPr>
              <a:t>  ·  lines 54–66</a:t>
            </a:r>
            <a:endParaRPr lang="en-US" sz="1100" dirty="0"/>
          </a:p>
        </p:txBody>
      </p:sp>
      <p:sp>
        <p:nvSpPr>
          <p:cNvPr id="45" name="Shape 43"/>
          <p:cNvSpPr/>
          <p:nvPr/>
        </p:nvSpPr>
        <p:spPr>
          <a:xfrm>
            <a:off x="4773168" y="1371600"/>
            <a:ext cx="3803904" cy="0"/>
          </a:xfrm>
          <a:prstGeom prst="line">
            <a:avLst/>
          </a:prstGeom>
          <a:noFill/>
          <a:ln w="12700">
            <a:solidFill>
              <a:srgbClr val="2F4A3F"/>
            </a:solidFill>
            <a:prstDash val="solid"/>
          </a:ln>
        </p:spPr>
        <p:txBody>
          <a:bodyPr/>
          <a:lstStyle/>
          <a:p>
            <a:endParaRPr lang="en-US"/>
          </a:p>
        </p:txBody>
      </p:sp>
      <p:sp>
        <p:nvSpPr>
          <p:cNvPr id="46" name="Text 44"/>
          <p:cNvSpPr txBox="1"/>
          <p:nvPr/>
        </p:nvSpPr>
        <p:spPr>
          <a:xfrm>
            <a:off x="4754880" y="1435608"/>
            <a:ext cx="3840480" cy="1234440"/>
          </a:xfrm>
          <a:prstGeom prst="rect">
            <a:avLst/>
          </a:prstGeom>
          <a:noFill/>
          <a:ln/>
        </p:spPr>
        <p:txBody>
          <a:bodyPr wrap="square" lIns="0" tIns="0" rIns="0" bIns="0" rtlCol="0" anchor="t"/>
          <a:lstStyle/>
          <a:p>
            <a:pPr marL="0" indent="0">
              <a:buNone/>
            </a:pPr>
            <a:r>
              <a:rPr lang="en-US" sz="1100" dirty="0">
                <a:solidFill>
                  <a:srgbClr val="6F8A7F"/>
                </a:solidFill>
                <a:latin typeface="Courier New" pitchFamily="34" charset="0"/>
                <a:ea typeface="Courier New" pitchFamily="34" charset="-122"/>
                <a:cs typeface="Courier New" pitchFamily="34" charset="-120"/>
              </a:rPr>
              <a:t> 54  </a:t>
            </a:r>
            <a:r>
              <a:rPr lang="en-US" sz="1100" dirty="0">
                <a:solidFill>
                  <a:srgbClr val="E6F2EC"/>
                </a:solidFill>
                <a:latin typeface="Courier New" pitchFamily="34" charset="0"/>
                <a:ea typeface="Courier New" pitchFamily="34" charset="-122"/>
                <a:cs typeface="Courier New" pitchFamily="34" charset="-120"/>
              </a:rPr>
              <a:t>def gap_for(distance):</a:t>
            </a:r>
            <a:endParaRPr lang="en-US" sz="1100" dirty="0"/>
          </a:p>
          <a:p>
            <a:pPr marL="0" indent="0">
              <a:buNone/>
            </a:pPr>
            <a:r>
              <a:rPr lang="en-US" sz="1100" dirty="0">
                <a:solidFill>
                  <a:srgbClr val="6F8A7F"/>
                </a:solidFill>
                <a:latin typeface="Courier New" pitchFamily="34" charset="0"/>
                <a:ea typeface="Courier New" pitchFamily="34" charset="-122"/>
                <a:cs typeface="Courier New" pitchFamily="34" charset="-120"/>
              </a:rPr>
              <a:t>   ⋮</a:t>
            </a:r>
            <a:endParaRPr lang="en-US" sz="1100" dirty="0"/>
          </a:p>
          <a:p>
            <a:pPr marL="0" indent="0">
              <a:buNone/>
            </a:pPr>
            <a:r>
              <a:rPr lang="en-US" sz="1100" dirty="0">
                <a:solidFill>
                  <a:srgbClr val="6F8A7F"/>
                </a:solidFill>
                <a:latin typeface="Courier New" pitchFamily="34" charset="0"/>
                <a:ea typeface="Courier New" pitchFamily="34" charset="-122"/>
                <a:cs typeface="Courier New" pitchFamily="34" charset="-120"/>
              </a:rPr>
              <a:t> 58  </a:t>
            </a:r>
            <a:r>
              <a:rPr lang="en-US" sz="1100" dirty="0">
                <a:solidFill>
                  <a:srgbClr val="9FB8AD"/>
                </a:solidFill>
                <a:latin typeface="Courier New" pitchFamily="34" charset="0"/>
                <a:ea typeface="Courier New" pitchFamily="34" charset="-122"/>
                <a:cs typeface="Courier New" pitchFamily="34" charset="-120"/>
              </a:rPr>
              <a:t>    # ----- YOUR CODE STARTS HERE -----</a:t>
            </a:r>
            <a:endParaRPr lang="en-US" sz="1100" dirty="0"/>
          </a:p>
          <a:p>
            <a:pPr marL="0" indent="0">
              <a:buNone/>
            </a:pPr>
            <a:r>
              <a:rPr lang="en-US" sz="1100" dirty="0">
                <a:solidFill>
                  <a:srgbClr val="6F8A7F"/>
                </a:solidFill>
                <a:latin typeface="Courier New" pitchFamily="34" charset="0"/>
                <a:ea typeface="Courier New" pitchFamily="34" charset="-122"/>
                <a:cs typeface="Courier New" pitchFamily="34" charset="-120"/>
              </a:rPr>
              <a:t>   ⋮</a:t>
            </a:r>
            <a:endParaRPr lang="en-US" sz="1100" dirty="0"/>
          </a:p>
          <a:p>
            <a:pPr marL="0" indent="0">
              <a:buNone/>
            </a:pPr>
            <a:r>
              <a:rPr lang="en-US" sz="1100" dirty="0">
                <a:solidFill>
                  <a:srgbClr val="6F8A7F"/>
                </a:solidFill>
                <a:latin typeface="Courier New" pitchFamily="34" charset="0"/>
                <a:ea typeface="Courier New" pitchFamily="34" charset="-122"/>
                <a:cs typeface="Courier New" pitchFamily="34" charset="-120"/>
              </a:rPr>
              <a:t> 65  </a:t>
            </a:r>
            <a:r>
              <a:rPr lang="en-US" sz="1100" dirty="0">
                <a:solidFill>
                  <a:srgbClr val="E6F2EC"/>
                </a:solidFill>
                <a:latin typeface="Courier New" pitchFamily="34" charset="0"/>
                <a:ea typeface="Courier New" pitchFamily="34" charset="-122"/>
                <a:cs typeface="Courier New" pitchFamily="34" charset="-120"/>
              </a:rPr>
              <a:t>    return 0.5</a:t>
            </a:r>
            <a:endParaRPr lang="en-US" sz="1100" dirty="0"/>
          </a:p>
          <a:p>
            <a:pPr marL="0" indent="0">
              <a:buNone/>
            </a:pPr>
            <a:r>
              <a:rPr lang="en-US" sz="1100" dirty="0">
                <a:solidFill>
                  <a:srgbClr val="6F8A7F"/>
                </a:solidFill>
                <a:latin typeface="Courier New" pitchFamily="34" charset="0"/>
                <a:ea typeface="Courier New" pitchFamily="34" charset="-122"/>
                <a:cs typeface="Courier New" pitchFamily="34" charset="-120"/>
              </a:rPr>
              <a:t> 66  </a:t>
            </a:r>
            <a:r>
              <a:rPr lang="en-US" sz="1100" dirty="0">
                <a:solidFill>
                  <a:srgbClr val="9FB8AD"/>
                </a:solidFill>
                <a:latin typeface="Courier New" pitchFamily="34" charset="0"/>
                <a:ea typeface="Courier New" pitchFamily="34" charset="-122"/>
                <a:cs typeface="Courier New" pitchFamily="34" charset="-120"/>
              </a:rPr>
              <a:t>    # ----- YOUR CODE ENDS HERE -----</a:t>
            </a:r>
            <a:endParaRPr lang="en-US" sz="1100" dirty="0"/>
          </a:p>
        </p:txBody>
      </p:sp>
      <p:sp>
        <p:nvSpPr>
          <p:cNvPr id="47" name="Text 45"/>
          <p:cNvSpPr txBox="1"/>
          <p:nvPr/>
        </p:nvSpPr>
        <p:spPr>
          <a:xfrm>
            <a:off x="4663440" y="2816352"/>
            <a:ext cx="4023360" cy="594360"/>
          </a:xfrm>
          <a:prstGeom prst="rect">
            <a:avLst/>
          </a:prstGeom>
          <a:noFill/>
          <a:ln/>
        </p:spPr>
        <p:txBody>
          <a:bodyPr wrap="square" lIns="0" tIns="0" rIns="0" bIns="0" rtlCol="0" anchor="ctr"/>
          <a:lstStyle/>
          <a:p>
            <a:pPr marL="0" indent="0">
              <a:buNone/>
            </a:pPr>
            <a:r>
              <a:rPr lang="en-US" sz="1400" dirty="0">
                <a:solidFill>
                  <a:srgbClr val="1B1B1B"/>
                </a:solidFill>
              </a:rPr>
              <a:t>Your job: replace line 65 so the gap depends on distance. Do not change any other lines.</a:t>
            </a:r>
            <a:endParaRPr lang="en-US" sz="1400" dirty="0"/>
          </a:p>
        </p:txBody>
      </p:sp>
      <p:sp>
        <p:nvSpPr>
          <p:cNvPr id="48" name="Shape 46"/>
          <p:cNvSpPr/>
          <p:nvPr/>
        </p:nvSpPr>
        <p:spPr>
          <a:xfrm>
            <a:off x="4663440" y="3520440"/>
            <a:ext cx="4023360" cy="548640"/>
          </a:xfrm>
          <a:prstGeom prst="roundRect">
            <a:avLst>
              <a:gd name="adj" fmla="val 13333"/>
            </a:avLst>
          </a:prstGeom>
          <a:solidFill>
            <a:srgbClr val="DDF3E9"/>
          </a:solidFill>
          <a:ln w="15875">
            <a:solidFill>
              <a:srgbClr val="1F8A70"/>
            </a:solidFill>
            <a:prstDash val="solid"/>
          </a:ln>
        </p:spPr>
        <p:txBody>
          <a:bodyPr/>
          <a:lstStyle/>
          <a:p>
            <a:endParaRPr lang="en-US"/>
          </a:p>
        </p:txBody>
      </p:sp>
      <p:sp>
        <p:nvSpPr>
          <p:cNvPr id="49" name="Text 47"/>
          <p:cNvSpPr txBox="1"/>
          <p:nvPr/>
        </p:nvSpPr>
        <p:spPr>
          <a:xfrm>
            <a:off x="4800600" y="3520440"/>
            <a:ext cx="3749040" cy="548640"/>
          </a:xfrm>
          <a:prstGeom prst="rect">
            <a:avLst/>
          </a:prstGeom>
          <a:noFill/>
          <a:ln/>
        </p:spPr>
        <p:txBody>
          <a:bodyPr wrap="square" lIns="0" tIns="0" rIns="0" bIns="0" rtlCol="0" anchor="ctr"/>
          <a:lstStyle/>
          <a:p>
            <a:pPr marL="0" indent="0">
              <a:buNone/>
            </a:pPr>
            <a:r>
              <a:rPr lang="en-US" sz="1200" b="1" dirty="0">
                <a:solidFill>
                  <a:srgbClr val="1F8A70"/>
                </a:solidFill>
              </a:rPr>
              <a:t>CHECKPOINT  </a:t>
            </a:r>
            <a:r>
              <a:rPr lang="en-US" sz="1400" dirty="0">
                <a:solidFill>
                  <a:srgbClr val="1B1B1B"/>
                </a:solidFill>
              </a:rPr>
              <a:t>Beeps speed up as your hand comes closer.</a:t>
            </a:r>
            <a:endParaRPr lang="en-US" sz="1400" dirty="0"/>
          </a:p>
        </p:txBody>
      </p:sp>
      <p:sp>
        <p:nvSpPr>
          <p:cNvPr id="50" name="Shape 48"/>
          <p:cNvSpPr/>
          <p:nvPr/>
        </p:nvSpPr>
        <p:spPr>
          <a:xfrm>
            <a:off x="457200" y="4114800"/>
            <a:ext cx="4023360" cy="502920"/>
          </a:xfrm>
          <a:prstGeom prst="roundRect">
            <a:avLst>
              <a:gd name="adj" fmla="val 14545"/>
            </a:avLst>
          </a:prstGeom>
          <a:solidFill>
            <a:srgbClr val="FFF4D6"/>
          </a:solidFill>
          <a:ln w="12700">
            <a:solidFill>
              <a:srgbClr val="E0A800"/>
            </a:solidFill>
            <a:prstDash val="solid"/>
          </a:ln>
        </p:spPr>
        <p:txBody>
          <a:bodyPr/>
          <a:lstStyle/>
          <a:p>
            <a:endParaRPr lang="en-US"/>
          </a:p>
        </p:txBody>
      </p:sp>
      <p:sp>
        <p:nvSpPr>
          <p:cNvPr id="51" name="Text 49"/>
          <p:cNvSpPr txBox="1"/>
          <p:nvPr/>
        </p:nvSpPr>
        <p:spPr>
          <a:xfrm>
            <a:off x="594360" y="4114800"/>
            <a:ext cx="3749040" cy="502920"/>
          </a:xfrm>
          <a:prstGeom prst="rect">
            <a:avLst/>
          </a:prstGeom>
          <a:noFill/>
          <a:ln/>
        </p:spPr>
        <p:txBody>
          <a:bodyPr wrap="square" lIns="0" tIns="0" rIns="0" bIns="0" rtlCol="0" anchor="ctr"/>
          <a:lstStyle/>
          <a:p>
            <a:pPr marL="0" indent="0">
              <a:buNone/>
            </a:pPr>
            <a:r>
              <a:rPr lang="en-US" sz="1200" b="1" dirty="0">
                <a:solidFill>
                  <a:srgbClr val="9A6B00"/>
                </a:solidFill>
              </a:rPr>
              <a:t>STUCK?  </a:t>
            </a:r>
            <a:r>
              <a:rPr lang="en-US" sz="1400" dirty="0">
                <a:solidFill>
                  <a:srgbClr val="1B1B1B"/>
                </a:solidFill>
              </a:rPr>
              <a:t>Always the same speed? Is line 65 still 0.5?</a:t>
            </a:r>
            <a:endParaRPr lang="en-US" sz="1400" dirty="0"/>
          </a:p>
        </p:txBody>
      </p:sp>
      <p:sp>
        <p:nvSpPr>
          <p:cNvPr id="52"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949440" cy="640080"/>
          </a:xfrm>
          <a:prstGeom prst="rect">
            <a:avLst/>
          </a:prstGeom>
          <a:noFill/>
          <a:ln/>
        </p:spPr>
        <p:txBody>
          <a:bodyPr wrap="square" lIns="0" tIns="0" rIns="0" bIns="0" rtlCol="0" anchor="ctr"/>
          <a:lstStyle/>
          <a:p>
            <a:pPr marL="0" indent="0" algn="l">
              <a:buNone/>
            </a:pPr>
            <a:r>
              <a:rPr lang="en-US" sz="3000" b="1" dirty="0">
                <a:solidFill>
                  <a:schemeClr val="tx2"/>
                </a:solidFill>
              </a:rPr>
              <a:t>Read the code: the main loop</a:t>
            </a:r>
            <a:endParaRPr lang="en-US" sz="3000" dirty="0"/>
          </a:p>
        </p:txBody>
      </p:sp>
      <p:sp>
        <p:nvSpPr>
          <p:cNvPr id="3" name="Shape 1"/>
          <p:cNvSpPr/>
          <p:nvPr/>
        </p:nvSpPr>
        <p:spPr>
          <a:xfrm>
            <a:off x="7818120" y="164592"/>
            <a:ext cx="868680" cy="868680"/>
          </a:xfrm>
          <a:prstGeom prst="ellipse">
            <a:avLst/>
          </a:prstGeom>
          <a:solidFill>
            <a:srgbClr val="F2A900">
              <a:alpha val="30000"/>
            </a:srgbClr>
          </a:solidFill>
          <a:ln w="12700">
            <a:solidFill>
              <a:srgbClr val="F2A900">
                <a:alpha val="0"/>
              </a:srgbClr>
            </a:solidFill>
            <a:prstDash val="solid"/>
          </a:ln>
        </p:spPr>
        <p:txBody>
          <a:bodyPr/>
          <a:lstStyle/>
          <a:p>
            <a:endParaRPr lang="en-US"/>
          </a:p>
        </p:txBody>
      </p:sp>
      <p:sp>
        <p:nvSpPr>
          <p:cNvPr id="4" name="Shape 2"/>
          <p:cNvSpPr/>
          <p:nvPr/>
        </p:nvSpPr>
        <p:spPr>
          <a:xfrm>
            <a:off x="7955280" y="301752"/>
            <a:ext cx="594360" cy="594360"/>
          </a:xfrm>
          <a:prstGeom prst="ellipse">
            <a:avLst/>
          </a:prstGeom>
          <a:solidFill>
            <a:srgbClr val="F2A900"/>
          </a:solidFill>
          <a:ln w="12700">
            <a:solidFill>
              <a:srgbClr val="C98C00"/>
            </a:solidFill>
            <a:prstDash val="solid"/>
          </a:ln>
        </p:spPr>
        <p:txBody>
          <a:bodyPr/>
          <a:lstStyle/>
          <a:p>
            <a:endParaRPr lang="en-US"/>
          </a:p>
        </p:txBody>
      </p:sp>
      <p:sp>
        <p:nvSpPr>
          <p:cNvPr id="5" name="Text 3"/>
          <p:cNvSpPr txBox="1"/>
          <p:nvPr/>
        </p:nvSpPr>
        <p:spPr>
          <a:xfrm>
            <a:off x="7955280" y="301752"/>
            <a:ext cx="594360" cy="594360"/>
          </a:xfrm>
          <a:prstGeom prst="rect">
            <a:avLst/>
          </a:prstGeom>
          <a:noFill/>
          <a:ln/>
        </p:spPr>
        <p:txBody>
          <a:bodyPr wrap="square" lIns="0" tIns="0" rIns="0" bIns="0" rtlCol="0" anchor="ctr"/>
          <a:lstStyle/>
          <a:p>
            <a:pPr marL="0" indent="0" algn="ctr">
              <a:buNone/>
            </a:pPr>
            <a:r>
              <a:rPr lang="en-US" sz="2000" b="1" dirty="0">
                <a:solidFill>
                  <a:srgbClr val="0B3D2E"/>
                </a:solidFill>
              </a:rPr>
              <a:t>3</a:t>
            </a:r>
            <a:endParaRPr lang="en-US" sz="2000" dirty="0"/>
          </a:p>
        </p:txBody>
      </p:sp>
      <p:sp>
        <p:nvSpPr>
          <p:cNvPr id="6" name="Shape 4"/>
          <p:cNvSpPr/>
          <p:nvPr/>
        </p:nvSpPr>
        <p:spPr>
          <a:xfrm>
            <a:off x="457200" y="1097280"/>
            <a:ext cx="2011680" cy="502920"/>
          </a:xfrm>
          <a:prstGeom prst="roundRect">
            <a:avLst>
              <a:gd name="adj" fmla="val 14545"/>
            </a:avLst>
          </a:prstGeom>
          <a:solidFill>
            <a:srgbClr val="EEF5F1"/>
          </a:solidFill>
          <a:ln w="15875">
            <a:solidFill>
              <a:srgbClr val="B7D3C6"/>
            </a:solidFill>
            <a:prstDash val="solid"/>
          </a:ln>
        </p:spPr>
        <p:txBody>
          <a:bodyPr/>
          <a:lstStyle/>
          <a:p>
            <a:endParaRPr lang="en-US"/>
          </a:p>
        </p:txBody>
      </p:sp>
      <p:sp>
        <p:nvSpPr>
          <p:cNvPr id="7" name="Text 5"/>
          <p:cNvSpPr txBox="1"/>
          <p:nvPr/>
        </p:nvSpPr>
        <p:spPr>
          <a:xfrm>
            <a:off x="548640" y="1097280"/>
            <a:ext cx="1828800" cy="502920"/>
          </a:xfrm>
          <a:prstGeom prst="rect">
            <a:avLst/>
          </a:prstGeom>
          <a:noFill/>
          <a:ln/>
        </p:spPr>
        <p:txBody>
          <a:bodyPr wrap="square" lIns="0" tIns="0" rIns="0" bIns="0" rtlCol="0" anchor="ctr"/>
          <a:lstStyle/>
          <a:p>
            <a:pPr marL="0" indent="0" algn="ctr">
              <a:buNone/>
            </a:pPr>
            <a:r>
              <a:rPr lang="en-US" sz="1300" b="1" dirty="0">
                <a:solidFill>
                  <a:srgbClr val="1B1B1B"/>
                </a:solidFill>
              </a:rPr>
              <a:t>Measure distance</a:t>
            </a:r>
            <a:endParaRPr lang="en-US" sz="1300" dirty="0"/>
          </a:p>
        </p:txBody>
      </p:sp>
      <p:sp>
        <p:nvSpPr>
          <p:cNvPr id="8" name="Text 6"/>
          <p:cNvSpPr txBox="1"/>
          <p:nvPr/>
        </p:nvSpPr>
        <p:spPr>
          <a:xfrm>
            <a:off x="457200" y="1618488"/>
            <a:ext cx="2011680" cy="201168"/>
          </a:xfrm>
          <a:prstGeom prst="rect">
            <a:avLst/>
          </a:prstGeom>
          <a:noFill/>
          <a:ln/>
        </p:spPr>
        <p:txBody>
          <a:bodyPr wrap="square" lIns="0" tIns="0" rIns="0" bIns="0" rtlCol="0" anchor="ctr"/>
          <a:lstStyle/>
          <a:p>
            <a:pPr marL="0" indent="0" algn="ctr">
              <a:buNone/>
            </a:pPr>
            <a:r>
              <a:rPr lang="en-US" sz="1000" dirty="0">
                <a:solidFill>
                  <a:srgbClr val="6B7280"/>
                </a:solidFill>
              </a:rPr>
              <a:t>line 72</a:t>
            </a:r>
            <a:endParaRPr lang="en-US" sz="1000" dirty="0"/>
          </a:p>
        </p:txBody>
      </p:sp>
      <p:sp>
        <p:nvSpPr>
          <p:cNvPr id="9" name="Shape 7"/>
          <p:cNvSpPr/>
          <p:nvPr/>
        </p:nvSpPr>
        <p:spPr>
          <a:xfrm>
            <a:off x="1463040" y="1801368"/>
            <a:ext cx="0" cy="164592"/>
          </a:xfrm>
          <a:prstGeom prst="line">
            <a:avLst/>
          </a:prstGeom>
          <a:noFill/>
          <a:ln w="19050">
            <a:solidFill>
              <a:srgbClr val="6B7280"/>
            </a:solidFill>
            <a:prstDash val="solid"/>
            <a:tailEnd type="triangle"/>
          </a:ln>
        </p:spPr>
        <p:txBody>
          <a:bodyPr/>
          <a:lstStyle/>
          <a:p>
            <a:endParaRPr lang="en-US"/>
          </a:p>
        </p:txBody>
      </p:sp>
      <p:sp>
        <p:nvSpPr>
          <p:cNvPr id="10" name="Shape 8"/>
          <p:cNvSpPr/>
          <p:nvPr/>
        </p:nvSpPr>
        <p:spPr>
          <a:xfrm>
            <a:off x="457200" y="1965960"/>
            <a:ext cx="2011680" cy="502920"/>
          </a:xfrm>
          <a:prstGeom prst="roundRect">
            <a:avLst>
              <a:gd name="adj" fmla="val 14545"/>
            </a:avLst>
          </a:prstGeom>
          <a:solidFill>
            <a:srgbClr val="EEF5F1"/>
          </a:solidFill>
          <a:ln w="15875">
            <a:solidFill>
              <a:srgbClr val="B7D3C6"/>
            </a:solidFill>
            <a:prstDash val="solid"/>
          </a:ln>
        </p:spPr>
        <p:txBody>
          <a:bodyPr/>
          <a:lstStyle/>
          <a:p>
            <a:endParaRPr lang="en-US"/>
          </a:p>
        </p:txBody>
      </p:sp>
      <p:sp>
        <p:nvSpPr>
          <p:cNvPr id="11" name="Text 9"/>
          <p:cNvSpPr txBox="1"/>
          <p:nvPr/>
        </p:nvSpPr>
        <p:spPr>
          <a:xfrm>
            <a:off x="548640" y="1965960"/>
            <a:ext cx="1828800" cy="502920"/>
          </a:xfrm>
          <a:prstGeom prst="rect">
            <a:avLst/>
          </a:prstGeom>
          <a:noFill/>
          <a:ln/>
        </p:spPr>
        <p:txBody>
          <a:bodyPr wrap="square" lIns="0" tIns="0" rIns="0" bIns="0" rtlCol="0" anchor="ctr"/>
          <a:lstStyle/>
          <a:p>
            <a:pPr marL="0" indent="0" algn="ctr">
              <a:buNone/>
            </a:pPr>
            <a:r>
              <a:rPr lang="en-US" sz="1300" b="1" dirty="0">
                <a:solidFill>
                  <a:srgbClr val="1B1B1B"/>
                </a:solidFill>
              </a:rPr>
              <a:t>Show LED bar</a:t>
            </a:r>
            <a:endParaRPr lang="en-US" sz="1300" dirty="0"/>
          </a:p>
        </p:txBody>
      </p:sp>
      <p:sp>
        <p:nvSpPr>
          <p:cNvPr id="12" name="Text 10"/>
          <p:cNvSpPr txBox="1"/>
          <p:nvPr/>
        </p:nvSpPr>
        <p:spPr>
          <a:xfrm>
            <a:off x="457200" y="2487168"/>
            <a:ext cx="2011680" cy="201168"/>
          </a:xfrm>
          <a:prstGeom prst="rect">
            <a:avLst/>
          </a:prstGeom>
          <a:noFill/>
          <a:ln/>
        </p:spPr>
        <p:txBody>
          <a:bodyPr wrap="square" lIns="0" tIns="0" rIns="0" bIns="0" rtlCol="0" anchor="ctr"/>
          <a:lstStyle/>
          <a:p>
            <a:pPr marL="0" indent="0" algn="ctr">
              <a:buNone/>
            </a:pPr>
            <a:r>
              <a:rPr lang="en-US" sz="1000" dirty="0">
                <a:solidFill>
                  <a:srgbClr val="6B7280"/>
                </a:solidFill>
              </a:rPr>
              <a:t>line 73</a:t>
            </a:r>
            <a:endParaRPr lang="en-US" sz="1000" dirty="0"/>
          </a:p>
        </p:txBody>
      </p:sp>
      <p:sp>
        <p:nvSpPr>
          <p:cNvPr id="13" name="Shape 11"/>
          <p:cNvSpPr/>
          <p:nvPr/>
        </p:nvSpPr>
        <p:spPr>
          <a:xfrm>
            <a:off x="1463040" y="2670048"/>
            <a:ext cx="0" cy="164592"/>
          </a:xfrm>
          <a:prstGeom prst="line">
            <a:avLst/>
          </a:prstGeom>
          <a:noFill/>
          <a:ln w="19050">
            <a:solidFill>
              <a:srgbClr val="6B7280"/>
            </a:solidFill>
            <a:prstDash val="solid"/>
            <a:tailEnd type="triangle"/>
          </a:ln>
        </p:spPr>
        <p:txBody>
          <a:bodyPr/>
          <a:lstStyle/>
          <a:p>
            <a:endParaRPr lang="en-US"/>
          </a:p>
        </p:txBody>
      </p:sp>
      <p:sp>
        <p:nvSpPr>
          <p:cNvPr id="14" name="Shape 12"/>
          <p:cNvSpPr/>
          <p:nvPr/>
        </p:nvSpPr>
        <p:spPr>
          <a:xfrm>
            <a:off x="594360" y="2834640"/>
            <a:ext cx="1737360" cy="914400"/>
          </a:xfrm>
          <a:prstGeom prst="diamond">
            <a:avLst/>
          </a:prstGeom>
          <a:solidFill>
            <a:srgbClr val="FFF1C2"/>
          </a:solidFill>
          <a:ln w="15875">
            <a:solidFill>
              <a:srgbClr val="E0A800"/>
            </a:solidFill>
            <a:prstDash val="solid"/>
          </a:ln>
        </p:spPr>
        <p:txBody>
          <a:bodyPr/>
          <a:lstStyle/>
          <a:p>
            <a:endParaRPr lang="en-US"/>
          </a:p>
        </p:txBody>
      </p:sp>
      <p:sp>
        <p:nvSpPr>
          <p:cNvPr id="15" name="Text 13"/>
          <p:cNvSpPr txBox="1"/>
          <p:nvPr/>
        </p:nvSpPr>
        <p:spPr>
          <a:xfrm>
            <a:off x="594360" y="2834640"/>
            <a:ext cx="1737360" cy="914400"/>
          </a:xfrm>
          <a:prstGeom prst="rect">
            <a:avLst/>
          </a:prstGeom>
          <a:noFill/>
          <a:ln/>
        </p:spPr>
        <p:txBody>
          <a:bodyPr wrap="square" lIns="0" tIns="0" rIns="0" bIns="0" rtlCol="0" anchor="ctr"/>
          <a:lstStyle/>
          <a:p>
            <a:pPr marL="0" indent="0" algn="ctr">
              <a:buNone/>
            </a:pPr>
            <a:r>
              <a:rPr lang="en-US" sz="1300" b="1" dirty="0">
                <a:solidFill>
                  <a:srgbClr val="1B1B1B"/>
                </a:solidFill>
              </a:rPr>
              <a:t>How far?</a:t>
            </a:r>
            <a:endParaRPr lang="en-US" sz="1300" dirty="0"/>
          </a:p>
        </p:txBody>
      </p:sp>
      <p:sp>
        <p:nvSpPr>
          <p:cNvPr id="16" name="Text 14"/>
          <p:cNvSpPr txBox="1"/>
          <p:nvPr/>
        </p:nvSpPr>
        <p:spPr>
          <a:xfrm>
            <a:off x="457200" y="3767328"/>
            <a:ext cx="2011680" cy="201168"/>
          </a:xfrm>
          <a:prstGeom prst="rect">
            <a:avLst/>
          </a:prstGeom>
          <a:noFill/>
          <a:ln/>
        </p:spPr>
        <p:txBody>
          <a:bodyPr wrap="square" lIns="0" tIns="0" rIns="0" bIns="0" rtlCol="0" anchor="ctr"/>
          <a:lstStyle/>
          <a:p>
            <a:pPr marL="0" indent="0" algn="ctr">
              <a:buNone/>
            </a:pPr>
            <a:r>
              <a:rPr lang="en-US" sz="1000" dirty="0">
                <a:solidFill>
                  <a:srgbClr val="6B7280"/>
                </a:solidFill>
              </a:rPr>
              <a:t>line 75, 78, 81</a:t>
            </a:r>
            <a:endParaRPr lang="en-US" sz="1000" dirty="0"/>
          </a:p>
        </p:txBody>
      </p:sp>
      <p:sp>
        <p:nvSpPr>
          <p:cNvPr id="17" name="Shape 15"/>
          <p:cNvSpPr/>
          <p:nvPr/>
        </p:nvSpPr>
        <p:spPr>
          <a:xfrm>
            <a:off x="2331720" y="3291840"/>
            <a:ext cx="274320" cy="0"/>
          </a:xfrm>
          <a:prstGeom prst="line">
            <a:avLst/>
          </a:prstGeom>
          <a:noFill/>
          <a:ln w="19050">
            <a:solidFill>
              <a:srgbClr val="6B7280"/>
            </a:solidFill>
            <a:prstDash val="solid"/>
          </a:ln>
        </p:spPr>
        <p:txBody>
          <a:bodyPr/>
          <a:lstStyle/>
          <a:p>
            <a:endParaRPr lang="en-US"/>
          </a:p>
        </p:txBody>
      </p:sp>
      <p:sp>
        <p:nvSpPr>
          <p:cNvPr id="18" name="Shape 16"/>
          <p:cNvSpPr/>
          <p:nvPr/>
        </p:nvSpPr>
        <p:spPr>
          <a:xfrm>
            <a:off x="2606040" y="1508760"/>
            <a:ext cx="0" cy="1783080"/>
          </a:xfrm>
          <a:prstGeom prst="line">
            <a:avLst/>
          </a:prstGeom>
          <a:noFill/>
          <a:ln w="19050">
            <a:solidFill>
              <a:srgbClr val="6B7280"/>
            </a:solidFill>
            <a:prstDash val="solid"/>
          </a:ln>
        </p:spPr>
        <p:txBody>
          <a:bodyPr/>
          <a:lstStyle/>
          <a:p>
            <a:endParaRPr lang="en-US"/>
          </a:p>
        </p:txBody>
      </p:sp>
      <p:sp>
        <p:nvSpPr>
          <p:cNvPr id="19" name="Shape 17"/>
          <p:cNvSpPr/>
          <p:nvPr/>
        </p:nvSpPr>
        <p:spPr>
          <a:xfrm>
            <a:off x="2606040" y="1508760"/>
            <a:ext cx="320040" cy="0"/>
          </a:xfrm>
          <a:prstGeom prst="line">
            <a:avLst/>
          </a:prstGeom>
          <a:noFill/>
          <a:ln w="19050">
            <a:solidFill>
              <a:srgbClr val="6B7280"/>
            </a:solidFill>
            <a:prstDash val="solid"/>
            <a:tailEnd type="triangle"/>
          </a:ln>
        </p:spPr>
        <p:txBody>
          <a:bodyPr/>
          <a:lstStyle/>
          <a:p>
            <a:endParaRPr lang="en-US"/>
          </a:p>
        </p:txBody>
      </p:sp>
      <p:sp>
        <p:nvSpPr>
          <p:cNvPr id="20" name="Text 18"/>
          <p:cNvSpPr txBox="1"/>
          <p:nvPr/>
        </p:nvSpPr>
        <p:spPr>
          <a:xfrm>
            <a:off x="2971800" y="1252728"/>
            <a:ext cx="1463040" cy="512064"/>
          </a:xfrm>
          <a:prstGeom prst="rect">
            <a:avLst/>
          </a:prstGeom>
          <a:noFill/>
          <a:ln/>
        </p:spPr>
        <p:txBody>
          <a:bodyPr wrap="square" lIns="0" tIns="0" rIns="0" bIns="0" rtlCol="0" anchor="ctr"/>
          <a:lstStyle/>
          <a:p>
            <a:pPr marL="0" indent="0">
              <a:buNone/>
            </a:pPr>
            <a:r>
              <a:rPr lang="en-US" sz="1300" b="1" dirty="0">
                <a:solidFill>
                  <a:srgbClr val="9A6B00"/>
                </a:solidFill>
              </a:rPr>
              <a:t>25 cm or more</a:t>
            </a:r>
            <a:endParaRPr lang="en-US" sz="1300" dirty="0"/>
          </a:p>
        </p:txBody>
      </p:sp>
      <p:sp>
        <p:nvSpPr>
          <p:cNvPr id="21" name="Shape 19"/>
          <p:cNvSpPr/>
          <p:nvPr/>
        </p:nvSpPr>
        <p:spPr>
          <a:xfrm>
            <a:off x="4434840" y="1234440"/>
            <a:ext cx="2377440" cy="548640"/>
          </a:xfrm>
          <a:prstGeom prst="roundRect">
            <a:avLst>
              <a:gd name="adj" fmla="val 13333"/>
            </a:avLst>
          </a:prstGeom>
          <a:solidFill>
            <a:srgbClr val="EEF5F1"/>
          </a:solidFill>
          <a:ln w="15875">
            <a:solidFill>
              <a:srgbClr val="B7D3C6"/>
            </a:solidFill>
            <a:prstDash val="solid"/>
          </a:ln>
        </p:spPr>
        <p:txBody>
          <a:bodyPr/>
          <a:lstStyle/>
          <a:p>
            <a:endParaRPr lang="en-US"/>
          </a:p>
        </p:txBody>
      </p:sp>
      <p:sp>
        <p:nvSpPr>
          <p:cNvPr id="22" name="Text 20"/>
          <p:cNvSpPr txBox="1"/>
          <p:nvPr/>
        </p:nvSpPr>
        <p:spPr>
          <a:xfrm>
            <a:off x="4526280" y="1234440"/>
            <a:ext cx="2194560" cy="548640"/>
          </a:xfrm>
          <a:prstGeom prst="rect">
            <a:avLst/>
          </a:prstGeom>
          <a:noFill/>
          <a:ln/>
        </p:spPr>
        <p:txBody>
          <a:bodyPr wrap="square" lIns="0" tIns="0" rIns="0" bIns="0" rtlCol="0" anchor="ctr"/>
          <a:lstStyle/>
          <a:p>
            <a:pPr marL="0" indent="0" algn="ctr">
              <a:buNone/>
            </a:pPr>
            <a:r>
              <a:rPr lang="en-US" sz="1300" b="1" dirty="0">
                <a:solidFill>
                  <a:srgbClr val="1B1B1B"/>
                </a:solidFill>
              </a:rPr>
              <a:t>Quiet</a:t>
            </a:r>
            <a:endParaRPr lang="en-US" sz="1300" dirty="0"/>
          </a:p>
        </p:txBody>
      </p:sp>
      <p:sp>
        <p:nvSpPr>
          <p:cNvPr id="23" name="Text 21"/>
          <p:cNvSpPr txBox="1"/>
          <p:nvPr/>
        </p:nvSpPr>
        <p:spPr>
          <a:xfrm>
            <a:off x="4434840" y="1801368"/>
            <a:ext cx="2377440" cy="201168"/>
          </a:xfrm>
          <a:prstGeom prst="rect">
            <a:avLst/>
          </a:prstGeom>
          <a:noFill/>
          <a:ln/>
        </p:spPr>
        <p:txBody>
          <a:bodyPr wrap="square" lIns="0" tIns="0" rIns="0" bIns="0" rtlCol="0" anchor="ctr"/>
          <a:lstStyle/>
          <a:p>
            <a:pPr marL="0" indent="0" algn="ctr">
              <a:buNone/>
            </a:pPr>
            <a:r>
              <a:rPr lang="en-US" sz="1000" dirty="0">
                <a:solidFill>
                  <a:srgbClr val="6B7280"/>
                </a:solidFill>
              </a:rPr>
              <a:t>lines 76–77</a:t>
            </a:r>
            <a:endParaRPr lang="en-US" sz="1000" dirty="0"/>
          </a:p>
        </p:txBody>
      </p:sp>
      <p:sp>
        <p:nvSpPr>
          <p:cNvPr id="24" name="Shape 22"/>
          <p:cNvSpPr/>
          <p:nvPr/>
        </p:nvSpPr>
        <p:spPr>
          <a:xfrm>
            <a:off x="2331720" y="3291840"/>
            <a:ext cx="274320" cy="0"/>
          </a:xfrm>
          <a:prstGeom prst="line">
            <a:avLst/>
          </a:prstGeom>
          <a:noFill/>
          <a:ln w="19050">
            <a:solidFill>
              <a:srgbClr val="6B7280"/>
            </a:solidFill>
            <a:prstDash val="solid"/>
          </a:ln>
        </p:spPr>
        <p:txBody>
          <a:bodyPr/>
          <a:lstStyle/>
          <a:p>
            <a:endParaRPr lang="en-US"/>
          </a:p>
        </p:txBody>
      </p:sp>
      <p:sp>
        <p:nvSpPr>
          <p:cNvPr id="25" name="Shape 23"/>
          <p:cNvSpPr/>
          <p:nvPr/>
        </p:nvSpPr>
        <p:spPr>
          <a:xfrm>
            <a:off x="2606040" y="2532888"/>
            <a:ext cx="0" cy="758952"/>
          </a:xfrm>
          <a:prstGeom prst="line">
            <a:avLst/>
          </a:prstGeom>
          <a:noFill/>
          <a:ln w="19050">
            <a:solidFill>
              <a:srgbClr val="6B7280"/>
            </a:solidFill>
            <a:prstDash val="solid"/>
          </a:ln>
        </p:spPr>
        <p:txBody>
          <a:bodyPr/>
          <a:lstStyle/>
          <a:p>
            <a:endParaRPr lang="en-US"/>
          </a:p>
        </p:txBody>
      </p:sp>
      <p:sp>
        <p:nvSpPr>
          <p:cNvPr id="26" name="Shape 24"/>
          <p:cNvSpPr/>
          <p:nvPr/>
        </p:nvSpPr>
        <p:spPr>
          <a:xfrm>
            <a:off x="2606040" y="2532888"/>
            <a:ext cx="320040" cy="0"/>
          </a:xfrm>
          <a:prstGeom prst="line">
            <a:avLst/>
          </a:prstGeom>
          <a:noFill/>
          <a:ln w="19050">
            <a:solidFill>
              <a:srgbClr val="6B7280"/>
            </a:solidFill>
            <a:prstDash val="solid"/>
            <a:tailEnd type="triangle"/>
          </a:ln>
        </p:spPr>
        <p:txBody>
          <a:bodyPr/>
          <a:lstStyle/>
          <a:p>
            <a:endParaRPr lang="en-US"/>
          </a:p>
        </p:txBody>
      </p:sp>
      <p:sp>
        <p:nvSpPr>
          <p:cNvPr id="27" name="Text 25"/>
          <p:cNvSpPr txBox="1"/>
          <p:nvPr/>
        </p:nvSpPr>
        <p:spPr>
          <a:xfrm>
            <a:off x="2971800" y="2276856"/>
            <a:ext cx="1463040" cy="512064"/>
          </a:xfrm>
          <a:prstGeom prst="rect">
            <a:avLst/>
          </a:prstGeom>
          <a:noFill/>
          <a:ln/>
        </p:spPr>
        <p:txBody>
          <a:bodyPr wrap="square" lIns="0" tIns="0" rIns="0" bIns="0" rtlCol="0" anchor="ctr"/>
          <a:lstStyle/>
          <a:p>
            <a:pPr marL="0" indent="0">
              <a:buNone/>
            </a:pPr>
            <a:r>
              <a:rPr lang="en-US" sz="1300" b="1" dirty="0">
                <a:solidFill>
                  <a:srgbClr val="9A6B00"/>
                </a:solidFill>
              </a:rPr>
              <a:t>under 5 cm</a:t>
            </a:r>
            <a:endParaRPr lang="en-US" sz="1300" dirty="0"/>
          </a:p>
        </p:txBody>
      </p:sp>
      <p:sp>
        <p:nvSpPr>
          <p:cNvPr id="28" name="Shape 26"/>
          <p:cNvSpPr/>
          <p:nvPr/>
        </p:nvSpPr>
        <p:spPr>
          <a:xfrm>
            <a:off x="4434840" y="2258568"/>
            <a:ext cx="2377440" cy="548640"/>
          </a:xfrm>
          <a:prstGeom prst="roundRect">
            <a:avLst>
              <a:gd name="adj" fmla="val 13333"/>
            </a:avLst>
          </a:prstGeom>
          <a:solidFill>
            <a:srgbClr val="EEF5F1"/>
          </a:solidFill>
          <a:ln w="15875">
            <a:solidFill>
              <a:srgbClr val="B7D3C6"/>
            </a:solidFill>
            <a:prstDash val="solid"/>
          </a:ln>
        </p:spPr>
        <p:txBody>
          <a:bodyPr/>
          <a:lstStyle/>
          <a:p>
            <a:endParaRPr lang="en-US"/>
          </a:p>
        </p:txBody>
      </p:sp>
      <p:sp>
        <p:nvSpPr>
          <p:cNvPr id="29" name="Text 27"/>
          <p:cNvSpPr txBox="1"/>
          <p:nvPr/>
        </p:nvSpPr>
        <p:spPr>
          <a:xfrm>
            <a:off x="4526280" y="2258568"/>
            <a:ext cx="2194560" cy="548640"/>
          </a:xfrm>
          <a:prstGeom prst="rect">
            <a:avLst/>
          </a:prstGeom>
          <a:noFill/>
          <a:ln/>
        </p:spPr>
        <p:txBody>
          <a:bodyPr wrap="square" lIns="0" tIns="0" rIns="0" bIns="0" rtlCol="0" anchor="ctr"/>
          <a:lstStyle/>
          <a:p>
            <a:pPr marL="0" indent="0" algn="ctr">
              <a:buNone/>
            </a:pPr>
            <a:r>
              <a:rPr lang="en-US" sz="1300" b="1" dirty="0">
                <a:solidFill>
                  <a:srgbClr val="1B1B1B"/>
                </a:solidFill>
              </a:rPr>
              <a:t>Long beep</a:t>
            </a:r>
            <a:endParaRPr lang="en-US" sz="1300" dirty="0"/>
          </a:p>
        </p:txBody>
      </p:sp>
      <p:sp>
        <p:nvSpPr>
          <p:cNvPr id="30" name="Text 28"/>
          <p:cNvSpPr txBox="1"/>
          <p:nvPr/>
        </p:nvSpPr>
        <p:spPr>
          <a:xfrm>
            <a:off x="4434840" y="2825496"/>
            <a:ext cx="2377440" cy="201168"/>
          </a:xfrm>
          <a:prstGeom prst="rect">
            <a:avLst/>
          </a:prstGeom>
          <a:noFill/>
          <a:ln/>
        </p:spPr>
        <p:txBody>
          <a:bodyPr wrap="square" lIns="0" tIns="0" rIns="0" bIns="0" rtlCol="0" anchor="ctr"/>
          <a:lstStyle/>
          <a:p>
            <a:pPr marL="0" indent="0" algn="ctr">
              <a:buNone/>
            </a:pPr>
            <a:r>
              <a:rPr lang="en-US" sz="1000" dirty="0">
                <a:solidFill>
                  <a:srgbClr val="6B7280"/>
                </a:solidFill>
              </a:rPr>
              <a:t>lines 79–80</a:t>
            </a:r>
            <a:endParaRPr lang="en-US" sz="1000" dirty="0"/>
          </a:p>
        </p:txBody>
      </p:sp>
      <p:sp>
        <p:nvSpPr>
          <p:cNvPr id="31" name="Shape 29"/>
          <p:cNvSpPr/>
          <p:nvPr/>
        </p:nvSpPr>
        <p:spPr>
          <a:xfrm>
            <a:off x="2331720" y="3291840"/>
            <a:ext cx="274320" cy="0"/>
          </a:xfrm>
          <a:prstGeom prst="line">
            <a:avLst/>
          </a:prstGeom>
          <a:noFill/>
          <a:ln w="19050">
            <a:solidFill>
              <a:srgbClr val="6B7280"/>
            </a:solidFill>
            <a:prstDash val="solid"/>
          </a:ln>
        </p:spPr>
        <p:txBody>
          <a:bodyPr/>
          <a:lstStyle/>
          <a:p>
            <a:endParaRPr lang="en-US"/>
          </a:p>
        </p:txBody>
      </p:sp>
      <p:sp>
        <p:nvSpPr>
          <p:cNvPr id="32" name="Shape 30"/>
          <p:cNvSpPr/>
          <p:nvPr/>
        </p:nvSpPr>
        <p:spPr>
          <a:xfrm>
            <a:off x="2606040" y="3291840"/>
            <a:ext cx="0" cy="265176"/>
          </a:xfrm>
          <a:prstGeom prst="line">
            <a:avLst/>
          </a:prstGeom>
          <a:noFill/>
          <a:ln w="19050">
            <a:solidFill>
              <a:srgbClr val="6B7280"/>
            </a:solidFill>
            <a:prstDash val="solid"/>
          </a:ln>
        </p:spPr>
        <p:txBody>
          <a:bodyPr/>
          <a:lstStyle/>
          <a:p>
            <a:endParaRPr lang="en-US"/>
          </a:p>
        </p:txBody>
      </p:sp>
      <p:sp>
        <p:nvSpPr>
          <p:cNvPr id="33" name="Shape 31"/>
          <p:cNvSpPr/>
          <p:nvPr/>
        </p:nvSpPr>
        <p:spPr>
          <a:xfrm>
            <a:off x="2606040" y="3557016"/>
            <a:ext cx="320040" cy="0"/>
          </a:xfrm>
          <a:prstGeom prst="line">
            <a:avLst/>
          </a:prstGeom>
          <a:noFill/>
          <a:ln w="19050">
            <a:solidFill>
              <a:srgbClr val="6B7280"/>
            </a:solidFill>
            <a:prstDash val="solid"/>
            <a:tailEnd type="triangle"/>
          </a:ln>
        </p:spPr>
        <p:txBody>
          <a:bodyPr/>
          <a:lstStyle/>
          <a:p>
            <a:endParaRPr lang="en-US"/>
          </a:p>
        </p:txBody>
      </p:sp>
      <p:sp>
        <p:nvSpPr>
          <p:cNvPr id="34" name="Text 32"/>
          <p:cNvSpPr txBox="1"/>
          <p:nvPr/>
        </p:nvSpPr>
        <p:spPr>
          <a:xfrm>
            <a:off x="2971800" y="3300984"/>
            <a:ext cx="1463040" cy="512064"/>
          </a:xfrm>
          <a:prstGeom prst="rect">
            <a:avLst/>
          </a:prstGeom>
          <a:noFill/>
          <a:ln/>
        </p:spPr>
        <p:txBody>
          <a:bodyPr wrap="square" lIns="0" tIns="0" rIns="0" bIns="0" rtlCol="0" anchor="ctr"/>
          <a:lstStyle/>
          <a:p>
            <a:pPr marL="0" indent="0">
              <a:buNone/>
            </a:pPr>
            <a:r>
              <a:rPr lang="en-US" sz="1300" b="1" dirty="0">
                <a:solidFill>
                  <a:srgbClr val="9A6B00"/>
                </a:solidFill>
              </a:rPr>
              <a:t>5 – 25 cm</a:t>
            </a:r>
            <a:endParaRPr lang="en-US" sz="1300" dirty="0"/>
          </a:p>
        </p:txBody>
      </p:sp>
      <p:sp>
        <p:nvSpPr>
          <p:cNvPr id="35" name="Shape 33"/>
          <p:cNvSpPr/>
          <p:nvPr/>
        </p:nvSpPr>
        <p:spPr>
          <a:xfrm>
            <a:off x="4434840" y="3282696"/>
            <a:ext cx="2377440" cy="548640"/>
          </a:xfrm>
          <a:prstGeom prst="roundRect">
            <a:avLst>
              <a:gd name="adj" fmla="val 13333"/>
            </a:avLst>
          </a:prstGeom>
          <a:solidFill>
            <a:srgbClr val="DDF3E9"/>
          </a:solidFill>
          <a:ln w="15875">
            <a:solidFill>
              <a:srgbClr val="1F8A70"/>
            </a:solidFill>
            <a:prstDash val="solid"/>
          </a:ln>
        </p:spPr>
        <p:txBody>
          <a:bodyPr/>
          <a:lstStyle/>
          <a:p>
            <a:endParaRPr lang="en-US"/>
          </a:p>
        </p:txBody>
      </p:sp>
      <p:sp>
        <p:nvSpPr>
          <p:cNvPr id="36" name="Text 34"/>
          <p:cNvSpPr txBox="1"/>
          <p:nvPr/>
        </p:nvSpPr>
        <p:spPr>
          <a:xfrm>
            <a:off x="4526280" y="3282696"/>
            <a:ext cx="2194560" cy="548640"/>
          </a:xfrm>
          <a:prstGeom prst="rect">
            <a:avLst/>
          </a:prstGeom>
          <a:noFill/>
          <a:ln/>
        </p:spPr>
        <p:txBody>
          <a:bodyPr wrap="square" lIns="0" tIns="0" rIns="0" bIns="0" rtlCol="0" anchor="ctr"/>
          <a:lstStyle/>
          <a:p>
            <a:pPr marL="0" indent="0" algn="ctr">
              <a:buNone/>
            </a:pPr>
            <a:r>
              <a:rPr lang="en-US" sz="1300" b="1" dirty="0">
                <a:solidFill>
                  <a:srgbClr val="1B1B1B"/>
                </a:solidFill>
              </a:rPr>
              <a:t>Short beep, then wait gap_for(distance)</a:t>
            </a:r>
            <a:endParaRPr lang="en-US" sz="1300" dirty="0"/>
          </a:p>
        </p:txBody>
      </p:sp>
      <p:sp>
        <p:nvSpPr>
          <p:cNvPr id="37" name="Text 35"/>
          <p:cNvSpPr txBox="1"/>
          <p:nvPr/>
        </p:nvSpPr>
        <p:spPr>
          <a:xfrm>
            <a:off x="4434840" y="3849624"/>
            <a:ext cx="2377440" cy="201168"/>
          </a:xfrm>
          <a:prstGeom prst="rect">
            <a:avLst/>
          </a:prstGeom>
          <a:noFill/>
          <a:ln/>
        </p:spPr>
        <p:txBody>
          <a:bodyPr wrap="square" lIns="0" tIns="0" rIns="0" bIns="0" rtlCol="0" anchor="ctr"/>
          <a:lstStyle/>
          <a:p>
            <a:pPr marL="0" indent="0" algn="ctr">
              <a:buNone/>
            </a:pPr>
            <a:r>
              <a:rPr lang="en-US" sz="1000" dirty="0">
                <a:solidFill>
                  <a:srgbClr val="6B7280"/>
                </a:solidFill>
              </a:rPr>
              <a:t>lines 82–85</a:t>
            </a:r>
            <a:endParaRPr lang="en-US" sz="1000" dirty="0"/>
          </a:p>
        </p:txBody>
      </p:sp>
      <p:sp>
        <p:nvSpPr>
          <p:cNvPr id="38" name="Text 36"/>
          <p:cNvSpPr txBox="1"/>
          <p:nvPr/>
        </p:nvSpPr>
        <p:spPr>
          <a:xfrm>
            <a:off x="7040880" y="1234440"/>
            <a:ext cx="1645920" cy="1280160"/>
          </a:xfrm>
          <a:prstGeom prst="rect">
            <a:avLst/>
          </a:prstGeom>
          <a:noFill/>
          <a:ln/>
        </p:spPr>
        <p:txBody>
          <a:bodyPr wrap="square" lIns="0" tIns="0" rIns="0" bIns="0" rtlCol="0" anchor="ctr"/>
          <a:lstStyle/>
          <a:p>
            <a:pPr marL="0" indent="0">
              <a:buNone/>
            </a:pPr>
            <a:r>
              <a:rPr lang="en-US" sz="1300" i="1" dirty="0">
                <a:solidFill>
                  <a:srgbClr val="0B3D2E"/>
                </a:solidFill>
              </a:rPr>
              <a:t>Then back to the top. Again and again, 10 times a second or faster.</a:t>
            </a:r>
            <a:endParaRPr lang="en-US" sz="1300" dirty="0"/>
          </a:p>
        </p:txBody>
      </p:sp>
      <p:sp>
        <p:nvSpPr>
          <p:cNvPr id="39" name="Shape 37"/>
          <p:cNvSpPr/>
          <p:nvPr/>
        </p:nvSpPr>
        <p:spPr>
          <a:xfrm>
            <a:off x="7040880" y="3291840"/>
            <a:ext cx="1645920" cy="822960"/>
          </a:xfrm>
          <a:prstGeom prst="roundRect">
            <a:avLst>
              <a:gd name="adj" fmla="val 8889"/>
            </a:avLst>
          </a:prstGeom>
          <a:solidFill>
            <a:srgbClr val="DDF3E9"/>
          </a:solidFill>
          <a:ln w="15875">
            <a:solidFill>
              <a:srgbClr val="1F8A70"/>
            </a:solidFill>
            <a:prstDash val="solid"/>
          </a:ln>
        </p:spPr>
        <p:txBody>
          <a:bodyPr/>
          <a:lstStyle/>
          <a:p>
            <a:endParaRPr lang="en-US"/>
          </a:p>
        </p:txBody>
      </p:sp>
      <p:sp>
        <p:nvSpPr>
          <p:cNvPr id="40" name="Text 38"/>
          <p:cNvSpPr txBox="1"/>
          <p:nvPr/>
        </p:nvSpPr>
        <p:spPr>
          <a:xfrm>
            <a:off x="7132320" y="3291840"/>
            <a:ext cx="1463040" cy="822960"/>
          </a:xfrm>
          <a:prstGeom prst="rect">
            <a:avLst/>
          </a:prstGeom>
          <a:noFill/>
          <a:ln/>
        </p:spPr>
        <p:txBody>
          <a:bodyPr wrap="square" lIns="0" tIns="0" rIns="0" bIns="0" rtlCol="0" anchor="ctr"/>
          <a:lstStyle/>
          <a:p>
            <a:pPr marL="0" indent="0">
              <a:buNone/>
            </a:pPr>
            <a:r>
              <a:rPr lang="en-US" sz="1300" b="1" dirty="0">
                <a:solidFill>
                  <a:srgbClr val="1F8A70"/>
                </a:solidFill>
              </a:rPr>
              <a:t>Your gap_for() is used only here</a:t>
            </a:r>
            <a:endParaRPr lang="en-US" sz="1300" dirty="0"/>
          </a:p>
        </p:txBody>
      </p:sp>
      <p:sp>
        <p:nvSpPr>
          <p:cNvPr id="41"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949440" cy="640080"/>
          </a:xfrm>
          <a:prstGeom prst="rect">
            <a:avLst/>
          </a:prstGeom>
          <a:noFill/>
          <a:ln/>
        </p:spPr>
        <p:txBody>
          <a:bodyPr wrap="square" lIns="0" tIns="0" rIns="0" bIns="0" rtlCol="0" anchor="ctr"/>
          <a:lstStyle/>
          <a:p>
            <a:pPr marL="0" indent="0" algn="l">
              <a:buNone/>
            </a:pPr>
            <a:r>
              <a:rPr lang="en-US" sz="3000" b="1" dirty="0">
                <a:solidFill>
                  <a:schemeClr val="tx2"/>
                </a:solidFill>
              </a:rPr>
              <a:t>The whole circuit</a:t>
            </a:r>
            <a:endParaRPr lang="en-US" sz="3000" dirty="0"/>
          </a:p>
        </p:txBody>
      </p:sp>
      <p:sp>
        <p:nvSpPr>
          <p:cNvPr id="3" name="Shape 1"/>
          <p:cNvSpPr/>
          <p:nvPr/>
        </p:nvSpPr>
        <p:spPr>
          <a:xfrm>
            <a:off x="457200" y="960120"/>
            <a:ext cx="1143000" cy="3611880"/>
          </a:xfrm>
          <a:prstGeom prst="roundRect">
            <a:avLst>
              <a:gd name="adj" fmla="val 6400"/>
            </a:avLst>
          </a:prstGeom>
          <a:solidFill>
            <a:srgbClr val="263238"/>
          </a:solidFill>
          <a:ln w="12700">
            <a:solidFill>
              <a:srgbClr val="263238"/>
            </a:solidFill>
            <a:prstDash val="solid"/>
          </a:ln>
        </p:spPr>
        <p:txBody>
          <a:bodyPr/>
          <a:lstStyle/>
          <a:p>
            <a:endParaRPr lang="en-US"/>
          </a:p>
        </p:txBody>
      </p:sp>
      <p:sp>
        <p:nvSpPr>
          <p:cNvPr id="4" name="Text 2"/>
          <p:cNvSpPr txBox="1"/>
          <p:nvPr/>
        </p:nvSpPr>
        <p:spPr>
          <a:xfrm>
            <a:off x="548640" y="1033272"/>
            <a:ext cx="960120" cy="228600"/>
          </a:xfrm>
          <a:prstGeom prst="rect">
            <a:avLst/>
          </a:prstGeom>
          <a:noFill/>
          <a:ln/>
        </p:spPr>
        <p:txBody>
          <a:bodyPr wrap="square" lIns="0" tIns="0" rIns="0" bIns="0" rtlCol="0" anchor="ctr"/>
          <a:lstStyle/>
          <a:p>
            <a:pPr marL="0" indent="0">
              <a:buNone/>
            </a:pPr>
            <a:r>
              <a:rPr lang="en-US" sz="1100" b="1" dirty="0">
                <a:solidFill>
                  <a:srgbClr val="B0BEC5"/>
                </a:solidFill>
              </a:rPr>
              <a:t>ESP32</a:t>
            </a:r>
            <a:endParaRPr lang="en-US" sz="1100" dirty="0"/>
          </a:p>
        </p:txBody>
      </p:sp>
      <p:sp>
        <p:nvSpPr>
          <p:cNvPr id="5" name="Shape 3"/>
          <p:cNvSpPr/>
          <p:nvPr/>
        </p:nvSpPr>
        <p:spPr>
          <a:xfrm>
            <a:off x="1536192" y="1143000"/>
            <a:ext cx="128016" cy="128016"/>
          </a:xfrm>
          <a:prstGeom prst="rect">
            <a:avLst/>
          </a:prstGeom>
          <a:solidFill>
            <a:srgbClr val="FFD54F"/>
          </a:solidFill>
          <a:ln w="6350">
            <a:solidFill>
              <a:srgbClr val="37474F"/>
            </a:solidFill>
            <a:prstDash val="solid"/>
          </a:ln>
        </p:spPr>
        <p:txBody>
          <a:bodyPr/>
          <a:lstStyle/>
          <a:p>
            <a:endParaRPr lang="en-US"/>
          </a:p>
        </p:txBody>
      </p:sp>
      <p:sp>
        <p:nvSpPr>
          <p:cNvPr id="6" name="Text 4"/>
          <p:cNvSpPr txBox="1"/>
          <p:nvPr/>
        </p:nvSpPr>
        <p:spPr>
          <a:xfrm>
            <a:off x="502920" y="1106424"/>
            <a:ext cx="987552" cy="201168"/>
          </a:xfrm>
          <a:prstGeom prst="rect">
            <a:avLst/>
          </a:prstGeom>
          <a:noFill/>
          <a:ln/>
        </p:spPr>
        <p:txBody>
          <a:bodyPr wrap="square" lIns="0" tIns="0" rIns="0" bIns="0" rtlCol="0" anchor="ctr"/>
          <a:lstStyle/>
          <a:p>
            <a:pPr marL="0" indent="0" algn="r">
              <a:buNone/>
            </a:pPr>
            <a:r>
              <a:rPr lang="en-US" sz="1100" b="1" dirty="0">
                <a:solidFill>
                  <a:srgbClr val="FFFFFF"/>
                </a:solidFill>
              </a:rPr>
              <a:t>5V</a:t>
            </a:r>
            <a:endParaRPr lang="en-US" sz="1100" dirty="0"/>
          </a:p>
        </p:txBody>
      </p:sp>
      <p:sp>
        <p:nvSpPr>
          <p:cNvPr id="7" name="Shape 5"/>
          <p:cNvSpPr/>
          <p:nvPr/>
        </p:nvSpPr>
        <p:spPr>
          <a:xfrm>
            <a:off x="1536192" y="1435608"/>
            <a:ext cx="128016" cy="128016"/>
          </a:xfrm>
          <a:prstGeom prst="rect">
            <a:avLst/>
          </a:prstGeom>
          <a:solidFill>
            <a:srgbClr val="FFD54F"/>
          </a:solidFill>
          <a:ln w="6350">
            <a:solidFill>
              <a:srgbClr val="37474F"/>
            </a:solidFill>
            <a:prstDash val="solid"/>
          </a:ln>
        </p:spPr>
        <p:txBody>
          <a:bodyPr/>
          <a:lstStyle/>
          <a:p>
            <a:endParaRPr lang="en-US"/>
          </a:p>
        </p:txBody>
      </p:sp>
      <p:sp>
        <p:nvSpPr>
          <p:cNvPr id="8" name="Text 6"/>
          <p:cNvSpPr txBox="1"/>
          <p:nvPr/>
        </p:nvSpPr>
        <p:spPr>
          <a:xfrm>
            <a:off x="502920" y="1399032"/>
            <a:ext cx="987552" cy="201168"/>
          </a:xfrm>
          <a:prstGeom prst="rect">
            <a:avLst/>
          </a:prstGeom>
          <a:noFill/>
          <a:ln/>
        </p:spPr>
        <p:txBody>
          <a:bodyPr wrap="square" lIns="0" tIns="0" rIns="0" bIns="0" rtlCol="0" anchor="ctr"/>
          <a:lstStyle/>
          <a:p>
            <a:pPr marL="0" indent="0" algn="r">
              <a:buNone/>
            </a:pPr>
            <a:r>
              <a:rPr lang="en-US" sz="1100" b="1" dirty="0">
                <a:solidFill>
                  <a:srgbClr val="FFFFFF"/>
                </a:solidFill>
              </a:rPr>
              <a:t>GPIO13</a:t>
            </a:r>
            <a:endParaRPr lang="en-US" sz="1100" dirty="0"/>
          </a:p>
        </p:txBody>
      </p:sp>
      <p:sp>
        <p:nvSpPr>
          <p:cNvPr id="9" name="Shape 7"/>
          <p:cNvSpPr/>
          <p:nvPr/>
        </p:nvSpPr>
        <p:spPr>
          <a:xfrm>
            <a:off x="1536192" y="1728216"/>
            <a:ext cx="128016" cy="128016"/>
          </a:xfrm>
          <a:prstGeom prst="rect">
            <a:avLst/>
          </a:prstGeom>
          <a:solidFill>
            <a:srgbClr val="FFD54F"/>
          </a:solidFill>
          <a:ln w="6350">
            <a:solidFill>
              <a:srgbClr val="37474F"/>
            </a:solidFill>
            <a:prstDash val="solid"/>
          </a:ln>
        </p:spPr>
        <p:txBody>
          <a:bodyPr/>
          <a:lstStyle/>
          <a:p>
            <a:endParaRPr lang="en-US"/>
          </a:p>
        </p:txBody>
      </p:sp>
      <p:sp>
        <p:nvSpPr>
          <p:cNvPr id="10" name="Text 8"/>
          <p:cNvSpPr txBox="1"/>
          <p:nvPr/>
        </p:nvSpPr>
        <p:spPr>
          <a:xfrm>
            <a:off x="502920" y="1691640"/>
            <a:ext cx="987552" cy="201168"/>
          </a:xfrm>
          <a:prstGeom prst="rect">
            <a:avLst/>
          </a:prstGeom>
          <a:noFill/>
          <a:ln/>
        </p:spPr>
        <p:txBody>
          <a:bodyPr wrap="square" lIns="0" tIns="0" rIns="0" bIns="0" rtlCol="0" anchor="ctr"/>
          <a:lstStyle/>
          <a:p>
            <a:pPr marL="0" indent="0" algn="r">
              <a:buNone/>
            </a:pPr>
            <a:r>
              <a:rPr lang="en-US" sz="1100" b="1" dirty="0">
                <a:solidFill>
                  <a:srgbClr val="FFFFFF"/>
                </a:solidFill>
              </a:rPr>
              <a:t>GPIO14</a:t>
            </a:r>
            <a:endParaRPr lang="en-US" sz="1100" dirty="0"/>
          </a:p>
        </p:txBody>
      </p:sp>
      <p:sp>
        <p:nvSpPr>
          <p:cNvPr id="11" name="Shape 9"/>
          <p:cNvSpPr/>
          <p:nvPr/>
        </p:nvSpPr>
        <p:spPr>
          <a:xfrm>
            <a:off x="1536192" y="2020824"/>
            <a:ext cx="128016" cy="128016"/>
          </a:xfrm>
          <a:prstGeom prst="rect">
            <a:avLst/>
          </a:prstGeom>
          <a:solidFill>
            <a:srgbClr val="FFD54F"/>
          </a:solidFill>
          <a:ln w="6350">
            <a:solidFill>
              <a:srgbClr val="37474F"/>
            </a:solidFill>
            <a:prstDash val="solid"/>
          </a:ln>
        </p:spPr>
        <p:txBody>
          <a:bodyPr/>
          <a:lstStyle/>
          <a:p>
            <a:endParaRPr lang="en-US"/>
          </a:p>
        </p:txBody>
      </p:sp>
      <p:sp>
        <p:nvSpPr>
          <p:cNvPr id="12" name="Text 10"/>
          <p:cNvSpPr txBox="1"/>
          <p:nvPr/>
        </p:nvSpPr>
        <p:spPr>
          <a:xfrm>
            <a:off x="502920" y="1984248"/>
            <a:ext cx="987552" cy="201168"/>
          </a:xfrm>
          <a:prstGeom prst="rect">
            <a:avLst/>
          </a:prstGeom>
          <a:noFill/>
          <a:ln/>
        </p:spPr>
        <p:txBody>
          <a:bodyPr wrap="square" lIns="0" tIns="0" rIns="0" bIns="0" rtlCol="0" anchor="ctr"/>
          <a:lstStyle/>
          <a:p>
            <a:pPr marL="0" indent="0" algn="r">
              <a:buNone/>
            </a:pPr>
            <a:r>
              <a:rPr lang="en-US" sz="1100" b="1" dirty="0">
                <a:solidFill>
                  <a:srgbClr val="FFFFFF"/>
                </a:solidFill>
              </a:rPr>
              <a:t>GND</a:t>
            </a:r>
            <a:endParaRPr lang="en-US" sz="1100" dirty="0"/>
          </a:p>
        </p:txBody>
      </p:sp>
      <p:sp>
        <p:nvSpPr>
          <p:cNvPr id="13" name="Shape 11"/>
          <p:cNvSpPr/>
          <p:nvPr/>
        </p:nvSpPr>
        <p:spPr>
          <a:xfrm>
            <a:off x="1536192" y="2423160"/>
            <a:ext cx="128016" cy="128016"/>
          </a:xfrm>
          <a:prstGeom prst="rect">
            <a:avLst/>
          </a:prstGeom>
          <a:solidFill>
            <a:srgbClr val="FFD54F"/>
          </a:solidFill>
          <a:ln w="6350">
            <a:solidFill>
              <a:srgbClr val="37474F"/>
            </a:solidFill>
            <a:prstDash val="solid"/>
          </a:ln>
        </p:spPr>
        <p:txBody>
          <a:bodyPr/>
          <a:lstStyle/>
          <a:p>
            <a:endParaRPr lang="en-US"/>
          </a:p>
        </p:txBody>
      </p:sp>
      <p:sp>
        <p:nvSpPr>
          <p:cNvPr id="14" name="Text 12"/>
          <p:cNvSpPr txBox="1"/>
          <p:nvPr/>
        </p:nvSpPr>
        <p:spPr>
          <a:xfrm>
            <a:off x="502920" y="2386584"/>
            <a:ext cx="987552" cy="201168"/>
          </a:xfrm>
          <a:prstGeom prst="rect">
            <a:avLst/>
          </a:prstGeom>
          <a:noFill/>
          <a:ln/>
        </p:spPr>
        <p:txBody>
          <a:bodyPr wrap="square" lIns="0" tIns="0" rIns="0" bIns="0" rtlCol="0" anchor="ctr"/>
          <a:lstStyle/>
          <a:p>
            <a:pPr marL="0" indent="0" algn="r">
              <a:buNone/>
            </a:pPr>
            <a:r>
              <a:rPr lang="en-US" sz="1100" b="1" dirty="0">
                <a:solidFill>
                  <a:srgbClr val="FFFFFF"/>
                </a:solidFill>
              </a:rPr>
              <a:t>GPIO16</a:t>
            </a:r>
            <a:endParaRPr lang="en-US" sz="1100" dirty="0"/>
          </a:p>
        </p:txBody>
      </p:sp>
      <p:sp>
        <p:nvSpPr>
          <p:cNvPr id="15" name="Shape 13"/>
          <p:cNvSpPr/>
          <p:nvPr/>
        </p:nvSpPr>
        <p:spPr>
          <a:xfrm>
            <a:off x="1536192" y="2697480"/>
            <a:ext cx="128016" cy="128016"/>
          </a:xfrm>
          <a:prstGeom prst="rect">
            <a:avLst/>
          </a:prstGeom>
          <a:solidFill>
            <a:srgbClr val="FFD54F"/>
          </a:solidFill>
          <a:ln w="6350">
            <a:solidFill>
              <a:srgbClr val="37474F"/>
            </a:solidFill>
            <a:prstDash val="solid"/>
          </a:ln>
        </p:spPr>
        <p:txBody>
          <a:bodyPr/>
          <a:lstStyle/>
          <a:p>
            <a:endParaRPr lang="en-US"/>
          </a:p>
        </p:txBody>
      </p:sp>
      <p:sp>
        <p:nvSpPr>
          <p:cNvPr id="16" name="Text 14"/>
          <p:cNvSpPr txBox="1"/>
          <p:nvPr/>
        </p:nvSpPr>
        <p:spPr>
          <a:xfrm>
            <a:off x="502920" y="2660904"/>
            <a:ext cx="987552" cy="201168"/>
          </a:xfrm>
          <a:prstGeom prst="rect">
            <a:avLst/>
          </a:prstGeom>
          <a:noFill/>
          <a:ln/>
        </p:spPr>
        <p:txBody>
          <a:bodyPr wrap="square" lIns="0" tIns="0" rIns="0" bIns="0" rtlCol="0" anchor="ctr"/>
          <a:lstStyle/>
          <a:p>
            <a:pPr marL="0" indent="0" algn="r">
              <a:buNone/>
            </a:pPr>
            <a:r>
              <a:rPr lang="en-US" sz="1100" b="1" dirty="0">
                <a:solidFill>
                  <a:srgbClr val="FFFFFF"/>
                </a:solidFill>
              </a:rPr>
              <a:t>GPIO17</a:t>
            </a:r>
            <a:endParaRPr lang="en-US" sz="1100" dirty="0"/>
          </a:p>
        </p:txBody>
      </p:sp>
      <p:sp>
        <p:nvSpPr>
          <p:cNvPr id="17" name="Shape 15"/>
          <p:cNvSpPr/>
          <p:nvPr/>
        </p:nvSpPr>
        <p:spPr>
          <a:xfrm>
            <a:off x="1536192" y="2971800"/>
            <a:ext cx="128016" cy="128016"/>
          </a:xfrm>
          <a:prstGeom prst="rect">
            <a:avLst/>
          </a:prstGeom>
          <a:solidFill>
            <a:srgbClr val="FFD54F"/>
          </a:solidFill>
          <a:ln w="6350">
            <a:solidFill>
              <a:srgbClr val="37474F"/>
            </a:solidFill>
            <a:prstDash val="solid"/>
          </a:ln>
        </p:spPr>
        <p:txBody>
          <a:bodyPr/>
          <a:lstStyle/>
          <a:p>
            <a:endParaRPr lang="en-US"/>
          </a:p>
        </p:txBody>
      </p:sp>
      <p:sp>
        <p:nvSpPr>
          <p:cNvPr id="18" name="Text 16"/>
          <p:cNvSpPr txBox="1"/>
          <p:nvPr/>
        </p:nvSpPr>
        <p:spPr>
          <a:xfrm>
            <a:off x="502920" y="2935224"/>
            <a:ext cx="987552" cy="201168"/>
          </a:xfrm>
          <a:prstGeom prst="rect">
            <a:avLst/>
          </a:prstGeom>
          <a:noFill/>
          <a:ln/>
        </p:spPr>
        <p:txBody>
          <a:bodyPr wrap="square" lIns="0" tIns="0" rIns="0" bIns="0" rtlCol="0" anchor="ctr"/>
          <a:lstStyle/>
          <a:p>
            <a:pPr marL="0" indent="0" algn="r">
              <a:buNone/>
            </a:pPr>
            <a:r>
              <a:rPr lang="en-US" sz="1100" b="1" dirty="0">
                <a:solidFill>
                  <a:srgbClr val="FFFFFF"/>
                </a:solidFill>
              </a:rPr>
              <a:t>GPIO18</a:t>
            </a:r>
            <a:endParaRPr lang="en-US" sz="1100" dirty="0"/>
          </a:p>
        </p:txBody>
      </p:sp>
      <p:sp>
        <p:nvSpPr>
          <p:cNvPr id="19" name="Shape 17"/>
          <p:cNvSpPr/>
          <p:nvPr/>
        </p:nvSpPr>
        <p:spPr>
          <a:xfrm>
            <a:off x="1536192" y="3246120"/>
            <a:ext cx="128016" cy="128016"/>
          </a:xfrm>
          <a:prstGeom prst="rect">
            <a:avLst/>
          </a:prstGeom>
          <a:solidFill>
            <a:srgbClr val="FFD54F"/>
          </a:solidFill>
          <a:ln w="6350">
            <a:solidFill>
              <a:srgbClr val="37474F"/>
            </a:solidFill>
            <a:prstDash val="solid"/>
          </a:ln>
        </p:spPr>
        <p:txBody>
          <a:bodyPr/>
          <a:lstStyle/>
          <a:p>
            <a:endParaRPr lang="en-US"/>
          </a:p>
        </p:txBody>
      </p:sp>
      <p:sp>
        <p:nvSpPr>
          <p:cNvPr id="20" name="Text 18"/>
          <p:cNvSpPr txBox="1"/>
          <p:nvPr/>
        </p:nvSpPr>
        <p:spPr>
          <a:xfrm>
            <a:off x="502920" y="3209544"/>
            <a:ext cx="987552" cy="201168"/>
          </a:xfrm>
          <a:prstGeom prst="rect">
            <a:avLst/>
          </a:prstGeom>
          <a:noFill/>
          <a:ln/>
        </p:spPr>
        <p:txBody>
          <a:bodyPr wrap="square" lIns="0" tIns="0" rIns="0" bIns="0" rtlCol="0" anchor="ctr"/>
          <a:lstStyle/>
          <a:p>
            <a:pPr marL="0" indent="0" algn="r">
              <a:buNone/>
            </a:pPr>
            <a:r>
              <a:rPr lang="en-US" sz="1100" b="1" dirty="0">
                <a:solidFill>
                  <a:srgbClr val="FFFFFF"/>
                </a:solidFill>
              </a:rPr>
              <a:t>GPIO19</a:t>
            </a:r>
            <a:endParaRPr lang="en-US" sz="1100" dirty="0"/>
          </a:p>
        </p:txBody>
      </p:sp>
      <p:sp>
        <p:nvSpPr>
          <p:cNvPr id="21" name="Shape 19"/>
          <p:cNvSpPr/>
          <p:nvPr/>
        </p:nvSpPr>
        <p:spPr>
          <a:xfrm>
            <a:off x="1536192" y="3520440"/>
            <a:ext cx="128016" cy="128016"/>
          </a:xfrm>
          <a:prstGeom prst="rect">
            <a:avLst/>
          </a:prstGeom>
          <a:solidFill>
            <a:srgbClr val="FFD54F"/>
          </a:solidFill>
          <a:ln w="6350">
            <a:solidFill>
              <a:srgbClr val="37474F"/>
            </a:solidFill>
            <a:prstDash val="solid"/>
          </a:ln>
        </p:spPr>
        <p:txBody>
          <a:bodyPr/>
          <a:lstStyle/>
          <a:p>
            <a:endParaRPr lang="en-US"/>
          </a:p>
        </p:txBody>
      </p:sp>
      <p:sp>
        <p:nvSpPr>
          <p:cNvPr id="22" name="Text 20"/>
          <p:cNvSpPr txBox="1"/>
          <p:nvPr/>
        </p:nvSpPr>
        <p:spPr>
          <a:xfrm>
            <a:off x="502920" y="3483864"/>
            <a:ext cx="987552" cy="201168"/>
          </a:xfrm>
          <a:prstGeom prst="rect">
            <a:avLst/>
          </a:prstGeom>
          <a:noFill/>
          <a:ln/>
        </p:spPr>
        <p:txBody>
          <a:bodyPr wrap="square" lIns="0" tIns="0" rIns="0" bIns="0" rtlCol="0" anchor="ctr"/>
          <a:lstStyle/>
          <a:p>
            <a:pPr marL="0" indent="0" algn="r">
              <a:buNone/>
            </a:pPr>
            <a:r>
              <a:rPr lang="en-US" sz="1100" b="1" dirty="0">
                <a:solidFill>
                  <a:srgbClr val="FFFFFF"/>
                </a:solidFill>
              </a:rPr>
              <a:t>GPIO23</a:t>
            </a:r>
            <a:endParaRPr lang="en-US" sz="1100" dirty="0"/>
          </a:p>
        </p:txBody>
      </p:sp>
      <p:sp>
        <p:nvSpPr>
          <p:cNvPr id="23" name="Shape 21"/>
          <p:cNvSpPr/>
          <p:nvPr/>
        </p:nvSpPr>
        <p:spPr>
          <a:xfrm>
            <a:off x="1536192" y="3886200"/>
            <a:ext cx="128016" cy="128016"/>
          </a:xfrm>
          <a:prstGeom prst="rect">
            <a:avLst/>
          </a:prstGeom>
          <a:solidFill>
            <a:srgbClr val="FFD54F"/>
          </a:solidFill>
          <a:ln w="6350">
            <a:solidFill>
              <a:srgbClr val="37474F"/>
            </a:solidFill>
            <a:prstDash val="solid"/>
          </a:ln>
        </p:spPr>
        <p:txBody>
          <a:bodyPr/>
          <a:lstStyle/>
          <a:p>
            <a:endParaRPr lang="en-US"/>
          </a:p>
        </p:txBody>
      </p:sp>
      <p:sp>
        <p:nvSpPr>
          <p:cNvPr id="24" name="Text 22"/>
          <p:cNvSpPr txBox="1"/>
          <p:nvPr/>
        </p:nvSpPr>
        <p:spPr>
          <a:xfrm>
            <a:off x="502920" y="3849624"/>
            <a:ext cx="987552" cy="201168"/>
          </a:xfrm>
          <a:prstGeom prst="rect">
            <a:avLst/>
          </a:prstGeom>
          <a:noFill/>
          <a:ln/>
        </p:spPr>
        <p:txBody>
          <a:bodyPr wrap="square" lIns="0" tIns="0" rIns="0" bIns="0" rtlCol="0" anchor="ctr"/>
          <a:lstStyle/>
          <a:p>
            <a:pPr marL="0" indent="0" algn="r">
              <a:buNone/>
            </a:pPr>
            <a:r>
              <a:rPr lang="en-US" sz="1100" b="1" dirty="0">
                <a:solidFill>
                  <a:srgbClr val="FFFFFF"/>
                </a:solidFill>
              </a:rPr>
              <a:t>GPIO25</a:t>
            </a:r>
            <a:endParaRPr lang="en-US" sz="1100" dirty="0"/>
          </a:p>
        </p:txBody>
      </p:sp>
      <p:sp>
        <p:nvSpPr>
          <p:cNvPr id="25" name="Shape 23"/>
          <p:cNvSpPr/>
          <p:nvPr/>
        </p:nvSpPr>
        <p:spPr>
          <a:xfrm>
            <a:off x="1536192" y="4251960"/>
            <a:ext cx="128016" cy="128016"/>
          </a:xfrm>
          <a:prstGeom prst="rect">
            <a:avLst/>
          </a:prstGeom>
          <a:solidFill>
            <a:srgbClr val="FFD54F"/>
          </a:solidFill>
          <a:ln w="6350">
            <a:solidFill>
              <a:srgbClr val="37474F"/>
            </a:solidFill>
            <a:prstDash val="solid"/>
          </a:ln>
        </p:spPr>
        <p:txBody>
          <a:bodyPr/>
          <a:lstStyle/>
          <a:p>
            <a:endParaRPr lang="en-US"/>
          </a:p>
        </p:txBody>
      </p:sp>
      <p:sp>
        <p:nvSpPr>
          <p:cNvPr id="26" name="Text 24"/>
          <p:cNvSpPr txBox="1"/>
          <p:nvPr/>
        </p:nvSpPr>
        <p:spPr>
          <a:xfrm>
            <a:off x="502920" y="4215384"/>
            <a:ext cx="987552" cy="201168"/>
          </a:xfrm>
          <a:prstGeom prst="rect">
            <a:avLst/>
          </a:prstGeom>
          <a:noFill/>
          <a:ln/>
        </p:spPr>
        <p:txBody>
          <a:bodyPr wrap="square" lIns="0" tIns="0" rIns="0" bIns="0" rtlCol="0" anchor="ctr"/>
          <a:lstStyle/>
          <a:p>
            <a:pPr marL="0" indent="0" algn="r">
              <a:buNone/>
            </a:pPr>
            <a:r>
              <a:rPr lang="en-US" sz="1100" b="1" dirty="0">
                <a:solidFill>
                  <a:srgbClr val="FFFFFF"/>
                </a:solidFill>
              </a:rPr>
              <a:t>GND </a:t>
            </a:r>
            <a:endParaRPr lang="en-US" sz="1100" dirty="0"/>
          </a:p>
        </p:txBody>
      </p:sp>
      <p:sp>
        <p:nvSpPr>
          <p:cNvPr id="27" name="Shape 25"/>
          <p:cNvSpPr/>
          <p:nvPr/>
        </p:nvSpPr>
        <p:spPr>
          <a:xfrm>
            <a:off x="2834640" y="978408"/>
            <a:ext cx="1600200" cy="1335024"/>
          </a:xfrm>
          <a:prstGeom prst="roundRect">
            <a:avLst>
              <a:gd name="adj" fmla="val 4110"/>
            </a:avLst>
          </a:prstGeom>
          <a:solidFill>
            <a:srgbClr val="1E5AA8"/>
          </a:solidFill>
          <a:ln w="12700">
            <a:solidFill>
              <a:srgbClr val="174A8B"/>
            </a:solidFill>
            <a:prstDash val="solid"/>
          </a:ln>
        </p:spPr>
        <p:txBody>
          <a:bodyPr/>
          <a:lstStyle/>
          <a:p>
            <a:endParaRPr lang="en-US"/>
          </a:p>
        </p:txBody>
      </p:sp>
      <p:sp>
        <p:nvSpPr>
          <p:cNvPr id="28" name="Shape 26"/>
          <p:cNvSpPr/>
          <p:nvPr/>
        </p:nvSpPr>
        <p:spPr>
          <a:xfrm>
            <a:off x="3337560" y="1293876"/>
            <a:ext cx="502920" cy="502920"/>
          </a:xfrm>
          <a:prstGeom prst="ellipse">
            <a:avLst/>
          </a:prstGeom>
          <a:solidFill>
            <a:srgbClr val="CFD8DC"/>
          </a:solidFill>
          <a:ln w="19050">
            <a:solidFill>
              <a:srgbClr val="90A4AE"/>
            </a:solidFill>
            <a:prstDash val="solid"/>
          </a:ln>
        </p:spPr>
        <p:txBody>
          <a:bodyPr/>
          <a:lstStyle/>
          <a:p>
            <a:endParaRPr lang="en-US"/>
          </a:p>
        </p:txBody>
      </p:sp>
      <p:sp>
        <p:nvSpPr>
          <p:cNvPr id="29" name="Shape 27"/>
          <p:cNvSpPr/>
          <p:nvPr/>
        </p:nvSpPr>
        <p:spPr>
          <a:xfrm>
            <a:off x="3463290" y="1419606"/>
            <a:ext cx="251460" cy="251460"/>
          </a:xfrm>
          <a:prstGeom prst="ellipse">
            <a:avLst/>
          </a:prstGeom>
          <a:solidFill>
            <a:srgbClr val="37474F"/>
          </a:solidFill>
          <a:ln w="12700">
            <a:solidFill>
              <a:srgbClr val="37474F"/>
            </a:solidFill>
            <a:prstDash val="solid"/>
          </a:ln>
        </p:spPr>
        <p:txBody>
          <a:bodyPr/>
          <a:lstStyle/>
          <a:p>
            <a:endParaRPr lang="en-US"/>
          </a:p>
        </p:txBody>
      </p:sp>
      <p:sp>
        <p:nvSpPr>
          <p:cNvPr id="30" name="Shape 28"/>
          <p:cNvSpPr/>
          <p:nvPr/>
        </p:nvSpPr>
        <p:spPr>
          <a:xfrm>
            <a:off x="3931920" y="1293876"/>
            <a:ext cx="502920" cy="502920"/>
          </a:xfrm>
          <a:prstGeom prst="ellipse">
            <a:avLst/>
          </a:prstGeom>
          <a:solidFill>
            <a:srgbClr val="CFD8DC"/>
          </a:solidFill>
          <a:ln w="19050">
            <a:solidFill>
              <a:srgbClr val="90A4AE"/>
            </a:solidFill>
            <a:prstDash val="solid"/>
          </a:ln>
        </p:spPr>
        <p:txBody>
          <a:bodyPr/>
          <a:lstStyle/>
          <a:p>
            <a:endParaRPr lang="en-US"/>
          </a:p>
        </p:txBody>
      </p:sp>
      <p:sp>
        <p:nvSpPr>
          <p:cNvPr id="31" name="Shape 29"/>
          <p:cNvSpPr/>
          <p:nvPr/>
        </p:nvSpPr>
        <p:spPr>
          <a:xfrm>
            <a:off x="4057650" y="1419606"/>
            <a:ext cx="251460" cy="251460"/>
          </a:xfrm>
          <a:prstGeom prst="ellipse">
            <a:avLst/>
          </a:prstGeom>
          <a:solidFill>
            <a:srgbClr val="37474F"/>
          </a:solidFill>
          <a:ln w="12700">
            <a:solidFill>
              <a:srgbClr val="37474F"/>
            </a:solidFill>
            <a:prstDash val="solid"/>
          </a:ln>
        </p:spPr>
        <p:txBody>
          <a:bodyPr/>
          <a:lstStyle/>
          <a:p>
            <a:endParaRPr lang="en-US"/>
          </a:p>
        </p:txBody>
      </p:sp>
      <p:sp>
        <p:nvSpPr>
          <p:cNvPr id="32" name="Shape 30"/>
          <p:cNvSpPr/>
          <p:nvPr/>
        </p:nvSpPr>
        <p:spPr>
          <a:xfrm>
            <a:off x="2770632" y="1143000"/>
            <a:ext cx="128016" cy="128016"/>
          </a:xfrm>
          <a:prstGeom prst="rect">
            <a:avLst/>
          </a:prstGeom>
          <a:solidFill>
            <a:srgbClr val="FFD54F"/>
          </a:solidFill>
          <a:ln w="6350">
            <a:solidFill>
              <a:srgbClr val="37474F"/>
            </a:solidFill>
            <a:prstDash val="solid"/>
          </a:ln>
        </p:spPr>
        <p:txBody>
          <a:bodyPr/>
          <a:lstStyle/>
          <a:p>
            <a:endParaRPr lang="en-US"/>
          </a:p>
        </p:txBody>
      </p:sp>
      <p:sp>
        <p:nvSpPr>
          <p:cNvPr id="33" name="Text 31"/>
          <p:cNvSpPr txBox="1"/>
          <p:nvPr/>
        </p:nvSpPr>
        <p:spPr>
          <a:xfrm>
            <a:off x="2926080" y="1115568"/>
            <a:ext cx="384048" cy="182880"/>
          </a:xfrm>
          <a:prstGeom prst="rect">
            <a:avLst/>
          </a:prstGeom>
          <a:noFill/>
          <a:ln/>
        </p:spPr>
        <p:txBody>
          <a:bodyPr wrap="square" lIns="0" tIns="0" rIns="0" bIns="0" rtlCol="0" anchor="ctr"/>
          <a:lstStyle/>
          <a:p>
            <a:pPr marL="0" indent="0">
              <a:buNone/>
            </a:pPr>
            <a:r>
              <a:rPr lang="en-US" sz="900" b="1" dirty="0">
                <a:solidFill>
                  <a:srgbClr val="FFFFFF"/>
                </a:solidFill>
              </a:rPr>
              <a:t>VCC</a:t>
            </a:r>
            <a:endParaRPr lang="en-US" sz="900" dirty="0"/>
          </a:p>
        </p:txBody>
      </p:sp>
      <p:sp>
        <p:nvSpPr>
          <p:cNvPr id="34" name="Shape 32"/>
          <p:cNvSpPr/>
          <p:nvPr/>
        </p:nvSpPr>
        <p:spPr>
          <a:xfrm>
            <a:off x="2770632" y="1435608"/>
            <a:ext cx="128016" cy="128016"/>
          </a:xfrm>
          <a:prstGeom prst="rect">
            <a:avLst/>
          </a:prstGeom>
          <a:solidFill>
            <a:srgbClr val="FFD54F"/>
          </a:solidFill>
          <a:ln w="6350">
            <a:solidFill>
              <a:srgbClr val="37474F"/>
            </a:solidFill>
            <a:prstDash val="solid"/>
          </a:ln>
        </p:spPr>
        <p:txBody>
          <a:bodyPr/>
          <a:lstStyle/>
          <a:p>
            <a:endParaRPr lang="en-US"/>
          </a:p>
        </p:txBody>
      </p:sp>
      <p:sp>
        <p:nvSpPr>
          <p:cNvPr id="35" name="Text 33"/>
          <p:cNvSpPr txBox="1"/>
          <p:nvPr/>
        </p:nvSpPr>
        <p:spPr>
          <a:xfrm>
            <a:off x="2926080" y="1408176"/>
            <a:ext cx="384048" cy="182880"/>
          </a:xfrm>
          <a:prstGeom prst="rect">
            <a:avLst/>
          </a:prstGeom>
          <a:noFill/>
          <a:ln/>
        </p:spPr>
        <p:txBody>
          <a:bodyPr wrap="square" lIns="0" tIns="0" rIns="0" bIns="0" rtlCol="0" anchor="ctr"/>
          <a:lstStyle/>
          <a:p>
            <a:pPr marL="0" indent="0">
              <a:buNone/>
            </a:pPr>
            <a:r>
              <a:rPr lang="en-US" sz="900" b="1" dirty="0">
                <a:solidFill>
                  <a:srgbClr val="FFFFFF"/>
                </a:solidFill>
              </a:rPr>
              <a:t>Trig</a:t>
            </a:r>
            <a:endParaRPr lang="en-US" sz="900" dirty="0"/>
          </a:p>
        </p:txBody>
      </p:sp>
      <p:sp>
        <p:nvSpPr>
          <p:cNvPr id="36" name="Shape 34"/>
          <p:cNvSpPr/>
          <p:nvPr/>
        </p:nvSpPr>
        <p:spPr>
          <a:xfrm>
            <a:off x="2770632" y="1728216"/>
            <a:ext cx="128016" cy="128016"/>
          </a:xfrm>
          <a:prstGeom prst="rect">
            <a:avLst/>
          </a:prstGeom>
          <a:solidFill>
            <a:srgbClr val="FFD54F"/>
          </a:solidFill>
          <a:ln w="6350">
            <a:solidFill>
              <a:srgbClr val="37474F"/>
            </a:solidFill>
            <a:prstDash val="solid"/>
          </a:ln>
        </p:spPr>
        <p:txBody>
          <a:bodyPr/>
          <a:lstStyle/>
          <a:p>
            <a:endParaRPr lang="en-US"/>
          </a:p>
        </p:txBody>
      </p:sp>
      <p:sp>
        <p:nvSpPr>
          <p:cNvPr id="37" name="Text 35"/>
          <p:cNvSpPr txBox="1"/>
          <p:nvPr/>
        </p:nvSpPr>
        <p:spPr>
          <a:xfrm>
            <a:off x="2926080" y="1700784"/>
            <a:ext cx="384048" cy="182880"/>
          </a:xfrm>
          <a:prstGeom prst="rect">
            <a:avLst/>
          </a:prstGeom>
          <a:noFill/>
          <a:ln/>
        </p:spPr>
        <p:txBody>
          <a:bodyPr wrap="square" lIns="0" tIns="0" rIns="0" bIns="0" rtlCol="0" anchor="ctr"/>
          <a:lstStyle/>
          <a:p>
            <a:pPr marL="0" indent="0">
              <a:buNone/>
            </a:pPr>
            <a:r>
              <a:rPr lang="en-US" sz="900" b="1" dirty="0">
                <a:solidFill>
                  <a:srgbClr val="FFFFFF"/>
                </a:solidFill>
              </a:rPr>
              <a:t>Echo</a:t>
            </a:r>
            <a:endParaRPr lang="en-US" sz="900" dirty="0"/>
          </a:p>
        </p:txBody>
      </p:sp>
      <p:sp>
        <p:nvSpPr>
          <p:cNvPr id="38" name="Shape 36"/>
          <p:cNvSpPr/>
          <p:nvPr/>
        </p:nvSpPr>
        <p:spPr>
          <a:xfrm>
            <a:off x="2770632" y="2020824"/>
            <a:ext cx="128016" cy="128016"/>
          </a:xfrm>
          <a:prstGeom prst="rect">
            <a:avLst/>
          </a:prstGeom>
          <a:solidFill>
            <a:srgbClr val="FFD54F"/>
          </a:solidFill>
          <a:ln w="6350">
            <a:solidFill>
              <a:srgbClr val="37474F"/>
            </a:solidFill>
            <a:prstDash val="solid"/>
          </a:ln>
        </p:spPr>
        <p:txBody>
          <a:bodyPr/>
          <a:lstStyle/>
          <a:p>
            <a:endParaRPr lang="en-US"/>
          </a:p>
        </p:txBody>
      </p:sp>
      <p:sp>
        <p:nvSpPr>
          <p:cNvPr id="39" name="Text 37"/>
          <p:cNvSpPr txBox="1"/>
          <p:nvPr/>
        </p:nvSpPr>
        <p:spPr>
          <a:xfrm>
            <a:off x="2926080" y="1993392"/>
            <a:ext cx="384048" cy="182880"/>
          </a:xfrm>
          <a:prstGeom prst="rect">
            <a:avLst/>
          </a:prstGeom>
          <a:noFill/>
          <a:ln/>
        </p:spPr>
        <p:txBody>
          <a:bodyPr wrap="square" lIns="0" tIns="0" rIns="0" bIns="0" rtlCol="0" anchor="ctr"/>
          <a:lstStyle/>
          <a:p>
            <a:pPr marL="0" indent="0">
              <a:buNone/>
            </a:pPr>
            <a:r>
              <a:rPr lang="en-US" sz="900" b="1" dirty="0">
                <a:solidFill>
                  <a:srgbClr val="FFFFFF"/>
                </a:solidFill>
              </a:rPr>
              <a:t>GND</a:t>
            </a:r>
            <a:endParaRPr lang="en-US" sz="900" dirty="0"/>
          </a:p>
        </p:txBody>
      </p:sp>
      <p:sp>
        <p:nvSpPr>
          <p:cNvPr id="40" name="Text 38"/>
          <p:cNvSpPr txBox="1"/>
          <p:nvPr/>
        </p:nvSpPr>
        <p:spPr>
          <a:xfrm>
            <a:off x="3337560" y="2075688"/>
            <a:ext cx="1005840" cy="182880"/>
          </a:xfrm>
          <a:prstGeom prst="rect">
            <a:avLst/>
          </a:prstGeom>
          <a:noFill/>
          <a:ln/>
        </p:spPr>
        <p:txBody>
          <a:bodyPr wrap="square" lIns="0" tIns="0" rIns="0" bIns="0" rtlCol="0" anchor="ctr"/>
          <a:lstStyle/>
          <a:p>
            <a:pPr marL="0" indent="0">
              <a:buNone/>
            </a:pPr>
            <a:r>
              <a:rPr lang="en-US" sz="900" b="1" dirty="0">
                <a:solidFill>
                  <a:srgbClr val="CFE0F5"/>
                </a:solidFill>
              </a:rPr>
              <a:t>HC-SR04</a:t>
            </a:r>
            <a:endParaRPr lang="en-US" sz="900" dirty="0"/>
          </a:p>
        </p:txBody>
      </p:sp>
      <p:sp>
        <p:nvSpPr>
          <p:cNvPr id="41" name="Shape 39"/>
          <p:cNvSpPr/>
          <p:nvPr/>
        </p:nvSpPr>
        <p:spPr>
          <a:xfrm>
            <a:off x="1664208" y="1207008"/>
            <a:ext cx="1106424" cy="0"/>
          </a:xfrm>
          <a:prstGeom prst="line">
            <a:avLst/>
          </a:prstGeom>
          <a:noFill/>
          <a:ln w="38100">
            <a:solidFill>
              <a:srgbClr val="D64545"/>
            </a:solidFill>
            <a:prstDash val="solid"/>
          </a:ln>
        </p:spPr>
        <p:txBody>
          <a:bodyPr/>
          <a:lstStyle/>
          <a:p>
            <a:endParaRPr lang="en-US"/>
          </a:p>
        </p:txBody>
      </p:sp>
      <p:sp>
        <p:nvSpPr>
          <p:cNvPr id="42" name="Shape 40"/>
          <p:cNvSpPr/>
          <p:nvPr/>
        </p:nvSpPr>
        <p:spPr>
          <a:xfrm>
            <a:off x="1664208" y="1499616"/>
            <a:ext cx="1106424" cy="0"/>
          </a:xfrm>
          <a:prstGeom prst="line">
            <a:avLst/>
          </a:prstGeom>
          <a:noFill/>
          <a:ln w="38100">
            <a:solidFill>
              <a:srgbClr val="00A3A3"/>
            </a:solidFill>
            <a:prstDash val="solid"/>
          </a:ln>
        </p:spPr>
        <p:txBody>
          <a:bodyPr/>
          <a:lstStyle/>
          <a:p>
            <a:endParaRPr lang="en-US"/>
          </a:p>
        </p:txBody>
      </p:sp>
      <p:sp>
        <p:nvSpPr>
          <p:cNvPr id="43" name="Shape 41"/>
          <p:cNvSpPr/>
          <p:nvPr/>
        </p:nvSpPr>
        <p:spPr>
          <a:xfrm>
            <a:off x="1664208" y="1792224"/>
            <a:ext cx="1106424" cy="0"/>
          </a:xfrm>
          <a:prstGeom prst="line">
            <a:avLst/>
          </a:prstGeom>
          <a:noFill/>
          <a:ln w="38100">
            <a:solidFill>
              <a:srgbClr val="C2185B"/>
            </a:solidFill>
            <a:prstDash val="solid"/>
          </a:ln>
        </p:spPr>
        <p:txBody>
          <a:bodyPr/>
          <a:lstStyle/>
          <a:p>
            <a:endParaRPr lang="en-US"/>
          </a:p>
        </p:txBody>
      </p:sp>
      <p:sp>
        <p:nvSpPr>
          <p:cNvPr id="44" name="Shape 42"/>
          <p:cNvSpPr/>
          <p:nvPr/>
        </p:nvSpPr>
        <p:spPr>
          <a:xfrm>
            <a:off x="1664208" y="2084832"/>
            <a:ext cx="1106424" cy="0"/>
          </a:xfrm>
          <a:prstGeom prst="line">
            <a:avLst/>
          </a:prstGeom>
          <a:noFill/>
          <a:ln w="38100">
            <a:solidFill>
              <a:srgbClr val="1B1B1B"/>
            </a:solidFill>
            <a:prstDash val="solid"/>
          </a:ln>
        </p:spPr>
        <p:txBody>
          <a:bodyPr/>
          <a:lstStyle/>
          <a:p>
            <a:endParaRPr lang="en-US"/>
          </a:p>
        </p:txBody>
      </p:sp>
      <p:sp>
        <p:nvSpPr>
          <p:cNvPr id="45" name="Shape 43"/>
          <p:cNvSpPr/>
          <p:nvPr/>
        </p:nvSpPr>
        <p:spPr>
          <a:xfrm>
            <a:off x="1664208" y="2487168"/>
            <a:ext cx="320040" cy="0"/>
          </a:xfrm>
          <a:prstGeom prst="line">
            <a:avLst/>
          </a:prstGeom>
          <a:noFill/>
          <a:ln w="31750">
            <a:solidFill>
              <a:srgbClr val="F28C28"/>
            </a:solidFill>
            <a:prstDash val="solid"/>
          </a:ln>
        </p:spPr>
        <p:txBody>
          <a:bodyPr/>
          <a:lstStyle/>
          <a:p>
            <a:endParaRPr lang="en-US"/>
          </a:p>
        </p:txBody>
      </p:sp>
      <p:sp>
        <p:nvSpPr>
          <p:cNvPr id="46" name="Shape 44"/>
          <p:cNvSpPr/>
          <p:nvPr/>
        </p:nvSpPr>
        <p:spPr>
          <a:xfrm>
            <a:off x="1984248" y="2487168"/>
            <a:ext cx="155448" cy="0"/>
          </a:xfrm>
          <a:prstGeom prst="line">
            <a:avLst/>
          </a:prstGeom>
          <a:noFill/>
          <a:ln w="25400">
            <a:solidFill>
              <a:srgbClr val="9AA0A6"/>
            </a:solidFill>
            <a:prstDash val="solid"/>
          </a:ln>
        </p:spPr>
        <p:txBody>
          <a:bodyPr/>
          <a:lstStyle/>
          <a:p>
            <a:endParaRPr lang="en-US"/>
          </a:p>
        </p:txBody>
      </p:sp>
      <p:sp>
        <p:nvSpPr>
          <p:cNvPr id="47" name="Shape 45"/>
          <p:cNvSpPr/>
          <p:nvPr/>
        </p:nvSpPr>
        <p:spPr>
          <a:xfrm>
            <a:off x="2514600" y="2487168"/>
            <a:ext cx="155448" cy="0"/>
          </a:xfrm>
          <a:prstGeom prst="line">
            <a:avLst/>
          </a:prstGeom>
          <a:noFill/>
          <a:ln w="25400">
            <a:solidFill>
              <a:srgbClr val="9AA0A6"/>
            </a:solidFill>
            <a:prstDash val="solid"/>
          </a:ln>
        </p:spPr>
        <p:txBody>
          <a:bodyPr/>
          <a:lstStyle/>
          <a:p>
            <a:endParaRPr lang="en-US"/>
          </a:p>
        </p:txBody>
      </p:sp>
      <p:sp>
        <p:nvSpPr>
          <p:cNvPr id="48" name="Shape 46"/>
          <p:cNvSpPr/>
          <p:nvPr/>
        </p:nvSpPr>
        <p:spPr>
          <a:xfrm>
            <a:off x="2139696" y="2404872"/>
            <a:ext cx="374904" cy="164592"/>
          </a:xfrm>
          <a:prstGeom prst="roundRect">
            <a:avLst>
              <a:gd name="adj" fmla="val 33333"/>
            </a:avLst>
          </a:prstGeom>
          <a:solidFill>
            <a:srgbClr val="E3C99A"/>
          </a:solidFill>
          <a:ln w="9525">
            <a:solidFill>
              <a:srgbClr val="B8986A"/>
            </a:solidFill>
            <a:prstDash val="solid"/>
          </a:ln>
        </p:spPr>
        <p:txBody>
          <a:bodyPr/>
          <a:lstStyle/>
          <a:p>
            <a:endParaRPr lang="en-US"/>
          </a:p>
        </p:txBody>
      </p:sp>
      <p:sp>
        <p:nvSpPr>
          <p:cNvPr id="49" name="Shape 47"/>
          <p:cNvSpPr/>
          <p:nvPr/>
        </p:nvSpPr>
        <p:spPr>
          <a:xfrm>
            <a:off x="2194560" y="2404872"/>
            <a:ext cx="32004" cy="164592"/>
          </a:xfrm>
          <a:prstGeom prst="rect">
            <a:avLst/>
          </a:prstGeom>
          <a:solidFill>
            <a:srgbClr val="D64545"/>
          </a:solidFill>
          <a:ln w="12700">
            <a:solidFill>
              <a:srgbClr val="D64545"/>
            </a:solidFill>
            <a:prstDash val="solid"/>
          </a:ln>
        </p:spPr>
        <p:txBody>
          <a:bodyPr/>
          <a:lstStyle/>
          <a:p>
            <a:endParaRPr lang="en-US"/>
          </a:p>
        </p:txBody>
      </p:sp>
      <p:sp>
        <p:nvSpPr>
          <p:cNvPr id="50" name="Shape 48"/>
          <p:cNvSpPr/>
          <p:nvPr/>
        </p:nvSpPr>
        <p:spPr>
          <a:xfrm>
            <a:off x="2261795" y="2404872"/>
            <a:ext cx="32004" cy="164592"/>
          </a:xfrm>
          <a:prstGeom prst="rect">
            <a:avLst/>
          </a:prstGeom>
          <a:solidFill>
            <a:srgbClr val="D64545"/>
          </a:solidFill>
          <a:ln w="12700">
            <a:solidFill>
              <a:srgbClr val="D64545"/>
            </a:solidFill>
            <a:prstDash val="solid"/>
          </a:ln>
        </p:spPr>
        <p:txBody>
          <a:bodyPr/>
          <a:lstStyle/>
          <a:p>
            <a:endParaRPr lang="en-US"/>
          </a:p>
        </p:txBody>
      </p:sp>
      <p:sp>
        <p:nvSpPr>
          <p:cNvPr id="51" name="Shape 49"/>
          <p:cNvSpPr/>
          <p:nvPr/>
        </p:nvSpPr>
        <p:spPr>
          <a:xfrm>
            <a:off x="2329031" y="2404872"/>
            <a:ext cx="32004" cy="164592"/>
          </a:xfrm>
          <a:prstGeom prst="rect">
            <a:avLst/>
          </a:prstGeom>
          <a:solidFill>
            <a:srgbClr val="8B4513"/>
          </a:solidFill>
          <a:ln w="12700">
            <a:solidFill>
              <a:srgbClr val="8B4513"/>
            </a:solidFill>
            <a:prstDash val="solid"/>
          </a:ln>
        </p:spPr>
        <p:txBody>
          <a:bodyPr/>
          <a:lstStyle/>
          <a:p>
            <a:endParaRPr lang="en-US"/>
          </a:p>
        </p:txBody>
      </p:sp>
      <p:sp>
        <p:nvSpPr>
          <p:cNvPr id="52" name="Shape 50"/>
          <p:cNvSpPr/>
          <p:nvPr/>
        </p:nvSpPr>
        <p:spPr>
          <a:xfrm>
            <a:off x="2432842" y="2404872"/>
            <a:ext cx="32004" cy="164592"/>
          </a:xfrm>
          <a:prstGeom prst="rect">
            <a:avLst/>
          </a:prstGeom>
          <a:solidFill>
            <a:srgbClr val="C9A227"/>
          </a:solidFill>
          <a:ln w="12700">
            <a:solidFill>
              <a:srgbClr val="C9A227"/>
            </a:solidFill>
            <a:prstDash val="solid"/>
          </a:ln>
        </p:spPr>
        <p:txBody>
          <a:bodyPr/>
          <a:lstStyle/>
          <a:p>
            <a:endParaRPr lang="en-US"/>
          </a:p>
        </p:txBody>
      </p:sp>
      <p:sp>
        <p:nvSpPr>
          <p:cNvPr id="53" name="Shape 51"/>
          <p:cNvSpPr/>
          <p:nvPr/>
        </p:nvSpPr>
        <p:spPr>
          <a:xfrm>
            <a:off x="2670048" y="2487168"/>
            <a:ext cx="73152" cy="0"/>
          </a:xfrm>
          <a:prstGeom prst="line">
            <a:avLst/>
          </a:prstGeom>
          <a:noFill/>
          <a:ln w="25400">
            <a:solidFill>
              <a:srgbClr val="9AA0A6"/>
            </a:solidFill>
            <a:prstDash val="solid"/>
          </a:ln>
        </p:spPr>
        <p:txBody>
          <a:bodyPr/>
          <a:lstStyle/>
          <a:p>
            <a:endParaRPr lang="en-US"/>
          </a:p>
        </p:txBody>
      </p:sp>
      <p:sp>
        <p:nvSpPr>
          <p:cNvPr id="54" name="Shape 52"/>
          <p:cNvSpPr/>
          <p:nvPr/>
        </p:nvSpPr>
        <p:spPr>
          <a:xfrm>
            <a:off x="2743200" y="2487168"/>
            <a:ext cx="219456" cy="0"/>
          </a:xfrm>
          <a:prstGeom prst="line">
            <a:avLst/>
          </a:prstGeom>
          <a:noFill/>
          <a:ln w="25400">
            <a:solidFill>
              <a:srgbClr val="9AA0A6"/>
            </a:solidFill>
            <a:prstDash val="solid"/>
          </a:ln>
        </p:spPr>
        <p:txBody>
          <a:bodyPr/>
          <a:lstStyle/>
          <a:p>
            <a:endParaRPr lang="en-US"/>
          </a:p>
        </p:txBody>
      </p:sp>
      <p:sp>
        <p:nvSpPr>
          <p:cNvPr id="55" name="Shape 53"/>
          <p:cNvSpPr/>
          <p:nvPr/>
        </p:nvSpPr>
        <p:spPr>
          <a:xfrm>
            <a:off x="3273552" y="2487168"/>
            <a:ext cx="109728" cy="0"/>
          </a:xfrm>
          <a:prstGeom prst="line">
            <a:avLst/>
          </a:prstGeom>
          <a:noFill/>
          <a:ln w="25400">
            <a:solidFill>
              <a:srgbClr val="9AA0A6"/>
            </a:solidFill>
            <a:prstDash val="solid"/>
          </a:ln>
        </p:spPr>
        <p:txBody>
          <a:bodyPr/>
          <a:lstStyle/>
          <a:p>
            <a:endParaRPr lang="en-US"/>
          </a:p>
        </p:txBody>
      </p:sp>
      <p:sp>
        <p:nvSpPr>
          <p:cNvPr id="56" name="Shape 54"/>
          <p:cNvSpPr/>
          <p:nvPr/>
        </p:nvSpPr>
        <p:spPr>
          <a:xfrm>
            <a:off x="2916936" y="2286000"/>
            <a:ext cx="402336" cy="402336"/>
          </a:xfrm>
          <a:prstGeom prst="ellipse">
            <a:avLst/>
          </a:prstGeom>
          <a:solidFill>
            <a:srgbClr val="F2A900">
              <a:alpha val="45000"/>
            </a:srgbClr>
          </a:solidFill>
          <a:ln w="12700">
            <a:solidFill>
              <a:srgbClr val="F2A900">
                <a:alpha val="0"/>
              </a:srgbClr>
            </a:solidFill>
            <a:prstDash val="solid"/>
          </a:ln>
        </p:spPr>
        <p:txBody>
          <a:bodyPr/>
          <a:lstStyle/>
          <a:p>
            <a:endParaRPr lang="en-US"/>
          </a:p>
        </p:txBody>
      </p:sp>
      <p:sp>
        <p:nvSpPr>
          <p:cNvPr id="57" name="Shape 55"/>
          <p:cNvSpPr/>
          <p:nvPr/>
        </p:nvSpPr>
        <p:spPr>
          <a:xfrm>
            <a:off x="2962656" y="2331720"/>
            <a:ext cx="310896" cy="310896"/>
          </a:xfrm>
          <a:prstGeom prst="ellipse">
            <a:avLst/>
          </a:prstGeom>
          <a:solidFill>
            <a:srgbClr val="D64545"/>
          </a:solidFill>
          <a:ln w="19050">
            <a:solidFill>
              <a:srgbClr val="D64545"/>
            </a:solidFill>
            <a:prstDash val="solid"/>
          </a:ln>
        </p:spPr>
        <p:txBody>
          <a:bodyPr/>
          <a:lstStyle/>
          <a:p>
            <a:endParaRPr lang="en-US"/>
          </a:p>
        </p:txBody>
      </p:sp>
      <p:sp>
        <p:nvSpPr>
          <p:cNvPr id="58" name="Shape 56"/>
          <p:cNvSpPr/>
          <p:nvPr/>
        </p:nvSpPr>
        <p:spPr>
          <a:xfrm>
            <a:off x="3383280" y="2487168"/>
            <a:ext cx="685800" cy="0"/>
          </a:xfrm>
          <a:prstGeom prst="line">
            <a:avLst/>
          </a:prstGeom>
          <a:noFill/>
          <a:ln w="31750">
            <a:solidFill>
              <a:srgbClr val="1B1B1B"/>
            </a:solidFill>
            <a:prstDash val="solid"/>
          </a:ln>
        </p:spPr>
        <p:txBody>
          <a:bodyPr/>
          <a:lstStyle/>
          <a:p>
            <a:endParaRPr lang="en-US"/>
          </a:p>
        </p:txBody>
      </p:sp>
      <p:sp>
        <p:nvSpPr>
          <p:cNvPr id="59" name="Shape 57"/>
          <p:cNvSpPr/>
          <p:nvPr/>
        </p:nvSpPr>
        <p:spPr>
          <a:xfrm>
            <a:off x="1664208" y="2761488"/>
            <a:ext cx="320040" cy="0"/>
          </a:xfrm>
          <a:prstGeom prst="line">
            <a:avLst/>
          </a:prstGeom>
          <a:noFill/>
          <a:ln w="31750">
            <a:solidFill>
              <a:srgbClr val="E0B000"/>
            </a:solidFill>
            <a:prstDash val="solid"/>
          </a:ln>
        </p:spPr>
        <p:txBody>
          <a:bodyPr/>
          <a:lstStyle/>
          <a:p>
            <a:endParaRPr lang="en-US"/>
          </a:p>
        </p:txBody>
      </p:sp>
      <p:sp>
        <p:nvSpPr>
          <p:cNvPr id="60" name="Shape 58"/>
          <p:cNvSpPr/>
          <p:nvPr/>
        </p:nvSpPr>
        <p:spPr>
          <a:xfrm>
            <a:off x="1984248" y="2761488"/>
            <a:ext cx="155448" cy="0"/>
          </a:xfrm>
          <a:prstGeom prst="line">
            <a:avLst/>
          </a:prstGeom>
          <a:noFill/>
          <a:ln w="25400">
            <a:solidFill>
              <a:srgbClr val="9AA0A6"/>
            </a:solidFill>
            <a:prstDash val="solid"/>
          </a:ln>
        </p:spPr>
        <p:txBody>
          <a:bodyPr/>
          <a:lstStyle/>
          <a:p>
            <a:endParaRPr lang="en-US"/>
          </a:p>
        </p:txBody>
      </p:sp>
      <p:sp>
        <p:nvSpPr>
          <p:cNvPr id="61" name="Shape 59"/>
          <p:cNvSpPr/>
          <p:nvPr/>
        </p:nvSpPr>
        <p:spPr>
          <a:xfrm>
            <a:off x="2514600" y="2761488"/>
            <a:ext cx="155448" cy="0"/>
          </a:xfrm>
          <a:prstGeom prst="line">
            <a:avLst/>
          </a:prstGeom>
          <a:noFill/>
          <a:ln w="25400">
            <a:solidFill>
              <a:srgbClr val="9AA0A6"/>
            </a:solidFill>
            <a:prstDash val="solid"/>
          </a:ln>
        </p:spPr>
        <p:txBody>
          <a:bodyPr/>
          <a:lstStyle/>
          <a:p>
            <a:endParaRPr lang="en-US"/>
          </a:p>
        </p:txBody>
      </p:sp>
      <p:sp>
        <p:nvSpPr>
          <p:cNvPr id="62" name="Shape 60"/>
          <p:cNvSpPr/>
          <p:nvPr/>
        </p:nvSpPr>
        <p:spPr>
          <a:xfrm>
            <a:off x="2139696" y="2679192"/>
            <a:ext cx="374904" cy="164592"/>
          </a:xfrm>
          <a:prstGeom prst="roundRect">
            <a:avLst>
              <a:gd name="adj" fmla="val 33333"/>
            </a:avLst>
          </a:prstGeom>
          <a:solidFill>
            <a:srgbClr val="E3C99A"/>
          </a:solidFill>
          <a:ln w="9525">
            <a:solidFill>
              <a:srgbClr val="B8986A"/>
            </a:solidFill>
            <a:prstDash val="solid"/>
          </a:ln>
        </p:spPr>
        <p:txBody>
          <a:bodyPr/>
          <a:lstStyle/>
          <a:p>
            <a:endParaRPr lang="en-US"/>
          </a:p>
        </p:txBody>
      </p:sp>
      <p:sp>
        <p:nvSpPr>
          <p:cNvPr id="63" name="Shape 61"/>
          <p:cNvSpPr/>
          <p:nvPr/>
        </p:nvSpPr>
        <p:spPr>
          <a:xfrm>
            <a:off x="2194560" y="2679192"/>
            <a:ext cx="32004" cy="164592"/>
          </a:xfrm>
          <a:prstGeom prst="rect">
            <a:avLst/>
          </a:prstGeom>
          <a:solidFill>
            <a:srgbClr val="D64545"/>
          </a:solidFill>
          <a:ln w="12700">
            <a:solidFill>
              <a:srgbClr val="D64545"/>
            </a:solidFill>
            <a:prstDash val="solid"/>
          </a:ln>
        </p:spPr>
        <p:txBody>
          <a:bodyPr/>
          <a:lstStyle/>
          <a:p>
            <a:endParaRPr lang="en-US"/>
          </a:p>
        </p:txBody>
      </p:sp>
      <p:sp>
        <p:nvSpPr>
          <p:cNvPr id="64" name="Shape 62"/>
          <p:cNvSpPr/>
          <p:nvPr/>
        </p:nvSpPr>
        <p:spPr>
          <a:xfrm>
            <a:off x="2261795" y="2679192"/>
            <a:ext cx="32004" cy="164592"/>
          </a:xfrm>
          <a:prstGeom prst="rect">
            <a:avLst/>
          </a:prstGeom>
          <a:solidFill>
            <a:srgbClr val="D64545"/>
          </a:solidFill>
          <a:ln w="12700">
            <a:solidFill>
              <a:srgbClr val="D64545"/>
            </a:solidFill>
            <a:prstDash val="solid"/>
          </a:ln>
        </p:spPr>
        <p:txBody>
          <a:bodyPr/>
          <a:lstStyle/>
          <a:p>
            <a:endParaRPr lang="en-US"/>
          </a:p>
        </p:txBody>
      </p:sp>
      <p:sp>
        <p:nvSpPr>
          <p:cNvPr id="65" name="Shape 63"/>
          <p:cNvSpPr/>
          <p:nvPr/>
        </p:nvSpPr>
        <p:spPr>
          <a:xfrm>
            <a:off x="2329031" y="2679192"/>
            <a:ext cx="32004" cy="164592"/>
          </a:xfrm>
          <a:prstGeom prst="rect">
            <a:avLst/>
          </a:prstGeom>
          <a:solidFill>
            <a:srgbClr val="8B4513"/>
          </a:solidFill>
          <a:ln w="12700">
            <a:solidFill>
              <a:srgbClr val="8B4513"/>
            </a:solidFill>
            <a:prstDash val="solid"/>
          </a:ln>
        </p:spPr>
        <p:txBody>
          <a:bodyPr/>
          <a:lstStyle/>
          <a:p>
            <a:endParaRPr lang="en-US"/>
          </a:p>
        </p:txBody>
      </p:sp>
      <p:sp>
        <p:nvSpPr>
          <p:cNvPr id="66" name="Shape 64"/>
          <p:cNvSpPr/>
          <p:nvPr/>
        </p:nvSpPr>
        <p:spPr>
          <a:xfrm>
            <a:off x="2432842" y="2679192"/>
            <a:ext cx="32004" cy="164592"/>
          </a:xfrm>
          <a:prstGeom prst="rect">
            <a:avLst/>
          </a:prstGeom>
          <a:solidFill>
            <a:srgbClr val="C9A227"/>
          </a:solidFill>
          <a:ln w="12700">
            <a:solidFill>
              <a:srgbClr val="C9A227"/>
            </a:solidFill>
            <a:prstDash val="solid"/>
          </a:ln>
        </p:spPr>
        <p:txBody>
          <a:bodyPr/>
          <a:lstStyle/>
          <a:p>
            <a:endParaRPr lang="en-US"/>
          </a:p>
        </p:txBody>
      </p:sp>
      <p:sp>
        <p:nvSpPr>
          <p:cNvPr id="67" name="Shape 65"/>
          <p:cNvSpPr/>
          <p:nvPr/>
        </p:nvSpPr>
        <p:spPr>
          <a:xfrm>
            <a:off x="2670048" y="2761488"/>
            <a:ext cx="73152" cy="0"/>
          </a:xfrm>
          <a:prstGeom prst="line">
            <a:avLst/>
          </a:prstGeom>
          <a:noFill/>
          <a:ln w="25400">
            <a:solidFill>
              <a:srgbClr val="9AA0A6"/>
            </a:solidFill>
            <a:prstDash val="solid"/>
          </a:ln>
        </p:spPr>
        <p:txBody>
          <a:bodyPr/>
          <a:lstStyle/>
          <a:p>
            <a:endParaRPr lang="en-US"/>
          </a:p>
        </p:txBody>
      </p:sp>
      <p:sp>
        <p:nvSpPr>
          <p:cNvPr id="68" name="Shape 66"/>
          <p:cNvSpPr/>
          <p:nvPr/>
        </p:nvSpPr>
        <p:spPr>
          <a:xfrm>
            <a:off x="2743200" y="2761488"/>
            <a:ext cx="219456" cy="0"/>
          </a:xfrm>
          <a:prstGeom prst="line">
            <a:avLst/>
          </a:prstGeom>
          <a:noFill/>
          <a:ln w="25400">
            <a:solidFill>
              <a:srgbClr val="9AA0A6"/>
            </a:solidFill>
            <a:prstDash val="solid"/>
          </a:ln>
        </p:spPr>
        <p:txBody>
          <a:bodyPr/>
          <a:lstStyle/>
          <a:p>
            <a:endParaRPr lang="en-US"/>
          </a:p>
        </p:txBody>
      </p:sp>
      <p:sp>
        <p:nvSpPr>
          <p:cNvPr id="69" name="Shape 67"/>
          <p:cNvSpPr/>
          <p:nvPr/>
        </p:nvSpPr>
        <p:spPr>
          <a:xfrm>
            <a:off x="3273552" y="2761488"/>
            <a:ext cx="109728" cy="0"/>
          </a:xfrm>
          <a:prstGeom prst="line">
            <a:avLst/>
          </a:prstGeom>
          <a:noFill/>
          <a:ln w="25400">
            <a:solidFill>
              <a:srgbClr val="9AA0A6"/>
            </a:solidFill>
            <a:prstDash val="solid"/>
          </a:ln>
        </p:spPr>
        <p:txBody>
          <a:bodyPr/>
          <a:lstStyle/>
          <a:p>
            <a:endParaRPr lang="en-US"/>
          </a:p>
        </p:txBody>
      </p:sp>
      <p:sp>
        <p:nvSpPr>
          <p:cNvPr id="70" name="Shape 68"/>
          <p:cNvSpPr/>
          <p:nvPr/>
        </p:nvSpPr>
        <p:spPr>
          <a:xfrm>
            <a:off x="2916936" y="2560320"/>
            <a:ext cx="402336" cy="402336"/>
          </a:xfrm>
          <a:prstGeom prst="ellipse">
            <a:avLst/>
          </a:prstGeom>
          <a:solidFill>
            <a:srgbClr val="F2A900">
              <a:alpha val="45000"/>
            </a:srgbClr>
          </a:solidFill>
          <a:ln w="12700">
            <a:solidFill>
              <a:srgbClr val="F2A900">
                <a:alpha val="0"/>
              </a:srgbClr>
            </a:solidFill>
            <a:prstDash val="solid"/>
          </a:ln>
        </p:spPr>
        <p:txBody>
          <a:bodyPr/>
          <a:lstStyle/>
          <a:p>
            <a:endParaRPr lang="en-US"/>
          </a:p>
        </p:txBody>
      </p:sp>
      <p:sp>
        <p:nvSpPr>
          <p:cNvPr id="71" name="Shape 69"/>
          <p:cNvSpPr/>
          <p:nvPr/>
        </p:nvSpPr>
        <p:spPr>
          <a:xfrm>
            <a:off x="2962656" y="2606040"/>
            <a:ext cx="310896" cy="310896"/>
          </a:xfrm>
          <a:prstGeom prst="ellipse">
            <a:avLst/>
          </a:prstGeom>
          <a:solidFill>
            <a:srgbClr val="D64545"/>
          </a:solidFill>
          <a:ln w="19050">
            <a:solidFill>
              <a:srgbClr val="D64545"/>
            </a:solidFill>
            <a:prstDash val="solid"/>
          </a:ln>
        </p:spPr>
        <p:txBody>
          <a:bodyPr/>
          <a:lstStyle/>
          <a:p>
            <a:endParaRPr lang="en-US"/>
          </a:p>
        </p:txBody>
      </p:sp>
      <p:sp>
        <p:nvSpPr>
          <p:cNvPr id="72" name="Shape 70"/>
          <p:cNvSpPr/>
          <p:nvPr/>
        </p:nvSpPr>
        <p:spPr>
          <a:xfrm>
            <a:off x="3383280" y="2761488"/>
            <a:ext cx="685800" cy="0"/>
          </a:xfrm>
          <a:prstGeom prst="line">
            <a:avLst/>
          </a:prstGeom>
          <a:noFill/>
          <a:ln w="31750">
            <a:solidFill>
              <a:srgbClr val="1B1B1B"/>
            </a:solidFill>
            <a:prstDash val="solid"/>
          </a:ln>
        </p:spPr>
        <p:txBody>
          <a:bodyPr/>
          <a:lstStyle/>
          <a:p>
            <a:endParaRPr lang="en-US"/>
          </a:p>
        </p:txBody>
      </p:sp>
      <p:sp>
        <p:nvSpPr>
          <p:cNvPr id="73" name="Shape 71"/>
          <p:cNvSpPr/>
          <p:nvPr/>
        </p:nvSpPr>
        <p:spPr>
          <a:xfrm>
            <a:off x="1664208" y="3035808"/>
            <a:ext cx="320040" cy="0"/>
          </a:xfrm>
          <a:prstGeom prst="line">
            <a:avLst/>
          </a:prstGeom>
          <a:noFill/>
          <a:ln w="31750">
            <a:solidFill>
              <a:srgbClr val="1F8A70"/>
            </a:solidFill>
            <a:prstDash val="solid"/>
          </a:ln>
        </p:spPr>
        <p:txBody>
          <a:bodyPr/>
          <a:lstStyle/>
          <a:p>
            <a:endParaRPr lang="en-US"/>
          </a:p>
        </p:txBody>
      </p:sp>
      <p:sp>
        <p:nvSpPr>
          <p:cNvPr id="74" name="Shape 72"/>
          <p:cNvSpPr/>
          <p:nvPr/>
        </p:nvSpPr>
        <p:spPr>
          <a:xfrm>
            <a:off x="1984248" y="3035808"/>
            <a:ext cx="155448" cy="0"/>
          </a:xfrm>
          <a:prstGeom prst="line">
            <a:avLst/>
          </a:prstGeom>
          <a:noFill/>
          <a:ln w="25400">
            <a:solidFill>
              <a:srgbClr val="9AA0A6"/>
            </a:solidFill>
            <a:prstDash val="solid"/>
          </a:ln>
        </p:spPr>
        <p:txBody>
          <a:bodyPr/>
          <a:lstStyle/>
          <a:p>
            <a:endParaRPr lang="en-US"/>
          </a:p>
        </p:txBody>
      </p:sp>
      <p:sp>
        <p:nvSpPr>
          <p:cNvPr id="75" name="Shape 73"/>
          <p:cNvSpPr/>
          <p:nvPr/>
        </p:nvSpPr>
        <p:spPr>
          <a:xfrm>
            <a:off x="2514600" y="3035808"/>
            <a:ext cx="155448" cy="0"/>
          </a:xfrm>
          <a:prstGeom prst="line">
            <a:avLst/>
          </a:prstGeom>
          <a:noFill/>
          <a:ln w="25400">
            <a:solidFill>
              <a:srgbClr val="9AA0A6"/>
            </a:solidFill>
            <a:prstDash val="solid"/>
          </a:ln>
        </p:spPr>
        <p:txBody>
          <a:bodyPr/>
          <a:lstStyle/>
          <a:p>
            <a:endParaRPr lang="en-US"/>
          </a:p>
        </p:txBody>
      </p:sp>
      <p:sp>
        <p:nvSpPr>
          <p:cNvPr id="76" name="Shape 74"/>
          <p:cNvSpPr/>
          <p:nvPr/>
        </p:nvSpPr>
        <p:spPr>
          <a:xfrm>
            <a:off x="2139696" y="2953512"/>
            <a:ext cx="374904" cy="164592"/>
          </a:xfrm>
          <a:prstGeom prst="roundRect">
            <a:avLst>
              <a:gd name="adj" fmla="val 33333"/>
            </a:avLst>
          </a:prstGeom>
          <a:solidFill>
            <a:srgbClr val="E3C99A"/>
          </a:solidFill>
          <a:ln w="9525">
            <a:solidFill>
              <a:srgbClr val="B8986A"/>
            </a:solidFill>
            <a:prstDash val="solid"/>
          </a:ln>
        </p:spPr>
        <p:txBody>
          <a:bodyPr/>
          <a:lstStyle/>
          <a:p>
            <a:endParaRPr lang="en-US"/>
          </a:p>
        </p:txBody>
      </p:sp>
      <p:sp>
        <p:nvSpPr>
          <p:cNvPr id="77" name="Shape 75"/>
          <p:cNvSpPr/>
          <p:nvPr/>
        </p:nvSpPr>
        <p:spPr>
          <a:xfrm>
            <a:off x="2194560" y="2953512"/>
            <a:ext cx="32004" cy="164592"/>
          </a:xfrm>
          <a:prstGeom prst="rect">
            <a:avLst/>
          </a:prstGeom>
          <a:solidFill>
            <a:srgbClr val="D64545"/>
          </a:solidFill>
          <a:ln w="12700">
            <a:solidFill>
              <a:srgbClr val="D64545"/>
            </a:solidFill>
            <a:prstDash val="solid"/>
          </a:ln>
        </p:spPr>
        <p:txBody>
          <a:bodyPr/>
          <a:lstStyle/>
          <a:p>
            <a:endParaRPr lang="en-US"/>
          </a:p>
        </p:txBody>
      </p:sp>
      <p:sp>
        <p:nvSpPr>
          <p:cNvPr id="78" name="Shape 76"/>
          <p:cNvSpPr/>
          <p:nvPr/>
        </p:nvSpPr>
        <p:spPr>
          <a:xfrm>
            <a:off x="2261795" y="2953512"/>
            <a:ext cx="32004" cy="164592"/>
          </a:xfrm>
          <a:prstGeom prst="rect">
            <a:avLst/>
          </a:prstGeom>
          <a:solidFill>
            <a:srgbClr val="D64545"/>
          </a:solidFill>
          <a:ln w="12700">
            <a:solidFill>
              <a:srgbClr val="D64545"/>
            </a:solidFill>
            <a:prstDash val="solid"/>
          </a:ln>
        </p:spPr>
        <p:txBody>
          <a:bodyPr/>
          <a:lstStyle/>
          <a:p>
            <a:endParaRPr lang="en-US"/>
          </a:p>
        </p:txBody>
      </p:sp>
      <p:sp>
        <p:nvSpPr>
          <p:cNvPr id="79" name="Shape 77"/>
          <p:cNvSpPr/>
          <p:nvPr/>
        </p:nvSpPr>
        <p:spPr>
          <a:xfrm>
            <a:off x="2329031" y="2953512"/>
            <a:ext cx="32004" cy="164592"/>
          </a:xfrm>
          <a:prstGeom prst="rect">
            <a:avLst/>
          </a:prstGeom>
          <a:solidFill>
            <a:srgbClr val="8B4513"/>
          </a:solidFill>
          <a:ln w="12700">
            <a:solidFill>
              <a:srgbClr val="8B4513"/>
            </a:solidFill>
            <a:prstDash val="solid"/>
          </a:ln>
        </p:spPr>
        <p:txBody>
          <a:bodyPr/>
          <a:lstStyle/>
          <a:p>
            <a:endParaRPr lang="en-US"/>
          </a:p>
        </p:txBody>
      </p:sp>
      <p:sp>
        <p:nvSpPr>
          <p:cNvPr id="80" name="Shape 78"/>
          <p:cNvSpPr/>
          <p:nvPr/>
        </p:nvSpPr>
        <p:spPr>
          <a:xfrm>
            <a:off x="2432842" y="2953512"/>
            <a:ext cx="32004" cy="164592"/>
          </a:xfrm>
          <a:prstGeom prst="rect">
            <a:avLst/>
          </a:prstGeom>
          <a:solidFill>
            <a:srgbClr val="C9A227"/>
          </a:solidFill>
          <a:ln w="12700">
            <a:solidFill>
              <a:srgbClr val="C9A227"/>
            </a:solidFill>
            <a:prstDash val="solid"/>
          </a:ln>
        </p:spPr>
        <p:txBody>
          <a:bodyPr/>
          <a:lstStyle/>
          <a:p>
            <a:endParaRPr lang="en-US"/>
          </a:p>
        </p:txBody>
      </p:sp>
      <p:sp>
        <p:nvSpPr>
          <p:cNvPr id="81" name="Shape 79"/>
          <p:cNvSpPr/>
          <p:nvPr/>
        </p:nvSpPr>
        <p:spPr>
          <a:xfrm>
            <a:off x="2670048" y="3035808"/>
            <a:ext cx="73152" cy="0"/>
          </a:xfrm>
          <a:prstGeom prst="line">
            <a:avLst/>
          </a:prstGeom>
          <a:noFill/>
          <a:ln w="25400">
            <a:solidFill>
              <a:srgbClr val="9AA0A6"/>
            </a:solidFill>
            <a:prstDash val="solid"/>
          </a:ln>
        </p:spPr>
        <p:txBody>
          <a:bodyPr/>
          <a:lstStyle/>
          <a:p>
            <a:endParaRPr lang="en-US"/>
          </a:p>
        </p:txBody>
      </p:sp>
      <p:sp>
        <p:nvSpPr>
          <p:cNvPr id="82" name="Shape 80"/>
          <p:cNvSpPr/>
          <p:nvPr/>
        </p:nvSpPr>
        <p:spPr>
          <a:xfrm>
            <a:off x="2743200" y="3035808"/>
            <a:ext cx="219456" cy="0"/>
          </a:xfrm>
          <a:prstGeom prst="line">
            <a:avLst/>
          </a:prstGeom>
          <a:noFill/>
          <a:ln w="25400">
            <a:solidFill>
              <a:srgbClr val="9AA0A6"/>
            </a:solidFill>
            <a:prstDash val="solid"/>
          </a:ln>
        </p:spPr>
        <p:txBody>
          <a:bodyPr/>
          <a:lstStyle/>
          <a:p>
            <a:endParaRPr lang="en-US"/>
          </a:p>
        </p:txBody>
      </p:sp>
      <p:sp>
        <p:nvSpPr>
          <p:cNvPr id="83" name="Shape 81"/>
          <p:cNvSpPr/>
          <p:nvPr/>
        </p:nvSpPr>
        <p:spPr>
          <a:xfrm>
            <a:off x="3273552" y="3035808"/>
            <a:ext cx="109728" cy="0"/>
          </a:xfrm>
          <a:prstGeom prst="line">
            <a:avLst/>
          </a:prstGeom>
          <a:noFill/>
          <a:ln w="25400">
            <a:solidFill>
              <a:srgbClr val="9AA0A6"/>
            </a:solidFill>
            <a:prstDash val="solid"/>
          </a:ln>
        </p:spPr>
        <p:txBody>
          <a:bodyPr/>
          <a:lstStyle/>
          <a:p>
            <a:endParaRPr lang="en-US"/>
          </a:p>
        </p:txBody>
      </p:sp>
      <p:sp>
        <p:nvSpPr>
          <p:cNvPr id="84" name="Shape 82"/>
          <p:cNvSpPr/>
          <p:nvPr/>
        </p:nvSpPr>
        <p:spPr>
          <a:xfrm>
            <a:off x="2916936" y="2834640"/>
            <a:ext cx="402336" cy="402336"/>
          </a:xfrm>
          <a:prstGeom prst="ellipse">
            <a:avLst/>
          </a:prstGeom>
          <a:solidFill>
            <a:srgbClr val="F2A900">
              <a:alpha val="45000"/>
            </a:srgbClr>
          </a:solidFill>
          <a:ln w="12700">
            <a:solidFill>
              <a:srgbClr val="F2A900">
                <a:alpha val="0"/>
              </a:srgbClr>
            </a:solidFill>
            <a:prstDash val="solid"/>
          </a:ln>
        </p:spPr>
        <p:txBody>
          <a:bodyPr/>
          <a:lstStyle/>
          <a:p>
            <a:endParaRPr lang="en-US"/>
          </a:p>
        </p:txBody>
      </p:sp>
      <p:sp>
        <p:nvSpPr>
          <p:cNvPr id="85" name="Shape 83"/>
          <p:cNvSpPr/>
          <p:nvPr/>
        </p:nvSpPr>
        <p:spPr>
          <a:xfrm>
            <a:off x="2962656" y="2880360"/>
            <a:ext cx="310896" cy="310896"/>
          </a:xfrm>
          <a:prstGeom prst="ellipse">
            <a:avLst/>
          </a:prstGeom>
          <a:solidFill>
            <a:srgbClr val="D64545"/>
          </a:solidFill>
          <a:ln w="19050">
            <a:solidFill>
              <a:srgbClr val="D64545"/>
            </a:solidFill>
            <a:prstDash val="solid"/>
          </a:ln>
        </p:spPr>
        <p:txBody>
          <a:bodyPr/>
          <a:lstStyle/>
          <a:p>
            <a:endParaRPr lang="en-US"/>
          </a:p>
        </p:txBody>
      </p:sp>
      <p:sp>
        <p:nvSpPr>
          <p:cNvPr id="86" name="Shape 84"/>
          <p:cNvSpPr/>
          <p:nvPr/>
        </p:nvSpPr>
        <p:spPr>
          <a:xfrm>
            <a:off x="3383280" y="3035808"/>
            <a:ext cx="685800" cy="0"/>
          </a:xfrm>
          <a:prstGeom prst="line">
            <a:avLst/>
          </a:prstGeom>
          <a:noFill/>
          <a:ln w="31750">
            <a:solidFill>
              <a:srgbClr val="1B1B1B"/>
            </a:solidFill>
            <a:prstDash val="solid"/>
          </a:ln>
        </p:spPr>
        <p:txBody>
          <a:bodyPr/>
          <a:lstStyle/>
          <a:p>
            <a:endParaRPr lang="en-US"/>
          </a:p>
        </p:txBody>
      </p:sp>
      <p:sp>
        <p:nvSpPr>
          <p:cNvPr id="87" name="Shape 85"/>
          <p:cNvSpPr/>
          <p:nvPr/>
        </p:nvSpPr>
        <p:spPr>
          <a:xfrm>
            <a:off x="1664208" y="3310128"/>
            <a:ext cx="320040" cy="0"/>
          </a:xfrm>
          <a:prstGeom prst="line">
            <a:avLst/>
          </a:prstGeom>
          <a:noFill/>
          <a:ln w="31750">
            <a:solidFill>
              <a:srgbClr val="2B6CB0"/>
            </a:solidFill>
            <a:prstDash val="solid"/>
          </a:ln>
        </p:spPr>
        <p:txBody>
          <a:bodyPr/>
          <a:lstStyle/>
          <a:p>
            <a:endParaRPr lang="en-US"/>
          </a:p>
        </p:txBody>
      </p:sp>
      <p:sp>
        <p:nvSpPr>
          <p:cNvPr id="88" name="Shape 86"/>
          <p:cNvSpPr/>
          <p:nvPr/>
        </p:nvSpPr>
        <p:spPr>
          <a:xfrm>
            <a:off x="1984248" y="3310128"/>
            <a:ext cx="155448" cy="0"/>
          </a:xfrm>
          <a:prstGeom prst="line">
            <a:avLst/>
          </a:prstGeom>
          <a:noFill/>
          <a:ln w="25400">
            <a:solidFill>
              <a:srgbClr val="9AA0A6"/>
            </a:solidFill>
            <a:prstDash val="solid"/>
          </a:ln>
        </p:spPr>
        <p:txBody>
          <a:bodyPr/>
          <a:lstStyle/>
          <a:p>
            <a:endParaRPr lang="en-US"/>
          </a:p>
        </p:txBody>
      </p:sp>
      <p:sp>
        <p:nvSpPr>
          <p:cNvPr id="89" name="Shape 87"/>
          <p:cNvSpPr/>
          <p:nvPr/>
        </p:nvSpPr>
        <p:spPr>
          <a:xfrm>
            <a:off x="2514600" y="3310128"/>
            <a:ext cx="155448" cy="0"/>
          </a:xfrm>
          <a:prstGeom prst="line">
            <a:avLst/>
          </a:prstGeom>
          <a:noFill/>
          <a:ln w="25400">
            <a:solidFill>
              <a:srgbClr val="9AA0A6"/>
            </a:solidFill>
            <a:prstDash val="solid"/>
          </a:ln>
        </p:spPr>
        <p:txBody>
          <a:bodyPr/>
          <a:lstStyle/>
          <a:p>
            <a:endParaRPr lang="en-US"/>
          </a:p>
        </p:txBody>
      </p:sp>
      <p:sp>
        <p:nvSpPr>
          <p:cNvPr id="90" name="Shape 88"/>
          <p:cNvSpPr/>
          <p:nvPr/>
        </p:nvSpPr>
        <p:spPr>
          <a:xfrm>
            <a:off x="2139696" y="3227832"/>
            <a:ext cx="374904" cy="164592"/>
          </a:xfrm>
          <a:prstGeom prst="roundRect">
            <a:avLst>
              <a:gd name="adj" fmla="val 33333"/>
            </a:avLst>
          </a:prstGeom>
          <a:solidFill>
            <a:srgbClr val="E3C99A"/>
          </a:solidFill>
          <a:ln w="9525">
            <a:solidFill>
              <a:srgbClr val="B8986A"/>
            </a:solidFill>
            <a:prstDash val="solid"/>
          </a:ln>
        </p:spPr>
        <p:txBody>
          <a:bodyPr/>
          <a:lstStyle/>
          <a:p>
            <a:endParaRPr lang="en-US"/>
          </a:p>
        </p:txBody>
      </p:sp>
      <p:sp>
        <p:nvSpPr>
          <p:cNvPr id="91" name="Shape 89"/>
          <p:cNvSpPr/>
          <p:nvPr/>
        </p:nvSpPr>
        <p:spPr>
          <a:xfrm>
            <a:off x="2194560" y="3227832"/>
            <a:ext cx="32004" cy="164592"/>
          </a:xfrm>
          <a:prstGeom prst="rect">
            <a:avLst/>
          </a:prstGeom>
          <a:solidFill>
            <a:srgbClr val="D64545"/>
          </a:solidFill>
          <a:ln w="12700">
            <a:solidFill>
              <a:srgbClr val="D64545"/>
            </a:solidFill>
            <a:prstDash val="solid"/>
          </a:ln>
        </p:spPr>
        <p:txBody>
          <a:bodyPr/>
          <a:lstStyle/>
          <a:p>
            <a:endParaRPr lang="en-US"/>
          </a:p>
        </p:txBody>
      </p:sp>
      <p:sp>
        <p:nvSpPr>
          <p:cNvPr id="92" name="Shape 90"/>
          <p:cNvSpPr/>
          <p:nvPr/>
        </p:nvSpPr>
        <p:spPr>
          <a:xfrm>
            <a:off x="2261795" y="3227832"/>
            <a:ext cx="32004" cy="164592"/>
          </a:xfrm>
          <a:prstGeom prst="rect">
            <a:avLst/>
          </a:prstGeom>
          <a:solidFill>
            <a:srgbClr val="D64545"/>
          </a:solidFill>
          <a:ln w="12700">
            <a:solidFill>
              <a:srgbClr val="D64545"/>
            </a:solidFill>
            <a:prstDash val="solid"/>
          </a:ln>
        </p:spPr>
        <p:txBody>
          <a:bodyPr/>
          <a:lstStyle/>
          <a:p>
            <a:endParaRPr lang="en-US"/>
          </a:p>
        </p:txBody>
      </p:sp>
      <p:sp>
        <p:nvSpPr>
          <p:cNvPr id="93" name="Shape 91"/>
          <p:cNvSpPr/>
          <p:nvPr/>
        </p:nvSpPr>
        <p:spPr>
          <a:xfrm>
            <a:off x="2329031" y="3227832"/>
            <a:ext cx="32004" cy="164592"/>
          </a:xfrm>
          <a:prstGeom prst="rect">
            <a:avLst/>
          </a:prstGeom>
          <a:solidFill>
            <a:srgbClr val="8B4513"/>
          </a:solidFill>
          <a:ln w="12700">
            <a:solidFill>
              <a:srgbClr val="8B4513"/>
            </a:solidFill>
            <a:prstDash val="solid"/>
          </a:ln>
        </p:spPr>
        <p:txBody>
          <a:bodyPr/>
          <a:lstStyle/>
          <a:p>
            <a:endParaRPr lang="en-US"/>
          </a:p>
        </p:txBody>
      </p:sp>
      <p:sp>
        <p:nvSpPr>
          <p:cNvPr id="94" name="Shape 92"/>
          <p:cNvSpPr/>
          <p:nvPr/>
        </p:nvSpPr>
        <p:spPr>
          <a:xfrm>
            <a:off x="2432842" y="3227832"/>
            <a:ext cx="32004" cy="164592"/>
          </a:xfrm>
          <a:prstGeom prst="rect">
            <a:avLst/>
          </a:prstGeom>
          <a:solidFill>
            <a:srgbClr val="C9A227"/>
          </a:solidFill>
          <a:ln w="12700">
            <a:solidFill>
              <a:srgbClr val="C9A227"/>
            </a:solidFill>
            <a:prstDash val="solid"/>
          </a:ln>
        </p:spPr>
        <p:txBody>
          <a:bodyPr/>
          <a:lstStyle/>
          <a:p>
            <a:endParaRPr lang="en-US"/>
          </a:p>
        </p:txBody>
      </p:sp>
      <p:sp>
        <p:nvSpPr>
          <p:cNvPr id="95" name="Shape 93"/>
          <p:cNvSpPr/>
          <p:nvPr/>
        </p:nvSpPr>
        <p:spPr>
          <a:xfrm>
            <a:off x="2670048" y="3310128"/>
            <a:ext cx="73152" cy="0"/>
          </a:xfrm>
          <a:prstGeom prst="line">
            <a:avLst/>
          </a:prstGeom>
          <a:noFill/>
          <a:ln w="25400">
            <a:solidFill>
              <a:srgbClr val="9AA0A6"/>
            </a:solidFill>
            <a:prstDash val="solid"/>
          </a:ln>
        </p:spPr>
        <p:txBody>
          <a:bodyPr/>
          <a:lstStyle/>
          <a:p>
            <a:endParaRPr lang="en-US"/>
          </a:p>
        </p:txBody>
      </p:sp>
      <p:sp>
        <p:nvSpPr>
          <p:cNvPr id="96" name="Shape 94"/>
          <p:cNvSpPr/>
          <p:nvPr/>
        </p:nvSpPr>
        <p:spPr>
          <a:xfrm>
            <a:off x="2743200" y="3310128"/>
            <a:ext cx="219456" cy="0"/>
          </a:xfrm>
          <a:prstGeom prst="line">
            <a:avLst/>
          </a:prstGeom>
          <a:noFill/>
          <a:ln w="25400">
            <a:solidFill>
              <a:srgbClr val="9AA0A6"/>
            </a:solidFill>
            <a:prstDash val="solid"/>
          </a:ln>
        </p:spPr>
        <p:txBody>
          <a:bodyPr/>
          <a:lstStyle/>
          <a:p>
            <a:endParaRPr lang="en-US"/>
          </a:p>
        </p:txBody>
      </p:sp>
      <p:sp>
        <p:nvSpPr>
          <p:cNvPr id="97" name="Shape 95"/>
          <p:cNvSpPr/>
          <p:nvPr/>
        </p:nvSpPr>
        <p:spPr>
          <a:xfrm>
            <a:off x="3273552" y="3310128"/>
            <a:ext cx="109728" cy="0"/>
          </a:xfrm>
          <a:prstGeom prst="line">
            <a:avLst/>
          </a:prstGeom>
          <a:noFill/>
          <a:ln w="25400">
            <a:solidFill>
              <a:srgbClr val="9AA0A6"/>
            </a:solidFill>
            <a:prstDash val="solid"/>
          </a:ln>
        </p:spPr>
        <p:txBody>
          <a:bodyPr/>
          <a:lstStyle/>
          <a:p>
            <a:endParaRPr lang="en-US"/>
          </a:p>
        </p:txBody>
      </p:sp>
      <p:sp>
        <p:nvSpPr>
          <p:cNvPr id="98" name="Shape 96"/>
          <p:cNvSpPr/>
          <p:nvPr/>
        </p:nvSpPr>
        <p:spPr>
          <a:xfrm>
            <a:off x="2962656" y="3154680"/>
            <a:ext cx="310896" cy="310896"/>
          </a:xfrm>
          <a:prstGeom prst="ellipse">
            <a:avLst/>
          </a:prstGeom>
          <a:solidFill>
            <a:srgbClr val="F3F3F3"/>
          </a:solidFill>
          <a:ln w="19050">
            <a:solidFill>
              <a:srgbClr val="D64545"/>
            </a:solidFill>
            <a:prstDash val="solid"/>
          </a:ln>
        </p:spPr>
        <p:txBody>
          <a:bodyPr/>
          <a:lstStyle/>
          <a:p>
            <a:endParaRPr lang="en-US"/>
          </a:p>
        </p:txBody>
      </p:sp>
      <p:sp>
        <p:nvSpPr>
          <p:cNvPr id="99" name="Shape 97"/>
          <p:cNvSpPr/>
          <p:nvPr/>
        </p:nvSpPr>
        <p:spPr>
          <a:xfrm>
            <a:off x="3383280" y="3310128"/>
            <a:ext cx="685800" cy="0"/>
          </a:xfrm>
          <a:prstGeom prst="line">
            <a:avLst/>
          </a:prstGeom>
          <a:noFill/>
          <a:ln w="31750">
            <a:solidFill>
              <a:srgbClr val="1B1B1B"/>
            </a:solidFill>
            <a:prstDash val="solid"/>
          </a:ln>
        </p:spPr>
        <p:txBody>
          <a:bodyPr/>
          <a:lstStyle/>
          <a:p>
            <a:endParaRPr lang="en-US"/>
          </a:p>
        </p:txBody>
      </p:sp>
      <p:sp>
        <p:nvSpPr>
          <p:cNvPr id="100" name="Shape 98"/>
          <p:cNvSpPr/>
          <p:nvPr/>
        </p:nvSpPr>
        <p:spPr>
          <a:xfrm>
            <a:off x="1664208" y="3584448"/>
            <a:ext cx="320040" cy="0"/>
          </a:xfrm>
          <a:prstGeom prst="line">
            <a:avLst/>
          </a:prstGeom>
          <a:noFill/>
          <a:ln w="31750">
            <a:solidFill>
              <a:srgbClr val="8E44AD"/>
            </a:solidFill>
            <a:prstDash val="solid"/>
          </a:ln>
        </p:spPr>
        <p:txBody>
          <a:bodyPr/>
          <a:lstStyle/>
          <a:p>
            <a:endParaRPr lang="en-US"/>
          </a:p>
        </p:txBody>
      </p:sp>
      <p:sp>
        <p:nvSpPr>
          <p:cNvPr id="101" name="Shape 99"/>
          <p:cNvSpPr/>
          <p:nvPr/>
        </p:nvSpPr>
        <p:spPr>
          <a:xfrm>
            <a:off x="1984248" y="3584448"/>
            <a:ext cx="155448" cy="0"/>
          </a:xfrm>
          <a:prstGeom prst="line">
            <a:avLst/>
          </a:prstGeom>
          <a:noFill/>
          <a:ln w="25400">
            <a:solidFill>
              <a:srgbClr val="9AA0A6"/>
            </a:solidFill>
            <a:prstDash val="solid"/>
          </a:ln>
        </p:spPr>
        <p:txBody>
          <a:bodyPr/>
          <a:lstStyle/>
          <a:p>
            <a:endParaRPr lang="en-US"/>
          </a:p>
        </p:txBody>
      </p:sp>
      <p:sp>
        <p:nvSpPr>
          <p:cNvPr id="102" name="Shape 100"/>
          <p:cNvSpPr/>
          <p:nvPr/>
        </p:nvSpPr>
        <p:spPr>
          <a:xfrm>
            <a:off x="2514600" y="3584448"/>
            <a:ext cx="155448" cy="0"/>
          </a:xfrm>
          <a:prstGeom prst="line">
            <a:avLst/>
          </a:prstGeom>
          <a:noFill/>
          <a:ln w="25400">
            <a:solidFill>
              <a:srgbClr val="9AA0A6"/>
            </a:solidFill>
            <a:prstDash val="solid"/>
          </a:ln>
        </p:spPr>
        <p:txBody>
          <a:bodyPr/>
          <a:lstStyle/>
          <a:p>
            <a:endParaRPr lang="en-US"/>
          </a:p>
        </p:txBody>
      </p:sp>
      <p:sp>
        <p:nvSpPr>
          <p:cNvPr id="103" name="Shape 101"/>
          <p:cNvSpPr/>
          <p:nvPr/>
        </p:nvSpPr>
        <p:spPr>
          <a:xfrm>
            <a:off x="2139696" y="3502152"/>
            <a:ext cx="374904" cy="164592"/>
          </a:xfrm>
          <a:prstGeom prst="roundRect">
            <a:avLst>
              <a:gd name="adj" fmla="val 33333"/>
            </a:avLst>
          </a:prstGeom>
          <a:solidFill>
            <a:srgbClr val="E3C99A"/>
          </a:solidFill>
          <a:ln w="9525">
            <a:solidFill>
              <a:srgbClr val="B8986A"/>
            </a:solidFill>
            <a:prstDash val="solid"/>
          </a:ln>
        </p:spPr>
        <p:txBody>
          <a:bodyPr/>
          <a:lstStyle/>
          <a:p>
            <a:endParaRPr lang="en-US"/>
          </a:p>
        </p:txBody>
      </p:sp>
      <p:sp>
        <p:nvSpPr>
          <p:cNvPr id="104" name="Shape 102"/>
          <p:cNvSpPr/>
          <p:nvPr/>
        </p:nvSpPr>
        <p:spPr>
          <a:xfrm>
            <a:off x="2194560" y="3502152"/>
            <a:ext cx="32004" cy="164592"/>
          </a:xfrm>
          <a:prstGeom prst="rect">
            <a:avLst/>
          </a:prstGeom>
          <a:solidFill>
            <a:srgbClr val="D64545"/>
          </a:solidFill>
          <a:ln w="12700">
            <a:solidFill>
              <a:srgbClr val="D64545"/>
            </a:solidFill>
            <a:prstDash val="solid"/>
          </a:ln>
        </p:spPr>
        <p:txBody>
          <a:bodyPr/>
          <a:lstStyle/>
          <a:p>
            <a:endParaRPr lang="en-US"/>
          </a:p>
        </p:txBody>
      </p:sp>
      <p:sp>
        <p:nvSpPr>
          <p:cNvPr id="105" name="Shape 103"/>
          <p:cNvSpPr/>
          <p:nvPr/>
        </p:nvSpPr>
        <p:spPr>
          <a:xfrm>
            <a:off x="2261795" y="3502152"/>
            <a:ext cx="32004" cy="164592"/>
          </a:xfrm>
          <a:prstGeom prst="rect">
            <a:avLst/>
          </a:prstGeom>
          <a:solidFill>
            <a:srgbClr val="D64545"/>
          </a:solidFill>
          <a:ln w="12700">
            <a:solidFill>
              <a:srgbClr val="D64545"/>
            </a:solidFill>
            <a:prstDash val="solid"/>
          </a:ln>
        </p:spPr>
        <p:txBody>
          <a:bodyPr/>
          <a:lstStyle/>
          <a:p>
            <a:endParaRPr lang="en-US"/>
          </a:p>
        </p:txBody>
      </p:sp>
      <p:sp>
        <p:nvSpPr>
          <p:cNvPr id="106" name="Shape 104"/>
          <p:cNvSpPr/>
          <p:nvPr/>
        </p:nvSpPr>
        <p:spPr>
          <a:xfrm>
            <a:off x="2329031" y="3502152"/>
            <a:ext cx="32004" cy="164592"/>
          </a:xfrm>
          <a:prstGeom prst="rect">
            <a:avLst/>
          </a:prstGeom>
          <a:solidFill>
            <a:srgbClr val="8B4513"/>
          </a:solidFill>
          <a:ln w="12700">
            <a:solidFill>
              <a:srgbClr val="8B4513"/>
            </a:solidFill>
            <a:prstDash val="solid"/>
          </a:ln>
        </p:spPr>
        <p:txBody>
          <a:bodyPr/>
          <a:lstStyle/>
          <a:p>
            <a:endParaRPr lang="en-US"/>
          </a:p>
        </p:txBody>
      </p:sp>
      <p:sp>
        <p:nvSpPr>
          <p:cNvPr id="107" name="Shape 105"/>
          <p:cNvSpPr/>
          <p:nvPr/>
        </p:nvSpPr>
        <p:spPr>
          <a:xfrm>
            <a:off x="2432842" y="3502152"/>
            <a:ext cx="32004" cy="164592"/>
          </a:xfrm>
          <a:prstGeom prst="rect">
            <a:avLst/>
          </a:prstGeom>
          <a:solidFill>
            <a:srgbClr val="C9A227"/>
          </a:solidFill>
          <a:ln w="12700">
            <a:solidFill>
              <a:srgbClr val="C9A227"/>
            </a:solidFill>
            <a:prstDash val="solid"/>
          </a:ln>
        </p:spPr>
        <p:txBody>
          <a:bodyPr/>
          <a:lstStyle/>
          <a:p>
            <a:endParaRPr lang="en-US"/>
          </a:p>
        </p:txBody>
      </p:sp>
      <p:sp>
        <p:nvSpPr>
          <p:cNvPr id="108" name="Shape 106"/>
          <p:cNvSpPr/>
          <p:nvPr/>
        </p:nvSpPr>
        <p:spPr>
          <a:xfrm>
            <a:off x="2670048" y="3584448"/>
            <a:ext cx="73152" cy="0"/>
          </a:xfrm>
          <a:prstGeom prst="line">
            <a:avLst/>
          </a:prstGeom>
          <a:noFill/>
          <a:ln w="25400">
            <a:solidFill>
              <a:srgbClr val="9AA0A6"/>
            </a:solidFill>
            <a:prstDash val="solid"/>
          </a:ln>
        </p:spPr>
        <p:txBody>
          <a:bodyPr/>
          <a:lstStyle/>
          <a:p>
            <a:endParaRPr lang="en-US"/>
          </a:p>
        </p:txBody>
      </p:sp>
      <p:sp>
        <p:nvSpPr>
          <p:cNvPr id="109" name="Shape 107"/>
          <p:cNvSpPr/>
          <p:nvPr/>
        </p:nvSpPr>
        <p:spPr>
          <a:xfrm>
            <a:off x="2743200" y="3584448"/>
            <a:ext cx="219456" cy="0"/>
          </a:xfrm>
          <a:prstGeom prst="line">
            <a:avLst/>
          </a:prstGeom>
          <a:noFill/>
          <a:ln w="25400">
            <a:solidFill>
              <a:srgbClr val="9AA0A6"/>
            </a:solidFill>
            <a:prstDash val="solid"/>
          </a:ln>
        </p:spPr>
        <p:txBody>
          <a:bodyPr/>
          <a:lstStyle/>
          <a:p>
            <a:endParaRPr lang="en-US"/>
          </a:p>
        </p:txBody>
      </p:sp>
      <p:sp>
        <p:nvSpPr>
          <p:cNvPr id="110" name="Shape 108"/>
          <p:cNvSpPr/>
          <p:nvPr/>
        </p:nvSpPr>
        <p:spPr>
          <a:xfrm>
            <a:off x="3273552" y="3584448"/>
            <a:ext cx="109728" cy="0"/>
          </a:xfrm>
          <a:prstGeom prst="line">
            <a:avLst/>
          </a:prstGeom>
          <a:noFill/>
          <a:ln w="25400">
            <a:solidFill>
              <a:srgbClr val="9AA0A6"/>
            </a:solidFill>
            <a:prstDash val="solid"/>
          </a:ln>
        </p:spPr>
        <p:txBody>
          <a:bodyPr/>
          <a:lstStyle/>
          <a:p>
            <a:endParaRPr lang="en-US"/>
          </a:p>
        </p:txBody>
      </p:sp>
      <p:sp>
        <p:nvSpPr>
          <p:cNvPr id="111" name="Shape 109"/>
          <p:cNvSpPr/>
          <p:nvPr/>
        </p:nvSpPr>
        <p:spPr>
          <a:xfrm>
            <a:off x="2962656" y="3429000"/>
            <a:ext cx="310896" cy="310896"/>
          </a:xfrm>
          <a:prstGeom prst="ellipse">
            <a:avLst/>
          </a:prstGeom>
          <a:solidFill>
            <a:srgbClr val="F3F3F3"/>
          </a:solidFill>
          <a:ln w="19050">
            <a:solidFill>
              <a:srgbClr val="D64545"/>
            </a:solidFill>
            <a:prstDash val="solid"/>
          </a:ln>
        </p:spPr>
        <p:txBody>
          <a:bodyPr/>
          <a:lstStyle/>
          <a:p>
            <a:endParaRPr lang="en-US"/>
          </a:p>
        </p:txBody>
      </p:sp>
      <p:sp>
        <p:nvSpPr>
          <p:cNvPr id="112" name="Shape 110"/>
          <p:cNvSpPr/>
          <p:nvPr/>
        </p:nvSpPr>
        <p:spPr>
          <a:xfrm>
            <a:off x="3383280" y="3584448"/>
            <a:ext cx="685800" cy="0"/>
          </a:xfrm>
          <a:prstGeom prst="line">
            <a:avLst/>
          </a:prstGeom>
          <a:noFill/>
          <a:ln w="31750">
            <a:solidFill>
              <a:srgbClr val="1B1B1B"/>
            </a:solidFill>
            <a:prstDash val="solid"/>
          </a:ln>
        </p:spPr>
        <p:txBody>
          <a:bodyPr/>
          <a:lstStyle/>
          <a:p>
            <a:endParaRPr lang="en-US"/>
          </a:p>
        </p:txBody>
      </p:sp>
      <p:sp>
        <p:nvSpPr>
          <p:cNvPr id="113" name="Shape 111"/>
          <p:cNvSpPr/>
          <p:nvPr/>
        </p:nvSpPr>
        <p:spPr>
          <a:xfrm>
            <a:off x="1664208" y="3950208"/>
            <a:ext cx="1143000" cy="0"/>
          </a:xfrm>
          <a:prstGeom prst="line">
            <a:avLst/>
          </a:prstGeom>
          <a:noFill/>
          <a:ln w="44450">
            <a:solidFill>
              <a:srgbClr val="F28C28"/>
            </a:solidFill>
            <a:prstDash val="solid"/>
          </a:ln>
        </p:spPr>
        <p:txBody>
          <a:bodyPr/>
          <a:lstStyle/>
          <a:p>
            <a:endParaRPr lang="en-US"/>
          </a:p>
        </p:txBody>
      </p:sp>
      <p:sp>
        <p:nvSpPr>
          <p:cNvPr id="114" name="Shape 112"/>
          <p:cNvSpPr/>
          <p:nvPr/>
        </p:nvSpPr>
        <p:spPr>
          <a:xfrm>
            <a:off x="2807208" y="3950208"/>
            <a:ext cx="237744" cy="0"/>
          </a:xfrm>
          <a:prstGeom prst="line">
            <a:avLst/>
          </a:prstGeom>
          <a:noFill/>
          <a:ln w="25400">
            <a:solidFill>
              <a:srgbClr val="9AA0A6"/>
            </a:solidFill>
            <a:prstDash val="solid"/>
          </a:ln>
        </p:spPr>
        <p:txBody>
          <a:bodyPr/>
          <a:lstStyle/>
          <a:p>
            <a:endParaRPr lang="en-US"/>
          </a:p>
        </p:txBody>
      </p:sp>
      <p:sp>
        <p:nvSpPr>
          <p:cNvPr id="115" name="Shape 113"/>
          <p:cNvSpPr/>
          <p:nvPr/>
        </p:nvSpPr>
        <p:spPr>
          <a:xfrm>
            <a:off x="3465576" y="3950208"/>
            <a:ext cx="109728" cy="0"/>
          </a:xfrm>
          <a:prstGeom prst="line">
            <a:avLst/>
          </a:prstGeom>
          <a:noFill/>
          <a:ln w="25400">
            <a:solidFill>
              <a:srgbClr val="9AA0A6"/>
            </a:solidFill>
            <a:prstDash val="solid"/>
          </a:ln>
        </p:spPr>
        <p:txBody>
          <a:bodyPr/>
          <a:lstStyle/>
          <a:p>
            <a:endParaRPr lang="en-US"/>
          </a:p>
        </p:txBody>
      </p:sp>
      <p:sp>
        <p:nvSpPr>
          <p:cNvPr id="116" name="Shape 114"/>
          <p:cNvSpPr/>
          <p:nvPr/>
        </p:nvSpPr>
        <p:spPr>
          <a:xfrm>
            <a:off x="3044952" y="3739896"/>
            <a:ext cx="420624" cy="420624"/>
          </a:xfrm>
          <a:prstGeom prst="ellipse">
            <a:avLst/>
          </a:prstGeom>
          <a:solidFill>
            <a:srgbClr val="222222"/>
          </a:solidFill>
          <a:ln w="12700">
            <a:solidFill>
              <a:srgbClr val="000000"/>
            </a:solidFill>
            <a:prstDash val="solid"/>
          </a:ln>
        </p:spPr>
        <p:txBody>
          <a:bodyPr/>
          <a:lstStyle/>
          <a:p>
            <a:endParaRPr lang="en-US"/>
          </a:p>
        </p:txBody>
      </p:sp>
      <p:sp>
        <p:nvSpPr>
          <p:cNvPr id="117" name="Shape 115"/>
          <p:cNvSpPr/>
          <p:nvPr/>
        </p:nvSpPr>
        <p:spPr>
          <a:xfrm>
            <a:off x="3209544" y="3904488"/>
            <a:ext cx="91440" cy="91440"/>
          </a:xfrm>
          <a:prstGeom prst="ellipse">
            <a:avLst/>
          </a:prstGeom>
          <a:solidFill>
            <a:srgbClr val="555555"/>
          </a:solidFill>
          <a:ln w="12700">
            <a:solidFill>
              <a:srgbClr val="555555"/>
            </a:solidFill>
            <a:prstDash val="solid"/>
          </a:ln>
        </p:spPr>
        <p:txBody>
          <a:bodyPr/>
          <a:lstStyle/>
          <a:p>
            <a:endParaRPr lang="en-US"/>
          </a:p>
        </p:txBody>
      </p:sp>
      <p:sp>
        <p:nvSpPr>
          <p:cNvPr id="118" name="Shape 116"/>
          <p:cNvSpPr/>
          <p:nvPr/>
        </p:nvSpPr>
        <p:spPr>
          <a:xfrm>
            <a:off x="3575304" y="3950208"/>
            <a:ext cx="493776" cy="0"/>
          </a:xfrm>
          <a:prstGeom prst="line">
            <a:avLst/>
          </a:prstGeom>
          <a:noFill/>
          <a:ln w="44450">
            <a:solidFill>
              <a:srgbClr val="1B1B1B"/>
            </a:solidFill>
            <a:prstDash val="solid"/>
          </a:ln>
        </p:spPr>
        <p:txBody>
          <a:bodyPr/>
          <a:lstStyle/>
          <a:p>
            <a:endParaRPr lang="en-US"/>
          </a:p>
        </p:txBody>
      </p:sp>
      <p:sp>
        <p:nvSpPr>
          <p:cNvPr id="119" name="Shape 117"/>
          <p:cNvSpPr/>
          <p:nvPr/>
        </p:nvSpPr>
        <p:spPr>
          <a:xfrm>
            <a:off x="4069080" y="2487168"/>
            <a:ext cx="0" cy="1828800"/>
          </a:xfrm>
          <a:prstGeom prst="line">
            <a:avLst/>
          </a:prstGeom>
          <a:noFill/>
          <a:ln w="38100">
            <a:solidFill>
              <a:srgbClr val="1B1B1B"/>
            </a:solidFill>
            <a:prstDash val="solid"/>
          </a:ln>
        </p:spPr>
        <p:txBody>
          <a:bodyPr/>
          <a:lstStyle/>
          <a:p>
            <a:endParaRPr lang="en-US"/>
          </a:p>
        </p:txBody>
      </p:sp>
      <p:sp>
        <p:nvSpPr>
          <p:cNvPr id="120" name="Shape 118"/>
          <p:cNvSpPr/>
          <p:nvPr/>
        </p:nvSpPr>
        <p:spPr>
          <a:xfrm>
            <a:off x="1664208" y="4315968"/>
            <a:ext cx="2404872" cy="0"/>
          </a:xfrm>
          <a:prstGeom prst="line">
            <a:avLst/>
          </a:prstGeom>
          <a:noFill/>
          <a:ln w="38100">
            <a:solidFill>
              <a:srgbClr val="1B1B1B"/>
            </a:solidFill>
            <a:prstDash val="solid"/>
          </a:ln>
        </p:spPr>
        <p:txBody>
          <a:bodyPr/>
          <a:lstStyle/>
          <a:p>
            <a:endParaRPr lang="en-US"/>
          </a:p>
        </p:txBody>
      </p:sp>
      <p:sp>
        <p:nvSpPr>
          <p:cNvPr id="121" name="Text 119"/>
          <p:cNvSpPr txBox="1"/>
          <p:nvPr/>
        </p:nvSpPr>
        <p:spPr>
          <a:xfrm>
            <a:off x="2715768" y="4133088"/>
            <a:ext cx="731520" cy="201168"/>
          </a:xfrm>
          <a:prstGeom prst="rect">
            <a:avLst/>
          </a:prstGeom>
          <a:noFill/>
          <a:ln/>
        </p:spPr>
        <p:txBody>
          <a:bodyPr wrap="square" lIns="0" tIns="0" rIns="0" bIns="0" rtlCol="0" anchor="ctr"/>
          <a:lstStyle/>
          <a:p>
            <a:pPr marL="0" indent="0" algn="ctr">
              <a:buNone/>
            </a:pPr>
            <a:r>
              <a:rPr lang="en-US" sz="1000" b="1" dirty="0">
                <a:solidFill>
                  <a:srgbClr val="1B1B1B"/>
                </a:solidFill>
              </a:rPr>
              <a:t>buzzer</a:t>
            </a:r>
            <a:endParaRPr lang="en-US" sz="1000" dirty="0"/>
          </a:p>
        </p:txBody>
      </p:sp>
      <p:pic>
        <p:nvPicPr>
          <p:cNvPr id="122" name="Image 0" descr="ESP32 pinout from Lesson 1"/>
          <p:cNvPicPr>
            <a:picLocks noChangeAspect="1"/>
          </p:cNvPicPr>
          <p:nvPr/>
        </p:nvPicPr>
        <p:blipFill>
          <a:blip r:embed="rId3"/>
          <a:stretch>
            <a:fillRect/>
          </a:stretch>
        </p:blipFill>
        <p:spPr>
          <a:xfrm>
            <a:off x="5806440" y="960120"/>
            <a:ext cx="2674620" cy="3566160"/>
          </a:xfrm>
          <a:prstGeom prst="rect">
            <a:avLst/>
          </a:prstGeom>
        </p:spPr>
      </p:pic>
      <p:sp>
        <p:nvSpPr>
          <p:cNvPr id="123" name="Shape 120"/>
          <p:cNvSpPr/>
          <p:nvPr/>
        </p:nvSpPr>
        <p:spPr>
          <a:xfrm>
            <a:off x="8141191" y="2935300"/>
            <a:ext cx="325092" cy="108364"/>
          </a:xfrm>
          <a:prstGeom prst="roundRect">
            <a:avLst>
              <a:gd name="adj" fmla="val 33753"/>
            </a:avLst>
          </a:prstGeom>
          <a:solidFill>
            <a:srgbClr val="C98C00">
              <a:alpha val="25000"/>
            </a:srgbClr>
          </a:solidFill>
          <a:ln w="25400">
            <a:solidFill>
              <a:srgbClr val="C98C00"/>
            </a:solidFill>
            <a:prstDash val="solid"/>
          </a:ln>
        </p:spPr>
        <p:txBody>
          <a:bodyPr/>
          <a:lstStyle/>
          <a:p>
            <a:endParaRPr lang="en-US"/>
          </a:p>
        </p:txBody>
      </p:sp>
      <p:sp>
        <p:nvSpPr>
          <p:cNvPr id="124" name="Shape 121"/>
          <p:cNvSpPr/>
          <p:nvPr/>
        </p:nvSpPr>
        <p:spPr>
          <a:xfrm>
            <a:off x="8141191" y="2826936"/>
            <a:ext cx="325092" cy="108364"/>
          </a:xfrm>
          <a:prstGeom prst="roundRect">
            <a:avLst>
              <a:gd name="adj" fmla="val 33753"/>
            </a:avLst>
          </a:prstGeom>
          <a:solidFill>
            <a:srgbClr val="C98C00">
              <a:alpha val="25000"/>
            </a:srgbClr>
          </a:solidFill>
          <a:ln w="25400">
            <a:solidFill>
              <a:srgbClr val="C98C00"/>
            </a:solidFill>
            <a:prstDash val="solid"/>
          </a:ln>
        </p:spPr>
        <p:txBody>
          <a:bodyPr/>
          <a:lstStyle/>
          <a:p>
            <a:endParaRPr lang="en-US"/>
          </a:p>
        </p:txBody>
      </p:sp>
      <p:sp>
        <p:nvSpPr>
          <p:cNvPr id="125" name="Shape 122"/>
          <p:cNvSpPr/>
          <p:nvPr/>
        </p:nvSpPr>
        <p:spPr>
          <a:xfrm>
            <a:off x="8141191" y="2615133"/>
            <a:ext cx="325092" cy="108364"/>
          </a:xfrm>
          <a:prstGeom prst="roundRect">
            <a:avLst>
              <a:gd name="adj" fmla="val 33753"/>
            </a:avLst>
          </a:prstGeom>
          <a:solidFill>
            <a:srgbClr val="C98C00">
              <a:alpha val="25000"/>
            </a:srgbClr>
          </a:solidFill>
          <a:ln w="25400">
            <a:solidFill>
              <a:srgbClr val="C98C00"/>
            </a:solidFill>
            <a:prstDash val="solid"/>
          </a:ln>
        </p:spPr>
        <p:txBody>
          <a:bodyPr/>
          <a:lstStyle/>
          <a:p>
            <a:endParaRPr lang="en-US"/>
          </a:p>
        </p:txBody>
      </p:sp>
      <p:sp>
        <p:nvSpPr>
          <p:cNvPr id="126" name="Shape 123"/>
          <p:cNvSpPr/>
          <p:nvPr/>
        </p:nvSpPr>
        <p:spPr>
          <a:xfrm>
            <a:off x="8141191" y="2511695"/>
            <a:ext cx="325092" cy="108364"/>
          </a:xfrm>
          <a:prstGeom prst="roundRect">
            <a:avLst>
              <a:gd name="adj" fmla="val 33753"/>
            </a:avLst>
          </a:prstGeom>
          <a:solidFill>
            <a:srgbClr val="C98C00">
              <a:alpha val="25000"/>
            </a:srgbClr>
          </a:solidFill>
          <a:ln w="25400">
            <a:solidFill>
              <a:srgbClr val="C98C00"/>
            </a:solidFill>
            <a:prstDash val="solid"/>
          </a:ln>
        </p:spPr>
        <p:txBody>
          <a:bodyPr/>
          <a:lstStyle/>
          <a:p>
            <a:endParaRPr lang="en-US"/>
          </a:p>
        </p:txBody>
      </p:sp>
      <p:sp>
        <p:nvSpPr>
          <p:cNvPr id="127" name="Shape 124"/>
          <p:cNvSpPr/>
          <p:nvPr/>
        </p:nvSpPr>
        <p:spPr>
          <a:xfrm>
            <a:off x="8141191" y="1871363"/>
            <a:ext cx="325092" cy="108364"/>
          </a:xfrm>
          <a:prstGeom prst="roundRect">
            <a:avLst>
              <a:gd name="adj" fmla="val 33753"/>
            </a:avLst>
          </a:prstGeom>
          <a:solidFill>
            <a:srgbClr val="C98C00">
              <a:alpha val="25000"/>
            </a:srgbClr>
          </a:solidFill>
          <a:ln w="25400">
            <a:solidFill>
              <a:srgbClr val="C98C00"/>
            </a:solidFill>
            <a:prstDash val="solid"/>
          </a:ln>
        </p:spPr>
        <p:txBody>
          <a:bodyPr/>
          <a:lstStyle/>
          <a:p>
            <a:endParaRPr lang="en-US"/>
          </a:p>
        </p:txBody>
      </p:sp>
      <p:sp>
        <p:nvSpPr>
          <p:cNvPr id="128" name="Shape 125"/>
          <p:cNvSpPr/>
          <p:nvPr/>
        </p:nvSpPr>
        <p:spPr>
          <a:xfrm>
            <a:off x="6111829" y="3698773"/>
            <a:ext cx="305389" cy="108364"/>
          </a:xfrm>
          <a:prstGeom prst="roundRect">
            <a:avLst>
              <a:gd name="adj" fmla="val 33753"/>
            </a:avLst>
          </a:prstGeom>
          <a:solidFill>
            <a:srgbClr val="D64545">
              <a:alpha val="25000"/>
            </a:srgbClr>
          </a:solidFill>
          <a:ln w="25400">
            <a:solidFill>
              <a:srgbClr val="D64545"/>
            </a:solidFill>
            <a:prstDash val="solid"/>
          </a:ln>
        </p:spPr>
        <p:txBody>
          <a:bodyPr/>
          <a:lstStyle/>
          <a:p>
            <a:endParaRPr lang="en-US"/>
          </a:p>
        </p:txBody>
      </p:sp>
      <p:sp>
        <p:nvSpPr>
          <p:cNvPr id="129" name="Shape 126"/>
          <p:cNvSpPr/>
          <p:nvPr/>
        </p:nvSpPr>
        <p:spPr>
          <a:xfrm>
            <a:off x="6111829" y="3270243"/>
            <a:ext cx="305389" cy="108364"/>
          </a:xfrm>
          <a:prstGeom prst="roundRect">
            <a:avLst>
              <a:gd name="adj" fmla="val 33753"/>
            </a:avLst>
          </a:prstGeom>
          <a:solidFill>
            <a:srgbClr val="00A3A3">
              <a:alpha val="25000"/>
            </a:srgbClr>
          </a:solidFill>
          <a:ln w="25400">
            <a:solidFill>
              <a:srgbClr val="00A3A3"/>
            </a:solidFill>
            <a:prstDash val="solid"/>
          </a:ln>
        </p:spPr>
        <p:txBody>
          <a:bodyPr/>
          <a:lstStyle/>
          <a:p>
            <a:endParaRPr lang="en-US"/>
          </a:p>
        </p:txBody>
      </p:sp>
      <p:sp>
        <p:nvSpPr>
          <p:cNvPr id="130" name="Shape 127"/>
          <p:cNvSpPr/>
          <p:nvPr/>
        </p:nvSpPr>
        <p:spPr>
          <a:xfrm>
            <a:off x="6111829" y="2945151"/>
            <a:ext cx="305389" cy="108364"/>
          </a:xfrm>
          <a:prstGeom prst="roundRect">
            <a:avLst>
              <a:gd name="adj" fmla="val 33753"/>
            </a:avLst>
          </a:prstGeom>
          <a:solidFill>
            <a:srgbClr val="C2185B">
              <a:alpha val="25000"/>
            </a:srgbClr>
          </a:solidFill>
          <a:ln w="25400">
            <a:solidFill>
              <a:srgbClr val="C2185B"/>
            </a:solidFill>
            <a:prstDash val="solid"/>
          </a:ln>
        </p:spPr>
        <p:txBody>
          <a:bodyPr/>
          <a:lstStyle/>
          <a:p>
            <a:endParaRPr lang="en-US"/>
          </a:p>
        </p:txBody>
      </p:sp>
      <p:sp>
        <p:nvSpPr>
          <p:cNvPr id="131" name="Shape 128"/>
          <p:cNvSpPr/>
          <p:nvPr/>
        </p:nvSpPr>
        <p:spPr>
          <a:xfrm>
            <a:off x="6111829" y="3166805"/>
            <a:ext cx="305389" cy="108364"/>
          </a:xfrm>
          <a:prstGeom prst="roundRect">
            <a:avLst>
              <a:gd name="adj" fmla="val 33753"/>
            </a:avLst>
          </a:prstGeom>
          <a:solidFill>
            <a:srgbClr val="1B1B1B">
              <a:alpha val="25000"/>
            </a:srgbClr>
          </a:solidFill>
          <a:ln w="25400">
            <a:solidFill>
              <a:srgbClr val="1B1B1B"/>
            </a:solidFill>
            <a:prstDash val="solid"/>
          </a:ln>
        </p:spPr>
        <p:txBody>
          <a:bodyPr/>
          <a:lstStyle/>
          <a:p>
            <a:endParaRPr lang="en-US"/>
          </a:p>
        </p:txBody>
      </p:sp>
      <p:sp>
        <p:nvSpPr>
          <p:cNvPr id="132" name="Shape 129"/>
          <p:cNvSpPr/>
          <p:nvPr/>
        </p:nvSpPr>
        <p:spPr>
          <a:xfrm>
            <a:off x="8141191" y="1654635"/>
            <a:ext cx="325092" cy="108364"/>
          </a:xfrm>
          <a:prstGeom prst="roundRect">
            <a:avLst>
              <a:gd name="adj" fmla="val 33753"/>
            </a:avLst>
          </a:prstGeom>
          <a:solidFill>
            <a:srgbClr val="1B1B1B">
              <a:alpha val="25000"/>
            </a:srgbClr>
          </a:solidFill>
          <a:ln w="25400">
            <a:solidFill>
              <a:srgbClr val="1B1B1B"/>
            </a:solidFill>
            <a:prstDash val="solid"/>
          </a:ln>
        </p:spPr>
        <p:txBody>
          <a:bodyPr/>
          <a:lstStyle/>
          <a:p>
            <a:endParaRPr lang="en-US"/>
          </a:p>
        </p:txBody>
      </p:sp>
      <p:sp>
        <p:nvSpPr>
          <p:cNvPr id="133" name="Shape 130"/>
          <p:cNvSpPr/>
          <p:nvPr/>
        </p:nvSpPr>
        <p:spPr>
          <a:xfrm>
            <a:off x="6111829" y="2629910"/>
            <a:ext cx="305389" cy="108364"/>
          </a:xfrm>
          <a:prstGeom prst="roundRect">
            <a:avLst>
              <a:gd name="adj" fmla="val 33753"/>
            </a:avLst>
          </a:prstGeom>
          <a:solidFill>
            <a:srgbClr val="F28C28">
              <a:alpha val="25000"/>
            </a:srgbClr>
          </a:solidFill>
          <a:ln w="25400">
            <a:solidFill>
              <a:srgbClr val="F28C28"/>
            </a:solidFill>
            <a:prstDash val="solid"/>
          </a:ln>
        </p:spPr>
        <p:txBody>
          <a:bodyPr/>
          <a:lstStyle/>
          <a:p>
            <a:endParaRPr lang="en-US"/>
          </a:p>
        </p:txBody>
      </p:sp>
      <p:sp>
        <p:nvSpPr>
          <p:cNvPr id="134" name="Text 131"/>
          <p:cNvSpPr txBox="1"/>
          <p:nvPr/>
        </p:nvSpPr>
        <p:spPr>
          <a:xfrm>
            <a:off x="5486400" y="4544568"/>
            <a:ext cx="3200400" cy="201168"/>
          </a:xfrm>
          <a:prstGeom prst="rect">
            <a:avLst/>
          </a:prstGeom>
          <a:noFill/>
          <a:ln/>
        </p:spPr>
        <p:txBody>
          <a:bodyPr wrap="square" lIns="0" tIns="0" rIns="0" bIns="0" rtlCol="0" anchor="ctr"/>
          <a:lstStyle/>
          <a:p>
            <a:pPr marL="0" indent="0">
              <a:buNone/>
            </a:pPr>
            <a:r>
              <a:rPr lang="en-US" sz="1000" i="1" dirty="0">
                <a:solidFill>
                  <a:srgbClr val="6B7280"/>
                </a:solidFill>
              </a:rPr>
              <a:t>Outlined: pins used today. Orange = buzzer.</a:t>
            </a:r>
            <a:endParaRPr lang="en-US" sz="1000" dirty="0"/>
          </a:p>
        </p:txBody>
      </p:sp>
      <p:sp>
        <p:nvSpPr>
          <p:cNvPr id="13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949440" cy="640080"/>
          </a:xfrm>
          <a:prstGeom prst="rect">
            <a:avLst/>
          </a:prstGeom>
          <a:noFill/>
          <a:ln/>
        </p:spPr>
        <p:txBody>
          <a:bodyPr wrap="square" lIns="0" tIns="0" rIns="0" bIns="0" rtlCol="0" anchor="ctr"/>
          <a:lstStyle/>
          <a:p>
            <a:pPr marL="0" indent="0" algn="l">
              <a:buNone/>
            </a:pPr>
            <a:r>
              <a:rPr lang="en-US" sz="3000" b="1" dirty="0">
                <a:solidFill>
                  <a:schemeClr val="tx2"/>
                </a:solidFill>
              </a:rPr>
              <a:t>Stretch: change the note</a:t>
            </a:r>
            <a:endParaRPr lang="en-US" sz="3000" dirty="0"/>
          </a:p>
        </p:txBody>
      </p:sp>
      <p:sp>
        <p:nvSpPr>
          <p:cNvPr id="3" name="Shape 1"/>
          <p:cNvSpPr/>
          <p:nvPr/>
        </p:nvSpPr>
        <p:spPr>
          <a:xfrm>
            <a:off x="7818120" y="164592"/>
            <a:ext cx="868680" cy="868680"/>
          </a:xfrm>
          <a:prstGeom prst="ellipse">
            <a:avLst/>
          </a:prstGeom>
          <a:solidFill>
            <a:srgbClr val="F2A900">
              <a:alpha val="30000"/>
            </a:srgbClr>
          </a:solidFill>
          <a:ln w="12700">
            <a:solidFill>
              <a:srgbClr val="F2A900">
                <a:alpha val="0"/>
              </a:srgbClr>
            </a:solidFill>
            <a:prstDash val="solid"/>
          </a:ln>
        </p:spPr>
        <p:txBody>
          <a:bodyPr/>
          <a:lstStyle/>
          <a:p>
            <a:endParaRPr lang="en-US"/>
          </a:p>
        </p:txBody>
      </p:sp>
      <p:sp>
        <p:nvSpPr>
          <p:cNvPr id="4" name="Shape 2"/>
          <p:cNvSpPr/>
          <p:nvPr/>
        </p:nvSpPr>
        <p:spPr>
          <a:xfrm>
            <a:off x="7955280" y="301752"/>
            <a:ext cx="594360" cy="594360"/>
          </a:xfrm>
          <a:prstGeom prst="ellipse">
            <a:avLst/>
          </a:prstGeom>
          <a:solidFill>
            <a:srgbClr val="F2A900"/>
          </a:solidFill>
          <a:ln w="12700">
            <a:solidFill>
              <a:srgbClr val="C98C00"/>
            </a:solidFill>
            <a:prstDash val="solid"/>
          </a:ln>
        </p:spPr>
        <p:txBody>
          <a:bodyPr/>
          <a:lstStyle/>
          <a:p>
            <a:endParaRPr lang="en-US"/>
          </a:p>
        </p:txBody>
      </p:sp>
      <p:sp>
        <p:nvSpPr>
          <p:cNvPr id="5" name="Text 3"/>
          <p:cNvSpPr txBox="1"/>
          <p:nvPr/>
        </p:nvSpPr>
        <p:spPr>
          <a:xfrm>
            <a:off x="7955280" y="301752"/>
            <a:ext cx="594360" cy="594360"/>
          </a:xfrm>
          <a:prstGeom prst="rect">
            <a:avLst/>
          </a:prstGeom>
          <a:noFill/>
          <a:ln/>
        </p:spPr>
        <p:txBody>
          <a:bodyPr wrap="square" lIns="0" tIns="0" rIns="0" bIns="0" rtlCol="0" anchor="ctr"/>
          <a:lstStyle/>
          <a:p>
            <a:pPr marL="0" indent="0" algn="ctr">
              <a:buNone/>
            </a:pPr>
            <a:r>
              <a:rPr lang="en-US" sz="2000" b="1" dirty="0">
                <a:solidFill>
                  <a:srgbClr val="0B3D2E"/>
                </a:solidFill>
              </a:rPr>
              <a:t>4</a:t>
            </a:r>
            <a:endParaRPr lang="en-US" sz="2000" dirty="0"/>
          </a:p>
        </p:txBody>
      </p:sp>
      <p:sp>
        <p:nvSpPr>
          <p:cNvPr id="6" name="Text 4"/>
          <p:cNvSpPr txBox="1"/>
          <p:nvPr/>
        </p:nvSpPr>
        <p:spPr>
          <a:xfrm>
            <a:off x="457200" y="960120"/>
            <a:ext cx="4206240" cy="457200"/>
          </a:xfrm>
          <a:prstGeom prst="rect">
            <a:avLst/>
          </a:prstGeom>
          <a:noFill/>
          <a:ln/>
        </p:spPr>
        <p:txBody>
          <a:bodyPr wrap="square" lIns="0" tIns="0" rIns="0" bIns="0" rtlCol="0" anchor="ctr"/>
          <a:lstStyle/>
          <a:p>
            <a:pPr marL="0" indent="0">
              <a:buNone/>
            </a:pPr>
            <a:r>
              <a:rPr lang="en-US" sz="1300" b="1" dirty="0">
                <a:solidFill>
                  <a:srgbClr val="0B3D2E"/>
                </a:solidFill>
              </a:rPr>
              <a:t>Swap to the PASSIVE buzzer. Same two wires. Upload and run step4_stretch_pitch.py.</a:t>
            </a:r>
            <a:endParaRPr lang="en-US" sz="1300" dirty="0"/>
          </a:p>
        </p:txBody>
      </p:sp>
      <p:sp>
        <p:nvSpPr>
          <p:cNvPr id="7" name="Shape 5"/>
          <p:cNvSpPr/>
          <p:nvPr/>
        </p:nvSpPr>
        <p:spPr>
          <a:xfrm>
            <a:off x="457200" y="1463040"/>
            <a:ext cx="4206240" cy="1783080"/>
          </a:xfrm>
          <a:prstGeom prst="roundRect">
            <a:avLst>
              <a:gd name="adj" fmla="val 4103"/>
            </a:avLst>
          </a:prstGeom>
          <a:solidFill>
            <a:srgbClr val="14261F"/>
          </a:solidFill>
          <a:ln w="12700">
            <a:solidFill>
              <a:srgbClr val="14261F"/>
            </a:solidFill>
            <a:prstDash val="solid"/>
          </a:ln>
        </p:spPr>
        <p:txBody>
          <a:bodyPr/>
          <a:lstStyle/>
          <a:p>
            <a:endParaRPr lang="en-US"/>
          </a:p>
        </p:txBody>
      </p:sp>
      <p:sp>
        <p:nvSpPr>
          <p:cNvPr id="8" name="Text 6"/>
          <p:cNvSpPr txBox="1"/>
          <p:nvPr/>
        </p:nvSpPr>
        <p:spPr>
          <a:xfrm>
            <a:off x="594360" y="1527048"/>
            <a:ext cx="3931920" cy="219456"/>
          </a:xfrm>
          <a:prstGeom prst="rect">
            <a:avLst/>
          </a:prstGeom>
          <a:noFill/>
          <a:ln/>
        </p:spPr>
        <p:txBody>
          <a:bodyPr wrap="square" lIns="0" tIns="0" rIns="0" bIns="0" rtlCol="0" anchor="ctr"/>
          <a:lstStyle/>
          <a:p>
            <a:pPr marL="0" indent="0">
              <a:buNone/>
            </a:pPr>
            <a:r>
              <a:rPr lang="en-US" sz="1100" b="1" dirty="0">
                <a:solidFill>
                  <a:srgbClr val="F2A900"/>
                </a:solidFill>
              </a:rPr>
              <a:t>step4_stretch_pitch.py</a:t>
            </a:r>
            <a:r>
              <a:rPr lang="en-US" sz="1100" dirty="0">
                <a:solidFill>
                  <a:srgbClr val="9FB8AD"/>
                </a:solidFill>
              </a:rPr>
              <a:t>  ·  lines 22–64</a:t>
            </a:r>
            <a:endParaRPr lang="en-US" sz="1100" dirty="0"/>
          </a:p>
        </p:txBody>
      </p:sp>
      <p:sp>
        <p:nvSpPr>
          <p:cNvPr id="9" name="Shape 7"/>
          <p:cNvSpPr/>
          <p:nvPr/>
        </p:nvSpPr>
        <p:spPr>
          <a:xfrm>
            <a:off x="566928" y="1783080"/>
            <a:ext cx="3986784" cy="0"/>
          </a:xfrm>
          <a:prstGeom prst="line">
            <a:avLst/>
          </a:prstGeom>
          <a:noFill/>
          <a:ln w="12700">
            <a:solidFill>
              <a:srgbClr val="2F4A3F"/>
            </a:solidFill>
            <a:prstDash val="solid"/>
          </a:ln>
        </p:spPr>
        <p:txBody>
          <a:bodyPr/>
          <a:lstStyle/>
          <a:p>
            <a:endParaRPr lang="en-US"/>
          </a:p>
        </p:txBody>
      </p:sp>
      <p:sp>
        <p:nvSpPr>
          <p:cNvPr id="10" name="Text 8"/>
          <p:cNvSpPr txBox="1"/>
          <p:nvPr/>
        </p:nvSpPr>
        <p:spPr>
          <a:xfrm>
            <a:off x="548640" y="1847088"/>
            <a:ext cx="4023360" cy="1325880"/>
          </a:xfrm>
          <a:prstGeom prst="rect">
            <a:avLst/>
          </a:prstGeom>
          <a:noFill/>
          <a:ln/>
        </p:spPr>
        <p:txBody>
          <a:bodyPr wrap="square" lIns="0" tIns="0" rIns="0" bIns="0" rtlCol="0" anchor="t"/>
          <a:lstStyle/>
          <a:p>
            <a:pPr marL="0" indent="0">
              <a:buNone/>
            </a:pPr>
            <a:r>
              <a:rPr lang="en-US" sz="1100" dirty="0">
                <a:solidFill>
                  <a:srgbClr val="6F8A7F"/>
                </a:solidFill>
                <a:latin typeface="Courier New" pitchFamily="34" charset="0"/>
                <a:ea typeface="Courier New" pitchFamily="34" charset="-122"/>
                <a:cs typeface="Courier New" pitchFamily="34" charset="-120"/>
              </a:rPr>
              <a:t> 22  </a:t>
            </a:r>
            <a:r>
              <a:rPr lang="en-US" sz="1100" dirty="0">
                <a:solidFill>
                  <a:srgbClr val="E6F2EC"/>
                </a:solidFill>
                <a:latin typeface="Courier New" pitchFamily="34" charset="0"/>
                <a:ea typeface="Courier New" pitchFamily="34" charset="-122"/>
                <a:cs typeface="Courier New" pitchFamily="34" charset="-120"/>
              </a:rPr>
              <a:t>buzzer = PWM(Pin(25), freq=1000, duty=0)</a:t>
            </a:r>
            <a:endParaRPr lang="en-US" sz="1100" dirty="0"/>
          </a:p>
          <a:p>
            <a:pPr marL="0" indent="0">
              <a:buNone/>
            </a:pPr>
            <a:r>
              <a:rPr lang="en-US" sz="1100" dirty="0">
                <a:solidFill>
                  <a:srgbClr val="6F8A7F"/>
                </a:solidFill>
                <a:latin typeface="Courier New" pitchFamily="34" charset="0"/>
                <a:ea typeface="Courier New" pitchFamily="34" charset="-122"/>
                <a:cs typeface="Courier New" pitchFamily="34" charset="-120"/>
              </a:rPr>
              <a:t>   ⋮</a:t>
            </a:r>
            <a:endParaRPr lang="en-US" sz="1100" dirty="0"/>
          </a:p>
          <a:p>
            <a:pPr marL="0" indent="0">
              <a:buNone/>
            </a:pPr>
            <a:r>
              <a:rPr lang="en-US" sz="1100" dirty="0">
                <a:solidFill>
                  <a:srgbClr val="6F8A7F"/>
                </a:solidFill>
                <a:latin typeface="Courier New" pitchFamily="34" charset="0"/>
                <a:ea typeface="Courier New" pitchFamily="34" charset="-122"/>
                <a:cs typeface="Courier New" pitchFamily="34" charset="-120"/>
              </a:rPr>
              <a:t> 60  </a:t>
            </a:r>
            <a:r>
              <a:rPr lang="en-US" sz="1100" dirty="0">
                <a:solidFill>
                  <a:srgbClr val="E6F2EC"/>
                </a:solidFill>
                <a:latin typeface="Courier New" pitchFamily="34" charset="0"/>
                <a:ea typeface="Courier New" pitchFamily="34" charset="-122"/>
                <a:cs typeface="Courier New" pitchFamily="34" charset="-120"/>
              </a:rPr>
              <a:t>if distance is None or distance &gt;= 25:</a:t>
            </a:r>
            <a:endParaRPr lang="en-US" sz="1100" dirty="0"/>
          </a:p>
          <a:p>
            <a:pPr marL="0" indent="0">
              <a:buNone/>
            </a:pPr>
            <a:r>
              <a:rPr lang="en-US" sz="1100" dirty="0">
                <a:solidFill>
                  <a:srgbClr val="6F8A7F"/>
                </a:solidFill>
                <a:latin typeface="Courier New" pitchFamily="34" charset="0"/>
                <a:ea typeface="Courier New" pitchFamily="34" charset="-122"/>
                <a:cs typeface="Courier New" pitchFamily="34" charset="-120"/>
              </a:rPr>
              <a:t> 61  </a:t>
            </a:r>
            <a:r>
              <a:rPr lang="en-US" sz="1100" dirty="0">
                <a:solidFill>
                  <a:srgbClr val="E6F2EC"/>
                </a:solidFill>
                <a:latin typeface="Courier New" pitchFamily="34" charset="0"/>
                <a:ea typeface="Courier New" pitchFamily="34" charset="-122"/>
                <a:cs typeface="Courier New" pitchFamily="34" charset="-120"/>
              </a:rPr>
              <a:t>    buzzer.duty(0)</a:t>
            </a:r>
            <a:endParaRPr lang="en-US" sz="1100" dirty="0"/>
          </a:p>
          <a:p>
            <a:pPr marL="0" indent="0">
              <a:buNone/>
            </a:pPr>
            <a:r>
              <a:rPr lang="en-US" sz="1100" dirty="0">
                <a:solidFill>
                  <a:srgbClr val="6F8A7F"/>
                </a:solidFill>
                <a:latin typeface="Courier New" pitchFamily="34" charset="0"/>
                <a:ea typeface="Courier New" pitchFamily="34" charset="-122"/>
                <a:cs typeface="Courier New" pitchFamily="34" charset="-120"/>
              </a:rPr>
              <a:t> 62  </a:t>
            </a:r>
            <a:r>
              <a:rPr lang="en-US" sz="1100" dirty="0">
                <a:solidFill>
                  <a:srgbClr val="E6F2EC"/>
                </a:solidFill>
                <a:latin typeface="Courier New" pitchFamily="34" charset="0"/>
                <a:ea typeface="Courier New" pitchFamily="34" charset="-122"/>
                <a:cs typeface="Courier New" pitchFamily="34" charset="-120"/>
              </a:rPr>
              <a:t>else:</a:t>
            </a:r>
            <a:endParaRPr lang="en-US" sz="1100" dirty="0"/>
          </a:p>
          <a:p>
            <a:pPr marL="0" indent="0">
              <a:buNone/>
            </a:pPr>
            <a:r>
              <a:rPr lang="en-US" sz="1100" dirty="0">
                <a:solidFill>
                  <a:srgbClr val="6F8A7F"/>
                </a:solidFill>
                <a:latin typeface="Courier New" pitchFamily="34" charset="0"/>
                <a:ea typeface="Courier New" pitchFamily="34" charset="-122"/>
                <a:cs typeface="Courier New" pitchFamily="34" charset="-120"/>
              </a:rPr>
              <a:t> 63  </a:t>
            </a:r>
            <a:r>
              <a:rPr lang="en-US" sz="1100" dirty="0">
                <a:solidFill>
                  <a:srgbClr val="E6F2EC"/>
                </a:solidFill>
                <a:latin typeface="Courier New" pitchFamily="34" charset="0"/>
                <a:ea typeface="Courier New" pitchFamily="34" charset="-122"/>
                <a:cs typeface="Courier New" pitchFamily="34" charset="-120"/>
              </a:rPr>
              <a:t>    buzzer.freq(pitch_for(distance))</a:t>
            </a:r>
            <a:endParaRPr lang="en-US" sz="1100" dirty="0"/>
          </a:p>
          <a:p>
            <a:pPr marL="0" indent="0">
              <a:buNone/>
            </a:pPr>
            <a:r>
              <a:rPr lang="en-US" sz="1100" dirty="0">
                <a:solidFill>
                  <a:srgbClr val="6F8A7F"/>
                </a:solidFill>
                <a:latin typeface="Courier New" pitchFamily="34" charset="0"/>
                <a:ea typeface="Courier New" pitchFamily="34" charset="-122"/>
                <a:cs typeface="Courier New" pitchFamily="34" charset="-120"/>
              </a:rPr>
              <a:t> 64  </a:t>
            </a:r>
            <a:r>
              <a:rPr lang="en-US" sz="1100" dirty="0">
                <a:solidFill>
                  <a:srgbClr val="E6F2EC"/>
                </a:solidFill>
                <a:latin typeface="Courier New" pitchFamily="34" charset="0"/>
                <a:ea typeface="Courier New" pitchFamily="34" charset="-122"/>
                <a:cs typeface="Courier New" pitchFamily="34" charset="-120"/>
              </a:rPr>
              <a:t>    buzzer.duty(512)</a:t>
            </a:r>
            <a:endParaRPr lang="en-US" sz="1100" dirty="0"/>
          </a:p>
        </p:txBody>
      </p:sp>
      <p:sp>
        <p:nvSpPr>
          <p:cNvPr id="11" name="Shape 9"/>
          <p:cNvSpPr/>
          <p:nvPr/>
        </p:nvSpPr>
        <p:spPr>
          <a:xfrm>
            <a:off x="457200" y="3337560"/>
            <a:ext cx="4206240" cy="548640"/>
          </a:xfrm>
          <a:prstGeom prst="roundRect">
            <a:avLst>
              <a:gd name="adj" fmla="val 13333"/>
            </a:avLst>
          </a:prstGeom>
          <a:solidFill>
            <a:srgbClr val="DDF3E9"/>
          </a:solidFill>
          <a:ln w="15875">
            <a:solidFill>
              <a:srgbClr val="1F8A70"/>
            </a:solidFill>
            <a:prstDash val="solid"/>
          </a:ln>
        </p:spPr>
        <p:txBody>
          <a:bodyPr/>
          <a:lstStyle/>
          <a:p>
            <a:endParaRPr lang="en-US"/>
          </a:p>
        </p:txBody>
      </p:sp>
      <p:sp>
        <p:nvSpPr>
          <p:cNvPr id="12" name="Text 10"/>
          <p:cNvSpPr txBox="1"/>
          <p:nvPr/>
        </p:nvSpPr>
        <p:spPr>
          <a:xfrm>
            <a:off x="594360" y="3337560"/>
            <a:ext cx="3931920" cy="548640"/>
          </a:xfrm>
          <a:prstGeom prst="rect">
            <a:avLst/>
          </a:prstGeom>
          <a:noFill/>
          <a:ln/>
        </p:spPr>
        <p:txBody>
          <a:bodyPr wrap="square" lIns="0" tIns="0" rIns="0" bIns="0" rtlCol="0" anchor="ctr"/>
          <a:lstStyle/>
          <a:p>
            <a:pPr marL="0" indent="0">
              <a:buNone/>
            </a:pPr>
            <a:r>
              <a:rPr lang="en-US" sz="1200" b="1" dirty="0">
                <a:solidFill>
                  <a:srgbClr val="1F8A70"/>
                </a:solidFill>
              </a:rPr>
              <a:t>CHECKPOINT  </a:t>
            </a:r>
            <a:r>
              <a:rPr lang="en-US" sz="1400" dirty="0">
                <a:solidFill>
                  <a:srgbClr val="1B1B1B"/>
                </a:solidFill>
              </a:rPr>
              <a:t>The note gets higher as your hand comes closer.</a:t>
            </a:r>
            <a:endParaRPr lang="en-US" sz="1400" dirty="0"/>
          </a:p>
        </p:txBody>
      </p:sp>
      <p:sp>
        <p:nvSpPr>
          <p:cNvPr id="13" name="Text 11"/>
          <p:cNvSpPr txBox="1"/>
          <p:nvPr/>
        </p:nvSpPr>
        <p:spPr>
          <a:xfrm>
            <a:off x="457200" y="3977640"/>
            <a:ext cx="4206240" cy="502920"/>
          </a:xfrm>
          <a:prstGeom prst="rect">
            <a:avLst/>
          </a:prstGeom>
          <a:noFill/>
          <a:ln/>
        </p:spPr>
        <p:txBody>
          <a:bodyPr wrap="square" lIns="0" tIns="0" rIns="0" bIns="0" rtlCol="0" anchor="ctr"/>
          <a:lstStyle/>
          <a:p>
            <a:pPr marL="0" indent="0">
              <a:buNone/>
            </a:pPr>
            <a:r>
              <a:rPr lang="en-US" sz="1400" i="1" dirty="0">
                <a:solidFill>
                  <a:srgbClr val="0B3D2E"/>
                </a:solidFill>
              </a:rPr>
              <a:t>Try it: change pitch_for() so the note goes DOWN as you get closer.</a:t>
            </a:r>
            <a:endParaRPr lang="en-US" sz="1400" dirty="0"/>
          </a:p>
        </p:txBody>
      </p:sp>
      <p:sp>
        <p:nvSpPr>
          <p:cNvPr id="14" name="Text 12"/>
          <p:cNvSpPr txBox="1"/>
          <p:nvPr/>
        </p:nvSpPr>
        <p:spPr>
          <a:xfrm>
            <a:off x="4937760" y="1280160"/>
            <a:ext cx="3657600" cy="256032"/>
          </a:xfrm>
          <a:prstGeom prst="rect">
            <a:avLst/>
          </a:prstGeom>
          <a:noFill/>
          <a:ln/>
        </p:spPr>
        <p:txBody>
          <a:bodyPr wrap="square" lIns="0" tIns="0" rIns="0" bIns="0" rtlCol="0" anchor="ctr"/>
          <a:lstStyle/>
          <a:p>
            <a:pPr marL="0" indent="0">
              <a:buNone/>
            </a:pPr>
            <a:r>
              <a:rPr lang="en-US" sz="1300" dirty="0">
                <a:solidFill>
                  <a:srgbClr val="1B1B1B"/>
                </a:solidFill>
              </a:rPr>
              <a:t>far away: 300 Hz, low note</a:t>
            </a:r>
            <a:endParaRPr lang="en-US" sz="1300" dirty="0"/>
          </a:p>
        </p:txBody>
      </p:sp>
      <p:sp>
        <p:nvSpPr>
          <p:cNvPr id="15" name="Shape 13"/>
          <p:cNvSpPr/>
          <p:nvPr/>
        </p:nvSpPr>
        <p:spPr>
          <a:xfrm>
            <a:off x="4937760" y="1600200"/>
            <a:ext cx="0" cy="365760"/>
          </a:xfrm>
          <a:prstGeom prst="line">
            <a:avLst/>
          </a:prstGeom>
          <a:noFill/>
          <a:ln w="25400">
            <a:solidFill>
              <a:srgbClr val="F28C28"/>
            </a:solidFill>
            <a:prstDash val="solid"/>
          </a:ln>
        </p:spPr>
        <p:txBody>
          <a:bodyPr/>
          <a:lstStyle/>
          <a:p>
            <a:endParaRPr lang="en-US"/>
          </a:p>
        </p:txBody>
      </p:sp>
      <p:sp>
        <p:nvSpPr>
          <p:cNvPr id="16" name="Shape 14"/>
          <p:cNvSpPr/>
          <p:nvPr/>
        </p:nvSpPr>
        <p:spPr>
          <a:xfrm>
            <a:off x="4937760" y="1600200"/>
            <a:ext cx="457200" cy="0"/>
          </a:xfrm>
          <a:prstGeom prst="line">
            <a:avLst/>
          </a:prstGeom>
          <a:noFill/>
          <a:ln w="25400">
            <a:solidFill>
              <a:srgbClr val="F28C28"/>
            </a:solidFill>
            <a:prstDash val="solid"/>
          </a:ln>
        </p:spPr>
        <p:txBody>
          <a:bodyPr/>
          <a:lstStyle/>
          <a:p>
            <a:endParaRPr lang="en-US"/>
          </a:p>
        </p:txBody>
      </p:sp>
      <p:sp>
        <p:nvSpPr>
          <p:cNvPr id="17" name="Shape 15"/>
          <p:cNvSpPr/>
          <p:nvPr/>
        </p:nvSpPr>
        <p:spPr>
          <a:xfrm>
            <a:off x="5394960" y="1600200"/>
            <a:ext cx="0" cy="365760"/>
          </a:xfrm>
          <a:prstGeom prst="line">
            <a:avLst/>
          </a:prstGeom>
          <a:noFill/>
          <a:ln w="25400">
            <a:solidFill>
              <a:srgbClr val="F28C28"/>
            </a:solidFill>
            <a:prstDash val="solid"/>
          </a:ln>
        </p:spPr>
        <p:txBody>
          <a:bodyPr/>
          <a:lstStyle/>
          <a:p>
            <a:endParaRPr lang="en-US"/>
          </a:p>
        </p:txBody>
      </p:sp>
      <p:sp>
        <p:nvSpPr>
          <p:cNvPr id="18" name="Shape 16"/>
          <p:cNvSpPr/>
          <p:nvPr/>
        </p:nvSpPr>
        <p:spPr>
          <a:xfrm>
            <a:off x="5394960" y="1965960"/>
            <a:ext cx="457200" cy="0"/>
          </a:xfrm>
          <a:prstGeom prst="line">
            <a:avLst/>
          </a:prstGeom>
          <a:noFill/>
          <a:ln w="25400">
            <a:solidFill>
              <a:srgbClr val="F28C28"/>
            </a:solidFill>
            <a:prstDash val="solid"/>
          </a:ln>
        </p:spPr>
        <p:txBody>
          <a:bodyPr/>
          <a:lstStyle/>
          <a:p>
            <a:endParaRPr lang="en-US"/>
          </a:p>
        </p:txBody>
      </p:sp>
      <p:sp>
        <p:nvSpPr>
          <p:cNvPr id="19" name="Shape 17"/>
          <p:cNvSpPr/>
          <p:nvPr/>
        </p:nvSpPr>
        <p:spPr>
          <a:xfrm>
            <a:off x="5852160" y="1600200"/>
            <a:ext cx="0" cy="365760"/>
          </a:xfrm>
          <a:prstGeom prst="line">
            <a:avLst/>
          </a:prstGeom>
          <a:noFill/>
          <a:ln w="25400">
            <a:solidFill>
              <a:srgbClr val="F28C28"/>
            </a:solidFill>
            <a:prstDash val="solid"/>
          </a:ln>
        </p:spPr>
        <p:txBody>
          <a:bodyPr/>
          <a:lstStyle/>
          <a:p>
            <a:endParaRPr lang="en-US"/>
          </a:p>
        </p:txBody>
      </p:sp>
      <p:sp>
        <p:nvSpPr>
          <p:cNvPr id="20" name="Shape 18"/>
          <p:cNvSpPr/>
          <p:nvPr/>
        </p:nvSpPr>
        <p:spPr>
          <a:xfrm>
            <a:off x="5852160" y="1600200"/>
            <a:ext cx="457200" cy="0"/>
          </a:xfrm>
          <a:prstGeom prst="line">
            <a:avLst/>
          </a:prstGeom>
          <a:noFill/>
          <a:ln w="25400">
            <a:solidFill>
              <a:srgbClr val="F28C28"/>
            </a:solidFill>
            <a:prstDash val="solid"/>
          </a:ln>
        </p:spPr>
        <p:txBody>
          <a:bodyPr/>
          <a:lstStyle/>
          <a:p>
            <a:endParaRPr lang="en-US"/>
          </a:p>
        </p:txBody>
      </p:sp>
      <p:sp>
        <p:nvSpPr>
          <p:cNvPr id="21" name="Shape 19"/>
          <p:cNvSpPr/>
          <p:nvPr/>
        </p:nvSpPr>
        <p:spPr>
          <a:xfrm>
            <a:off x="6309360" y="1600200"/>
            <a:ext cx="0" cy="365760"/>
          </a:xfrm>
          <a:prstGeom prst="line">
            <a:avLst/>
          </a:prstGeom>
          <a:noFill/>
          <a:ln w="25400">
            <a:solidFill>
              <a:srgbClr val="F28C28"/>
            </a:solidFill>
            <a:prstDash val="solid"/>
          </a:ln>
        </p:spPr>
        <p:txBody>
          <a:bodyPr/>
          <a:lstStyle/>
          <a:p>
            <a:endParaRPr lang="en-US"/>
          </a:p>
        </p:txBody>
      </p:sp>
      <p:sp>
        <p:nvSpPr>
          <p:cNvPr id="22" name="Shape 20"/>
          <p:cNvSpPr/>
          <p:nvPr/>
        </p:nvSpPr>
        <p:spPr>
          <a:xfrm>
            <a:off x="6309360" y="1965960"/>
            <a:ext cx="457200" cy="0"/>
          </a:xfrm>
          <a:prstGeom prst="line">
            <a:avLst/>
          </a:prstGeom>
          <a:noFill/>
          <a:ln w="25400">
            <a:solidFill>
              <a:srgbClr val="F28C28"/>
            </a:solidFill>
            <a:prstDash val="solid"/>
          </a:ln>
        </p:spPr>
        <p:txBody>
          <a:bodyPr/>
          <a:lstStyle/>
          <a:p>
            <a:endParaRPr lang="en-US"/>
          </a:p>
        </p:txBody>
      </p:sp>
      <p:sp>
        <p:nvSpPr>
          <p:cNvPr id="23" name="Shape 21"/>
          <p:cNvSpPr/>
          <p:nvPr/>
        </p:nvSpPr>
        <p:spPr>
          <a:xfrm>
            <a:off x="6766560" y="1600200"/>
            <a:ext cx="0" cy="365760"/>
          </a:xfrm>
          <a:prstGeom prst="line">
            <a:avLst/>
          </a:prstGeom>
          <a:noFill/>
          <a:ln w="25400">
            <a:solidFill>
              <a:srgbClr val="F28C28"/>
            </a:solidFill>
            <a:prstDash val="solid"/>
          </a:ln>
        </p:spPr>
        <p:txBody>
          <a:bodyPr/>
          <a:lstStyle/>
          <a:p>
            <a:endParaRPr lang="en-US"/>
          </a:p>
        </p:txBody>
      </p:sp>
      <p:sp>
        <p:nvSpPr>
          <p:cNvPr id="24" name="Shape 22"/>
          <p:cNvSpPr/>
          <p:nvPr/>
        </p:nvSpPr>
        <p:spPr>
          <a:xfrm>
            <a:off x="6766560" y="1600200"/>
            <a:ext cx="457200" cy="0"/>
          </a:xfrm>
          <a:prstGeom prst="line">
            <a:avLst/>
          </a:prstGeom>
          <a:noFill/>
          <a:ln w="25400">
            <a:solidFill>
              <a:srgbClr val="F28C28"/>
            </a:solidFill>
            <a:prstDash val="solid"/>
          </a:ln>
        </p:spPr>
        <p:txBody>
          <a:bodyPr/>
          <a:lstStyle/>
          <a:p>
            <a:endParaRPr lang="en-US"/>
          </a:p>
        </p:txBody>
      </p:sp>
      <p:sp>
        <p:nvSpPr>
          <p:cNvPr id="25" name="Shape 23"/>
          <p:cNvSpPr/>
          <p:nvPr/>
        </p:nvSpPr>
        <p:spPr>
          <a:xfrm>
            <a:off x="7223760" y="1600200"/>
            <a:ext cx="0" cy="365760"/>
          </a:xfrm>
          <a:prstGeom prst="line">
            <a:avLst/>
          </a:prstGeom>
          <a:noFill/>
          <a:ln w="25400">
            <a:solidFill>
              <a:srgbClr val="F28C28"/>
            </a:solidFill>
            <a:prstDash val="solid"/>
          </a:ln>
        </p:spPr>
        <p:txBody>
          <a:bodyPr/>
          <a:lstStyle/>
          <a:p>
            <a:endParaRPr lang="en-US"/>
          </a:p>
        </p:txBody>
      </p:sp>
      <p:sp>
        <p:nvSpPr>
          <p:cNvPr id="26" name="Shape 24"/>
          <p:cNvSpPr/>
          <p:nvPr/>
        </p:nvSpPr>
        <p:spPr>
          <a:xfrm>
            <a:off x="7223760" y="1965960"/>
            <a:ext cx="457200" cy="0"/>
          </a:xfrm>
          <a:prstGeom prst="line">
            <a:avLst/>
          </a:prstGeom>
          <a:noFill/>
          <a:ln w="25400">
            <a:solidFill>
              <a:srgbClr val="F28C28"/>
            </a:solidFill>
            <a:prstDash val="solid"/>
          </a:ln>
        </p:spPr>
        <p:txBody>
          <a:bodyPr/>
          <a:lstStyle/>
          <a:p>
            <a:endParaRPr lang="en-US"/>
          </a:p>
        </p:txBody>
      </p:sp>
      <p:sp>
        <p:nvSpPr>
          <p:cNvPr id="27" name="Shape 25"/>
          <p:cNvSpPr/>
          <p:nvPr/>
        </p:nvSpPr>
        <p:spPr>
          <a:xfrm>
            <a:off x="7680960" y="1600200"/>
            <a:ext cx="0" cy="365760"/>
          </a:xfrm>
          <a:prstGeom prst="line">
            <a:avLst/>
          </a:prstGeom>
          <a:noFill/>
          <a:ln w="25400">
            <a:solidFill>
              <a:srgbClr val="F28C28"/>
            </a:solidFill>
            <a:prstDash val="solid"/>
          </a:ln>
        </p:spPr>
        <p:txBody>
          <a:bodyPr/>
          <a:lstStyle/>
          <a:p>
            <a:endParaRPr lang="en-US"/>
          </a:p>
        </p:txBody>
      </p:sp>
      <p:sp>
        <p:nvSpPr>
          <p:cNvPr id="28" name="Shape 26"/>
          <p:cNvSpPr/>
          <p:nvPr/>
        </p:nvSpPr>
        <p:spPr>
          <a:xfrm>
            <a:off x="7680960" y="1600200"/>
            <a:ext cx="457200" cy="0"/>
          </a:xfrm>
          <a:prstGeom prst="line">
            <a:avLst/>
          </a:prstGeom>
          <a:noFill/>
          <a:ln w="25400">
            <a:solidFill>
              <a:srgbClr val="F28C28"/>
            </a:solidFill>
            <a:prstDash val="solid"/>
          </a:ln>
        </p:spPr>
        <p:txBody>
          <a:bodyPr/>
          <a:lstStyle/>
          <a:p>
            <a:endParaRPr lang="en-US"/>
          </a:p>
        </p:txBody>
      </p:sp>
      <p:sp>
        <p:nvSpPr>
          <p:cNvPr id="29" name="Shape 27"/>
          <p:cNvSpPr/>
          <p:nvPr/>
        </p:nvSpPr>
        <p:spPr>
          <a:xfrm>
            <a:off x="8138160" y="1600200"/>
            <a:ext cx="0" cy="365760"/>
          </a:xfrm>
          <a:prstGeom prst="line">
            <a:avLst/>
          </a:prstGeom>
          <a:noFill/>
          <a:ln w="25400">
            <a:solidFill>
              <a:srgbClr val="F28C28"/>
            </a:solidFill>
            <a:prstDash val="solid"/>
          </a:ln>
        </p:spPr>
        <p:txBody>
          <a:bodyPr/>
          <a:lstStyle/>
          <a:p>
            <a:endParaRPr lang="en-US"/>
          </a:p>
        </p:txBody>
      </p:sp>
      <p:sp>
        <p:nvSpPr>
          <p:cNvPr id="30" name="Shape 28"/>
          <p:cNvSpPr/>
          <p:nvPr/>
        </p:nvSpPr>
        <p:spPr>
          <a:xfrm>
            <a:off x="8138160" y="1965960"/>
            <a:ext cx="457200" cy="0"/>
          </a:xfrm>
          <a:prstGeom prst="line">
            <a:avLst/>
          </a:prstGeom>
          <a:noFill/>
          <a:ln w="25400">
            <a:solidFill>
              <a:srgbClr val="F28C28"/>
            </a:solidFill>
            <a:prstDash val="solid"/>
          </a:ln>
        </p:spPr>
        <p:txBody>
          <a:bodyPr/>
          <a:lstStyle/>
          <a:p>
            <a:endParaRPr lang="en-US"/>
          </a:p>
        </p:txBody>
      </p:sp>
      <p:sp>
        <p:nvSpPr>
          <p:cNvPr id="31" name="Text 29"/>
          <p:cNvSpPr txBox="1"/>
          <p:nvPr/>
        </p:nvSpPr>
        <p:spPr>
          <a:xfrm>
            <a:off x="4937760" y="2377440"/>
            <a:ext cx="3657600" cy="256032"/>
          </a:xfrm>
          <a:prstGeom prst="rect">
            <a:avLst/>
          </a:prstGeom>
          <a:noFill/>
          <a:ln/>
        </p:spPr>
        <p:txBody>
          <a:bodyPr wrap="square" lIns="0" tIns="0" rIns="0" bIns="0" rtlCol="0" anchor="ctr"/>
          <a:lstStyle/>
          <a:p>
            <a:pPr marL="0" indent="0">
              <a:buNone/>
            </a:pPr>
            <a:r>
              <a:rPr lang="en-US" sz="1300" dirty="0">
                <a:solidFill>
                  <a:srgbClr val="1B1B1B"/>
                </a:solidFill>
              </a:rPr>
              <a:t>very close: 2300 Hz, high note</a:t>
            </a:r>
            <a:endParaRPr lang="en-US" sz="1300" dirty="0"/>
          </a:p>
        </p:txBody>
      </p:sp>
      <p:sp>
        <p:nvSpPr>
          <p:cNvPr id="32" name="Shape 30"/>
          <p:cNvSpPr/>
          <p:nvPr/>
        </p:nvSpPr>
        <p:spPr>
          <a:xfrm>
            <a:off x="4937760" y="2697480"/>
            <a:ext cx="0" cy="365760"/>
          </a:xfrm>
          <a:prstGeom prst="line">
            <a:avLst/>
          </a:prstGeom>
          <a:noFill/>
          <a:ln w="25400">
            <a:solidFill>
              <a:srgbClr val="F28C28"/>
            </a:solidFill>
            <a:prstDash val="solid"/>
          </a:ln>
        </p:spPr>
        <p:txBody>
          <a:bodyPr/>
          <a:lstStyle/>
          <a:p>
            <a:endParaRPr lang="en-US"/>
          </a:p>
        </p:txBody>
      </p:sp>
      <p:sp>
        <p:nvSpPr>
          <p:cNvPr id="33" name="Shape 31"/>
          <p:cNvSpPr/>
          <p:nvPr/>
        </p:nvSpPr>
        <p:spPr>
          <a:xfrm>
            <a:off x="4937760" y="2697480"/>
            <a:ext cx="152400" cy="0"/>
          </a:xfrm>
          <a:prstGeom prst="line">
            <a:avLst/>
          </a:prstGeom>
          <a:noFill/>
          <a:ln w="25400">
            <a:solidFill>
              <a:srgbClr val="F28C28"/>
            </a:solidFill>
            <a:prstDash val="solid"/>
          </a:ln>
        </p:spPr>
        <p:txBody>
          <a:bodyPr/>
          <a:lstStyle/>
          <a:p>
            <a:endParaRPr lang="en-US"/>
          </a:p>
        </p:txBody>
      </p:sp>
      <p:sp>
        <p:nvSpPr>
          <p:cNvPr id="34" name="Shape 32"/>
          <p:cNvSpPr/>
          <p:nvPr/>
        </p:nvSpPr>
        <p:spPr>
          <a:xfrm>
            <a:off x="5090160" y="2697480"/>
            <a:ext cx="0" cy="365760"/>
          </a:xfrm>
          <a:prstGeom prst="line">
            <a:avLst/>
          </a:prstGeom>
          <a:noFill/>
          <a:ln w="25400">
            <a:solidFill>
              <a:srgbClr val="F28C28"/>
            </a:solidFill>
            <a:prstDash val="solid"/>
          </a:ln>
        </p:spPr>
        <p:txBody>
          <a:bodyPr/>
          <a:lstStyle/>
          <a:p>
            <a:endParaRPr lang="en-US"/>
          </a:p>
        </p:txBody>
      </p:sp>
      <p:sp>
        <p:nvSpPr>
          <p:cNvPr id="35" name="Shape 33"/>
          <p:cNvSpPr/>
          <p:nvPr/>
        </p:nvSpPr>
        <p:spPr>
          <a:xfrm>
            <a:off x="5090160" y="3063240"/>
            <a:ext cx="152400" cy="0"/>
          </a:xfrm>
          <a:prstGeom prst="line">
            <a:avLst/>
          </a:prstGeom>
          <a:noFill/>
          <a:ln w="25400">
            <a:solidFill>
              <a:srgbClr val="F28C28"/>
            </a:solidFill>
            <a:prstDash val="solid"/>
          </a:ln>
        </p:spPr>
        <p:txBody>
          <a:bodyPr/>
          <a:lstStyle/>
          <a:p>
            <a:endParaRPr lang="en-US"/>
          </a:p>
        </p:txBody>
      </p:sp>
      <p:sp>
        <p:nvSpPr>
          <p:cNvPr id="36" name="Shape 34"/>
          <p:cNvSpPr/>
          <p:nvPr/>
        </p:nvSpPr>
        <p:spPr>
          <a:xfrm>
            <a:off x="5242560" y="2697480"/>
            <a:ext cx="0" cy="365760"/>
          </a:xfrm>
          <a:prstGeom prst="line">
            <a:avLst/>
          </a:prstGeom>
          <a:noFill/>
          <a:ln w="25400">
            <a:solidFill>
              <a:srgbClr val="F28C28"/>
            </a:solidFill>
            <a:prstDash val="solid"/>
          </a:ln>
        </p:spPr>
        <p:txBody>
          <a:bodyPr/>
          <a:lstStyle/>
          <a:p>
            <a:endParaRPr lang="en-US"/>
          </a:p>
        </p:txBody>
      </p:sp>
      <p:sp>
        <p:nvSpPr>
          <p:cNvPr id="37" name="Shape 35"/>
          <p:cNvSpPr/>
          <p:nvPr/>
        </p:nvSpPr>
        <p:spPr>
          <a:xfrm>
            <a:off x="5242560" y="2697480"/>
            <a:ext cx="152400" cy="0"/>
          </a:xfrm>
          <a:prstGeom prst="line">
            <a:avLst/>
          </a:prstGeom>
          <a:noFill/>
          <a:ln w="25400">
            <a:solidFill>
              <a:srgbClr val="F28C28"/>
            </a:solidFill>
            <a:prstDash val="solid"/>
          </a:ln>
        </p:spPr>
        <p:txBody>
          <a:bodyPr/>
          <a:lstStyle/>
          <a:p>
            <a:endParaRPr lang="en-US"/>
          </a:p>
        </p:txBody>
      </p:sp>
      <p:sp>
        <p:nvSpPr>
          <p:cNvPr id="38" name="Shape 36"/>
          <p:cNvSpPr/>
          <p:nvPr/>
        </p:nvSpPr>
        <p:spPr>
          <a:xfrm>
            <a:off x="5394960" y="2697480"/>
            <a:ext cx="0" cy="365760"/>
          </a:xfrm>
          <a:prstGeom prst="line">
            <a:avLst/>
          </a:prstGeom>
          <a:noFill/>
          <a:ln w="25400">
            <a:solidFill>
              <a:srgbClr val="F28C28"/>
            </a:solidFill>
            <a:prstDash val="solid"/>
          </a:ln>
        </p:spPr>
        <p:txBody>
          <a:bodyPr/>
          <a:lstStyle/>
          <a:p>
            <a:endParaRPr lang="en-US"/>
          </a:p>
        </p:txBody>
      </p:sp>
      <p:sp>
        <p:nvSpPr>
          <p:cNvPr id="39" name="Shape 37"/>
          <p:cNvSpPr/>
          <p:nvPr/>
        </p:nvSpPr>
        <p:spPr>
          <a:xfrm>
            <a:off x="5394960" y="3063240"/>
            <a:ext cx="152400" cy="0"/>
          </a:xfrm>
          <a:prstGeom prst="line">
            <a:avLst/>
          </a:prstGeom>
          <a:noFill/>
          <a:ln w="25400">
            <a:solidFill>
              <a:srgbClr val="F28C28"/>
            </a:solidFill>
            <a:prstDash val="solid"/>
          </a:ln>
        </p:spPr>
        <p:txBody>
          <a:bodyPr/>
          <a:lstStyle/>
          <a:p>
            <a:endParaRPr lang="en-US"/>
          </a:p>
        </p:txBody>
      </p:sp>
      <p:sp>
        <p:nvSpPr>
          <p:cNvPr id="40" name="Shape 38"/>
          <p:cNvSpPr/>
          <p:nvPr/>
        </p:nvSpPr>
        <p:spPr>
          <a:xfrm>
            <a:off x="5547360" y="2697480"/>
            <a:ext cx="0" cy="365760"/>
          </a:xfrm>
          <a:prstGeom prst="line">
            <a:avLst/>
          </a:prstGeom>
          <a:noFill/>
          <a:ln w="25400">
            <a:solidFill>
              <a:srgbClr val="F28C28"/>
            </a:solidFill>
            <a:prstDash val="solid"/>
          </a:ln>
        </p:spPr>
        <p:txBody>
          <a:bodyPr/>
          <a:lstStyle/>
          <a:p>
            <a:endParaRPr lang="en-US"/>
          </a:p>
        </p:txBody>
      </p:sp>
      <p:sp>
        <p:nvSpPr>
          <p:cNvPr id="41" name="Shape 39"/>
          <p:cNvSpPr/>
          <p:nvPr/>
        </p:nvSpPr>
        <p:spPr>
          <a:xfrm>
            <a:off x="5547360" y="2697480"/>
            <a:ext cx="152400" cy="0"/>
          </a:xfrm>
          <a:prstGeom prst="line">
            <a:avLst/>
          </a:prstGeom>
          <a:noFill/>
          <a:ln w="25400">
            <a:solidFill>
              <a:srgbClr val="F28C28"/>
            </a:solidFill>
            <a:prstDash val="solid"/>
          </a:ln>
        </p:spPr>
        <p:txBody>
          <a:bodyPr/>
          <a:lstStyle/>
          <a:p>
            <a:endParaRPr lang="en-US"/>
          </a:p>
        </p:txBody>
      </p:sp>
      <p:sp>
        <p:nvSpPr>
          <p:cNvPr id="42" name="Shape 40"/>
          <p:cNvSpPr/>
          <p:nvPr/>
        </p:nvSpPr>
        <p:spPr>
          <a:xfrm>
            <a:off x="5699760" y="2697480"/>
            <a:ext cx="0" cy="365760"/>
          </a:xfrm>
          <a:prstGeom prst="line">
            <a:avLst/>
          </a:prstGeom>
          <a:noFill/>
          <a:ln w="25400">
            <a:solidFill>
              <a:srgbClr val="F28C28"/>
            </a:solidFill>
            <a:prstDash val="solid"/>
          </a:ln>
        </p:spPr>
        <p:txBody>
          <a:bodyPr/>
          <a:lstStyle/>
          <a:p>
            <a:endParaRPr lang="en-US"/>
          </a:p>
        </p:txBody>
      </p:sp>
      <p:sp>
        <p:nvSpPr>
          <p:cNvPr id="43" name="Shape 41"/>
          <p:cNvSpPr/>
          <p:nvPr/>
        </p:nvSpPr>
        <p:spPr>
          <a:xfrm>
            <a:off x="5699760" y="3063240"/>
            <a:ext cx="152400" cy="0"/>
          </a:xfrm>
          <a:prstGeom prst="line">
            <a:avLst/>
          </a:prstGeom>
          <a:noFill/>
          <a:ln w="25400">
            <a:solidFill>
              <a:srgbClr val="F28C28"/>
            </a:solidFill>
            <a:prstDash val="solid"/>
          </a:ln>
        </p:spPr>
        <p:txBody>
          <a:bodyPr/>
          <a:lstStyle/>
          <a:p>
            <a:endParaRPr lang="en-US"/>
          </a:p>
        </p:txBody>
      </p:sp>
      <p:sp>
        <p:nvSpPr>
          <p:cNvPr id="44" name="Shape 42"/>
          <p:cNvSpPr/>
          <p:nvPr/>
        </p:nvSpPr>
        <p:spPr>
          <a:xfrm>
            <a:off x="5852160" y="2697480"/>
            <a:ext cx="0" cy="365760"/>
          </a:xfrm>
          <a:prstGeom prst="line">
            <a:avLst/>
          </a:prstGeom>
          <a:noFill/>
          <a:ln w="25400">
            <a:solidFill>
              <a:srgbClr val="F28C28"/>
            </a:solidFill>
            <a:prstDash val="solid"/>
          </a:ln>
        </p:spPr>
        <p:txBody>
          <a:bodyPr/>
          <a:lstStyle/>
          <a:p>
            <a:endParaRPr lang="en-US"/>
          </a:p>
        </p:txBody>
      </p:sp>
      <p:sp>
        <p:nvSpPr>
          <p:cNvPr id="45" name="Shape 43"/>
          <p:cNvSpPr/>
          <p:nvPr/>
        </p:nvSpPr>
        <p:spPr>
          <a:xfrm>
            <a:off x="5852160" y="2697480"/>
            <a:ext cx="152400" cy="0"/>
          </a:xfrm>
          <a:prstGeom prst="line">
            <a:avLst/>
          </a:prstGeom>
          <a:noFill/>
          <a:ln w="25400">
            <a:solidFill>
              <a:srgbClr val="F28C28"/>
            </a:solidFill>
            <a:prstDash val="solid"/>
          </a:ln>
        </p:spPr>
        <p:txBody>
          <a:bodyPr/>
          <a:lstStyle/>
          <a:p>
            <a:endParaRPr lang="en-US"/>
          </a:p>
        </p:txBody>
      </p:sp>
      <p:sp>
        <p:nvSpPr>
          <p:cNvPr id="46" name="Shape 44"/>
          <p:cNvSpPr/>
          <p:nvPr/>
        </p:nvSpPr>
        <p:spPr>
          <a:xfrm>
            <a:off x="6004560" y="2697480"/>
            <a:ext cx="0" cy="365760"/>
          </a:xfrm>
          <a:prstGeom prst="line">
            <a:avLst/>
          </a:prstGeom>
          <a:noFill/>
          <a:ln w="25400">
            <a:solidFill>
              <a:srgbClr val="F28C28"/>
            </a:solidFill>
            <a:prstDash val="solid"/>
          </a:ln>
        </p:spPr>
        <p:txBody>
          <a:bodyPr/>
          <a:lstStyle/>
          <a:p>
            <a:endParaRPr lang="en-US"/>
          </a:p>
        </p:txBody>
      </p:sp>
      <p:sp>
        <p:nvSpPr>
          <p:cNvPr id="47" name="Shape 45"/>
          <p:cNvSpPr/>
          <p:nvPr/>
        </p:nvSpPr>
        <p:spPr>
          <a:xfrm>
            <a:off x="6004560" y="3063240"/>
            <a:ext cx="152400" cy="0"/>
          </a:xfrm>
          <a:prstGeom prst="line">
            <a:avLst/>
          </a:prstGeom>
          <a:noFill/>
          <a:ln w="25400">
            <a:solidFill>
              <a:srgbClr val="F28C28"/>
            </a:solidFill>
            <a:prstDash val="solid"/>
          </a:ln>
        </p:spPr>
        <p:txBody>
          <a:bodyPr/>
          <a:lstStyle/>
          <a:p>
            <a:endParaRPr lang="en-US"/>
          </a:p>
        </p:txBody>
      </p:sp>
      <p:sp>
        <p:nvSpPr>
          <p:cNvPr id="48" name="Shape 46"/>
          <p:cNvSpPr/>
          <p:nvPr/>
        </p:nvSpPr>
        <p:spPr>
          <a:xfrm>
            <a:off x="6156960" y="2697480"/>
            <a:ext cx="0" cy="365760"/>
          </a:xfrm>
          <a:prstGeom prst="line">
            <a:avLst/>
          </a:prstGeom>
          <a:noFill/>
          <a:ln w="25400">
            <a:solidFill>
              <a:srgbClr val="F28C28"/>
            </a:solidFill>
            <a:prstDash val="solid"/>
          </a:ln>
        </p:spPr>
        <p:txBody>
          <a:bodyPr/>
          <a:lstStyle/>
          <a:p>
            <a:endParaRPr lang="en-US"/>
          </a:p>
        </p:txBody>
      </p:sp>
      <p:sp>
        <p:nvSpPr>
          <p:cNvPr id="49" name="Shape 47"/>
          <p:cNvSpPr/>
          <p:nvPr/>
        </p:nvSpPr>
        <p:spPr>
          <a:xfrm>
            <a:off x="6156960" y="2697480"/>
            <a:ext cx="152400" cy="0"/>
          </a:xfrm>
          <a:prstGeom prst="line">
            <a:avLst/>
          </a:prstGeom>
          <a:noFill/>
          <a:ln w="25400">
            <a:solidFill>
              <a:srgbClr val="F28C28"/>
            </a:solidFill>
            <a:prstDash val="solid"/>
          </a:ln>
        </p:spPr>
        <p:txBody>
          <a:bodyPr/>
          <a:lstStyle/>
          <a:p>
            <a:endParaRPr lang="en-US"/>
          </a:p>
        </p:txBody>
      </p:sp>
      <p:sp>
        <p:nvSpPr>
          <p:cNvPr id="50" name="Shape 48"/>
          <p:cNvSpPr/>
          <p:nvPr/>
        </p:nvSpPr>
        <p:spPr>
          <a:xfrm>
            <a:off x="6309360" y="2697480"/>
            <a:ext cx="0" cy="365760"/>
          </a:xfrm>
          <a:prstGeom prst="line">
            <a:avLst/>
          </a:prstGeom>
          <a:noFill/>
          <a:ln w="25400">
            <a:solidFill>
              <a:srgbClr val="F28C28"/>
            </a:solidFill>
            <a:prstDash val="solid"/>
          </a:ln>
        </p:spPr>
        <p:txBody>
          <a:bodyPr/>
          <a:lstStyle/>
          <a:p>
            <a:endParaRPr lang="en-US"/>
          </a:p>
        </p:txBody>
      </p:sp>
      <p:sp>
        <p:nvSpPr>
          <p:cNvPr id="51" name="Shape 49"/>
          <p:cNvSpPr/>
          <p:nvPr/>
        </p:nvSpPr>
        <p:spPr>
          <a:xfrm>
            <a:off x="6309360" y="3063240"/>
            <a:ext cx="152400" cy="0"/>
          </a:xfrm>
          <a:prstGeom prst="line">
            <a:avLst/>
          </a:prstGeom>
          <a:noFill/>
          <a:ln w="25400">
            <a:solidFill>
              <a:srgbClr val="F28C28"/>
            </a:solidFill>
            <a:prstDash val="solid"/>
          </a:ln>
        </p:spPr>
        <p:txBody>
          <a:bodyPr/>
          <a:lstStyle/>
          <a:p>
            <a:endParaRPr lang="en-US"/>
          </a:p>
        </p:txBody>
      </p:sp>
      <p:sp>
        <p:nvSpPr>
          <p:cNvPr id="52" name="Shape 50"/>
          <p:cNvSpPr/>
          <p:nvPr/>
        </p:nvSpPr>
        <p:spPr>
          <a:xfrm>
            <a:off x="6461760" y="2697480"/>
            <a:ext cx="0" cy="365760"/>
          </a:xfrm>
          <a:prstGeom prst="line">
            <a:avLst/>
          </a:prstGeom>
          <a:noFill/>
          <a:ln w="25400">
            <a:solidFill>
              <a:srgbClr val="F28C28"/>
            </a:solidFill>
            <a:prstDash val="solid"/>
          </a:ln>
        </p:spPr>
        <p:txBody>
          <a:bodyPr/>
          <a:lstStyle/>
          <a:p>
            <a:endParaRPr lang="en-US"/>
          </a:p>
        </p:txBody>
      </p:sp>
      <p:sp>
        <p:nvSpPr>
          <p:cNvPr id="53" name="Shape 51"/>
          <p:cNvSpPr/>
          <p:nvPr/>
        </p:nvSpPr>
        <p:spPr>
          <a:xfrm>
            <a:off x="6461760" y="2697480"/>
            <a:ext cx="152400" cy="0"/>
          </a:xfrm>
          <a:prstGeom prst="line">
            <a:avLst/>
          </a:prstGeom>
          <a:noFill/>
          <a:ln w="25400">
            <a:solidFill>
              <a:srgbClr val="F28C28"/>
            </a:solidFill>
            <a:prstDash val="solid"/>
          </a:ln>
        </p:spPr>
        <p:txBody>
          <a:bodyPr/>
          <a:lstStyle/>
          <a:p>
            <a:endParaRPr lang="en-US"/>
          </a:p>
        </p:txBody>
      </p:sp>
      <p:sp>
        <p:nvSpPr>
          <p:cNvPr id="54" name="Shape 52"/>
          <p:cNvSpPr/>
          <p:nvPr/>
        </p:nvSpPr>
        <p:spPr>
          <a:xfrm>
            <a:off x="6614160" y="2697480"/>
            <a:ext cx="0" cy="365760"/>
          </a:xfrm>
          <a:prstGeom prst="line">
            <a:avLst/>
          </a:prstGeom>
          <a:noFill/>
          <a:ln w="25400">
            <a:solidFill>
              <a:srgbClr val="F28C28"/>
            </a:solidFill>
            <a:prstDash val="solid"/>
          </a:ln>
        </p:spPr>
        <p:txBody>
          <a:bodyPr/>
          <a:lstStyle/>
          <a:p>
            <a:endParaRPr lang="en-US"/>
          </a:p>
        </p:txBody>
      </p:sp>
      <p:sp>
        <p:nvSpPr>
          <p:cNvPr id="55" name="Shape 53"/>
          <p:cNvSpPr/>
          <p:nvPr/>
        </p:nvSpPr>
        <p:spPr>
          <a:xfrm>
            <a:off x="6614160" y="3063240"/>
            <a:ext cx="152400" cy="0"/>
          </a:xfrm>
          <a:prstGeom prst="line">
            <a:avLst/>
          </a:prstGeom>
          <a:noFill/>
          <a:ln w="25400">
            <a:solidFill>
              <a:srgbClr val="F28C28"/>
            </a:solidFill>
            <a:prstDash val="solid"/>
          </a:ln>
        </p:spPr>
        <p:txBody>
          <a:bodyPr/>
          <a:lstStyle/>
          <a:p>
            <a:endParaRPr lang="en-US"/>
          </a:p>
        </p:txBody>
      </p:sp>
      <p:sp>
        <p:nvSpPr>
          <p:cNvPr id="56" name="Shape 54"/>
          <p:cNvSpPr/>
          <p:nvPr/>
        </p:nvSpPr>
        <p:spPr>
          <a:xfrm>
            <a:off x="6766560" y="2697480"/>
            <a:ext cx="0" cy="365760"/>
          </a:xfrm>
          <a:prstGeom prst="line">
            <a:avLst/>
          </a:prstGeom>
          <a:noFill/>
          <a:ln w="25400">
            <a:solidFill>
              <a:srgbClr val="F28C28"/>
            </a:solidFill>
            <a:prstDash val="solid"/>
          </a:ln>
        </p:spPr>
        <p:txBody>
          <a:bodyPr/>
          <a:lstStyle/>
          <a:p>
            <a:endParaRPr lang="en-US"/>
          </a:p>
        </p:txBody>
      </p:sp>
      <p:sp>
        <p:nvSpPr>
          <p:cNvPr id="57" name="Shape 55"/>
          <p:cNvSpPr/>
          <p:nvPr/>
        </p:nvSpPr>
        <p:spPr>
          <a:xfrm>
            <a:off x="6766560" y="2697480"/>
            <a:ext cx="152400" cy="0"/>
          </a:xfrm>
          <a:prstGeom prst="line">
            <a:avLst/>
          </a:prstGeom>
          <a:noFill/>
          <a:ln w="25400">
            <a:solidFill>
              <a:srgbClr val="F28C28"/>
            </a:solidFill>
            <a:prstDash val="solid"/>
          </a:ln>
        </p:spPr>
        <p:txBody>
          <a:bodyPr/>
          <a:lstStyle/>
          <a:p>
            <a:endParaRPr lang="en-US"/>
          </a:p>
        </p:txBody>
      </p:sp>
      <p:sp>
        <p:nvSpPr>
          <p:cNvPr id="58" name="Shape 56"/>
          <p:cNvSpPr/>
          <p:nvPr/>
        </p:nvSpPr>
        <p:spPr>
          <a:xfrm>
            <a:off x="6918960" y="2697480"/>
            <a:ext cx="0" cy="365760"/>
          </a:xfrm>
          <a:prstGeom prst="line">
            <a:avLst/>
          </a:prstGeom>
          <a:noFill/>
          <a:ln w="25400">
            <a:solidFill>
              <a:srgbClr val="F28C28"/>
            </a:solidFill>
            <a:prstDash val="solid"/>
          </a:ln>
        </p:spPr>
        <p:txBody>
          <a:bodyPr/>
          <a:lstStyle/>
          <a:p>
            <a:endParaRPr lang="en-US"/>
          </a:p>
        </p:txBody>
      </p:sp>
      <p:sp>
        <p:nvSpPr>
          <p:cNvPr id="59" name="Shape 57"/>
          <p:cNvSpPr/>
          <p:nvPr/>
        </p:nvSpPr>
        <p:spPr>
          <a:xfrm>
            <a:off x="6918960" y="3063240"/>
            <a:ext cx="152400" cy="0"/>
          </a:xfrm>
          <a:prstGeom prst="line">
            <a:avLst/>
          </a:prstGeom>
          <a:noFill/>
          <a:ln w="25400">
            <a:solidFill>
              <a:srgbClr val="F28C28"/>
            </a:solidFill>
            <a:prstDash val="solid"/>
          </a:ln>
        </p:spPr>
        <p:txBody>
          <a:bodyPr/>
          <a:lstStyle/>
          <a:p>
            <a:endParaRPr lang="en-US"/>
          </a:p>
        </p:txBody>
      </p:sp>
      <p:sp>
        <p:nvSpPr>
          <p:cNvPr id="60" name="Shape 58"/>
          <p:cNvSpPr/>
          <p:nvPr/>
        </p:nvSpPr>
        <p:spPr>
          <a:xfrm>
            <a:off x="7071360" y="2697480"/>
            <a:ext cx="0" cy="365760"/>
          </a:xfrm>
          <a:prstGeom prst="line">
            <a:avLst/>
          </a:prstGeom>
          <a:noFill/>
          <a:ln w="25400">
            <a:solidFill>
              <a:srgbClr val="F28C28"/>
            </a:solidFill>
            <a:prstDash val="solid"/>
          </a:ln>
        </p:spPr>
        <p:txBody>
          <a:bodyPr/>
          <a:lstStyle/>
          <a:p>
            <a:endParaRPr lang="en-US"/>
          </a:p>
        </p:txBody>
      </p:sp>
      <p:sp>
        <p:nvSpPr>
          <p:cNvPr id="61" name="Shape 59"/>
          <p:cNvSpPr/>
          <p:nvPr/>
        </p:nvSpPr>
        <p:spPr>
          <a:xfrm>
            <a:off x="7071360" y="2697480"/>
            <a:ext cx="152400" cy="0"/>
          </a:xfrm>
          <a:prstGeom prst="line">
            <a:avLst/>
          </a:prstGeom>
          <a:noFill/>
          <a:ln w="25400">
            <a:solidFill>
              <a:srgbClr val="F28C28"/>
            </a:solidFill>
            <a:prstDash val="solid"/>
          </a:ln>
        </p:spPr>
        <p:txBody>
          <a:bodyPr/>
          <a:lstStyle/>
          <a:p>
            <a:endParaRPr lang="en-US"/>
          </a:p>
        </p:txBody>
      </p:sp>
      <p:sp>
        <p:nvSpPr>
          <p:cNvPr id="62" name="Shape 60"/>
          <p:cNvSpPr/>
          <p:nvPr/>
        </p:nvSpPr>
        <p:spPr>
          <a:xfrm>
            <a:off x="7223760" y="2697480"/>
            <a:ext cx="0" cy="365760"/>
          </a:xfrm>
          <a:prstGeom prst="line">
            <a:avLst/>
          </a:prstGeom>
          <a:noFill/>
          <a:ln w="25400">
            <a:solidFill>
              <a:srgbClr val="F28C28"/>
            </a:solidFill>
            <a:prstDash val="solid"/>
          </a:ln>
        </p:spPr>
        <p:txBody>
          <a:bodyPr/>
          <a:lstStyle/>
          <a:p>
            <a:endParaRPr lang="en-US"/>
          </a:p>
        </p:txBody>
      </p:sp>
      <p:sp>
        <p:nvSpPr>
          <p:cNvPr id="63" name="Shape 61"/>
          <p:cNvSpPr/>
          <p:nvPr/>
        </p:nvSpPr>
        <p:spPr>
          <a:xfrm>
            <a:off x="7223760" y="3063240"/>
            <a:ext cx="152400" cy="0"/>
          </a:xfrm>
          <a:prstGeom prst="line">
            <a:avLst/>
          </a:prstGeom>
          <a:noFill/>
          <a:ln w="25400">
            <a:solidFill>
              <a:srgbClr val="F28C28"/>
            </a:solidFill>
            <a:prstDash val="solid"/>
          </a:ln>
        </p:spPr>
        <p:txBody>
          <a:bodyPr/>
          <a:lstStyle/>
          <a:p>
            <a:endParaRPr lang="en-US"/>
          </a:p>
        </p:txBody>
      </p:sp>
      <p:sp>
        <p:nvSpPr>
          <p:cNvPr id="64" name="Shape 62"/>
          <p:cNvSpPr/>
          <p:nvPr/>
        </p:nvSpPr>
        <p:spPr>
          <a:xfrm>
            <a:off x="7376160" y="2697480"/>
            <a:ext cx="0" cy="365760"/>
          </a:xfrm>
          <a:prstGeom prst="line">
            <a:avLst/>
          </a:prstGeom>
          <a:noFill/>
          <a:ln w="25400">
            <a:solidFill>
              <a:srgbClr val="F28C28"/>
            </a:solidFill>
            <a:prstDash val="solid"/>
          </a:ln>
        </p:spPr>
        <p:txBody>
          <a:bodyPr/>
          <a:lstStyle/>
          <a:p>
            <a:endParaRPr lang="en-US"/>
          </a:p>
        </p:txBody>
      </p:sp>
      <p:sp>
        <p:nvSpPr>
          <p:cNvPr id="65" name="Shape 63"/>
          <p:cNvSpPr/>
          <p:nvPr/>
        </p:nvSpPr>
        <p:spPr>
          <a:xfrm>
            <a:off x="7376160" y="2697480"/>
            <a:ext cx="152400" cy="0"/>
          </a:xfrm>
          <a:prstGeom prst="line">
            <a:avLst/>
          </a:prstGeom>
          <a:noFill/>
          <a:ln w="25400">
            <a:solidFill>
              <a:srgbClr val="F28C28"/>
            </a:solidFill>
            <a:prstDash val="solid"/>
          </a:ln>
        </p:spPr>
        <p:txBody>
          <a:bodyPr/>
          <a:lstStyle/>
          <a:p>
            <a:endParaRPr lang="en-US"/>
          </a:p>
        </p:txBody>
      </p:sp>
      <p:sp>
        <p:nvSpPr>
          <p:cNvPr id="66" name="Shape 64"/>
          <p:cNvSpPr/>
          <p:nvPr/>
        </p:nvSpPr>
        <p:spPr>
          <a:xfrm>
            <a:off x="7528560" y="2697480"/>
            <a:ext cx="0" cy="365760"/>
          </a:xfrm>
          <a:prstGeom prst="line">
            <a:avLst/>
          </a:prstGeom>
          <a:noFill/>
          <a:ln w="25400">
            <a:solidFill>
              <a:srgbClr val="F28C28"/>
            </a:solidFill>
            <a:prstDash val="solid"/>
          </a:ln>
        </p:spPr>
        <p:txBody>
          <a:bodyPr/>
          <a:lstStyle/>
          <a:p>
            <a:endParaRPr lang="en-US"/>
          </a:p>
        </p:txBody>
      </p:sp>
      <p:sp>
        <p:nvSpPr>
          <p:cNvPr id="67" name="Shape 65"/>
          <p:cNvSpPr/>
          <p:nvPr/>
        </p:nvSpPr>
        <p:spPr>
          <a:xfrm>
            <a:off x="7528560" y="3063240"/>
            <a:ext cx="152400" cy="0"/>
          </a:xfrm>
          <a:prstGeom prst="line">
            <a:avLst/>
          </a:prstGeom>
          <a:noFill/>
          <a:ln w="25400">
            <a:solidFill>
              <a:srgbClr val="F28C28"/>
            </a:solidFill>
            <a:prstDash val="solid"/>
          </a:ln>
        </p:spPr>
        <p:txBody>
          <a:bodyPr/>
          <a:lstStyle/>
          <a:p>
            <a:endParaRPr lang="en-US"/>
          </a:p>
        </p:txBody>
      </p:sp>
      <p:sp>
        <p:nvSpPr>
          <p:cNvPr id="68" name="Shape 66"/>
          <p:cNvSpPr/>
          <p:nvPr/>
        </p:nvSpPr>
        <p:spPr>
          <a:xfrm>
            <a:off x="7680960" y="2697480"/>
            <a:ext cx="0" cy="365760"/>
          </a:xfrm>
          <a:prstGeom prst="line">
            <a:avLst/>
          </a:prstGeom>
          <a:noFill/>
          <a:ln w="25400">
            <a:solidFill>
              <a:srgbClr val="F28C28"/>
            </a:solidFill>
            <a:prstDash val="solid"/>
          </a:ln>
        </p:spPr>
        <p:txBody>
          <a:bodyPr/>
          <a:lstStyle/>
          <a:p>
            <a:endParaRPr lang="en-US"/>
          </a:p>
        </p:txBody>
      </p:sp>
      <p:sp>
        <p:nvSpPr>
          <p:cNvPr id="69" name="Shape 67"/>
          <p:cNvSpPr/>
          <p:nvPr/>
        </p:nvSpPr>
        <p:spPr>
          <a:xfrm>
            <a:off x="7680960" y="2697480"/>
            <a:ext cx="152400" cy="0"/>
          </a:xfrm>
          <a:prstGeom prst="line">
            <a:avLst/>
          </a:prstGeom>
          <a:noFill/>
          <a:ln w="25400">
            <a:solidFill>
              <a:srgbClr val="F28C28"/>
            </a:solidFill>
            <a:prstDash val="solid"/>
          </a:ln>
        </p:spPr>
        <p:txBody>
          <a:bodyPr/>
          <a:lstStyle/>
          <a:p>
            <a:endParaRPr lang="en-US"/>
          </a:p>
        </p:txBody>
      </p:sp>
      <p:sp>
        <p:nvSpPr>
          <p:cNvPr id="70" name="Shape 68"/>
          <p:cNvSpPr/>
          <p:nvPr/>
        </p:nvSpPr>
        <p:spPr>
          <a:xfrm>
            <a:off x="7833360" y="2697480"/>
            <a:ext cx="0" cy="365760"/>
          </a:xfrm>
          <a:prstGeom prst="line">
            <a:avLst/>
          </a:prstGeom>
          <a:noFill/>
          <a:ln w="25400">
            <a:solidFill>
              <a:srgbClr val="F28C28"/>
            </a:solidFill>
            <a:prstDash val="solid"/>
          </a:ln>
        </p:spPr>
        <p:txBody>
          <a:bodyPr/>
          <a:lstStyle/>
          <a:p>
            <a:endParaRPr lang="en-US"/>
          </a:p>
        </p:txBody>
      </p:sp>
      <p:sp>
        <p:nvSpPr>
          <p:cNvPr id="71" name="Shape 69"/>
          <p:cNvSpPr/>
          <p:nvPr/>
        </p:nvSpPr>
        <p:spPr>
          <a:xfrm>
            <a:off x="7833360" y="3063240"/>
            <a:ext cx="152400" cy="0"/>
          </a:xfrm>
          <a:prstGeom prst="line">
            <a:avLst/>
          </a:prstGeom>
          <a:noFill/>
          <a:ln w="25400">
            <a:solidFill>
              <a:srgbClr val="F28C28"/>
            </a:solidFill>
            <a:prstDash val="solid"/>
          </a:ln>
        </p:spPr>
        <p:txBody>
          <a:bodyPr/>
          <a:lstStyle/>
          <a:p>
            <a:endParaRPr lang="en-US"/>
          </a:p>
        </p:txBody>
      </p:sp>
      <p:sp>
        <p:nvSpPr>
          <p:cNvPr id="72" name="Shape 70"/>
          <p:cNvSpPr/>
          <p:nvPr/>
        </p:nvSpPr>
        <p:spPr>
          <a:xfrm>
            <a:off x="7985760" y="2697480"/>
            <a:ext cx="0" cy="365760"/>
          </a:xfrm>
          <a:prstGeom prst="line">
            <a:avLst/>
          </a:prstGeom>
          <a:noFill/>
          <a:ln w="25400">
            <a:solidFill>
              <a:srgbClr val="F28C28"/>
            </a:solidFill>
            <a:prstDash val="solid"/>
          </a:ln>
        </p:spPr>
        <p:txBody>
          <a:bodyPr/>
          <a:lstStyle/>
          <a:p>
            <a:endParaRPr lang="en-US"/>
          </a:p>
        </p:txBody>
      </p:sp>
      <p:sp>
        <p:nvSpPr>
          <p:cNvPr id="73" name="Shape 71"/>
          <p:cNvSpPr/>
          <p:nvPr/>
        </p:nvSpPr>
        <p:spPr>
          <a:xfrm>
            <a:off x="7985760" y="2697480"/>
            <a:ext cx="152400" cy="0"/>
          </a:xfrm>
          <a:prstGeom prst="line">
            <a:avLst/>
          </a:prstGeom>
          <a:noFill/>
          <a:ln w="25400">
            <a:solidFill>
              <a:srgbClr val="F28C28"/>
            </a:solidFill>
            <a:prstDash val="solid"/>
          </a:ln>
        </p:spPr>
        <p:txBody>
          <a:bodyPr/>
          <a:lstStyle/>
          <a:p>
            <a:endParaRPr lang="en-US"/>
          </a:p>
        </p:txBody>
      </p:sp>
      <p:sp>
        <p:nvSpPr>
          <p:cNvPr id="74" name="Shape 72"/>
          <p:cNvSpPr/>
          <p:nvPr/>
        </p:nvSpPr>
        <p:spPr>
          <a:xfrm>
            <a:off x="8138160" y="2697480"/>
            <a:ext cx="0" cy="365760"/>
          </a:xfrm>
          <a:prstGeom prst="line">
            <a:avLst/>
          </a:prstGeom>
          <a:noFill/>
          <a:ln w="25400">
            <a:solidFill>
              <a:srgbClr val="F28C28"/>
            </a:solidFill>
            <a:prstDash val="solid"/>
          </a:ln>
        </p:spPr>
        <p:txBody>
          <a:bodyPr/>
          <a:lstStyle/>
          <a:p>
            <a:endParaRPr lang="en-US"/>
          </a:p>
        </p:txBody>
      </p:sp>
      <p:sp>
        <p:nvSpPr>
          <p:cNvPr id="75" name="Shape 73"/>
          <p:cNvSpPr/>
          <p:nvPr/>
        </p:nvSpPr>
        <p:spPr>
          <a:xfrm>
            <a:off x="8138160" y="3063240"/>
            <a:ext cx="152400" cy="0"/>
          </a:xfrm>
          <a:prstGeom prst="line">
            <a:avLst/>
          </a:prstGeom>
          <a:noFill/>
          <a:ln w="25400">
            <a:solidFill>
              <a:srgbClr val="F28C28"/>
            </a:solidFill>
            <a:prstDash val="solid"/>
          </a:ln>
        </p:spPr>
        <p:txBody>
          <a:bodyPr/>
          <a:lstStyle/>
          <a:p>
            <a:endParaRPr lang="en-US"/>
          </a:p>
        </p:txBody>
      </p:sp>
      <p:sp>
        <p:nvSpPr>
          <p:cNvPr id="76" name="Shape 74"/>
          <p:cNvSpPr/>
          <p:nvPr/>
        </p:nvSpPr>
        <p:spPr>
          <a:xfrm>
            <a:off x="8290560" y="2697480"/>
            <a:ext cx="0" cy="365760"/>
          </a:xfrm>
          <a:prstGeom prst="line">
            <a:avLst/>
          </a:prstGeom>
          <a:noFill/>
          <a:ln w="25400">
            <a:solidFill>
              <a:srgbClr val="F28C28"/>
            </a:solidFill>
            <a:prstDash val="solid"/>
          </a:ln>
        </p:spPr>
        <p:txBody>
          <a:bodyPr/>
          <a:lstStyle/>
          <a:p>
            <a:endParaRPr lang="en-US"/>
          </a:p>
        </p:txBody>
      </p:sp>
      <p:sp>
        <p:nvSpPr>
          <p:cNvPr id="77" name="Shape 75"/>
          <p:cNvSpPr/>
          <p:nvPr/>
        </p:nvSpPr>
        <p:spPr>
          <a:xfrm>
            <a:off x="8290560" y="2697480"/>
            <a:ext cx="152400" cy="0"/>
          </a:xfrm>
          <a:prstGeom prst="line">
            <a:avLst/>
          </a:prstGeom>
          <a:noFill/>
          <a:ln w="25400">
            <a:solidFill>
              <a:srgbClr val="F28C28"/>
            </a:solidFill>
            <a:prstDash val="solid"/>
          </a:ln>
        </p:spPr>
        <p:txBody>
          <a:bodyPr/>
          <a:lstStyle/>
          <a:p>
            <a:endParaRPr lang="en-US"/>
          </a:p>
        </p:txBody>
      </p:sp>
      <p:sp>
        <p:nvSpPr>
          <p:cNvPr id="78" name="Shape 76"/>
          <p:cNvSpPr/>
          <p:nvPr/>
        </p:nvSpPr>
        <p:spPr>
          <a:xfrm>
            <a:off x="8442960" y="2697480"/>
            <a:ext cx="0" cy="365760"/>
          </a:xfrm>
          <a:prstGeom prst="line">
            <a:avLst/>
          </a:prstGeom>
          <a:noFill/>
          <a:ln w="25400">
            <a:solidFill>
              <a:srgbClr val="F28C28"/>
            </a:solidFill>
            <a:prstDash val="solid"/>
          </a:ln>
        </p:spPr>
        <p:txBody>
          <a:bodyPr/>
          <a:lstStyle/>
          <a:p>
            <a:endParaRPr lang="en-US"/>
          </a:p>
        </p:txBody>
      </p:sp>
      <p:sp>
        <p:nvSpPr>
          <p:cNvPr id="79" name="Shape 77"/>
          <p:cNvSpPr/>
          <p:nvPr/>
        </p:nvSpPr>
        <p:spPr>
          <a:xfrm>
            <a:off x="8442960" y="3063240"/>
            <a:ext cx="152400" cy="0"/>
          </a:xfrm>
          <a:prstGeom prst="line">
            <a:avLst/>
          </a:prstGeom>
          <a:noFill/>
          <a:ln w="25400">
            <a:solidFill>
              <a:srgbClr val="F28C28"/>
            </a:solidFill>
            <a:prstDash val="solid"/>
          </a:ln>
        </p:spPr>
        <p:txBody>
          <a:bodyPr/>
          <a:lstStyle/>
          <a:p>
            <a:endParaRPr lang="en-US"/>
          </a:p>
        </p:txBody>
      </p:sp>
      <p:sp>
        <p:nvSpPr>
          <p:cNvPr id="80" name="Text 78"/>
          <p:cNvSpPr txBox="1"/>
          <p:nvPr/>
        </p:nvSpPr>
        <p:spPr>
          <a:xfrm>
            <a:off x="4937760" y="3337560"/>
            <a:ext cx="3749040" cy="914400"/>
          </a:xfrm>
          <a:prstGeom prst="rect">
            <a:avLst/>
          </a:prstGeom>
          <a:noFill/>
          <a:ln/>
        </p:spPr>
        <p:txBody>
          <a:bodyPr wrap="square" lIns="0" tIns="0" rIns="0" bIns="0" rtlCol="0" anchor="ctr"/>
          <a:lstStyle/>
          <a:p>
            <a:pPr marL="0" indent="0">
              <a:buNone/>
            </a:pPr>
            <a:r>
              <a:rPr lang="en-US" sz="1300" dirty="0">
                <a:solidFill>
                  <a:srgbClr val="1B1B1B"/>
                </a:solidFill>
              </a:rPr>
              <a:t>Line 22: PWM switches the pin on and off very fast. Line 63: freq sets how fast. Line 64: duty 512 = sound on.</a:t>
            </a:r>
            <a:endParaRPr lang="en-US" sz="1300" dirty="0"/>
          </a:p>
        </p:txBody>
      </p:sp>
      <p:sp>
        <p:nvSpPr>
          <p:cNvPr id="81"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949440" cy="640080"/>
          </a:xfrm>
          <a:prstGeom prst="rect">
            <a:avLst/>
          </a:prstGeom>
          <a:noFill/>
          <a:ln/>
        </p:spPr>
        <p:txBody>
          <a:bodyPr wrap="square" lIns="0" tIns="0" rIns="0" bIns="0" rtlCol="0" anchor="ctr"/>
          <a:lstStyle/>
          <a:p>
            <a:pPr marL="0" indent="0" algn="l">
              <a:buNone/>
            </a:pPr>
            <a:r>
              <a:rPr lang="en-US" sz="3000" b="1" dirty="0">
                <a:solidFill>
                  <a:schemeClr val="tx2"/>
                </a:solidFill>
              </a:rPr>
              <a:t>Run by itself when powered on</a:t>
            </a:r>
            <a:endParaRPr lang="en-US" sz="3000" dirty="0"/>
          </a:p>
        </p:txBody>
      </p:sp>
      <p:sp>
        <p:nvSpPr>
          <p:cNvPr id="3" name="Text 1"/>
          <p:cNvSpPr txBox="1"/>
          <p:nvPr/>
        </p:nvSpPr>
        <p:spPr>
          <a:xfrm>
            <a:off x="457200" y="1005840"/>
            <a:ext cx="4206240" cy="320040"/>
          </a:xfrm>
          <a:prstGeom prst="rect">
            <a:avLst/>
          </a:prstGeom>
          <a:noFill/>
          <a:ln/>
        </p:spPr>
        <p:txBody>
          <a:bodyPr wrap="square" lIns="0" tIns="0" rIns="0" bIns="0" rtlCol="0" anchor="ctr"/>
          <a:lstStyle/>
          <a:p>
            <a:pPr marL="0" indent="0">
              <a:buNone/>
            </a:pPr>
            <a:r>
              <a:rPr lang="en-US" sz="1400" dirty="0">
                <a:solidFill>
                  <a:srgbClr val="1B1B1B"/>
                </a:solidFill>
              </a:rPr>
              <a:t>When the ESP32 starts, it runs only two files, in this order:</a:t>
            </a:r>
            <a:endParaRPr lang="en-US" sz="1400" dirty="0"/>
          </a:p>
        </p:txBody>
      </p:sp>
      <p:sp>
        <p:nvSpPr>
          <p:cNvPr id="4" name="Shape 2"/>
          <p:cNvSpPr/>
          <p:nvPr/>
        </p:nvSpPr>
        <p:spPr>
          <a:xfrm>
            <a:off x="457200" y="1417320"/>
            <a:ext cx="914400" cy="548640"/>
          </a:xfrm>
          <a:prstGeom prst="roundRect">
            <a:avLst>
              <a:gd name="adj" fmla="val 13333"/>
            </a:avLst>
          </a:prstGeom>
          <a:solidFill>
            <a:srgbClr val="EEF5F1"/>
          </a:solidFill>
          <a:ln w="15875">
            <a:solidFill>
              <a:srgbClr val="B7D3C6"/>
            </a:solidFill>
            <a:prstDash val="solid"/>
          </a:ln>
        </p:spPr>
        <p:txBody>
          <a:bodyPr/>
          <a:lstStyle/>
          <a:p>
            <a:endParaRPr lang="en-US"/>
          </a:p>
        </p:txBody>
      </p:sp>
      <p:sp>
        <p:nvSpPr>
          <p:cNvPr id="5" name="Text 3"/>
          <p:cNvSpPr txBox="1"/>
          <p:nvPr/>
        </p:nvSpPr>
        <p:spPr>
          <a:xfrm>
            <a:off x="457200" y="1417320"/>
            <a:ext cx="914400" cy="548640"/>
          </a:xfrm>
          <a:prstGeom prst="rect">
            <a:avLst/>
          </a:prstGeom>
          <a:noFill/>
          <a:ln/>
        </p:spPr>
        <p:txBody>
          <a:bodyPr wrap="square" lIns="0" tIns="0" rIns="0" bIns="0" rtlCol="0" anchor="ctr"/>
          <a:lstStyle/>
          <a:p>
            <a:pPr marL="0" indent="0" algn="ctr">
              <a:buNone/>
            </a:pPr>
            <a:r>
              <a:rPr lang="en-US" sz="1200" b="1" dirty="0">
                <a:solidFill>
                  <a:srgbClr val="1B1B1B"/>
                </a:solidFill>
              </a:rPr>
              <a:t>Power on</a:t>
            </a:r>
            <a:endParaRPr lang="en-US" sz="1200" dirty="0"/>
          </a:p>
        </p:txBody>
      </p:sp>
      <p:sp>
        <p:nvSpPr>
          <p:cNvPr id="6" name="Shape 4"/>
          <p:cNvSpPr/>
          <p:nvPr/>
        </p:nvSpPr>
        <p:spPr>
          <a:xfrm>
            <a:off x="1389888" y="1691640"/>
            <a:ext cx="128016" cy="0"/>
          </a:xfrm>
          <a:prstGeom prst="line">
            <a:avLst/>
          </a:prstGeom>
          <a:noFill/>
          <a:ln w="19050">
            <a:solidFill>
              <a:srgbClr val="6B7280"/>
            </a:solidFill>
            <a:prstDash val="solid"/>
            <a:tailEnd type="triangle"/>
          </a:ln>
        </p:spPr>
        <p:txBody>
          <a:bodyPr/>
          <a:lstStyle/>
          <a:p>
            <a:endParaRPr lang="en-US"/>
          </a:p>
        </p:txBody>
      </p:sp>
      <p:sp>
        <p:nvSpPr>
          <p:cNvPr id="7" name="Shape 5"/>
          <p:cNvSpPr/>
          <p:nvPr/>
        </p:nvSpPr>
        <p:spPr>
          <a:xfrm>
            <a:off x="1536192" y="1417320"/>
            <a:ext cx="914400" cy="548640"/>
          </a:xfrm>
          <a:prstGeom prst="roundRect">
            <a:avLst>
              <a:gd name="adj" fmla="val 13333"/>
            </a:avLst>
          </a:prstGeom>
          <a:solidFill>
            <a:srgbClr val="EEF5F1"/>
          </a:solidFill>
          <a:ln w="15875">
            <a:solidFill>
              <a:srgbClr val="B7D3C6"/>
            </a:solidFill>
            <a:prstDash val="solid"/>
          </a:ln>
        </p:spPr>
        <p:txBody>
          <a:bodyPr/>
          <a:lstStyle/>
          <a:p>
            <a:endParaRPr lang="en-US"/>
          </a:p>
        </p:txBody>
      </p:sp>
      <p:sp>
        <p:nvSpPr>
          <p:cNvPr id="8" name="Text 6"/>
          <p:cNvSpPr txBox="1"/>
          <p:nvPr/>
        </p:nvSpPr>
        <p:spPr>
          <a:xfrm>
            <a:off x="1536192" y="1417320"/>
            <a:ext cx="914400" cy="548640"/>
          </a:xfrm>
          <a:prstGeom prst="rect">
            <a:avLst/>
          </a:prstGeom>
          <a:noFill/>
          <a:ln/>
        </p:spPr>
        <p:txBody>
          <a:bodyPr wrap="square" lIns="0" tIns="0" rIns="0" bIns="0" rtlCol="0" anchor="ctr"/>
          <a:lstStyle/>
          <a:p>
            <a:pPr marL="0" indent="0" algn="ctr">
              <a:buNone/>
            </a:pPr>
            <a:r>
              <a:rPr lang="en-US" sz="1200" b="1" dirty="0">
                <a:solidFill>
                  <a:srgbClr val="1B1B1B"/>
                </a:solidFill>
              </a:rPr>
              <a:t>boot.py</a:t>
            </a:r>
            <a:endParaRPr lang="en-US" sz="1200" dirty="0"/>
          </a:p>
        </p:txBody>
      </p:sp>
      <p:sp>
        <p:nvSpPr>
          <p:cNvPr id="9" name="Shape 7"/>
          <p:cNvSpPr/>
          <p:nvPr/>
        </p:nvSpPr>
        <p:spPr>
          <a:xfrm>
            <a:off x="2468880" y="1691640"/>
            <a:ext cx="128016" cy="0"/>
          </a:xfrm>
          <a:prstGeom prst="line">
            <a:avLst/>
          </a:prstGeom>
          <a:noFill/>
          <a:ln w="19050">
            <a:solidFill>
              <a:srgbClr val="6B7280"/>
            </a:solidFill>
            <a:prstDash val="solid"/>
            <a:tailEnd type="triangle"/>
          </a:ln>
        </p:spPr>
        <p:txBody>
          <a:bodyPr/>
          <a:lstStyle/>
          <a:p>
            <a:endParaRPr lang="en-US"/>
          </a:p>
        </p:txBody>
      </p:sp>
      <p:sp>
        <p:nvSpPr>
          <p:cNvPr id="10" name="Shape 8"/>
          <p:cNvSpPr/>
          <p:nvPr/>
        </p:nvSpPr>
        <p:spPr>
          <a:xfrm>
            <a:off x="2615184" y="1417320"/>
            <a:ext cx="914400" cy="548640"/>
          </a:xfrm>
          <a:prstGeom prst="roundRect">
            <a:avLst>
              <a:gd name="adj" fmla="val 13333"/>
            </a:avLst>
          </a:prstGeom>
          <a:solidFill>
            <a:srgbClr val="FFF1C2"/>
          </a:solidFill>
          <a:ln w="15875">
            <a:solidFill>
              <a:srgbClr val="E0A800"/>
            </a:solidFill>
            <a:prstDash val="solid"/>
          </a:ln>
        </p:spPr>
        <p:txBody>
          <a:bodyPr/>
          <a:lstStyle/>
          <a:p>
            <a:endParaRPr lang="en-US"/>
          </a:p>
        </p:txBody>
      </p:sp>
      <p:sp>
        <p:nvSpPr>
          <p:cNvPr id="11" name="Text 9"/>
          <p:cNvSpPr txBox="1"/>
          <p:nvPr/>
        </p:nvSpPr>
        <p:spPr>
          <a:xfrm>
            <a:off x="2615184" y="1417320"/>
            <a:ext cx="914400" cy="548640"/>
          </a:xfrm>
          <a:prstGeom prst="rect">
            <a:avLst/>
          </a:prstGeom>
          <a:noFill/>
          <a:ln/>
        </p:spPr>
        <p:txBody>
          <a:bodyPr wrap="square" lIns="0" tIns="0" rIns="0" bIns="0" rtlCol="0" anchor="ctr"/>
          <a:lstStyle/>
          <a:p>
            <a:pPr marL="0" indent="0" algn="ctr">
              <a:buNone/>
            </a:pPr>
            <a:r>
              <a:rPr lang="en-US" sz="1200" b="1" dirty="0">
                <a:solidFill>
                  <a:srgbClr val="1B1B1B"/>
                </a:solidFill>
              </a:rPr>
              <a:t>main.py</a:t>
            </a:r>
            <a:endParaRPr lang="en-US" sz="1200" dirty="0"/>
          </a:p>
        </p:txBody>
      </p:sp>
      <p:sp>
        <p:nvSpPr>
          <p:cNvPr id="12" name="Shape 10"/>
          <p:cNvSpPr/>
          <p:nvPr/>
        </p:nvSpPr>
        <p:spPr>
          <a:xfrm>
            <a:off x="3547872" y="1691640"/>
            <a:ext cx="128016" cy="0"/>
          </a:xfrm>
          <a:prstGeom prst="line">
            <a:avLst/>
          </a:prstGeom>
          <a:noFill/>
          <a:ln w="19050">
            <a:solidFill>
              <a:srgbClr val="6B7280"/>
            </a:solidFill>
            <a:prstDash val="solid"/>
            <a:tailEnd type="triangle"/>
          </a:ln>
        </p:spPr>
        <p:txBody>
          <a:bodyPr/>
          <a:lstStyle/>
          <a:p>
            <a:endParaRPr lang="en-US"/>
          </a:p>
        </p:txBody>
      </p:sp>
      <p:sp>
        <p:nvSpPr>
          <p:cNvPr id="13" name="Shape 11"/>
          <p:cNvSpPr/>
          <p:nvPr/>
        </p:nvSpPr>
        <p:spPr>
          <a:xfrm>
            <a:off x="3694176" y="1417320"/>
            <a:ext cx="914400" cy="548640"/>
          </a:xfrm>
          <a:prstGeom prst="roundRect">
            <a:avLst>
              <a:gd name="adj" fmla="val 13333"/>
            </a:avLst>
          </a:prstGeom>
          <a:solidFill>
            <a:srgbClr val="DDF3E9"/>
          </a:solidFill>
          <a:ln w="15875">
            <a:solidFill>
              <a:srgbClr val="1F8A70"/>
            </a:solidFill>
            <a:prstDash val="solid"/>
          </a:ln>
        </p:spPr>
        <p:txBody>
          <a:bodyPr/>
          <a:lstStyle/>
          <a:p>
            <a:endParaRPr lang="en-US"/>
          </a:p>
        </p:txBody>
      </p:sp>
      <p:sp>
        <p:nvSpPr>
          <p:cNvPr id="14" name="Text 12"/>
          <p:cNvSpPr txBox="1"/>
          <p:nvPr/>
        </p:nvSpPr>
        <p:spPr>
          <a:xfrm>
            <a:off x="3694176" y="1417320"/>
            <a:ext cx="914400" cy="548640"/>
          </a:xfrm>
          <a:prstGeom prst="rect">
            <a:avLst/>
          </a:prstGeom>
          <a:noFill/>
          <a:ln/>
        </p:spPr>
        <p:txBody>
          <a:bodyPr wrap="square" lIns="0" tIns="0" rIns="0" bIns="0" rtlCol="0" anchor="ctr"/>
          <a:lstStyle/>
          <a:p>
            <a:pPr marL="0" indent="0" algn="ctr">
              <a:buNone/>
            </a:pPr>
            <a:r>
              <a:rPr lang="en-US" sz="1200" b="1" dirty="0">
                <a:solidFill>
                  <a:srgbClr val="1B1B1B"/>
                </a:solidFill>
              </a:rPr>
              <a:t>your program</a:t>
            </a:r>
            <a:endParaRPr lang="en-US" sz="1200" dirty="0"/>
          </a:p>
        </p:txBody>
      </p:sp>
      <p:sp>
        <p:nvSpPr>
          <p:cNvPr id="15" name="Text 13"/>
          <p:cNvSpPr txBox="1"/>
          <p:nvPr/>
        </p:nvSpPr>
        <p:spPr>
          <a:xfrm>
            <a:off x="457200" y="2103120"/>
            <a:ext cx="4206240" cy="502920"/>
          </a:xfrm>
          <a:prstGeom prst="rect">
            <a:avLst/>
          </a:prstGeom>
          <a:noFill/>
          <a:ln/>
        </p:spPr>
        <p:txBody>
          <a:bodyPr wrap="square" lIns="0" tIns="0" rIns="0" bIns="0" rtlCol="0" anchor="ctr"/>
          <a:lstStyle/>
          <a:p>
            <a:pPr marL="0" indent="0">
              <a:buNone/>
            </a:pPr>
            <a:r>
              <a:rPr lang="en-US" sz="1400" i="1" dirty="0">
                <a:solidFill>
                  <a:srgbClr val="0B3D2E"/>
                </a:solidFill>
              </a:rPr>
              <a:t>step3_parking_beep.py is not main.py, so it only runs when you press Run.</a:t>
            </a:r>
            <a:endParaRPr lang="en-US" sz="1400" dirty="0"/>
          </a:p>
        </p:txBody>
      </p:sp>
      <p:sp>
        <p:nvSpPr>
          <p:cNvPr id="16" name="Shape 14"/>
          <p:cNvSpPr/>
          <p:nvPr/>
        </p:nvSpPr>
        <p:spPr>
          <a:xfrm>
            <a:off x="457200" y="2715768"/>
            <a:ext cx="329184" cy="329184"/>
          </a:xfrm>
          <a:prstGeom prst="ellipse">
            <a:avLst/>
          </a:prstGeom>
          <a:solidFill>
            <a:srgbClr val="F2A900"/>
          </a:solidFill>
          <a:ln w="12700">
            <a:solidFill>
              <a:srgbClr val="C98C00"/>
            </a:solidFill>
            <a:prstDash val="solid"/>
          </a:ln>
        </p:spPr>
        <p:txBody>
          <a:bodyPr/>
          <a:lstStyle/>
          <a:p>
            <a:endParaRPr lang="en-US"/>
          </a:p>
        </p:txBody>
      </p:sp>
      <p:sp>
        <p:nvSpPr>
          <p:cNvPr id="17" name="Text 15"/>
          <p:cNvSpPr txBox="1"/>
          <p:nvPr/>
        </p:nvSpPr>
        <p:spPr>
          <a:xfrm>
            <a:off x="457200" y="2715768"/>
            <a:ext cx="329184" cy="329184"/>
          </a:xfrm>
          <a:prstGeom prst="rect">
            <a:avLst/>
          </a:prstGeom>
          <a:noFill/>
          <a:ln/>
        </p:spPr>
        <p:txBody>
          <a:bodyPr wrap="square" lIns="0" tIns="0" rIns="0" bIns="0" rtlCol="0" anchor="ctr"/>
          <a:lstStyle/>
          <a:p>
            <a:pPr marL="0" indent="0" algn="ctr">
              <a:buNone/>
            </a:pPr>
            <a:r>
              <a:rPr lang="en-US" sz="1300" b="1" dirty="0">
                <a:solidFill>
                  <a:srgbClr val="0B3D2E"/>
                </a:solidFill>
              </a:rPr>
              <a:t>1</a:t>
            </a:r>
            <a:endParaRPr lang="en-US" sz="1300" dirty="0"/>
          </a:p>
        </p:txBody>
      </p:sp>
      <p:sp>
        <p:nvSpPr>
          <p:cNvPr id="18" name="Text 16"/>
          <p:cNvSpPr txBox="1"/>
          <p:nvPr/>
        </p:nvSpPr>
        <p:spPr>
          <a:xfrm>
            <a:off x="914400" y="2697480"/>
            <a:ext cx="3749040" cy="384048"/>
          </a:xfrm>
          <a:prstGeom prst="rect">
            <a:avLst/>
          </a:prstGeom>
          <a:noFill/>
          <a:ln/>
        </p:spPr>
        <p:txBody>
          <a:bodyPr wrap="square" lIns="0" tIns="0" rIns="0" bIns="0" rtlCol="0" anchor="ctr"/>
          <a:lstStyle/>
          <a:p>
            <a:pPr marL="0" indent="0">
              <a:buNone/>
            </a:pPr>
            <a:r>
              <a:rPr lang="en-US" sz="1500" dirty="0">
                <a:solidFill>
                  <a:srgbClr val="1B1B1B"/>
                </a:solidFill>
              </a:rPr>
              <a:t>Your step3_parking_beep.py is on the ESP32</a:t>
            </a:r>
            <a:endParaRPr lang="en-US" sz="1500" dirty="0"/>
          </a:p>
        </p:txBody>
      </p:sp>
      <p:sp>
        <p:nvSpPr>
          <p:cNvPr id="19" name="Shape 17"/>
          <p:cNvSpPr/>
          <p:nvPr/>
        </p:nvSpPr>
        <p:spPr>
          <a:xfrm>
            <a:off x="457200" y="3172968"/>
            <a:ext cx="329184" cy="329184"/>
          </a:xfrm>
          <a:prstGeom prst="ellipse">
            <a:avLst/>
          </a:prstGeom>
          <a:solidFill>
            <a:srgbClr val="F2A900"/>
          </a:solidFill>
          <a:ln w="12700">
            <a:solidFill>
              <a:srgbClr val="C98C00"/>
            </a:solidFill>
            <a:prstDash val="solid"/>
          </a:ln>
        </p:spPr>
        <p:txBody>
          <a:bodyPr/>
          <a:lstStyle/>
          <a:p>
            <a:endParaRPr lang="en-US"/>
          </a:p>
        </p:txBody>
      </p:sp>
      <p:sp>
        <p:nvSpPr>
          <p:cNvPr id="20" name="Text 18"/>
          <p:cNvSpPr txBox="1"/>
          <p:nvPr/>
        </p:nvSpPr>
        <p:spPr>
          <a:xfrm>
            <a:off x="457200" y="3172968"/>
            <a:ext cx="329184" cy="329184"/>
          </a:xfrm>
          <a:prstGeom prst="rect">
            <a:avLst/>
          </a:prstGeom>
          <a:noFill/>
          <a:ln/>
        </p:spPr>
        <p:txBody>
          <a:bodyPr wrap="square" lIns="0" tIns="0" rIns="0" bIns="0" rtlCol="0" anchor="ctr"/>
          <a:lstStyle/>
          <a:p>
            <a:pPr marL="0" indent="0" algn="ctr">
              <a:buNone/>
            </a:pPr>
            <a:r>
              <a:rPr lang="en-US" sz="1300" b="1" dirty="0">
                <a:solidFill>
                  <a:srgbClr val="0B3D2E"/>
                </a:solidFill>
              </a:rPr>
              <a:t>2</a:t>
            </a:r>
            <a:endParaRPr lang="en-US" sz="1300" dirty="0"/>
          </a:p>
        </p:txBody>
      </p:sp>
      <p:sp>
        <p:nvSpPr>
          <p:cNvPr id="21" name="Text 19"/>
          <p:cNvSpPr txBox="1"/>
          <p:nvPr/>
        </p:nvSpPr>
        <p:spPr>
          <a:xfrm>
            <a:off x="914400" y="3154680"/>
            <a:ext cx="3749040" cy="384048"/>
          </a:xfrm>
          <a:prstGeom prst="rect">
            <a:avLst/>
          </a:prstGeom>
          <a:noFill/>
          <a:ln/>
        </p:spPr>
        <p:txBody>
          <a:bodyPr wrap="square" lIns="0" tIns="0" rIns="0" bIns="0" rtlCol="0" anchor="ctr"/>
          <a:lstStyle/>
          <a:p>
            <a:pPr marL="0" indent="0">
              <a:buNone/>
            </a:pPr>
            <a:r>
              <a:rPr lang="en-US" sz="1500" dirty="0">
                <a:solidFill>
                  <a:srgbClr val="1B1B1B"/>
                </a:solidFill>
              </a:rPr>
              <a:t>Upload 20261016_L4/main.py too</a:t>
            </a:r>
            <a:endParaRPr lang="en-US" sz="1500" dirty="0"/>
          </a:p>
        </p:txBody>
      </p:sp>
      <p:sp>
        <p:nvSpPr>
          <p:cNvPr id="22" name="Shape 20"/>
          <p:cNvSpPr/>
          <p:nvPr/>
        </p:nvSpPr>
        <p:spPr>
          <a:xfrm>
            <a:off x="457200" y="3630168"/>
            <a:ext cx="329184" cy="329184"/>
          </a:xfrm>
          <a:prstGeom prst="ellipse">
            <a:avLst/>
          </a:prstGeom>
          <a:solidFill>
            <a:srgbClr val="F2A900"/>
          </a:solidFill>
          <a:ln w="12700">
            <a:solidFill>
              <a:srgbClr val="C98C00"/>
            </a:solidFill>
            <a:prstDash val="solid"/>
          </a:ln>
        </p:spPr>
        <p:txBody>
          <a:bodyPr/>
          <a:lstStyle/>
          <a:p>
            <a:endParaRPr lang="en-US"/>
          </a:p>
        </p:txBody>
      </p:sp>
      <p:sp>
        <p:nvSpPr>
          <p:cNvPr id="23" name="Text 21"/>
          <p:cNvSpPr txBox="1"/>
          <p:nvPr/>
        </p:nvSpPr>
        <p:spPr>
          <a:xfrm>
            <a:off x="457200" y="3630168"/>
            <a:ext cx="329184" cy="329184"/>
          </a:xfrm>
          <a:prstGeom prst="rect">
            <a:avLst/>
          </a:prstGeom>
          <a:noFill/>
          <a:ln/>
        </p:spPr>
        <p:txBody>
          <a:bodyPr wrap="square" lIns="0" tIns="0" rIns="0" bIns="0" rtlCol="0" anchor="ctr"/>
          <a:lstStyle/>
          <a:p>
            <a:pPr marL="0" indent="0" algn="ctr">
              <a:buNone/>
            </a:pPr>
            <a:r>
              <a:rPr lang="en-US" sz="1300" b="1" dirty="0">
                <a:solidFill>
                  <a:srgbClr val="0B3D2E"/>
                </a:solidFill>
              </a:rPr>
              <a:t>3</a:t>
            </a:r>
            <a:endParaRPr lang="en-US" sz="1300" dirty="0"/>
          </a:p>
        </p:txBody>
      </p:sp>
      <p:sp>
        <p:nvSpPr>
          <p:cNvPr id="24" name="Text 22"/>
          <p:cNvSpPr txBox="1"/>
          <p:nvPr/>
        </p:nvSpPr>
        <p:spPr>
          <a:xfrm>
            <a:off x="914400" y="3611880"/>
            <a:ext cx="3749040" cy="384048"/>
          </a:xfrm>
          <a:prstGeom prst="rect">
            <a:avLst/>
          </a:prstGeom>
          <a:noFill/>
          <a:ln/>
        </p:spPr>
        <p:txBody>
          <a:bodyPr wrap="square" lIns="0" tIns="0" rIns="0" bIns="0" rtlCol="0" anchor="ctr"/>
          <a:lstStyle/>
          <a:p>
            <a:pPr marL="0" indent="0">
              <a:buNone/>
            </a:pPr>
            <a:r>
              <a:rPr lang="en-US" sz="1500" dirty="0">
                <a:solidFill>
                  <a:srgbClr val="1B1B1B"/>
                </a:solidFill>
              </a:rPr>
              <a:t>Unplug, plug in again: it starts by itself</a:t>
            </a:r>
            <a:endParaRPr lang="en-US" sz="1500" dirty="0"/>
          </a:p>
        </p:txBody>
      </p:sp>
      <p:sp>
        <p:nvSpPr>
          <p:cNvPr id="25" name="Shape 23"/>
          <p:cNvSpPr/>
          <p:nvPr/>
        </p:nvSpPr>
        <p:spPr>
          <a:xfrm>
            <a:off x="4937760" y="1051560"/>
            <a:ext cx="3749040" cy="1051560"/>
          </a:xfrm>
          <a:prstGeom prst="roundRect">
            <a:avLst>
              <a:gd name="adj" fmla="val 6957"/>
            </a:avLst>
          </a:prstGeom>
          <a:solidFill>
            <a:srgbClr val="14261F"/>
          </a:solidFill>
          <a:ln w="12700">
            <a:solidFill>
              <a:srgbClr val="14261F"/>
            </a:solidFill>
            <a:prstDash val="solid"/>
          </a:ln>
        </p:spPr>
        <p:txBody>
          <a:bodyPr/>
          <a:lstStyle/>
          <a:p>
            <a:endParaRPr lang="en-US"/>
          </a:p>
        </p:txBody>
      </p:sp>
      <p:sp>
        <p:nvSpPr>
          <p:cNvPr id="26" name="Text 24"/>
          <p:cNvSpPr txBox="1"/>
          <p:nvPr/>
        </p:nvSpPr>
        <p:spPr>
          <a:xfrm>
            <a:off x="5074920" y="1115568"/>
            <a:ext cx="3474720" cy="219456"/>
          </a:xfrm>
          <a:prstGeom prst="rect">
            <a:avLst/>
          </a:prstGeom>
          <a:noFill/>
          <a:ln/>
        </p:spPr>
        <p:txBody>
          <a:bodyPr wrap="square" lIns="0" tIns="0" rIns="0" bIns="0" rtlCol="0" anchor="ctr"/>
          <a:lstStyle/>
          <a:p>
            <a:pPr marL="0" indent="0">
              <a:buNone/>
            </a:pPr>
            <a:r>
              <a:rPr lang="en-US" sz="1100" b="1" dirty="0">
                <a:solidFill>
                  <a:srgbClr val="F2A900"/>
                </a:solidFill>
              </a:rPr>
              <a:t>main.py</a:t>
            </a:r>
            <a:r>
              <a:rPr lang="en-US" sz="1100" dirty="0">
                <a:solidFill>
                  <a:srgbClr val="9FB8AD"/>
                </a:solidFill>
              </a:rPr>
              <a:t>  ·  line 10</a:t>
            </a:r>
            <a:endParaRPr lang="en-US" sz="1100" dirty="0"/>
          </a:p>
        </p:txBody>
      </p:sp>
      <p:sp>
        <p:nvSpPr>
          <p:cNvPr id="27" name="Shape 25"/>
          <p:cNvSpPr/>
          <p:nvPr/>
        </p:nvSpPr>
        <p:spPr>
          <a:xfrm>
            <a:off x="5047488" y="1371600"/>
            <a:ext cx="3529584" cy="0"/>
          </a:xfrm>
          <a:prstGeom prst="line">
            <a:avLst/>
          </a:prstGeom>
          <a:noFill/>
          <a:ln w="12700">
            <a:solidFill>
              <a:srgbClr val="2F4A3F"/>
            </a:solidFill>
            <a:prstDash val="solid"/>
          </a:ln>
        </p:spPr>
        <p:txBody>
          <a:bodyPr/>
          <a:lstStyle/>
          <a:p>
            <a:endParaRPr lang="en-US"/>
          </a:p>
        </p:txBody>
      </p:sp>
      <p:sp>
        <p:nvSpPr>
          <p:cNvPr id="28" name="Text 26"/>
          <p:cNvSpPr txBox="1"/>
          <p:nvPr/>
        </p:nvSpPr>
        <p:spPr>
          <a:xfrm>
            <a:off x="5029200" y="1435608"/>
            <a:ext cx="3566160" cy="594360"/>
          </a:xfrm>
          <a:prstGeom prst="rect">
            <a:avLst/>
          </a:prstGeom>
          <a:noFill/>
          <a:ln/>
        </p:spPr>
        <p:txBody>
          <a:bodyPr wrap="square" lIns="0" tIns="0" rIns="0" bIns="0" rtlCol="0" anchor="t"/>
          <a:lstStyle/>
          <a:p>
            <a:pPr marL="0" indent="0">
              <a:buNone/>
            </a:pPr>
            <a:r>
              <a:rPr lang="en-US" sz="1400" dirty="0">
                <a:solidFill>
                  <a:srgbClr val="6F8A7F"/>
                </a:solidFill>
                <a:latin typeface="Courier New" pitchFamily="34" charset="0"/>
                <a:ea typeface="Courier New" pitchFamily="34" charset="-122"/>
                <a:cs typeface="Courier New" pitchFamily="34" charset="-120"/>
              </a:rPr>
              <a:t> 10  </a:t>
            </a:r>
            <a:r>
              <a:rPr lang="en-US" sz="1400" dirty="0">
                <a:solidFill>
                  <a:srgbClr val="E6F2EC"/>
                </a:solidFill>
                <a:latin typeface="Courier New" pitchFamily="34" charset="0"/>
                <a:ea typeface="Courier New" pitchFamily="34" charset="-122"/>
                <a:cs typeface="Courier New" pitchFamily="34" charset="-120"/>
              </a:rPr>
              <a:t>import step3_parking_beep</a:t>
            </a:r>
            <a:endParaRPr lang="en-US" sz="1400" dirty="0"/>
          </a:p>
        </p:txBody>
      </p:sp>
      <p:sp>
        <p:nvSpPr>
          <p:cNvPr id="29" name="Text 27"/>
          <p:cNvSpPr txBox="1"/>
          <p:nvPr/>
        </p:nvSpPr>
        <p:spPr>
          <a:xfrm>
            <a:off x="4937760" y="2194560"/>
            <a:ext cx="3749040" cy="594360"/>
          </a:xfrm>
          <a:prstGeom prst="rect">
            <a:avLst/>
          </a:prstGeom>
          <a:noFill/>
          <a:ln/>
        </p:spPr>
        <p:txBody>
          <a:bodyPr wrap="square" lIns="0" tIns="0" rIns="0" bIns="0" rtlCol="0" anchor="ctr"/>
          <a:lstStyle/>
          <a:p>
            <a:pPr marL="0" indent="0">
              <a:buNone/>
            </a:pPr>
            <a:r>
              <a:rPr lang="en-US" sz="1300" dirty="0">
                <a:solidFill>
                  <a:srgbClr val="1B1B1B"/>
                </a:solidFill>
              </a:rPr>
              <a:t>main.py starts your program by its name (no .py). To run a different one, change this line.</a:t>
            </a:r>
            <a:endParaRPr lang="en-US" sz="1300" dirty="0"/>
          </a:p>
        </p:txBody>
      </p:sp>
      <p:sp>
        <p:nvSpPr>
          <p:cNvPr id="30" name="Shape 28"/>
          <p:cNvSpPr/>
          <p:nvPr/>
        </p:nvSpPr>
        <p:spPr>
          <a:xfrm>
            <a:off x="4937760" y="2880360"/>
            <a:ext cx="3749040" cy="1234440"/>
          </a:xfrm>
          <a:prstGeom prst="roundRect">
            <a:avLst>
              <a:gd name="adj" fmla="val 5926"/>
            </a:avLst>
          </a:prstGeom>
          <a:solidFill>
            <a:srgbClr val="FFF4D6"/>
          </a:solidFill>
          <a:ln w="12700">
            <a:solidFill>
              <a:srgbClr val="E0A800"/>
            </a:solidFill>
            <a:prstDash val="solid"/>
          </a:ln>
        </p:spPr>
        <p:txBody>
          <a:bodyPr/>
          <a:lstStyle/>
          <a:p>
            <a:endParaRPr lang="en-US"/>
          </a:p>
        </p:txBody>
      </p:sp>
      <p:sp>
        <p:nvSpPr>
          <p:cNvPr id="31" name="Text 29"/>
          <p:cNvSpPr txBox="1"/>
          <p:nvPr/>
        </p:nvSpPr>
        <p:spPr>
          <a:xfrm>
            <a:off x="5074920" y="2926080"/>
            <a:ext cx="3474720" cy="1143000"/>
          </a:xfrm>
          <a:prstGeom prst="rect">
            <a:avLst/>
          </a:prstGeom>
          <a:noFill/>
          <a:ln/>
        </p:spPr>
        <p:txBody>
          <a:bodyPr wrap="square" lIns="0" tIns="0" rIns="0" bIns="0" rtlCol="0" anchor="ctr"/>
          <a:lstStyle/>
          <a:p>
            <a:pPr marL="0" indent="0">
              <a:spcAft>
                <a:spcPts val="600"/>
              </a:spcAft>
              <a:buNone/>
            </a:pPr>
            <a:r>
              <a:rPr lang="en-US" sz="1300" b="1" dirty="0">
                <a:solidFill>
                  <a:srgbClr val="9A6B00"/>
                </a:solidFill>
              </a:rPr>
              <a:t>Thonny cannot connect? </a:t>
            </a:r>
            <a:r>
              <a:rPr lang="en-US" sz="1300" dirty="0">
                <a:solidFill>
                  <a:srgbClr val="1B1B1B"/>
                </a:solidFill>
              </a:rPr>
              <a:t>Click Stop ■ to interrupt it.</a:t>
            </a:r>
            <a:endParaRPr lang="en-US" sz="1300" dirty="0"/>
          </a:p>
          <a:p>
            <a:pPr marL="0" indent="0">
              <a:spcAft>
                <a:spcPts val="600"/>
              </a:spcAft>
              <a:buNone/>
            </a:pPr>
            <a:r>
              <a:rPr lang="en-US" sz="1300" b="1" dirty="0">
                <a:solidFill>
                  <a:srgbClr val="9A6B00"/>
                </a:solidFill>
              </a:rPr>
              <a:t>Turn it off: </a:t>
            </a:r>
            <a:r>
              <a:rPr lang="en-US" sz="1300" dirty="0">
                <a:solidFill>
                  <a:srgbClr val="1B1B1B"/>
                </a:solidFill>
              </a:rPr>
              <a:t>right-click main.py under MicroPython device &gt; Delete.</a:t>
            </a:r>
            <a:endParaRPr lang="en-US" sz="1300" dirty="0"/>
          </a:p>
        </p:txBody>
      </p:sp>
      <p:sp>
        <p:nvSpPr>
          <p:cNvPr id="32" name="Text 30"/>
          <p:cNvSpPr txBox="1"/>
          <p:nvPr/>
        </p:nvSpPr>
        <p:spPr>
          <a:xfrm>
            <a:off x="457200" y="4206240"/>
            <a:ext cx="8229600" cy="320040"/>
          </a:xfrm>
          <a:prstGeom prst="rect">
            <a:avLst/>
          </a:prstGeom>
          <a:noFill/>
          <a:ln/>
        </p:spPr>
        <p:txBody>
          <a:bodyPr wrap="square" lIns="0" tIns="0" rIns="0" bIns="0" rtlCol="0" anchor="ctr"/>
          <a:lstStyle/>
          <a:p>
            <a:pPr marL="0" indent="0">
              <a:buNone/>
            </a:pPr>
            <a:r>
              <a:rPr lang="en-US" sz="1400" b="1" dirty="0">
                <a:solidFill>
                  <a:srgbClr val="1F8A70"/>
                </a:solidFill>
              </a:rPr>
              <a:t>Now it works on a USB power bank, away from the computer.</a:t>
            </a:r>
            <a:endParaRPr lang="en-US" sz="1400" dirty="0"/>
          </a:p>
        </p:txBody>
      </p:sp>
      <p:sp>
        <p:nvSpPr>
          <p:cNvPr id="33"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949440" cy="640080"/>
          </a:xfrm>
          <a:prstGeom prst="rect">
            <a:avLst/>
          </a:prstGeom>
          <a:noFill/>
          <a:ln/>
        </p:spPr>
        <p:txBody>
          <a:bodyPr wrap="square" lIns="0" tIns="0" rIns="0" bIns="0" rtlCol="0" anchor="ctr"/>
          <a:lstStyle/>
          <a:p>
            <a:pPr marL="0" indent="0" algn="l">
              <a:buNone/>
            </a:pPr>
            <a:r>
              <a:rPr lang="en-US" sz="3000" b="1" dirty="0">
                <a:solidFill>
                  <a:schemeClr val="tx2"/>
                </a:solidFill>
              </a:rPr>
              <a:t>Light, sound, or both?</a:t>
            </a:r>
            <a:endParaRPr lang="en-US" sz="3000" dirty="0"/>
          </a:p>
        </p:txBody>
      </p:sp>
      <p:sp>
        <p:nvSpPr>
          <p:cNvPr id="3" name="Shape 1"/>
          <p:cNvSpPr/>
          <p:nvPr/>
        </p:nvSpPr>
        <p:spPr>
          <a:xfrm>
            <a:off x="457200" y="1097280"/>
            <a:ext cx="1920240" cy="2468880"/>
          </a:xfrm>
          <a:prstGeom prst="roundRect">
            <a:avLst>
              <a:gd name="adj" fmla="val 4762"/>
            </a:avLst>
          </a:prstGeom>
          <a:solidFill>
            <a:srgbClr val="EEF5F1"/>
          </a:solidFill>
          <a:ln w="12700">
            <a:solidFill>
              <a:srgbClr val="D3E4DB"/>
            </a:solidFill>
            <a:prstDash val="solid"/>
          </a:ln>
        </p:spPr>
        <p:txBody>
          <a:bodyPr/>
          <a:lstStyle/>
          <a:p>
            <a:endParaRPr lang="en-US"/>
          </a:p>
        </p:txBody>
      </p:sp>
      <p:sp>
        <p:nvSpPr>
          <p:cNvPr id="4" name="Shape 2"/>
          <p:cNvSpPr/>
          <p:nvPr/>
        </p:nvSpPr>
        <p:spPr>
          <a:xfrm>
            <a:off x="640080" y="1280160"/>
            <a:ext cx="640080" cy="640080"/>
          </a:xfrm>
          <a:prstGeom prst="ellipse">
            <a:avLst/>
          </a:prstGeom>
          <a:solidFill>
            <a:srgbClr val="F2A900"/>
          </a:solidFill>
          <a:ln w="12700">
            <a:solidFill>
              <a:srgbClr val="C98C00"/>
            </a:solidFill>
            <a:prstDash val="solid"/>
          </a:ln>
        </p:spPr>
        <p:txBody>
          <a:bodyPr/>
          <a:lstStyle/>
          <a:p>
            <a:endParaRPr lang="en-US"/>
          </a:p>
        </p:txBody>
      </p:sp>
      <p:sp>
        <p:nvSpPr>
          <p:cNvPr id="5" name="Text 3"/>
          <p:cNvSpPr txBox="1"/>
          <p:nvPr/>
        </p:nvSpPr>
        <p:spPr>
          <a:xfrm>
            <a:off x="640080" y="1280160"/>
            <a:ext cx="640080" cy="640080"/>
          </a:xfrm>
          <a:prstGeom prst="rect">
            <a:avLst/>
          </a:prstGeom>
          <a:noFill/>
          <a:ln/>
        </p:spPr>
        <p:txBody>
          <a:bodyPr wrap="square" lIns="0" tIns="0" rIns="0" bIns="0" rtlCol="0" anchor="ctr"/>
          <a:lstStyle/>
          <a:p>
            <a:pPr marL="0" indent="0" algn="ctr">
              <a:buNone/>
            </a:pPr>
            <a:r>
              <a:rPr lang="en-US" sz="1600" b="1" dirty="0">
                <a:solidFill>
                  <a:srgbClr val="0B3D2E"/>
                </a:solidFill>
              </a:rPr>
              <a:t>))</a:t>
            </a:r>
            <a:endParaRPr lang="en-US" sz="1600" dirty="0"/>
          </a:p>
        </p:txBody>
      </p:sp>
      <p:sp>
        <p:nvSpPr>
          <p:cNvPr id="6" name="Text 4"/>
          <p:cNvSpPr txBox="1"/>
          <p:nvPr/>
        </p:nvSpPr>
        <p:spPr>
          <a:xfrm>
            <a:off x="640080" y="2057400"/>
            <a:ext cx="1645920" cy="365760"/>
          </a:xfrm>
          <a:prstGeom prst="rect">
            <a:avLst/>
          </a:prstGeom>
          <a:noFill/>
          <a:ln/>
        </p:spPr>
        <p:txBody>
          <a:bodyPr wrap="square" lIns="0" tIns="0" rIns="0" bIns="0" rtlCol="0" anchor="ctr"/>
          <a:lstStyle/>
          <a:p>
            <a:pPr marL="0" indent="0">
              <a:buNone/>
            </a:pPr>
            <a:r>
              <a:rPr lang="en-US" sz="1600" b="1" dirty="0">
                <a:solidFill>
                  <a:srgbClr val="0B3D2E"/>
                </a:solidFill>
              </a:rPr>
              <a:t>Low vision</a:t>
            </a:r>
            <a:endParaRPr lang="en-US" sz="1600" dirty="0"/>
          </a:p>
        </p:txBody>
      </p:sp>
      <p:sp>
        <p:nvSpPr>
          <p:cNvPr id="7" name="Text 5"/>
          <p:cNvSpPr txBox="1"/>
          <p:nvPr/>
        </p:nvSpPr>
        <p:spPr>
          <a:xfrm>
            <a:off x="640080" y="2468880"/>
            <a:ext cx="1600200" cy="1005840"/>
          </a:xfrm>
          <a:prstGeom prst="rect">
            <a:avLst/>
          </a:prstGeom>
          <a:noFill/>
          <a:ln/>
        </p:spPr>
        <p:txBody>
          <a:bodyPr wrap="square" lIns="0" tIns="0" rIns="0" bIns="0" rtlCol="0" anchor="t"/>
          <a:lstStyle/>
          <a:p>
            <a:pPr marL="0" indent="0">
              <a:buNone/>
            </a:pPr>
            <a:r>
              <a:rPr lang="en-US" sz="1400" dirty="0">
                <a:solidFill>
                  <a:srgbClr val="1B1B1B"/>
                </a:solidFill>
              </a:rPr>
              <a:t>Cannot see the LEDs. Needs sound.</a:t>
            </a:r>
            <a:endParaRPr lang="en-US" sz="1400" dirty="0"/>
          </a:p>
        </p:txBody>
      </p:sp>
      <p:sp>
        <p:nvSpPr>
          <p:cNvPr id="8" name="Shape 6"/>
          <p:cNvSpPr/>
          <p:nvPr/>
        </p:nvSpPr>
        <p:spPr>
          <a:xfrm>
            <a:off x="2560320" y="1097280"/>
            <a:ext cx="1920240" cy="2468880"/>
          </a:xfrm>
          <a:prstGeom prst="roundRect">
            <a:avLst>
              <a:gd name="adj" fmla="val 4762"/>
            </a:avLst>
          </a:prstGeom>
          <a:solidFill>
            <a:srgbClr val="EEF5F1"/>
          </a:solidFill>
          <a:ln w="12700">
            <a:solidFill>
              <a:srgbClr val="D3E4DB"/>
            </a:solidFill>
            <a:prstDash val="solid"/>
          </a:ln>
        </p:spPr>
        <p:txBody>
          <a:bodyPr/>
          <a:lstStyle/>
          <a:p>
            <a:endParaRPr lang="en-US"/>
          </a:p>
        </p:txBody>
      </p:sp>
      <p:sp>
        <p:nvSpPr>
          <p:cNvPr id="9" name="Shape 7"/>
          <p:cNvSpPr/>
          <p:nvPr/>
        </p:nvSpPr>
        <p:spPr>
          <a:xfrm>
            <a:off x="2743200" y="1280160"/>
            <a:ext cx="640080" cy="640080"/>
          </a:xfrm>
          <a:prstGeom prst="ellipse">
            <a:avLst/>
          </a:prstGeom>
          <a:solidFill>
            <a:srgbClr val="F2A900"/>
          </a:solidFill>
          <a:ln w="12700">
            <a:solidFill>
              <a:srgbClr val="C98C00"/>
            </a:solidFill>
            <a:prstDash val="solid"/>
          </a:ln>
        </p:spPr>
        <p:txBody>
          <a:bodyPr/>
          <a:lstStyle/>
          <a:p>
            <a:endParaRPr lang="en-US"/>
          </a:p>
        </p:txBody>
      </p:sp>
      <p:sp>
        <p:nvSpPr>
          <p:cNvPr id="10" name="Text 8"/>
          <p:cNvSpPr txBox="1"/>
          <p:nvPr/>
        </p:nvSpPr>
        <p:spPr>
          <a:xfrm>
            <a:off x="2743200" y="1280160"/>
            <a:ext cx="640080" cy="640080"/>
          </a:xfrm>
          <a:prstGeom prst="rect">
            <a:avLst/>
          </a:prstGeom>
          <a:noFill/>
          <a:ln/>
        </p:spPr>
        <p:txBody>
          <a:bodyPr wrap="square" lIns="0" tIns="0" rIns="0" bIns="0" rtlCol="0" anchor="ctr"/>
          <a:lstStyle/>
          <a:p>
            <a:pPr marL="0" indent="0" algn="ctr">
              <a:buNone/>
            </a:pPr>
            <a:r>
              <a:rPr lang="en-US" sz="1600" b="1" dirty="0">
                <a:solidFill>
                  <a:srgbClr val="0B3D2E"/>
                </a:solidFill>
              </a:rPr>
              <a:t>●</a:t>
            </a:r>
            <a:endParaRPr lang="en-US" sz="1600" dirty="0"/>
          </a:p>
        </p:txBody>
      </p:sp>
      <p:sp>
        <p:nvSpPr>
          <p:cNvPr id="11" name="Text 9"/>
          <p:cNvSpPr txBox="1"/>
          <p:nvPr/>
        </p:nvSpPr>
        <p:spPr>
          <a:xfrm>
            <a:off x="2743200" y="2057400"/>
            <a:ext cx="1645920" cy="365760"/>
          </a:xfrm>
          <a:prstGeom prst="rect">
            <a:avLst/>
          </a:prstGeom>
          <a:noFill/>
          <a:ln/>
        </p:spPr>
        <p:txBody>
          <a:bodyPr wrap="square" lIns="0" tIns="0" rIns="0" bIns="0" rtlCol="0" anchor="ctr"/>
          <a:lstStyle/>
          <a:p>
            <a:pPr marL="0" indent="0">
              <a:buNone/>
            </a:pPr>
            <a:r>
              <a:rPr lang="en-US" sz="1600" b="1" dirty="0">
                <a:solidFill>
                  <a:srgbClr val="0B3D2E"/>
                </a:solidFill>
              </a:rPr>
              <a:t>Hard of hearing</a:t>
            </a:r>
            <a:endParaRPr lang="en-US" sz="1600" dirty="0"/>
          </a:p>
        </p:txBody>
      </p:sp>
      <p:sp>
        <p:nvSpPr>
          <p:cNvPr id="12" name="Text 10"/>
          <p:cNvSpPr txBox="1"/>
          <p:nvPr/>
        </p:nvSpPr>
        <p:spPr>
          <a:xfrm>
            <a:off x="2743200" y="2468880"/>
            <a:ext cx="1600200" cy="1005840"/>
          </a:xfrm>
          <a:prstGeom prst="rect">
            <a:avLst/>
          </a:prstGeom>
          <a:noFill/>
          <a:ln/>
        </p:spPr>
        <p:txBody>
          <a:bodyPr wrap="square" lIns="0" tIns="0" rIns="0" bIns="0" rtlCol="0" anchor="t"/>
          <a:lstStyle/>
          <a:p>
            <a:pPr marL="0" indent="0">
              <a:buNone/>
            </a:pPr>
            <a:r>
              <a:rPr lang="en-US" sz="1400" dirty="0">
                <a:solidFill>
                  <a:srgbClr val="1B1B1B"/>
                </a:solidFill>
              </a:rPr>
              <a:t>Cannot hear the beep. Needs light.</a:t>
            </a:r>
            <a:endParaRPr lang="en-US" sz="1400" dirty="0"/>
          </a:p>
        </p:txBody>
      </p:sp>
      <p:sp>
        <p:nvSpPr>
          <p:cNvPr id="13" name="Shape 11"/>
          <p:cNvSpPr/>
          <p:nvPr/>
        </p:nvSpPr>
        <p:spPr>
          <a:xfrm>
            <a:off x="4663440" y="1097280"/>
            <a:ext cx="1920240" cy="2468880"/>
          </a:xfrm>
          <a:prstGeom prst="roundRect">
            <a:avLst>
              <a:gd name="adj" fmla="val 4762"/>
            </a:avLst>
          </a:prstGeom>
          <a:solidFill>
            <a:srgbClr val="EEF5F1"/>
          </a:solidFill>
          <a:ln w="12700">
            <a:solidFill>
              <a:srgbClr val="D3E4DB"/>
            </a:solidFill>
            <a:prstDash val="solid"/>
          </a:ln>
        </p:spPr>
        <p:txBody>
          <a:bodyPr/>
          <a:lstStyle/>
          <a:p>
            <a:endParaRPr lang="en-US"/>
          </a:p>
        </p:txBody>
      </p:sp>
      <p:sp>
        <p:nvSpPr>
          <p:cNvPr id="14" name="Shape 12"/>
          <p:cNvSpPr/>
          <p:nvPr/>
        </p:nvSpPr>
        <p:spPr>
          <a:xfrm>
            <a:off x="4846320" y="1280160"/>
            <a:ext cx="640080" cy="640080"/>
          </a:xfrm>
          <a:prstGeom prst="ellipse">
            <a:avLst/>
          </a:prstGeom>
          <a:solidFill>
            <a:srgbClr val="F2A900"/>
          </a:solidFill>
          <a:ln w="12700">
            <a:solidFill>
              <a:srgbClr val="C98C00"/>
            </a:solidFill>
            <a:prstDash val="solid"/>
          </a:ln>
        </p:spPr>
        <p:txBody>
          <a:bodyPr/>
          <a:lstStyle/>
          <a:p>
            <a:endParaRPr lang="en-US"/>
          </a:p>
        </p:txBody>
      </p:sp>
      <p:sp>
        <p:nvSpPr>
          <p:cNvPr id="15" name="Text 13"/>
          <p:cNvSpPr txBox="1"/>
          <p:nvPr/>
        </p:nvSpPr>
        <p:spPr>
          <a:xfrm>
            <a:off x="4846320" y="1280160"/>
            <a:ext cx="640080" cy="640080"/>
          </a:xfrm>
          <a:prstGeom prst="rect">
            <a:avLst/>
          </a:prstGeom>
          <a:noFill/>
          <a:ln/>
        </p:spPr>
        <p:txBody>
          <a:bodyPr wrap="square" lIns="0" tIns="0" rIns="0" bIns="0" rtlCol="0" anchor="ctr"/>
          <a:lstStyle/>
          <a:p>
            <a:pPr marL="0" indent="0" algn="ctr">
              <a:buNone/>
            </a:pPr>
            <a:r>
              <a:rPr lang="en-US" sz="1600" b="1" dirty="0">
                <a:solidFill>
                  <a:srgbClr val="0B3D2E"/>
                </a:solidFill>
              </a:rPr>
              <a:t>●</a:t>
            </a:r>
            <a:endParaRPr lang="en-US" sz="1600" dirty="0"/>
          </a:p>
        </p:txBody>
      </p:sp>
      <p:sp>
        <p:nvSpPr>
          <p:cNvPr id="16" name="Text 14"/>
          <p:cNvSpPr txBox="1"/>
          <p:nvPr/>
        </p:nvSpPr>
        <p:spPr>
          <a:xfrm>
            <a:off x="4846320" y="2057400"/>
            <a:ext cx="1645920" cy="365760"/>
          </a:xfrm>
          <a:prstGeom prst="rect">
            <a:avLst/>
          </a:prstGeom>
          <a:noFill/>
          <a:ln/>
        </p:spPr>
        <p:txBody>
          <a:bodyPr wrap="square" lIns="0" tIns="0" rIns="0" bIns="0" rtlCol="0" anchor="ctr"/>
          <a:lstStyle/>
          <a:p>
            <a:pPr marL="0" indent="0">
              <a:buNone/>
            </a:pPr>
            <a:r>
              <a:rPr lang="en-US" sz="1600" b="1" dirty="0">
                <a:solidFill>
                  <a:srgbClr val="0B3D2E"/>
                </a:solidFill>
              </a:rPr>
              <a:t>Noisy place</a:t>
            </a:r>
            <a:endParaRPr lang="en-US" sz="1600" dirty="0"/>
          </a:p>
        </p:txBody>
      </p:sp>
      <p:sp>
        <p:nvSpPr>
          <p:cNvPr id="17" name="Text 15"/>
          <p:cNvSpPr txBox="1"/>
          <p:nvPr/>
        </p:nvSpPr>
        <p:spPr>
          <a:xfrm>
            <a:off x="4846320" y="2468880"/>
            <a:ext cx="1600200" cy="1005840"/>
          </a:xfrm>
          <a:prstGeom prst="rect">
            <a:avLst/>
          </a:prstGeom>
          <a:noFill/>
          <a:ln/>
        </p:spPr>
        <p:txBody>
          <a:bodyPr wrap="square" lIns="0" tIns="0" rIns="0" bIns="0" rtlCol="0" anchor="t"/>
          <a:lstStyle/>
          <a:p>
            <a:pPr marL="0" indent="0">
              <a:buNone/>
            </a:pPr>
            <a:r>
              <a:rPr lang="en-US" sz="1400" dirty="0">
                <a:solidFill>
                  <a:srgbClr val="1B1B1B"/>
                </a:solidFill>
              </a:rPr>
              <a:t>A busy road or kitchen. Light works better.</a:t>
            </a:r>
            <a:endParaRPr lang="en-US" sz="1400" dirty="0"/>
          </a:p>
        </p:txBody>
      </p:sp>
      <p:sp>
        <p:nvSpPr>
          <p:cNvPr id="18" name="Shape 16"/>
          <p:cNvSpPr/>
          <p:nvPr/>
        </p:nvSpPr>
        <p:spPr>
          <a:xfrm>
            <a:off x="6766560" y="1097280"/>
            <a:ext cx="1920240" cy="2468880"/>
          </a:xfrm>
          <a:prstGeom prst="roundRect">
            <a:avLst>
              <a:gd name="adj" fmla="val 4762"/>
            </a:avLst>
          </a:prstGeom>
          <a:solidFill>
            <a:srgbClr val="0B3D2E"/>
          </a:solidFill>
          <a:ln w="12700">
            <a:solidFill>
              <a:srgbClr val="0B3D2E"/>
            </a:solidFill>
            <a:prstDash val="solid"/>
          </a:ln>
        </p:spPr>
        <p:txBody>
          <a:bodyPr/>
          <a:lstStyle/>
          <a:p>
            <a:endParaRPr lang="en-US"/>
          </a:p>
        </p:txBody>
      </p:sp>
      <p:sp>
        <p:nvSpPr>
          <p:cNvPr id="19" name="Shape 17"/>
          <p:cNvSpPr/>
          <p:nvPr/>
        </p:nvSpPr>
        <p:spPr>
          <a:xfrm>
            <a:off x="6949440" y="1280160"/>
            <a:ext cx="640080" cy="640080"/>
          </a:xfrm>
          <a:prstGeom prst="ellipse">
            <a:avLst/>
          </a:prstGeom>
          <a:solidFill>
            <a:srgbClr val="F2A900"/>
          </a:solidFill>
          <a:ln w="12700">
            <a:solidFill>
              <a:srgbClr val="C98C00"/>
            </a:solidFill>
            <a:prstDash val="solid"/>
          </a:ln>
        </p:spPr>
        <p:txBody>
          <a:bodyPr/>
          <a:lstStyle/>
          <a:p>
            <a:endParaRPr lang="en-US"/>
          </a:p>
        </p:txBody>
      </p:sp>
      <p:sp>
        <p:nvSpPr>
          <p:cNvPr id="20" name="Text 18"/>
          <p:cNvSpPr txBox="1"/>
          <p:nvPr/>
        </p:nvSpPr>
        <p:spPr>
          <a:xfrm>
            <a:off x="6949440" y="1280160"/>
            <a:ext cx="640080" cy="640080"/>
          </a:xfrm>
          <a:prstGeom prst="rect">
            <a:avLst/>
          </a:prstGeom>
          <a:noFill/>
          <a:ln/>
        </p:spPr>
        <p:txBody>
          <a:bodyPr wrap="square" lIns="0" tIns="0" rIns="0" bIns="0" rtlCol="0" anchor="ctr"/>
          <a:lstStyle/>
          <a:p>
            <a:pPr marL="0" indent="0" algn="ctr">
              <a:buNone/>
            </a:pPr>
            <a:r>
              <a:rPr lang="en-US" sz="1600" b="1" dirty="0">
                <a:solidFill>
                  <a:srgbClr val="0B3D2E"/>
                </a:solidFill>
              </a:rPr>
              <a:t>●))</a:t>
            </a:r>
            <a:endParaRPr lang="en-US" sz="1600" dirty="0"/>
          </a:p>
        </p:txBody>
      </p:sp>
      <p:sp>
        <p:nvSpPr>
          <p:cNvPr id="21" name="Text 19"/>
          <p:cNvSpPr txBox="1"/>
          <p:nvPr/>
        </p:nvSpPr>
        <p:spPr>
          <a:xfrm>
            <a:off x="6949440" y="2057400"/>
            <a:ext cx="1645920" cy="365760"/>
          </a:xfrm>
          <a:prstGeom prst="rect">
            <a:avLst/>
          </a:prstGeom>
          <a:noFill/>
          <a:ln/>
        </p:spPr>
        <p:txBody>
          <a:bodyPr wrap="square" lIns="0" tIns="0" rIns="0" bIns="0" rtlCol="0" anchor="ctr"/>
          <a:lstStyle/>
          <a:p>
            <a:pPr marL="0" indent="0">
              <a:buNone/>
            </a:pPr>
            <a:r>
              <a:rPr lang="en-US" sz="1600" b="1" dirty="0">
                <a:solidFill>
                  <a:srgbClr val="FFFFFF"/>
                </a:solidFill>
              </a:rPr>
              <a:t>Everyone</a:t>
            </a:r>
            <a:endParaRPr lang="en-US" sz="1600" dirty="0"/>
          </a:p>
        </p:txBody>
      </p:sp>
      <p:sp>
        <p:nvSpPr>
          <p:cNvPr id="22" name="Text 20"/>
          <p:cNvSpPr txBox="1"/>
          <p:nvPr/>
        </p:nvSpPr>
        <p:spPr>
          <a:xfrm>
            <a:off x="6949440" y="2468880"/>
            <a:ext cx="1600200" cy="1005840"/>
          </a:xfrm>
          <a:prstGeom prst="rect">
            <a:avLst/>
          </a:prstGeom>
          <a:noFill/>
          <a:ln/>
        </p:spPr>
        <p:txBody>
          <a:bodyPr wrap="square" lIns="0" tIns="0" rIns="0" bIns="0" rtlCol="0" anchor="t"/>
          <a:lstStyle/>
          <a:p>
            <a:pPr marL="0" indent="0">
              <a:buNone/>
            </a:pPr>
            <a:r>
              <a:rPr lang="en-US" sz="1400" dirty="0">
                <a:solidFill>
                  <a:srgbClr val="D7EBE2"/>
                </a:solidFill>
              </a:rPr>
              <a:t>Give both. Then more people can use it.</a:t>
            </a:r>
            <a:endParaRPr lang="en-US" sz="1400" dirty="0"/>
          </a:p>
        </p:txBody>
      </p:sp>
      <p:sp>
        <p:nvSpPr>
          <p:cNvPr id="23" name="Text 21"/>
          <p:cNvSpPr txBox="1"/>
          <p:nvPr/>
        </p:nvSpPr>
        <p:spPr>
          <a:xfrm>
            <a:off x="457200" y="3794760"/>
            <a:ext cx="8229600" cy="548640"/>
          </a:xfrm>
          <a:prstGeom prst="rect">
            <a:avLst/>
          </a:prstGeom>
          <a:noFill/>
          <a:ln/>
        </p:spPr>
        <p:txBody>
          <a:bodyPr wrap="square" lIns="0" tIns="0" rIns="0" bIns="0" rtlCol="0" anchor="ctr"/>
          <a:lstStyle/>
          <a:p>
            <a:pPr marL="0" indent="0">
              <a:buNone/>
            </a:pPr>
            <a:r>
              <a:rPr lang="en-US" sz="1600" b="1" dirty="0">
                <a:solidFill>
                  <a:srgbClr val="0B3D2E"/>
                </a:solidFill>
              </a:rPr>
              <a:t>Who in our community could use your distance meter? Light, sound, or both?</a:t>
            </a:r>
            <a:endParaRPr lang="en-US" sz="16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949440" cy="640080"/>
          </a:xfrm>
          <a:prstGeom prst="rect">
            <a:avLst/>
          </a:prstGeom>
          <a:noFill/>
          <a:ln/>
        </p:spPr>
        <p:txBody>
          <a:bodyPr wrap="square" lIns="0" tIns="0" rIns="0" bIns="0" rtlCol="0" anchor="ctr"/>
          <a:lstStyle/>
          <a:p>
            <a:pPr marL="0" indent="0" algn="l">
              <a:buNone/>
            </a:pPr>
            <a:r>
              <a:rPr lang="en-US" sz="3000" b="1" dirty="0">
                <a:solidFill>
                  <a:schemeClr val="tx2"/>
                </a:solidFill>
              </a:rPr>
              <a:t>What did you reach today?</a:t>
            </a:r>
            <a:endParaRPr lang="en-US" sz="3000" dirty="0"/>
          </a:p>
        </p:txBody>
      </p:sp>
      <p:sp>
        <p:nvSpPr>
          <p:cNvPr id="3" name="Shape 1"/>
          <p:cNvSpPr/>
          <p:nvPr/>
        </p:nvSpPr>
        <p:spPr>
          <a:xfrm>
            <a:off x="777240" y="1371600"/>
            <a:ext cx="594360" cy="594360"/>
          </a:xfrm>
          <a:prstGeom prst="ellipse">
            <a:avLst/>
          </a:prstGeom>
          <a:solidFill>
            <a:srgbClr val="E0A800"/>
          </a:solidFill>
          <a:ln w="12700">
            <a:solidFill>
              <a:srgbClr val="C98C00"/>
            </a:solidFill>
            <a:prstDash val="solid"/>
          </a:ln>
        </p:spPr>
        <p:txBody>
          <a:bodyPr/>
          <a:lstStyle/>
          <a:p>
            <a:endParaRPr lang="en-US"/>
          </a:p>
        </p:txBody>
      </p:sp>
      <p:sp>
        <p:nvSpPr>
          <p:cNvPr id="4" name="Text 2"/>
          <p:cNvSpPr txBox="1"/>
          <p:nvPr/>
        </p:nvSpPr>
        <p:spPr>
          <a:xfrm>
            <a:off x="777240" y="1371600"/>
            <a:ext cx="594360" cy="594360"/>
          </a:xfrm>
          <a:prstGeom prst="rect">
            <a:avLst/>
          </a:prstGeom>
          <a:noFill/>
          <a:ln/>
        </p:spPr>
        <p:txBody>
          <a:bodyPr wrap="square" lIns="0" tIns="0" rIns="0" bIns="0" rtlCol="0" anchor="ctr"/>
          <a:lstStyle/>
          <a:p>
            <a:pPr marL="0" indent="0" algn="ctr">
              <a:buNone/>
            </a:pPr>
            <a:r>
              <a:rPr lang="en-US" sz="1800" b="1" dirty="0">
                <a:solidFill>
                  <a:srgbClr val="0B3D2E"/>
                </a:solidFill>
              </a:rPr>
              <a:t>A</a:t>
            </a:r>
            <a:endParaRPr lang="en-US" sz="1800" dirty="0"/>
          </a:p>
        </p:txBody>
      </p:sp>
      <p:sp>
        <p:nvSpPr>
          <p:cNvPr id="5" name="Shape 3"/>
          <p:cNvSpPr/>
          <p:nvPr/>
        </p:nvSpPr>
        <p:spPr>
          <a:xfrm>
            <a:off x="1417320" y="1664208"/>
            <a:ext cx="704088" cy="0"/>
          </a:xfrm>
          <a:prstGeom prst="line">
            <a:avLst/>
          </a:prstGeom>
          <a:noFill/>
          <a:ln w="25400">
            <a:solidFill>
              <a:srgbClr val="C98C00"/>
            </a:solidFill>
            <a:prstDash val="solid"/>
          </a:ln>
        </p:spPr>
        <p:txBody>
          <a:bodyPr/>
          <a:lstStyle/>
          <a:p>
            <a:endParaRPr lang="en-US"/>
          </a:p>
        </p:txBody>
      </p:sp>
      <p:sp>
        <p:nvSpPr>
          <p:cNvPr id="6" name="Text 4"/>
          <p:cNvSpPr txBox="1"/>
          <p:nvPr/>
        </p:nvSpPr>
        <p:spPr>
          <a:xfrm>
            <a:off x="457200" y="2103120"/>
            <a:ext cx="1234440" cy="502920"/>
          </a:xfrm>
          <a:prstGeom prst="rect">
            <a:avLst/>
          </a:prstGeom>
          <a:noFill/>
          <a:ln/>
        </p:spPr>
        <p:txBody>
          <a:bodyPr wrap="square" lIns="0" tIns="0" rIns="0" bIns="0" rtlCol="0" anchor="ctr"/>
          <a:lstStyle/>
          <a:p>
            <a:pPr marL="0" indent="0" algn="ctr">
              <a:buNone/>
            </a:pPr>
            <a:r>
              <a:rPr lang="en-US" sz="1300" b="1" dirty="0">
                <a:solidFill>
                  <a:srgbClr val="0B3D2E"/>
                </a:solidFill>
              </a:rPr>
              <a:t>LED bar works</a:t>
            </a:r>
            <a:endParaRPr lang="en-US" sz="1300" dirty="0"/>
          </a:p>
        </p:txBody>
      </p:sp>
      <p:sp>
        <p:nvSpPr>
          <p:cNvPr id="7" name="Shape 5"/>
          <p:cNvSpPr/>
          <p:nvPr/>
        </p:nvSpPr>
        <p:spPr>
          <a:xfrm>
            <a:off x="2167128" y="1371600"/>
            <a:ext cx="594360" cy="594360"/>
          </a:xfrm>
          <a:prstGeom prst="ellipse">
            <a:avLst/>
          </a:prstGeom>
          <a:solidFill>
            <a:srgbClr val="F2A900"/>
          </a:solidFill>
          <a:ln w="12700">
            <a:solidFill>
              <a:srgbClr val="C98C00"/>
            </a:solidFill>
            <a:prstDash val="solid"/>
          </a:ln>
        </p:spPr>
        <p:txBody>
          <a:bodyPr/>
          <a:lstStyle/>
          <a:p>
            <a:endParaRPr lang="en-US"/>
          </a:p>
        </p:txBody>
      </p:sp>
      <p:sp>
        <p:nvSpPr>
          <p:cNvPr id="8" name="Text 6"/>
          <p:cNvSpPr txBox="1"/>
          <p:nvPr/>
        </p:nvSpPr>
        <p:spPr>
          <a:xfrm>
            <a:off x="2167128" y="1371600"/>
            <a:ext cx="594360" cy="594360"/>
          </a:xfrm>
          <a:prstGeom prst="rect">
            <a:avLst/>
          </a:prstGeom>
          <a:noFill/>
          <a:ln/>
        </p:spPr>
        <p:txBody>
          <a:bodyPr wrap="square" lIns="0" tIns="0" rIns="0" bIns="0" rtlCol="0" anchor="ctr"/>
          <a:lstStyle/>
          <a:p>
            <a:pPr marL="0" indent="0" algn="ctr">
              <a:buNone/>
            </a:pPr>
            <a:r>
              <a:rPr lang="en-US" sz="1800" b="1" dirty="0">
                <a:solidFill>
                  <a:srgbClr val="0B3D2E"/>
                </a:solidFill>
              </a:rPr>
              <a:t>0</a:t>
            </a:r>
            <a:endParaRPr lang="en-US" sz="1800" dirty="0"/>
          </a:p>
        </p:txBody>
      </p:sp>
      <p:sp>
        <p:nvSpPr>
          <p:cNvPr id="9" name="Shape 7"/>
          <p:cNvSpPr/>
          <p:nvPr/>
        </p:nvSpPr>
        <p:spPr>
          <a:xfrm>
            <a:off x="2807208" y="1664208"/>
            <a:ext cx="704088" cy="0"/>
          </a:xfrm>
          <a:prstGeom prst="line">
            <a:avLst/>
          </a:prstGeom>
          <a:noFill/>
          <a:ln w="25400">
            <a:solidFill>
              <a:srgbClr val="C98C00"/>
            </a:solidFill>
            <a:prstDash val="solid"/>
          </a:ln>
        </p:spPr>
        <p:txBody>
          <a:bodyPr/>
          <a:lstStyle/>
          <a:p>
            <a:endParaRPr lang="en-US"/>
          </a:p>
        </p:txBody>
      </p:sp>
      <p:sp>
        <p:nvSpPr>
          <p:cNvPr id="10" name="Text 8"/>
          <p:cNvSpPr txBox="1"/>
          <p:nvPr/>
        </p:nvSpPr>
        <p:spPr>
          <a:xfrm>
            <a:off x="1847088" y="2103120"/>
            <a:ext cx="1234440" cy="502920"/>
          </a:xfrm>
          <a:prstGeom prst="rect">
            <a:avLst/>
          </a:prstGeom>
          <a:noFill/>
          <a:ln/>
        </p:spPr>
        <p:txBody>
          <a:bodyPr wrap="square" lIns="0" tIns="0" rIns="0" bIns="0" rtlCol="0" anchor="ctr"/>
          <a:lstStyle/>
          <a:p>
            <a:pPr marL="0" indent="0" algn="ctr">
              <a:buNone/>
            </a:pPr>
            <a:r>
              <a:rPr lang="en-US" sz="1300" b="1" dirty="0">
                <a:solidFill>
                  <a:srgbClr val="0B3D2E"/>
                </a:solidFill>
              </a:rPr>
              <a:t>Buzzer beeps</a:t>
            </a:r>
            <a:endParaRPr lang="en-US" sz="1300" dirty="0"/>
          </a:p>
        </p:txBody>
      </p:sp>
      <p:sp>
        <p:nvSpPr>
          <p:cNvPr id="11" name="Shape 9"/>
          <p:cNvSpPr/>
          <p:nvPr/>
        </p:nvSpPr>
        <p:spPr>
          <a:xfrm>
            <a:off x="3557016" y="1371600"/>
            <a:ext cx="594360" cy="594360"/>
          </a:xfrm>
          <a:prstGeom prst="ellipse">
            <a:avLst/>
          </a:prstGeom>
          <a:solidFill>
            <a:srgbClr val="F2A900"/>
          </a:solidFill>
          <a:ln w="12700">
            <a:solidFill>
              <a:srgbClr val="C98C00"/>
            </a:solidFill>
            <a:prstDash val="solid"/>
          </a:ln>
        </p:spPr>
        <p:txBody>
          <a:bodyPr/>
          <a:lstStyle/>
          <a:p>
            <a:endParaRPr lang="en-US"/>
          </a:p>
        </p:txBody>
      </p:sp>
      <p:sp>
        <p:nvSpPr>
          <p:cNvPr id="12" name="Text 10"/>
          <p:cNvSpPr txBox="1"/>
          <p:nvPr/>
        </p:nvSpPr>
        <p:spPr>
          <a:xfrm>
            <a:off x="3557016" y="1371600"/>
            <a:ext cx="594360" cy="594360"/>
          </a:xfrm>
          <a:prstGeom prst="rect">
            <a:avLst/>
          </a:prstGeom>
          <a:noFill/>
          <a:ln/>
        </p:spPr>
        <p:txBody>
          <a:bodyPr wrap="square" lIns="0" tIns="0" rIns="0" bIns="0" rtlCol="0" anchor="ctr"/>
          <a:lstStyle/>
          <a:p>
            <a:pPr marL="0" indent="0" algn="ctr">
              <a:buNone/>
            </a:pPr>
            <a:r>
              <a:rPr lang="en-US" sz="1800" b="1" dirty="0">
                <a:solidFill>
                  <a:srgbClr val="0B3D2E"/>
                </a:solidFill>
              </a:rPr>
              <a:t>1</a:t>
            </a:r>
            <a:endParaRPr lang="en-US" sz="1800" dirty="0"/>
          </a:p>
        </p:txBody>
      </p:sp>
      <p:sp>
        <p:nvSpPr>
          <p:cNvPr id="13" name="Shape 11"/>
          <p:cNvSpPr/>
          <p:nvPr/>
        </p:nvSpPr>
        <p:spPr>
          <a:xfrm>
            <a:off x="4197096" y="1664208"/>
            <a:ext cx="704088" cy="0"/>
          </a:xfrm>
          <a:prstGeom prst="line">
            <a:avLst/>
          </a:prstGeom>
          <a:noFill/>
          <a:ln w="25400">
            <a:solidFill>
              <a:srgbClr val="C98C00"/>
            </a:solidFill>
            <a:prstDash val="solid"/>
          </a:ln>
        </p:spPr>
        <p:txBody>
          <a:bodyPr/>
          <a:lstStyle/>
          <a:p>
            <a:endParaRPr lang="en-US"/>
          </a:p>
        </p:txBody>
      </p:sp>
      <p:sp>
        <p:nvSpPr>
          <p:cNvPr id="14" name="Text 12"/>
          <p:cNvSpPr txBox="1"/>
          <p:nvPr/>
        </p:nvSpPr>
        <p:spPr>
          <a:xfrm>
            <a:off x="3236976" y="2103120"/>
            <a:ext cx="1234440" cy="502920"/>
          </a:xfrm>
          <a:prstGeom prst="rect">
            <a:avLst/>
          </a:prstGeom>
          <a:noFill/>
          <a:ln/>
        </p:spPr>
        <p:txBody>
          <a:bodyPr wrap="square" lIns="0" tIns="0" rIns="0" bIns="0" rtlCol="0" anchor="ctr"/>
          <a:lstStyle/>
          <a:p>
            <a:pPr marL="0" indent="0" algn="ctr">
              <a:buNone/>
            </a:pPr>
            <a:r>
              <a:rPr lang="en-US" sz="1300" b="1" dirty="0">
                <a:solidFill>
                  <a:srgbClr val="0B3D2E"/>
                </a:solidFill>
              </a:rPr>
              <a:t>GPIO25 on</a:t>
            </a:r>
            <a:endParaRPr lang="en-US" sz="1300" dirty="0"/>
          </a:p>
        </p:txBody>
      </p:sp>
      <p:sp>
        <p:nvSpPr>
          <p:cNvPr id="15" name="Shape 13"/>
          <p:cNvSpPr/>
          <p:nvPr/>
        </p:nvSpPr>
        <p:spPr>
          <a:xfrm>
            <a:off x="4946904" y="1371600"/>
            <a:ext cx="594360" cy="594360"/>
          </a:xfrm>
          <a:prstGeom prst="ellipse">
            <a:avLst/>
          </a:prstGeom>
          <a:solidFill>
            <a:srgbClr val="F2A900"/>
          </a:solidFill>
          <a:ln w="12700">
            <a:solidFill>
              <a:srgbClr val="C98C00"/>
            </a:solidFill>
            <a:prstDash val="solid"/>
          </a:ln>
        </p:spPr>
        <p:txBody>
          <a:bodyPr/>
          <a:lstStyle/>
          <a:p>
            <a:endParaRPr lang="en-US"/>
          </a:p>
        </p:txBody>
      </p:sp>
      <p:sp>
        <p:nvSpPr>
          <p:cNvPr id="16" name="Text 14"/>
          <p:cNvSpPr txBox="1"/>
          <p:nvPr/>
        </p:nvSpPr>
        <p:spPr>
          <a:xfrm>
            <a:off x="4946904" y="1371600"/>
            <a:ext cx="594360" cy="594360"/>
          </a:xfrm>
          <a:prstGeom prst="rect">
            <a:avLst/>
          </a:prstGeom>
          <a:noFill/>
          <a:ln/>
        </p:spPr>
        <p:txBody>
          <a:bodyPr wrap="square" lIns="0" tIns="0" rIns="0" bIns="0" rtlCol="0" anchor="ctr"/>
          <a:lstStyle/>
          <a:p>
            <a:pPr marL="0" indent="0" algn="ctr">
              <a:buNone/>
            </a:pPr>
            <a:r>
              <a:rPr lang="en-US" sz="1800" b="1" dirty="0">
                <a:solidFill>
                  <a:srgbClr val="0B3D2E"/>
                </a:solidFill>
              </a:rPr>
              <a:t>2</a:t>
            </a:r>
            <a:endParaRPr lang="en-US" sz="1800" dirty="0"/>
          </a:p>
        </p:txBody>
      </p:sp>
      <p:sp>
        <p:nvSpPr>
          <p:cNvPr id="17" name="Shape 15"/>
          <p:cNvSpPr/>
          <p:nvPr/>
        </p:nvSpPr>
        <p:spPr>
          <a:xfrm>
            <a:off x="5586984" y="1664208"/>
            <a:ext cx="704088" cy="0"/>
          </a:xfrm>
          <a:prstGeom prst="line">
            <a:avLst/>
          </a:prstGeom>
          <a:noFill/>
          <a:ln w="25400">
            <a:solidFill>
              <a:srgbClr val="C98C00"/>
            </a:solidFill>
            <a:prstDash val="solid"/>
          </a:ln>
        </p:spPr>
        <p:txBody>
          <a:bodyPr/>
          <a:lstStyle/>
          <a:p>
            <a:endParaRPr lang="en-US"/>
          </a:p>
        </p:txBody>
      </p:sp>
      <p:sp>
        <p:nvSpPr>
          <p:cNvPr id="18" name="Text 16"/>
          <p:cNvSpPr txBox="1"/>
          <p:nvPr/>
        </p:nvSpPr>
        <p:spPr>
          <a:xfrm>
            <a:off x="4626864" y="2103120"/>
            <a:ext cx="1234440" cy="502920"/>
          </a:xfrm>
          <a:prstGeom prst="rect">
            <a:avLst/>
          </a:prstGeom>
          <a:noFill/>
          <a:ln/>
        </p:spPr>
        <p:txBody>
          <a:bodyPr wrap="square" lIns="0" tIns="0" rIns="0" bIns="0" rtlCol="0" anchor="ctr"/>
          <a:lstStyle/>
          <a:p>
            <a:pPr marL="0" indent="0" algn="ctr">
              <a:buNone/>
            </a:pPr>
            <a:r>
              <a:rPr lang="en-US" sz="1300" b="1" dirty="0">
                <a:solidFill>
                  <a:srgbClr val="0B3D2E"/>
                </a:solidFill>
              </a:rPr>
              <a:t>Beep rhythm</a:t>
            </a:r>
            <a:endParaRPr lang="en-US" sz="1300" dirty="0"/>
          </a:p>
        </p:txBody>
      </p:sp>
      <p:sp>
        <p:nvSpPr>
          <p:cNvPr id="19" name="Shape 17"/>
          <p:cNvSpPr/>
          <p:nvPr/>
        </p:nvSpPr>
        <p:spPr>
          <a:xfrm>
            <a:off x="6336792" y="1371600"/>
            <a:ext cx="594360" cy="594360"/>
          </a:xfrm>
          <a:prstGeom prst="ellipse">
            <a:avLst/>
          </a:prstGeom>
          <a:solidFill>
            <a:srgbClr val="F2A900"/>
          </a:solidFill>
          <a:ln w="12700">
            <a:solidFill>
              <a:srgbClr val="C98C00"/>
            </a:solidFill>
            <a:prstDash val="solid"/>
          </a:ln>
        </p:spPr>
        <p:txBody>
          <a:bodyPr/>
          <a:lstStyle/>
          <a:p>
            <a:endParaRPr lang="en-US"/>
          </a:p>
        </p:txBody>
      </p:sp>
      <p:sp>
        <p:nvSpPr>
          <p:cNvPr id="20" name="Text 18"/>
          <p:cNvSpPr txBox="1"/>
          <p:nvPr/>
        </p:nvSpPr>
        <p:spPr>
          <a:xfrm>
            <a:off x="6336792" y="1371600"/>
            <a:ext cx="594360" cy="594360"/>
          </a:xfrm>
          <a:prstGeom prst="rect">
            <a:avLst/>
          </a:prstGeom>
          <a:noFill/>
          <a:ln/>
        </p:spPr>
        <p:txBody>
          <a:bodyPr wrap="square" lIns="0" tIns="0" rIns="0" bIns="0" rtlCol="0" anchor="ctr"/>
          <a:lstStyle/>
          <a:p>
            <a:pPr marL="0" indent="0" algn="ctr">
              <a:buNone/>
            </a:pPr>
            <a:r>
              <a:rPr lang="en-US" sz="1800" b="1" dirty="0">
                <a:solidFill>
                  <a:srgbClr val="0B3D2E"/>
                </a:solidFill>
              </a:rPr>
              <a:t>3</a:t>
            </a:r>
            <a:endParaRPr lang="en-US" sz="1800" dirty="0"/>
          </a:p>
        </p:txBody>
      </p:sp>
      <p:sp>
        <p:nvSpPr>
          <p:cNvPr id="21" name="Shape 19"/>
          <p:cNvSpPr/>
          <p:nvPr/>
        </p:nvSpPr>
        <p:spPr>
          <a:xfrm>
            <a:off x="6976872" y="1664208"/>
            <a:ext cx="704088" cy="0"/>
          </a:xfrm>
          <a:prstGeom prst="line">
            <a:avLst/>
          </a:prstGeom>
          <a:noFill/>
          <a:ln w="25400">
            <a:solidFill>
              <a:srgbClr val="C98C00"/>
            </a:solidFill>
            <a:prstDash val="solid"/>
          </a:ln>
        </p:spPr>
        <p:txBody>
          <a:bodyPr/>
          <a:lstStyle/>
          <a:p>
            <a:endParaRPr lang="en-US"/>
          </a:p>
        </p:txBody>
      </p:sp>
      <p:sp>
        <p:nvSpPr>
          <p:cNvPr id="22" name="Text 20"/>
          <p:cNvSpPr txBox="1"/>
          <p:nvPr/>
        </p:nvSpPr>
        <p:spPr>
          <a:xfrm>
            <a:off x="6016752" y="2103120"/>
            <a:ext cx="1234440" cy="502920"/>
          </a:xfrm>
          <a:prstGeom prst="rect">
            <a:avLst/>
          </a:prstGeom>
          <a:noFill/>
          <a:ln/>
        </p:spPr>
        <p:txBody>
          <a:bodyPr wrap="square" lIns="0" tIns="0" rIns="0" bIns="0" rtlCol="0" anchor="ctr"/>
          <a:lstStyle/>
          <a:p>
            <a:pPr marL="0" indent="0" algn="ctr">
              <a:buNone/>
            </a:pPr>
            <a:r>
              <a:rPr lang="en-US" sz="1300" b="1" dirty="0">
                <a:solidFill>
                  <a:srgbClr val="0B3D2E"/>
                </a:solidFill>
              </a:rPr>
              <a:t>Parking beep</a:t>
            </a:r>
            <a:endParaRPr lang="en-US" sz="1300" dirty="0"/>
          </a:p>
        </p:txBody>
      </p:sp>
      <p:sp>
        <p:nvSpPr>
          <p:cNvPr id="23" name="Shape 21"/>
          <p:cNvSpPr/>
          <p:nvPr/>
        </p:nvSpPr>
        <p:spPr>
          <a:xfrm>
            <a:off x="7726680" y="1371600"/>
            <a:ext cx="594360" cy="594360"/>
          </a:xfrm>
          <a:prstGeom prst="ellipse">
            <a:avLst/>
          </a:prstGeom>
          <a:solidFill>
            <a:srgbClr val="F2A900"/>
          </a:solidFill>
          <a:ln w="12700">
            <a:solidFill>
              <a:srgbClr val="C98C00"/>
            </a:solidFill>
            <a:prstDash val="solid"/>
          </a:ln>
        </p:spPr>
        <p:txBody>
          <a:bodyPr/>
          <a:lstStyle/>
          <a:p>
            <a:endParaRPr lang="en-US"/>
          </a:p>
        </p:txBody>
      </p:sp>
      <p:sp>
        <p:nvSpPr>
          <p:cNvPr id="24" name="Text 22"/>
          <p:cNvSpPr txBox="1"/>
          <p:nvPr/>
        </p:nvSpPr>
        <p:spPr>
          <a:xfrm>
            <a:off x="7726680" y="1371600"/>
            <a:ext cx="594360" cy="594360"/>
          </a:xfrm>
          <a:prstGeom prst="rect">
            <a:avLst/>
          </a:prstGeom>
          <a:noFill/>
          <a:ln/>
        </p:spPr>
        <p:txBody>
          <a:bodyPr wrap="square" lIns="0" tIns="0" rIns="0" bIns="0" rtlCol="0" anchor="ctr"/>
          <a:lstStyle/>
          <a:p>
            <a:pPr marL="0" indent="0" algn="ctr">
              <a:buNone/>
            </a:pPr>
            <a:r>
              <a:rPr lang="en-US" sz="1800" b="1" dirty="0">
                <a:solidFill>
                  <a:srgbClr val="0B3D2E"/>
                </a:solidFill>
              </a:rPr>
              <a:t>4</a:t>
            </a:r>
            <a:endParaRPr lang="en-US" sz="1800" dirty="0"/>
          </a:p>
        </p:txBody>
      </p:sp>
      <p:sp>
        <p:nvSpPr>
          <p:cNvPr id="25" name="Text 23"/>
          <p:cNvSpPr txBox="1"/>
          <p:nvPr/>
        </p:nvSpPr>
        <p:spPr>
          <a:xfrm>
            <a:off x="7406640" y="2103120"/>
            <a:ext cx="1234440" cy="502920"/>
          </a:xfrm>
          <a:prstGeom prst="rect">
            <a:avLst/>
          </a:prstGeom>
          <a:noFill/>
          <a:ln/>
        </p:spPr>
        <p:txBody>
          <a:bodyPr wrap="square" lIns="0" tIns="0" rIns="0" bIns="0" rtlCol="0" anchor="ctr"/>
          <a:lstStyle/>
          <a:p>
            <a:pPr marL="0" indent="0" algn="ctr">
              <a:buNone/>
            </a:pPr>
            <a:r>
              <a:rPr lang="en-US" sz="1300" b="1" dirty="0">
                <a:solidFill>
                  <a:srgbClr val="0B3D2E"/>
                </a:solidFill>
              </a:rPr>
              <a:t>Change the note</a:t>
            </a:r>
            <a:endParaRPr lang="en-US" sz="1300" dirty="0"/>
          </a:p>
        </p:txBody>
      </p:sp>
      <p:sp>
        <p:nvSpPr>
          <p:cNvPr id="26" name="Text 24"/>
          <p:cNvSpPr txBox="1"/>
          <p:nvPr/>
        </p:nvSpPr>
        <p:spPr>
          <a:xfrm>
            <a:off x="457200" y="2926080"/>
            <a:ext cx="8229600" cy="1280160"/>
          </a:xfrm>
          <a:prstGeom prst="rect">
            <a:avLst/>
          </a:prstGeom>
          <a:noFill/>
          <a:ln/>
        </p:spPr>
        <p:txBody>
          <a:bodyPr wrap="square" lIns="0" tIns="0" rIns="0" bIns="0" rtlCol="0" anchor="ctr"/>
          <a:lstStyle/>
          <a:p>
            <a:pPr marL="342900" indent="-342900">
              <a:spcAft>
                <a:spcPts val="800"/>
              </a:spcAft>
              <a:buSzPct val="100000"/>
              <a:buChar char="•"/>
            </a:pPr>
            <a:r>
              <a:rPr lang="en-US" sz="1600" dirty="0">
                <a:solidFill>
                  <a:srgbClr val="1B1B1B"/>
                </a:solidFill>
              </a:rPr>
              <a:t>An active buzzer is an output, like an LED.</a:t>
            </a:r>
            <a:endParaRPr lang="en-US" sz="1600" dirty="0"/>
          </a:p>
          <a:p>
            <a:pPr marL="342900" indent="-342900">
              <a:spcAft>
                <a:spcPts val="800"/>
              </a:spcAft>
              <a:buSzPct val="100000"/>
              <a:buChar char="•"/>
            </a:pPr>
            <a:r>
              <a:rPr lang="en-US" sz="1600" dirty="0">
                <a:solidFill>
                  <a:srgbClr val="1B1B1B"/>
                </a:solidFill>
              </a:rPr>
              <a:t>Edit on the ESP32, never in JA05. Start every lesson with ./get_latest.sh.</a:t>
            </a:r>
            <a:endParaRPr lang="en-US" sz="1600" dirty="0"/>
          </a:p>
          <a:p>
            <a:pPr marL="342900" indent="-342900">
              <a:spcAft>
                <a:spcPts val="800"/>
              </a:spcAft>
              <a:buSzPct val="100000"/>
              <a:buChar char="•"/>
            </a:pPr>
            <a:r>
              <a:rPr lang="en-US" sz="1600" dirty="0">
                <a:solidFill>
                  <a:srgbClr val="1B1B1B"/>
                </a:solidFill>
              </a:rPr>
              <a:t>Light and sound together help more people.</a:t>
            </a:r>
            <a:endParaRPr lang="en-US" sz="1600" dirty="0"/>
          </a:p>
        </p:txBody>
      </p:sp>
      <p:sp>
        <p:nvSpPr>
          <p:cNvPr id="27"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25</a:t>
            </a:fld>
            <a:endParaRPr lang="en-US"/>
          </a:p>
        </p:txBody>
      </p:sp>
    </p:spTree>
  </p:cSld>
  <p:clrMapOvr>
    <a:masterClrMapping/>
  </p:clrMapOvr>
</p:sld>
</file>

<file path=ppt/theme/theme1.xml><?xml version="1.0" encoding="utf-8"?>
<a:theme xmlns:a="http://schemas.openxmlformats.org/drawingml/2006/main" name="JA05 Circuit">
  <a:themeElements>
    <a:clrScheme name="JA05 Circuit">
      <a:dk1>
        <a:srgbClr val="1B1B1B"/>
      </a:dk1>
      <a:lt1>
        <a:srgbClr val="FFFFFF"/>
      </a:lt1>
      <a:dk2>
        <a:srgbClr val="0B3D2E"/>
      </a:dk2>
      <a:lt2>
        <a:srgbClr val="EEF5F1"/>
      </a:lt2>
      <a:accent1>
        <a:srgbClr val="F2A900"/>
      </a:accent1>
      <a:accent2>
        <a:srgbClr val="1F8A70"/>
      </a:accent2>
      <a:accent3>
        <a:srgbClr val="D64545"/>
      </a:accent3>
      <a:accent4>
        <a:srgbClr val="2B6CB0"/>
      </a:accent4>
      <a:accent5>
        <a:srgbClr val="6B7280"/>
      </a:accent5>
      <a:accent6>
        <a:srgbClr val="8E44AD"/>
      </a:accent6>
      <a:hlink>
        <a:srgbClr val="2B6CB0"/>
      </a:hlink>
      <a:folHlink>
        <a:srgbClr val="8E44AD"/>
      </a:folHlink>
    </a:clrScheme>
    <a:fontScheme name="JA05 Circui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3592</Words>
  <Application>Microsoft Macintosh PowerPoint</Application>
  <PresentationFormat>On-screen Show (16:9)</PresentationFormat>
  <Paragraphs>454</Paragraphs>
  <Slides>25</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Courier New</vt:lpstr>
      <vt:lpstr>JA05 Circuit</vt:lpstr>
      <vt:lpstr>Beep!</vt:lpstr>
      <vt:lpstr>Today: 50 minutes</vt:lpstr>
      <vt:lpstr>New: one command gets everything</vt:lpstr>
      <vt:lpstr>First time today</vt:lpstr>
      <vt:lpstr>Your code lives on your ESP32</vt:lpstr>
      <vt:lpstr>PowerPoint Presentation</vt:lpstr>
      <vt:lpstr>PowerPoint Presentation</vt:lpstr>
      <vt:lpstr>Lesson 3 answer: leds_for()</vt:lpstr>
      <vt:lpstr>Pick your track</vt:lpstr>
      <vt:lpstr>Track A: finish the distance meter</vt:lpstr>
      <vt:lpstr>Two buzzers in your kit</vt:lpstr>
      <vt:lpstr>Find your pins</vt:lpstr>
      <vt:lpstr>How to use the code today</vt:lpstr>
      <vt:lpstr>Step 0: beep with no code</vt:lpstr>
      <vt:lpstr>Step 1: let the ESP32 beep</vt:lpstr>
      <vt:lpstr>Read the code: Step 1</vt:lpstr>
      <vt:lpstr>Step 2: beep, beep, beep</vt:lpstr>
      <vt:lpstr>Read the code: Step 2</vt:lpstr>
      <vt:lpstr>Step 3: closer = faster beeps</vt:lpstr>
      <vt:lpstr>Read the code: the main loop</vt:lpstr>
      <vt:lpstr>The whole circuit</vt:lpstr>
      <vt:lpstr>Stretch: change the note</vt:lpstr>
      <vt:lpstr>Run by itself when powered on</vt:lpstr>
      <vt:lpstr>Light, sound, or both?</vt:lpstr>
      <vt:lpstr>What did you reach today?</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4 - Beep!</dc:title>
  <dc:subject>PptxGenJS Presentation</dc:subject>
  <dc:creator>Jacky HUI</dc:creator>
  <cp:lastModifiedBy>KH HUI CHUN KIT</cp:lastModifiedBy>
  <cp:revision>4</cp:revision>
  <dcterms:created xsi:type="dcterms:W3CDTF">2026-10-16T01:41:51Z</dcterms:created>
  <dcterms:modified xsi:type="dcterms:W3CDTF">2026-10-16T02:46:14Z</dcterms:modified>
</cp:coreProperties>
</file>