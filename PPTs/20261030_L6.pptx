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2aec715-59e0-7cbf-924c-d2047fe0537c}">
          <p14:sldIdLst>
            <p14:sldId id="256"/>
            <p14:sldId id="257"/>
            <p14:sldId id="258"/>
          </p14:sldIdLst>
        </p14:section>
        <p14:section name="Files" id="{484c23c3-aaab-4b67-8b44-51e80b6b8fcd}">
          <p14:sldIdLst>
            <p14:sldId id="259"/>
            <p14:sldId id="260"/>
            <p14:sldId id="261"/>
          </p14:sldIdLst>
        </p14:section>
        <p14:section name="Build" id="{2d3cd61c-772b-d6ea-4b1a-5a42505b8794}">
          <p14:sldIdLst>
            <p14:sldId id="262"/>
            <p14:sldId id="263"/>
            <p14:sldId id="264"/>
            <p14:sldId id="265"/>
            <p14:sldId id="266"/>
            <p14:sldId id="267"/>
          </p14:sldIdLst>
        </p14:section>
        <p14:section name="State" id="{e14e652a-1173-09cb-af56-c71b793aa1f3}">
          <p14:sldIdLst>
            <p14:sldId id="268"/>
            <p14:sldId id="269"/>
            <p14:sldId id="270"/>
            <p14:sldId id="271"/>
            <p14:sldId id="272"/>
            <p14:sldId id="273"/>
          </p14:sldIdLst>
        </p14:section>
        <p14:section name="Debug" id="{62a48ee4-b37b-66f3-a5fd-308befd88b1b}">
          <p14:sldIdLst>
            <p14:sldId id="274"/>
            <p14:sldId id="275"/>
          </p14:sldIdLst>
        </p14:section>
        <p14:section name="Meter" id="{c4d0fa15-a723-f4ab-8aba-987918af1c88}">
          <p14:sldIdLst>
            <p14:sldId id="276"/>
            <p14:sldId id="277"/>
            <p14:sldId id="278"/>
          </p14:sldIdLst>
        </p14:section>
        <p14:section name="Close" id="{a3da5092-9896-a481-1cea-d591409ba33d}">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minutes. Today the device gets a memory. Open by asking the class how loud this room is right now, and let them argue. Nobody can answer it with a number. That is the whole lesson: turn an argument into a measurement, then count how often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Ask for a show of hands: who finds this room too loud to think in? The split in the room is the point. Service-learning hook: the meter is evidence, and evidence is what you need before you ask anyone to change anything. Do not pick the class project yet, that is 4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purple block in the middle is teacher-led. Everything before it is hands on, everything after it needs it. If you are running late at minute 58, cut Step 4 and the LCD, never the state block: Step 3 is unwriteable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command as every lesson. Five minutes maximum on git trouble, then pair the student with a neighbour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up for one minute and leave the slide number on the board. The two complaints this prevents: which file now, and am I supposed to be typing. Say out loud that four of the seven files are run-and-read, and only three ask for typing. Students who think every file needs editing will break the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it pays for itself in Step 3. Open step3_noise_counter.py on the projector and scroll it slowly while they match the five banners. The point to say out loud: every file today has this shape, so once you can find part 5 you can find it in all of them. The arrow markers mean nobody has to hunt for a comment that says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groups still have the Lesson 3 LED bar built, so this is three new wires. Walk the room and check AO against DO before anybody runs anything: a module wired on DO gives 0 and 4095 and nothing in between, and the group will chase that bug for twenty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Everyone must see the number refusing to sit still in a silent room. Do not explain why yet, the next slide does that. Collect two or three numbers from different groups and write them on the board: they will not match, which is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teacher led. Shake your hand fast in front of the class and ask how far it moved: one glance cannot answer, you need to watch for a moment and take the widest point. Same for the microphone. That is why the code takes 50 readings and subtracts.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and it is worth every one. This file is the worked example of the idea on the next slide: three parts, three separate tests, each answered by looking. After today, the sentence it does not work should get the reply which test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three minutes, because Step 0b already showed it. The line that matters is the middle one: print(level_for(500)) runs in the Shell with no hardware. Several students will not believe you can test a function without the sensor until you do it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They have done this shape three times, so most groups get it in five. The honest difficulty is not the maths, it is that QUIET and LOUD were guessed in a different room: tell groups to use their own Step 0b numbers. A group whose bar sits at 5 has not got a bug, they have a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of your teaching block, minute 40. Say the definition and leave it on the board for the rest of the lesson. The reason this matters today and did not matter in Lesson 5: the door reacted to what the sensor says right now, and the meter has to react to what has happened since the program started. Counting is impossible without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the whole lesson turns on. Ask before you explain: which one counts? Then ask why the left one is stuck at 1. The answer you want: count = 0 runs again every round, so the old value is thrown away. Use the word box if it helps: the left program makes a new box each round, the right one keeps adding to the same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Everyone runs it, nobody edits it yet. Then ask the Try it question at the bottom of the file: move shouts = 0 inside the loop and predict before running. Prediction first,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before showing the answer: four readings are loud, so why is the count 2? Someone will say because two shouts. Push them to say which reading starts a shout: the one where the round before was quiet. Then the code line reads itself. The last line, was_loud = is_loud, is the one they forget in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strictly. Pairs, one screen. The bug is count = 0 sitting inside the for loop. Do not let a pair rewrite the program from scratch, that defeats the exercise: the skill is locating a line, not replacing code. Ask the first pair who finds it to say how they found it, not what the answer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up on each line, lowest first. If more than a third cannot tick line 2, go back to the two Shells and read them together. This is the gate: students who cannot tick 2 and 3 will not write Step 3, they will copy a neighbour and learn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and keep it on screen for the rest of the lesson. Rung 2 is the answer to the question students always ask: if it broke after Step 3, do I start again? No. Copy the last file that worked and re-apply the change in smaller pieces. Rung 3 is the one they break most: they change three things, it works, and they cannot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up while they work on Step 3 and leave it there. It is deliberately phrased as symptom first, because that is how a student arrives: not knowing the cause. Do not read it out, let them find their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Twenty-four minutes, the main task. Walk the room with one question: show me where your program remembers. Groups who get it early go to Step 4 or run a real ten-minute measurement. Do not give out the two lines; give the Step 2 output back instead, they have already seen the answer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 groups start finishing. The predict question is worth asking even of a group whose code already works: most of them put COOLDOWN in because the file told them to, not because they know what it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not core. Groups that reach it have time to spare. The redraw-only-on-change idea is worth pointing out to them: it is the first time they have had to care that an output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and do not skip it. A student will check the meter against a phone app this week and find it disagrees. Better they hear the reason from you first. This is also the science point of the lesson: an uncalibrated instrument can still compare, it just cannot name a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meter yourself from minute 82 if the class is still working. The second discussion question is the real one: an alarm that shames a room usually makes it louder, and the class will get there on their own. Carry the answers to 4 November, and make somebody write the count down, because the next lesson after that is 27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Ask one group to say their count out loud before they pack up. Remind them 4 November is a Wednesday, and that after it the next lesson is 27 November, so anything not written down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D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2788920"/>
            <a:ext cx="8046720" cy="1097280"/>
          </a:xfrm>
          <a:prstGeom prst="rect">
            <a:avLst/>
          </a:prstGeom>
          <a:noFill/>
          <a:ln/>
        </p:spPr>
        <p:txBody>
          <a:bodyPr wrap="square" rtlCol="0"/>
          <a:lstStyle>
            <a:lvl1pPr algn="l" indent="0" marL="0">
              <a:buNone/>
              <a:defRPr lang="en-US" sz="2000" dirty="0">
                <a:solidFill>
                  <a:srgbClr val="F2A900"/>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B3D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3" name="Text 0"/>
          <p:cNvSpPr/>
          <p:nvPr>
            <p:ph idx="101" type="body" hasCustomPrompt="1"/>
          </p:nvPr>
        </p:nvSpPr>
        <p:spPr>
          <a:xfrm>
            <a:off x="548640" y="2743200"/>
            <a:ext cx="8046720" cy="914400"/>
          </a:xfrm>
          <a:prstGeom prst="rect">
            <a:avLst/>
          </a:prstGeom>
          <a:noFill/>
          <a:ln/>
        </p:spPr>
        <p:txBody>
          <a:bodyPr wrap="square" rtlCol="0"/>
          <a:lstStyle>
            <a:lvl1pPr algn="l" indent="0" marL="0">
              <a:buNone/>
              <a:defRPr lang="en-US" sz="1800" dirty="0">
                <a:solidFill>
                  <a:srgbClr val="F2A900"/>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5F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rtlCol="0"/>
          <a:lstStyle>
            <a:lvl1pPr algn="l" indent="0" marL="0">
              <a:buNone/>
              <a:defRPr lang="en-US" sz="3000" b="1" dirty="0">
                <a:solidFill>
                  <a:srgbClr val="0B3D2E"/>
                </a:solidFill>
              </a:defRPr>
            </a:lvl1pPr>
          </a:lstStyle>
          <a:p>
            <a:pPr algn="l" indent="0" marL="0">
              <a:buNone/>
            </a:pPr>
            <a:endParaRPr lang="en-US" sz="3000" dirty="0"/>
          </a:p>
        </p:txBody>
      </p:sp>
      <p:sp>
        <p:nvSpPr>
          <p:cNvPr id="3" name="Text 0"/>
          <p:cNvSpPr/>
          <p:nvPr/>
        </p:nvSpPr>
        <p:spPr>
          <a:xfrm>
            <a:off x="457200" y="4800600"/>
            <a:ext cx="2743200" cy="228600"/>
          </a:xfrm>
          <a:prstGeom prst="rect">
            <a:avLst/>
          </a:prstGeom>
          <a:noFill/>
          <a:ln/>
        </p:spPr>
        <p:txBody>
          <a:bodyPr wrap="square" lIns="0" tIns="0" rIns="0" bIns="0" rtlCol="0" anchor="ctr"/>
          <a:lstStyle/>
          <a:p>
            <a:pPr indent="0" marL="0">
              <a:buNone/>
            </a:pPr>
            <a:r>
              <a:rPr lang="en-US" sz="1000" dirty="0">
                <a:solidFill>
                  <a:srgbClr val="6B7280"/>
                </a:solidFill>
              </a:rPr>
              <a:t>JA05 · Lesson 6</a:t>
            </a:r>
            <a:endParaRPr lang="en-US" sz="1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5F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b"/>
          <a:lstStyle/>
          <a:p>
            <a:pPr algn="l" indent="0" marL="0">
              <a:buNone/>
            </a:pPr>
            <a:r>
              <a:rPr lang="en-US" sz="4000" b="1" dirty="0">
                <a:solidFill>
                  <a:srgbClr val="FFFFFF"/>
                </a:solidFill>
              </a:rPr>
              <a:t>How loud is this room?</a:t>
            </a:r>
            <a:endParaRPr lang="en-US" sz="4000" dirty="0"/>
          </a:p>
        </p:txBody>
      </p:sp>
      <p:sp>
        <p:nvSpPr>
          <p:cNvPr id="3" name="Text 0"/>
          <p:cNvSpPr/>
          <p:nvPr>
            <p:ph idx="101" type="body" hasCustomPrompt="1"/>
          </p:nvPr>
        </p:nvSpPr>
        <p:spPr>
          <a:xfrm>
            <a:off x="548640" y="2788920"/>
            <a:ext cx="8046720" cy="1097280"/>
          </a:xfrm>
          <a:prstGeom prst="rect">
            <a:avLst/>
          </a:prstGeom>
          <a:noFill/>
          <a:ln/>
        </p:spPr>
        <p:txBody>
          <a:bodyPr wrap="square" lIns="0" tIns="0" rIns="0" bIns="0" rtlCol="0" anchor="t"/>
          <a:lstStyle/>
          <a:p>
            <a:pPr algn="l" indent="0" marL="0">
              <a:buNone/>
            </a:pPr>
            <a:r>
              <a:rPr lang="en-US" sz="2000" dirty="0">
                <a:solidFill>
                  <a:srgbClr val="F2A900"/>
                </a:solidFill>
              </a:rPr>
              <a:t>Lesson 6 - A meter that remembers</a:t>
            </a:r>
            <a:endParaRPr lang="en-US" sz="2000" dirty="0"/>
          </a:p>
        </p:txBody>
      </p:sp>
      <p:sp>
        <p:nvSpPr>
          <p:cNvPr id="4" name="Shape 2"/>
          <p:cNvSpPr/>
          <p:nvPr/>
        </p:nvSpPr>
        <p:spPr>
          <a:xfrm>
            <a:off x="5943600" y="3611880"/>
            <a:ext cx="237744" cy="411480"/>
          </a:xfrm>
          <a:prstGeom prst="rect">
            <a:avLst/>
          </a:prstGeom>
          <a:solidFill>
            <a:srgbClr val="F2A900"/>
          </a:solidFill>
          <a:ln w="12700">
            <a:solidFill>
              <a:srgbClr val="F2A900"/>
            </a:solidFill>
            <a:prstDash val="solid"/>
          </a:ln>
        </p:spPr>
      </p:sp>
      <p:sp>
        <p:nvSpPr>
          <p:cNvPr id="5" name="Shape 3"/>
          <p:cNvSpPr/>
          <p:nvPr/>
        </p:nvSpPr>
        <p:spPr>
          <a:xfrm>
            <a:off x="6327648" y="3246120"/>
            <a:ext cx="237744" cy="777240"/>
          </a:xfrm>
          <a:prstGeom prst="rect">
            <a:avLst/>
          </a:prstGeom>
          <a:solidFill>
            <a:srgbClr val="F2A900"/>
          </a:solidFill>
          <a:ln w="12700">
            <a:solidFill>
              <a:srgbClr val="F2A900"/>
            </a:solidFill>
            <a:prstDash val="solid"/>
          </a:ln>
        </p:spPr>
      </p:sp>
      <p:sp>
        <p:nvSpPr>
          <p:cNvPr id="6" name="Shape 4"/>
          <p:cNvSpPr/>
          <p:nvPr/>
        </p:nvSpPr>
        <p:spPr>
          <a:xfrm>
            <a:off x="6711696" y="2880360"/>
            <a:ext cx="237744" cy="1143000"/>
          </a:xfrm>
          <a:prstGeom prst="rect">
            <a:avLst/>
          </a:prstGeom>
          <a:solidFill>
            <a:srgbClr val="F2A900"/>
          </a:solidFill>
          <a:ln w="12700">
            <a:solidFill>
              <a:srgbClr val="F2A900"/>
            </a:solidFill>
            <a:prstDash val="solid"/>
          </a:ln>
        </p:spPr>
      </p:sp>
      <p:sp>
        <p:nvSpPr>
          <p:cNvPr id="7" name="Shape 5"/>
          <p:cNvSpPr/>
          <p:nvPr/>
        </p:nvSpPr>
        <p:spPr>
          <a:xfrm>
            <a:off x="7095744" y="3337560"/>
            <a:ext cx="237744" cy="685800"/>
          </a:xfrm>
          <a:prstGeom prst="rect">
            <a:avLst/>
          </a:prstGeom>
          <a:solidFill>
            <a:srgbClr val="1F5A47"/>
          </a:solidFill>
          <a:ln w="12700">
            <a:solidFill>
              <a:srgbClr val="1F5A47"/>
            </a:solidFill>
            <a:prstDash val="solid"/>
          </a:ln>
        </p:spPr>
      </p:sp>
      <p:sp>
        <p:nvSpPr>
          <p:cNvPr id="8" name="Shape 6"/>
          <p:cNvSpPr/>
          <p:nvPr/>
        </p:nvSpPr>
        <p:spPr>
          <a:xfrm>
            <a:off x="7479792" y="3703320"/>
            <a:ext cx="237744" cy="320040"/>
          </a:xfrm>
          <a:prstGeom prst="rect">
            <a:avLst/>
          </a:prstGeom>
          <a:solidFill>
            <a:srgbClr val="1F5A47"/>
          </a:solidFill>
          <a:ln w="12700">
            <a:solidFill>
              <a:srgbClr val="1F5A47"/>
            </a:solidFill>
            <a:prstDash val="solid"/>
          </a:ln>
        </p:spPr>
      </p:sp>
      <p:sp>
        <p:nvSpPr>
          <p:cNvPr id="9" name="Shape 7"/>
          <p:cNvSpPr/>
          <p:nvPr/>
        </p:nvSpPr>
        <p:spPr>
          <a:xfrm>
            <a:off x="5806440" y="4023360"/>
            <a:ext cx="2240280" cy="0"/>
          </a:xfrm>
          <a:prstGeom prst="line">
            <a:avLst/>
          </a:prstGeom>
          <a:noFill/>
          <a:ln w="38100">
            <a:solidFill>
              <a:srgbClr val="1F5A47"/>
            </a:solidFill>
            <a:prstDash val="solid"/>
          </a:ln>
        </p:spPr>
      </p:sp>
      <p:sp>
        <p:nvSpPr>
          <p:cNvPr id="10" name="Text 8"/>
          <p:cNvSpPr txBox="1"/>
          <p:nvPr/>
        </p:nvSpPr>
        <p:spPr>
          <a:xfrm>
            <a:off x="548640" y="4069080"/>
            <a:ext cx="4937760" cy="274320"/>
          </a:xfrm>
          <a:prstGeom prst="rect">
            <a:avLst/>
          </a:prstGeom>
          <a:noFill/>
          <a:ln/>
        </p:spPr>
        <p:txBody>
          <a:bodyPr wrap="square" lIns="0" tIns="0" rIns="0" bIns="0" rtlCol="0" anchor="ctr"/>
          <a:lstStyle/>
          <a:p>
            <a:pPr indent="0" marL="0">
              <a:buNone/>
            </a:pPr>
            <a:r>
              <a:rPr lang="en-US" sz="1200" dirty="0">
                <a:solidFill>
                  <a:srgbClr val="A7C4B8"/>
                </a:solidFill>
              </a:rPr>
              <a:t>JA05 STEAM and Service Learning - 30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Who does noise hurt?</a:t>
            </a:r>
            <a:endParaRPr lang="en-US" sz="3000" dirty="0"/>
          </a:p>
        </p:txBody>
      </p:sp>
      <p:sp>
        <p:nvSpPr>
          <p:cNvPr id="3" name="Shape 1"/>
          <p:cNvSpPr/>
          <p:nvPr/>
        </p:nvSpPr>
        <p:spPr>
          <a:xfrm>
            <a:off x="457200" y="1051560"/>
            <a:ext cx="1920240" cy="2286000"/>
          </a:xfrm>
          <a:prstGeom prst="roundRect">
            <a:avLst>
              <a:gd name="adj" fmla="val 4762"/>
            </a:avLst>
          </a:prstGeom>
          <a:solidFill>
            <a:srgbClr val="EEF5F1"/>
          </a:solidFill>
          <a:ln w="12700">
            <a:solidFill>
              <a:srgbClr val="D3E4DB"/>
            </a:solidFill>
            <a:prstDash val="solid"/>
          </a:ln>
        </p:spPr>
      </p:sp>
      <p:sp>
        <p:nvSpPr>
          <p:cNvPr id="4" name="Text 2"/>
          <p:cNvSpPr txBox="1"/>
          <p:nvPr/>
        </p:nvSpPr>
        <p:spPr>
          <a:xfrm>
            <a:off x="640080" y="1188720"/>
            <a:ext cx="1645920" cy="457200"/>
          </a:xfrm>
          <a:prstGeom prst="rect">
            <a:avLst/>
          </a:prstGeom>
          <a:noFill/>
          <a:ln/>
        </p:spPr>
        <p:txBody>
          <a:bodyPr wrap="square" lIns="0" tIns="0" rIns="0" bIns="0" rtlCol="0" anchor="ctr"/>
          <a:lstStyle/>
          <a:p>
            <a:pPr indent="0" marL="0">
              <a:buNone/>
            </a:pPr>
            <a:r>
              <a:rPr lang="en-US" sz="1700" b="1" dirty="0">
                <a:solidFill>
                  <a:srgbClr val="0B3D2E"/>
                </a:solidFill>
              </a:rPr>
              <a:t>Hard of hearing</a:t>
            </a:r>
            <a:endParaRPr lang="en-US" sz="1700" dirty="0"/>
          </a:p>
        </p:txBody>
      </p:sp>
      <p:sp>
        <p:nvSpPr>
          <p:cNvPr id="5" name="Text 3"/>
          <p:cNvSpPr txBox="1"/>
          <p:nvPr/>
        </p:nvSpPr>
        <p:spPr>
          <a:xfrm>
            <a:off x="640080" y="1691640"/>
            <a:ext cx="1600200" cy="1463040"/>
          </a:xfrm>
          <a:prstGeom prst="rect">
            <a:avLst/>
          </a:prstGeom>
          <a:noFill/>
          <a:ln/>
        </p:spPr>
        <p:txBody>
          <a:bodyPr wrap="square" lIns="0" tIns="0" rIns="0" bIns="0" rtlCol="0" anchor="t"/>
          <a:lstStyle/>
          <a:p>
            <a:pPr indent="0" marL="0">
              <a:buNone/>
            </a:pPr>
            <a:r>
              <a:rPr lang="en-US" sz="1400" dirty="0">
                <a:solidFill>
                  <a:srgbClr val="1B1B1B"/>
                </a:solidFill>
              </a:rPr>
              <a:t>A hearing aid makes everything louder, the noise included.</a:t>
            </a:r>
            <a:endParaRPr lang="en-US" sz="1400" dirty="0"/>
          </a:p>
        </p:txBody>
      </p:sp>
      <p:sp>
        <p:nvSpPr>
          <p:cNvPr id="6" name="Shape 4"/>
          <p:cNvSpPr/>
          <p:nvPr/>
        </p:nvSpPr>
        <p:spPr>
          <a:xfrm>
            <a:off x="2560320" y="1051560"/>
            <a:ext cx="1920240" cy="2286000"/>
          </a:xfrm>
          <a:prstGeom prst="roundRect">
            <a:avLst>
              <a:gd name="adj" fmla="val 4762"/>
            </a:avLst>
          </a:prstGeom>
          <a:solidFill>
            <a:srgbClr val="EEF5F1"/>
          </a:solidFill>
          <a:ln w="12700">
            <a:solidFill>
              <a:srgbClr val="D3E4DB"/>
            </a:solidFill>
            <a:prstDash val="solid"/>
          </a:ln>
        </p:spPr>
      </p:sp>
      <p:sp>
        <p:nvSpPr>
          <p:cNvPr id="7" name="Text 5"/>
          <p:cNvSpPr txBox="1"/>
          <p:nvPr/>
        </p:nvSpPr>
        <p:spPr>
          <a:xfrm>
            <a:off x="2743200" y="1188720"/>
            <a:ext cx="1645920" cy="457200"/>
          </a:xfrm>
          <a:prstGeom prst="rect">
            <a:avLst/>
          </a:prstGeom>
          <a:noFill/>
          <a:ln/>
        </p:spPr>
        <p:txBody>
          <a:bodyPr wrap="square" lIns="0" tIns="0" rIns="0" bIns="0" rtlCol="0" anchor="ctr"/>
          <a:lstStyle/>
          <a:p>
            <a:pPr indent="0" marL="0">
              <a:buNone/>
            </a:pPr>
            <a:r>
              <a:rPr lang="en-US" sz="1700" b="1" dirty="0">
                <a:solidFill>
                  <a:srgbClr val="0B3D2E"/>
                </a:solidFill>
              </a:rPr>
              <a:t>Trouble focusing</a:t>
            </a:r>
            <a:endParaRPr lang="en-US" sz="1700" dirty="0"/>
          </a:p>
        </p:txBody>
      </p:sp>
      <p:sp>
        <p:nvSpPr>
          <p:cNvPr id="8" name="Text 6"/>
          <p:cNvSpPr txBox="1"/>
          <p:nvPr/>
        </p:nvSpPr>
        <p:spPr>
          <a:xfrm>
            <a:off x="2743200" y="1691640"/>
            <a:ext cx="1600200" cy="1463040"/>
          </a:xfrm>
          <a:prstGeom prst="rect">
            <a:avLst/>
          </a:prstGeom>
          <a:noFill/>
          <a:ln/>
        </p:spPr>
        <p:txBody>
          <a:bodyPr wrap="square" lIns="0" tIns="0" rIns="0" bIns="0" rtlCol="0" anchor="t"/>
          <a:lstStyle/>
          <a:p>
            <a:pPr indent="0" marL="0">
              <a:buNone/>
            </a:pPr>
            <a:r>
              <a:rPr lang="en-US" sz="1400" dirty="0">
                <a:solidFill>
                  <a:srgbClr val="1B1B1B"/>
                </a:solidFill>
              </a:rPr>
              <a:t>Some people cannot filter a room out. The noise is all of it.</a:t>
            </a:r>
            <a:endParaRPr lang="en-US" sz="1400" dirty="0"/>
          </a:p>
        </p:txBody>
      </p:sp>
      <p:sp>
        <p:nvSpPr>
          <p:cNvPr id="9" name="Shape 7"/>
          <p:cNvSpPr/>
          <p:nvPr/>
        </p:nvSpPr>
        <p:spPr>
          <a:xfrm>
            <a:off x="4663440" y="1051560"/>
            <a:ext cx="1920240" cy="2286000"/>
          </a:xfrm>
          <a:prstGeom prst="roundRect">
            <a:avLst>
              <a:gd name="adj" fmla="val 4762"/>
            </a:avLst>
          </a:prstGeom>
          <a:solidFill>
            <a:srgbClr val="EEF5F1"/>
          </a:solidFill>
          <a:ln w="12700">
            <a:solidFill>
              <a:srgbClr val="D3E4DB"/>
            </a:solidFill>
            <a:prstDash val="solid"/>
          </a:ln>
        </p:spPr>
      </p:sp>
      <p:sp>
        <p:nvSpPr>
          <p:cNvPr id="10" name="Text 8"/>
          <p:cNvSpPr txBox="1"/>
          <p:nvPr/>
        </p:nvSpPr>
        <p:spPr>
          <a:xfrm>
            <a:off x="4846320" y="1188720"/>
            <a:ext cx="1645920" cy="457200"/>
          </a:xfrm>
          <a:prstGeom prst="rect">
            <a:avLst/>
          </a:prstGeom>
          <a:noFill/>
          <a:ln/>
        </p:spPr>
        <p:txBody>
          <a:bodyPr wrap="square" lIns="0" tIns="0" rIns="0" bIns="0" rtlCol="0" anchor="ctr"/>
          <a:lstStyle/>
          <a:p>
            <a:pPr indent="0" marL="0">
              <a:buNone/>
            </a:pPr>
            <a:r>
              <a:rPr lang="en-US" sz="1700" b="1" dirty="0">
                <a:solidFill>
                  <a:srgbClr val="0B3D2E"/>
                </a:solidFill>
              </a:rPr>
              <a:t>The teacher</a:t>
            </a:r>
            <a:endParaRPr lang="en-US" sz="1700" dirty="0"/>
          </a:p>
        </p:txBody>
      </p:sp>
      <p:sp>
        <p:nvSpPr>
          <p:cNvPr id="11" name="Text 9"/>
          <p:cNvSpPr txBox="1"/>
          <p:nvPr/>
        </p:nvSpPr>
        <p:spPr>
          <a:xfrm>
            <a:off x="4846320" y="1691640"/>
            <a:ext cx="1600200" cy="1463040"/>
          </a:xfrm>
          <a:prstGeom prst="rect">
            <a:avLst/>
          </a:prstGeom>
          <a:noFill/>
          <a:ln/>
        </p:spPr>
        <p:txBody>
          <a:bodyPr wrap="square" lIns="0" tIns="0" rIns="0" bIns="0" rtlCol="0" anchor="t"/>
          <a:lstStyle/>
          <a:p>
            <a:pPr indent="0" marL="0">
              <a:buNone/>
            </a:pPr>
            <a:r>
              <a:rPr lang="en-US" sz="1400" dirty="0">
                <a:solidFill>
                  <a:srgbClr val="1B1B1B"/>
                </a:solidFill>
              </a:rPr>
              <a:t>Talking over a loud room all day. Voices give out.</a:t>
            </a:r>
            <a:endParaRPr lang="en-US" sz="1400" dirty="0"/>
          </a:p>
        </p:txBody>
      </p:sp>
      <p:sp>
        <p:nvSpPr>
          <p:cNvPr id="12" name="Shape 10"/>
          <p:cNvSpPr/>
          <p:nvPr/>
        </p:nvSpPr>
        <p:spPr>
          <a:xfrm>
            <a:off x="6766560" y="1051560"/>
            <a:ext cx="1920240" cy="2286000"/>
          </a:xfrm>
          <a:prstGeom prst="roundRect">
            <a:avLst>
              <a:gd name="adj" fmla="val 4762"/>
            </a:avLst>
          </a:prstGeom>
          <a:solidFill>
            <a:srgbClr val="EEF5F1"/>
          </a:solidFill>
          <a:ln w="12700">
            <a:solidFill>
              <a:srgbClr val="D3E4DB"/>
            </a:solidFill>
            <a:prstDash val="solid"/>
          </a:ln>
        </p:spPr>
      </p:sp>
      <p:sp>
        <p:nvSpPr>
          <p:cNvPr id="13" name="Text 11"/>
          <p:cNvSpPr txBox="1"/>
          <p:nvPr/>
        </p:nvSpPr>
        <p:spPr>
          <a:xfrm>
            <a:off x="6949440" y="1188720"/>
            <a:ext cx="1645920" cy="457200"/>
          </a:xfrm>
          <a:prstGeom prst="rect">
            <a:avLst/>
          </a:prstGeom>
          <a:noFill/>
          <a:ln/>
        </p:spPr>
        <p:txBody>
          <a:bodyPr wrap="square" lIns="0" tIns="0" rIns="0" bIns="0" rtlCol="0" anchor="ctr"/>
          <a:lstStyle/>
          <a:p>
            <a:pPr indent="0" marL="0">
              <a:buNone/>
            </a:pPr>
            <a:r>
              <a:rPr lang="en-US" sz="1700" b="1" dirty="0">
                <a:solidFill>
                  <a:srgbClr val="0B3D2E"/>
                </a:solidFill>
              </a:rPr>
              <a:t>Everybody</a:t>
            </a:r>
            <a:endParaRPr lang="en-US" sz="1700" dirty="0"/>
          </a:p>
        </p:txBody>
      </p:sp>
      <p:sp>
        <p:nvSpPr>
          <p:cNvPr id="14" name="Text 12"/>
          <p:cNvSpPr txBox="1"/>
          <p:nvPr/>
        </p:nvSpPr>
        <p:spPr>
          <a:xfrm>
            <a:off x="6949440" y="1691640"/>
            <a:ext cx="1600200" cy="1463040"/>
          </a:xfrm>
          <a:prstGeom prst="rect">
            <a:avLst/>
          </a:prstGeom>
          <a:noFill/>
          <a:ln/>
        </p:spPr>
        <p:txBody>
          <a:bodyPr wrap="square" lIns="0" tIns="0" rIns="0" bIns="0" rtlCol="0" anchor="t"/>
          <a:lstStyle/>
          <a:p>
            <a:pPr indent="0" marL="0">
              <a:buNone/>
            </a:pPr>
            <a:r>
              <a:rPr lang="en-US" sz="1400" dirty="0">
                <a:solidFill>
                  <a:srgbClr val="1B1B1B"/>
                </a:solidFill>
              </a:rPr>
              <a:t>You stop hearing it. You do not stop being tired by it.</a:t>
            </a:r>
            <a:endParaRPr lang="en-US" sz="1400" dirty="0"/>
          </a:p>
        </p:txBody>
      </p:sp>
      <p:sp>
        <p:nvSpPr>
          <p:cNvPr id="15" name="Shape 13"/>
          <p:cNvSpPr/>
          <p:nvPr/>
        </p:nvSpPr>
        <p:spPr>
          <a:xfrm>
            <a:off x="457200" y="3520440"/>
            <a:ext cx="8229600" cy="914400"/>
          </a:xfrm>
          <a:prstGeom prst="roundRect">
            <a:avLst>
              <a:gd name="adj" fmla="val 10000"/>
            </a:avLst>
          </a:prstGeom>
          <a:solidFill>
            <a:srgbClr val="0B3D2E"/>
          </a:solidFill>
          <a:ln w="12700">
            <a:solidFill>
              <a:srgbClr val="0B3D2E"/>
            </a:solidFill>
            <a:prstDash val="solid"/>
          </a:ln>
        </p:spPr>
      </p:sp>
      <p:sp>
        <p:nvSpPr>
          <p:cNvPr id="16" name="Text 14"/>
          <p:cNvSpPr txBox="1"/>
          <p:nvPr/>
        </p:nvSpPr>
        <p:spPr>
          <a:xfrm>
            <a:off x="685800" y="3566160"/>
            <a:ext cx="7772400" cy="411480"/>
          </a:xfrm>
          <a:prstGeom prst="rect">
            <a:avLst/>
          </a:prstGeom>
          <a:noFill/>
          <a:ln/>
        </p:spPr>
        <p:txBody>
          <a:bodyPr wrap="square" lIns="0" tIns="0" rIns="0" bIns="0" rtlCol="0" anchor="ctr"/>
          <a:lstStyle/>
          <a:p>
            <a:pPr indent="0" marL="0">
              <a:buNone/>
            </a:pPr>
            <a:r>
              <a:rPr lang="en-US" sz="1600" b="1" dirty="0">
                <a:solidFill>
                  <a:srgbClr val="FFFFFF"/>
                </a:solidFill>
              </a:rPr>
              <a:t>Nobody wins an argument about noise. Somebody says it is fine, somebody says it is not.</a:t>
            </a:r>
            <a:endParaRPr lang="en-US" sz="1600" dirty="0"/>
          </a:p>
        </p:txBody>
      </p:sp>
      <p:sp>
        <p:nvSpPr>
          <p:cNvPr id="17" name="Text 15"/>
          <p:cNvSpPr txBox="1"/>
          <p:nvPr/>
        </p:nvSpPr>
        <p:spPr>
          <a:xfrm>
            <a:off x="685800" y="3977640"/>
            <a:ext cx="7772400" cy="411480"/>
          </a:xfrm>
          <a:prstGeom prst="rect">
            <a:avLst/>
          </a:prstGeom>
          <a:noFill/>
          <a:ln/>
        </p:spPr>
        <p:txBody>
          <a:bodyPr wrap="square" lIns="0" tIns="0" rIns="0" bIns="0" rtlCol="0" anchor="ctr"/>
          <a:lstStyle/>
          <a:p>
            <a:pPr indent="0" marL="0">
              <a:buNone/>
            </a:pPr>
            <a:r>
              <a:rPr lang="en-US" sz="1500" dirty="0">
                <a:solidFill>
                  <a:srgbClr val="A7C4B8"/>
                </a:solidFill>
              </a:rPr>
              <a:t>A number ends the argument. Today you build the thing that makes the number.</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Today: 100 minutes</a:t>
            </a:r>
            <a:endParaRPr lang="en-US" sz="3000" dirty="0"/>
          </a:p>
        </p:txBody>
      </p:sp>
      <p:sp>
        <p:nvSpPr>
          <p:cNvPr id="3" name="Shape 1"/>
          <p:cNvSpPr/>
          <p:nvPr/>
        </p:nvSpPr>
        <p:spPr>
          <a:xfrm>
            <a:off x="457200" y="1371600"/>
            <a:ext cx="603504" cy="1051560"/>
          </a:xfrm>
          <a:prstGeom prst="roundRect">
            <a:avLst>
              <a:gd name="adj" fmla="val 12121"/>
            </a:avLst>
          </a:prstGeom>
          <a:solidFill>
            <a:srgbClr val="0B3D2E"/>
          </a:solidFill>
          <a:ln w="12700">
            <a:solidFill>
              <a:srgbClr val="0B3D2E"/>
            </a:solidFill>
            <a:prstDash val="solid"/>
          </a:ln>
        </p:spPr>
      </p:sp>
      <p:sp>
        <p:nvSpPr>
          <p:cNvPr id="4" name="Text 2"/>
          <p:cNvSpPr txBox="1"/>
          <p:nvPr/>
        </p:nvSpPr>
        <p:spPr>
          <a:xfrm>
            <a:off x="566928" y="1463040"/>
            <a:ext cx="438912" cy="320040"/>
          </a:xfrm>
          <a:prstGeom prst="rect">
            <a:avLst/>
          </a:prstGeom>
          <a:noFill/>
          <a:ln/>
        </p:spPr>
        <p:txBody>
          <a:bodyPr wrap="square" lIns="0" tIns="0" rIns="0" bIns="0" rtlCol="0" anchor="ctr"/>
          <a:lstStyle/>
          <a:p>
            <a:pPr indent="0" marL="0">
              <a:buNone/>
            </a:pPr>
            <a:r>
              <a:rPr lang="en-US" sz="1500" b="1" dirty="0">
                <a:solidFill>
                  <a:srgbClr val="FFFFFF"/>
                </a:solidFill>
              </a:rPr>
              <a:t>Files</a:t>
            </a:r>
            <a:endParaRPr lang="en-US" sz="1500" dirty="0"/>
          </a:p>
        </p:txBody>
      </p:sp>
      <p:sp>
        <p:nvSpPr>
          <p:cNvPr id="5" name="Shape 3"/>
          <p:cNvSpPr/>
          <p:nvPr/>
        </p:nvSpPr>
        <p:spPr>
          <a:xfrm>
            <a:off x="1115568" y="1371600"/>
            <a:ext cx="1591056" cy="1051560"/>
          </a:xfrm>
          <a:prstGeom prst="roundRect">
            <a:avLst>
              <a:gd name="adj" fmla="val 6957"/>
            </a:avLst>
          </a:prstGeom>
          <a:solidFill>
            <a:srgbClr val="2B6CB0"/>
          </a:solidFill>
          <a:ln w="12700">
            <a:solidFill>
              <a:srgbClr val="2B6CB0"/>
            </a:solidFill>
            <a:prstDash val="solid"/>
          </a:ln>
        </p:spPr>
      </p:sp>
      <p:sp>
        <p:nvSpPr>
          <p:cNvPr id="6" name="Text 4"/>
          <p:cNvSpPr txBox="1"/>
          <p:nvPr/>
        </p:nvSpPr>
        <p:spPr>
          <a:xfrm>
            <a:off x="1225296" y="1463040"/>
            <a:ext cx="1426464" cy="320040"/>
          </a:xfrm>
          <a:prstGeom prst="rect">
            <a:avLst/>
          </a:prstGeom>
          <a:noFill/>
          <a:ln/>
        </p:spPr>
        <p:txBody>
          <a:bodyPr wrap="square" lIns="0" tIns="0" rIns="0" bIns="0" rtlCol="0" anchor="ctr"/>
          <a:lstStyle/>
          <a:p>
            <a:pPr indent="0" marL="0">
              <a:buNone/>
            </a:pPr>
            <a:r>
              <a:rPr lang="en-US" sz="1500" b="1" dirty="0">
                <a:solidFill>
                  <a:srgbClr val="FFFFFF"/>
                </a:solidFill>
              </a:rPr>
              <a:t>Steps 0</a:t>
            </a:r>
            <a:endParaRPr lang="en-US" sz="1500" dirty="0"/>
          </a:p>
        </p:txBody>
      </p:sp>
      <p:sp>
        <p:nvSpPr>
          <p:cNvPr id="7" name="Text 5"/>
          <p:cNvSpPr txBox="1"/>
          <p:nvPr/>
        </p:nvSpPr>
        <p:spPr>
          <a:xfrm>
            <a:off x="1225296" y="1783080"/>
            <a:ext cx="1426464" cy="548640"/>
          </a:xfrm>
          <a:prstGeom prst="rect">
            <a:avLst/>
          </a:prstGeom>
          <a:noFill/>
          <a:ln/>
        </p:spPr>
        <p:txBody>
          <a:bodyPr wrap="square" lIns="0" tIns="0" rIns="0" bIns="0" rtlCol="0" anchor="t"/>
          <a:lstStyle/>
          <a:p>
            <a:pPr indent="0" marL="0">
              <a:buNone/>
            </a:pPr>
            <a:r>
              <a:rPr lang="en-US" sz="1200" dirty="0">
                <a:solidFill>
                  <a:srgbClr val="D7EBE2"/>
                </a:solidFill>
              </a:rPr>
              <a:t>listen, then test the parts</a:t>
            </a:r>
            <a:endParaRPr lang="en-US" sz="1200" dirty="0"/>
          </a:p>
        </p:txBody>
      </p:sp>
      <p:sp>
        <p:nvSpPr>
          <p:cNvPr id="8" name="Shape 6"/>
          <p:cNvSpPr/>
          <p:nvPr/>
        </p:nvSpPr>
        <p:spPr>
          <a:xfrm>
            <a:off x="2761488" y="1371600"/>
            <a:ext cx="932688" cy="1051560"/>
          </a:xfrm>
          <a:prstGeom prst="roundRect">
            <a:avLst>
              <a:gd name="adj" fmla="val 7843"/>
            </a:avLst>
          </a:prstGeom>
          <a:solidFill>
            <a:srgbClr val="C98C00"/>
          </a:solidFill>
          <a:ln w="12700">
            <a:solidFill>
              <a:srgbClr val="C98C00"/>
            </a:solidFill>
            <a:prstDash val="solid"/>
          </a:ln>
        </p:spPr>
      </p:sp>
      <p:sp>
        <p:nvSpPr>
          <p:cNvPr id="9" name="Text 7"/>
          <p:cNvSpPr txBox="1"/>
          <p:nvPr/>
        </p:nvSpPr>
        <p:spPr>
          <a:xfrm>
            <a:off x="2871216" y="1463040"/>
            <a:ext cx="768096" cy="320040"/>
          </a:xfrm>
          <a:prstGeom prst="rect">
            <a:avLst/>
          </a:prstGeom>
          <a:noFill/>
          <a:ln/>
        </p:spPr>
        <p:txBody>
          <a:bodyPr wrap="square" lIns="0" tIns="0" rIns="0" bIns="0" rtlCol="0" anchor="ctr"/>
          <a:lstStyle/>
          <a:p>
            <a:pPr indent="0" marL="0">
              <a:buNone/>
            </a:pPr>
            <a:r>
              <a:rPr lang="en-US" sz="1500" b="1" dirty="0">
                <a:solidFill>
                  <a:srgbClr val="FFFFFF"/>
                </a:solidFill>
              </a:rPr>
              <a:t>Step 1</a:t>
            </a:r>
            <a:endParaRPr lang="en-US" sz="1500" dirty="0"/>
          </a:p>
        </p:txBody>
      </p:sp>
      <p:sp>
        <p:nvSpPr>
          <p:cNvPr id="10" name="Text 8"/>
          <p:cNvSpPr txBox="1"/>
          <p:nvPr/>
        </p:nvSpPr>
        <p:spPr>
          <a:xfrm>
            <a:off x="2871216" y="1783080"/>
            <a:ext cx="768096" cy="548640"/>
          </a:xfrm>
          <a:prstGeom prst="rect">
            <a:avLst/>
          </a:prstGeom>
          <a:noFill/>
          <a:ln/>
        </p:spPr>
        <p:txBody>
          <a:bodyPr wrap="square" lIns="0" tIns="0" rIns="0" bIns="0" rtlCol="0" anchor="t"/>
          <a:lstStyle/>
          <a:p>
            <a:pPr indent="0" marL="0">
              <a:buNone/>
            </a:pPr>
            <a:r>
              <a:rPr lang="en-US" sz="1200" dirty="0">
                <a:solidFill>
                  <a:srgbClr val="D7EBE2"/>
                </a:solidFill>
              </a:rPr>
              <a:t>you write level_for()</a:t>
            </a:r>
            <a:endParaRPr lang="en-US" sz="1200" dirty="0"/>
          </a:p>
        </p:txBody>
      </p:sp>
      <p:sp>
        <p:nvSpPr>
          <p:cNvPr id="11" name="Shape 9"/>
          <p:cNvSpPr/>
          <p:nvPr/>
        </p:nvSpPr>
        <p:spPr>
          <a:xfrm>
            <a:off x="3749040" y="1371600"/>
            <a:ext cx="1426464" cy="1051560"/>
          </a:xfrm>
          <a:prstGeom prst="roundRect">
            <a:avLst>
              <a:gd name="adj" fmla="val 6957"/>
            </a:avLst>
          </a:prstGeom>
          <a:solidFill>
            <a:srgbClr val="8E44AD"/>
          </a:solidFill>
          <a:ln w="12700">
            <a:solidFill>
              <a:srgbClr val="8E44AD"/>
            </a:solidFill>
            <a:prstDash val="solid"/>
          </a:ln>
        </p:spPr>
      </p:sp>
      <p:sp>
        <p:nvSpPr>
          <p:cNvPr id="12" name="Text 10"/>
          <p:cNvSpPr txBox="1"/>
          <p:nvPr/>
        </p:nvSpPr>
        <p:spPr>
          <a:xfrm>
            <a:off x="3858768" y="1463040"/>
            <a:ext cx="1261872" cy="320040"/>
          </a:xfrm>
          <a:prstGeom prst="rect">
            <a:avLst/>
          </a:prstGeom>
          <a:noFill/>
          <a:ln/>
        </p:spPr>
        <p:txBody>
          <a:bodyPr wrap="square" lIns="0" tIns="0" rIns="0" bIns="0" rtlCol="0" anchor="ctr"/>
          <a:lstStyle/>
          <a:p>
            <a:pPr indent="0" marL="0">
              <a:buNone/>
            </a:pPr>
            <a:r>
              <a:rPr lang="en-US" sz="1700" b="1" dirty="0">
                <a:solidFill>
                  <a:srgbClr val="FFFFFF"/>
                </a:solidFill>
              </a:rPr>
              <a:t>State</a:t>
            </a:r>
            <a:endParaRPr lang="en-US" sz="1700" dirty="0"/>
          </a:p>
        </p:txBody>
      </p:sp>
      <p:sp>
        <p:nvSpPr>
          <p:cNvPr id="13" name="Text 11"/>
          <p:cNvSpPr txBox="1"/>
          <p:nvPr/>
        </p:nvSpPr>
        <p:spPr>
          <a:xfrm>
            <a:off x="3858768" y="1783080"/>
            <a:ext cx="1261872" cy="548640"/>
          </a:xfrm>
          <a:prstGeom prst="rect">
            <a:avLst/>
          </a:prstGeom>
          <a:noFill/>
          <a:ln/>
        </p:spPr>
        <p:txBody>
          <a:bodyPr wrap="square" lIns="0" tIns="0" rIns="0" bIns="0" rtlCol="0" anchor="t"/>
          <a:lstStyle/>
          <a:p>
            <a:pPr indent="0" marL="0">
              <a:buNone/>
            </a:pPr>
            <a:r>
              <a:rPr lang="en-US" sz="1200" dirty="0">
                <a:solidFill>
                  <a:srgbClr val="D7EBE2"/>
                </a:solidFill>
              </a:rPr>
              <a:t>a program that remembers</a:t>
            </a:r>
            <a:endParaRPr lang="en-US" sz="1200" dirty="0"/>
          </a:p>
        </p:txBody>
      </p:sp>
      <p:sp>
        <p:nvSpPr>
          <p:cNvPr id="14" name="Shape 12"/>
          <p:cNvSpPr/>
          <p:nvPr/>
        </p:nvSpPr>
        <p:spPr>
          <a:xfrm>
            <a:off x="5230368" y="1371600"/>
            <a:ext cx="1920240" cy="1051560"/>
          </a:xfrm>
          <a:prstGeom prst="roundRect">
            <a:avLst>
              <a:gd name="adj" fmla="val 6957"/>
            </a:avLst>
          </a:prstGeom>
          <a:solidFill>
            <a:srgbClr val="1F8A70"/>
          </a:solidFill>
          <a:ln w="12700">
            <a:solidFill>
              <a:srgbClr val="1F8A70"/>
            </a:solidFill>
            <a:prstDash val="solid"/>
          </a:ln>
        </p:spPr>
      </p:sp>
      <p:sp>
        <p:nvSpPr>
          <p:cNvPr id="15" name="Text 13"/>
          <p:cNvSpPr txBox="1"/>
          <p:nvPr/>
        </p:nvSpPr>
        <p:spPr>
          <a:xfrm>
            <a:off x="5340096" y="1463040"/>
            <a:ext cx="1755648" cy="320040"/>
          </a:xfrm>
          <a:prstGeom prst="rect">
            <a:avLst/>
          </a:prstGeom>
          <a:noFill/>
          <a:ln/>
        </p:spPr>
        <p:txBody>
          <a:bodyPr wrap="square" lIns="0" tIns="0" rIns="0" bIns="0" rtlCol="0" anchor="ctr"/>
          <a:lstStyle/>
          <a:p>
            <a:pPr indent="0" marL="0">
              <a:buNone/>
            </a:pPr>
            <a:r>
              <a:rPr lang="en-US" sz="1500" b="1" dirty="0">
                <a:solidFill>
                  <a:srgbClr val="FFFFFF"/>
                </a:solidFill>
              </a:rPr>
              <a:t>Step 3</a:t>
            </a:r>
            <a:endParaRPr lang="en-US" sz="1500" dirty="0"/>
          </a:p>
        </p:txBody>
      </p:sp>
      <p:sp>
        <p:nvSpPr>
          <p:cNvPr id="16" name="Text 14"/>
          <p:cNvSpPr txBox="1"/>
          <p:nvPr/>
        </p:nvSpPr>
        <p:spPr>
          <a:xfrm>
            <a:off x="5340096" y="1783080"/>
            <a:ext cx="1755648" cy="548640"/>
          </a:xfrm>
          <a:prstGeom prst="rect">
            <a:avLst/>
          </a:prstGeom>
          <a:noFill/>
          <a:ln/>
        </p:spPr>
        <p:txBody>
          <a:bodyPr wrap="square" lIns="0" tIns="0" rIns="0" bIns="0" rtlCol="0" anchor="t"/>
          <a:lstStyle/>
          <a:p>
            <a:pPr indent="0" marL="0">
              <a:buNone/>
            </a:pPr>
            <a:r>
              <a:rPr lang="en-US" sz="1200" dirty="0">
                <a:solidFill>
                  <a:srgbClr val="D7EBE2"/>
                </a:solidFill>
              </a:rPr>
              <a:t>you write the counter</a:t>
            </a:r>
            <a:endParaRPr lang="en-US" sz="1200" dirty="0"/>
          </a:p>
        </p:txBody>
      </p:sp>
      <p:sp>
        <p:nvSpPr>
          <p:cNvPr id="17" name="Shape 15"/>
          <p:cNvSpPr/>
          <p:nvPr/>
        </p:nvSpPr>
        <p:spPr>
          <a:xfrm>
            <a:off x="7205472" y="1371600"/>
            <a:ext cx="1426464" cy="1051560"/>
          </a:xfrm>
          <a:prstGeom prst="roundRect">
            <a:avLst>
              <a:gd name="adj" fmla="val 6957"/>
            </a:avLst>
          </a:prstGeom>
          <a:solidFill>
            <a:srgbClr val="0B3D2E"/>
          </a:solidFill>
          <a:ln w="12700">
            <a:solidFill>
              <a:srgbClr val="0B3D2E"/>
            </a:solidFill>
            <a:prstDash val="solid"/>
          </a:ln>
        </p:spPr>
      </p:sp>
      <p:sp>
        <p:nvSpPr>
          <p:cNvPr id="18" name="Text 16"/>
          <p:cNvSpPr txBox="1"/>
          <p:nvPr/>
        </p:nvSpPr>
        <p:spPr>
          <a:xfrm>
            <a:off x="7315200" y="1463040"/>
            <a:ext cx="1261872" cy="320040"/>
          </a:xfrm>
          <a:prstGeom prst="rect">
            <a:avLst/>
          </a:prstGeom>
          <a:noFill/>
          <a:ln/>
        </p:spPr>
        <p:txBody>
          <a:bodyPr wrap="square" lIns="0" tIns="0" rIns="0" bIns="0" rtlCol="0" anchor="ctr"/>
          <a:lstStyle/>
          <a:p>
            <a:pPr indent="0" marL="0">
              <a:buNone/>
            </a:pPr>
            <a:r>
              <a:rPr lang="en-US" sz="1500" b="1" dirty="0">
                <a:solidFill>
                  <a:srgbClr val="FFFFFF"/>
                </a:solidFill>
              </a:rPr>
              <a:t>Real run</a:t>
            </a:r>
            <a:endParaRPr lang="en-US" sz="1500" dirty="0"/>
          </a:p>
        </p:txBody>
      </p:sp>
      <p:sp>
        <p:nvSpPr>
          <p:cNvPr id="19" name="Shape 17"/>
          <p:cNvSpPr/>
          <p:nvPr/>
        </p:nvSpPr>
        <p:spPr>
          <a:xfrm>
            <a:off x="457200" y="2468880"/>
            <a:ext cx="0" cy="137160"/>
          </a:xfrm>
          <a:prstGeom prst="line">
            <a:avLst/>
          </a:prstGeom>
          <a:noFill/>
          <a:ln w="12700">
            <a:solidFill>
              <a:srgbClr val="6B7280"/>
            </a:solidFill>
            <a:prstDash val="solid"/>
          </a:ln>
        </p:spPr>
      </p:sp>
      <p:sp>
        <p:nvSpPr>
          <p:cNvPr id="20" name="Text 18"/>
          <p:cNvSpPr txBox="1"/>
          <p:nvPr/>
        </p:nvSpPr>
        <p:spPr>
          <a:xfrm>
            <a:off x="228600" y="2624328"/>
            <a:ext cx="457200" cy="228600"/>
          </a:xfrm>
          <a:prstGeom prst="rect">
            <a:avLst/>
          </a:prstGeom>
          <a:noFill/>
          <a:ln/>
        </p:spPr>
        <p:txBody>
          <a:bodyPr wrap="square" lIns="0" tIns="0" rIns="0" bIns="0" rtlCol="0" anchor="ctr"/>
          <a:lstStyle/>
          <a:p>
            <a:pPr algn="ctr" indent="0" marL="0">
              <a:buNone/>
            </a:pPr>
            <a:r>
              <a:rPr lang="en-US" sz="1100" dirty="0">
                <a:solidFill>
                  <a:srgbClr val="6B7280"/>
                </a:solidFill>
              </a:rPr>
              <a:t>0</a:t>
            </a:r>
            <a:endParaRPr lang="en-US" sz="1100" dirty="0"/>
          </a:p>
        </p:txBody>
      </p:sp>
      <p:sp>
        <p:nvSpPr>
          <p:cNvPr id="21" name="Shape 19"/>
          <p:cNvSpPr/>
          <p:nvPr/>
        </p:nvSpPr>
        <p:spPr>
          <a:xfrm>
            <a:off x="1115568" y="2468880"/>
            <a:ext cx="0" cy="137160"/>
          </a:xfrm>
          <a:prstGeom prst="line">
            <a:avLst/>
          </a:prstGeom>
          <a:noFill/>
          <a:ln w="12700">
            <a:solidFill>
              <a:srgbClr val="6B7280"/>
            </a:solidFill>
            <a:prstDash val="solid"/>
          </a:ln>
        </p:spPr>
      </p:sp>
      <p:sp>
        <p:nvSpPr>
          <p:cNvPr id="22" name="Text 20"/>
          <p:cNvSpPr txBox="1"/>
          <p:nvPr/>
        </p:nvSpPr>
        <p:spPr>
          <a:xfrm>
            <a:off x="886968" y="2624328"/>
            <a:ext cx="457200" cy="228600"/>
          </a:xfrm>
          <a:prstGeom prst="rect">
            <a:avLst/>
          </a:prstGeom>
          <a:noFill/>
          <a:ln/>
        </p:spPr>
        <p:txBody>
          <a:bodyPr wrap="square" lIns="0" tIns="0" rIns="0" bIns="0" rtlCol="0" anchor="ctr"/>
          <a:lstStyle/>
          <a:p>
            <a:pPr algn="ctr" indent="0" marL="0">
              <a:buNone/>
            </a:pPr>
            <a:r>
              <a:rPr lang="en-US" sz="1100" dirty="0">
                <a:solidFill>
                  <a:srgbClr val="6B7280"/>
                </a:solidFill>
              </a:rPr>
              <a:t>8</a:t>
            </a:r>
            <a:endParaRPr lang="en-US" sz="1100" dirty="0"/>
          </a:p>
        </p:txBody>
      </p:sp>
      <p:sp>
        <p:nvSpPr>
          <p:cNvPr id="23" name="Shape 21"/>
          <p:cNvSpPr/>
          <p:nvPr/>
        </p:nvSpPr>
        <p:spPr>
          <a:xfrm>
            <a:off x="2761488" y="2468880"/>
            <a:ext cx="0" cy="137160"/>
          </a:xfrm>
          <a:prstGeom prst="line">
            <a:avLst/>
          </a:prstGeom>
          <a:noFill/>
          <a:ln w="12700">
            <a:solidFill>
              <a:srgbClr val="6B7280"/>
            </a:solidFill>
            <a:prstDash val="solid"/>
          </a:ln>
        </p:spPr>
      </p:sp>
      <p:sp>
        <p:nvSpPr>
          <p:cNvPr id="24" name="Text 22"/>
          <p:cNvSpPr txBox="1"/>
          <p:nvPr/>
        </p:nvSpPr>
        <p:spPr>
          <a:xfrm>
            <a:off x="2532888" y="2624328"/>
            <a:ext cx="457200" cy="228600"/>
          </a:xfrm>
          <a:prstGeom prst="rect">
            <a:avLst/>
          </a:prstGeom>
          <a:noFill/>
          <a:ln/>
        </p:spPr>
        <p:txBody>
          <a:bodyPr wrap="square" lIns="0" tIns="0" rIns="0" bIns="0" rtlCol="0" anchor="ctr"/>
          <a:lstStyle/>
          <a:p>
            <a:pPr algn="ctr" indent="0" marL="0">
              <a:buNone/>
            </a:pPr>
            <a:r>
              <a:rPr lang="en-US" sz="1100" dirty="0">
                <a:solidFill>
                  <a:srgbClr val="6B7280"/>
                </a:solidFill>
              </a:rPr>
              <a:t>28</a:t>
            </a:r>
            <a:endParaRPr lang="en-US" sz="1100" dirty="0"/>
          </a:p>
        </p:txBody>
      </p:sp>
      <p:sp>
        <p:nvSpPr>
          <p:cNvPr id="25" name="Shape 23"/>
          <p:cNvSpPr/>
          <p:nvPr/>
        </p:nvSpPr>
        <p:spPr>
          <a:xfrm>
            <a:off x="3749040" y="2468880"/>
            <a:ext cx="0" cy="137160"/>
          </a:xfrm>
          <a:prstGeom prst="line">
            <a:avLst/>
          </a:prstGeom>
          <a:noFill/>
          <a:ln w="12700">
            <a:solidFill>
              <a:srgbClr val="6B7280"/>
            </a:solidFill>
            <a:prstDash val="solid"/>
          </a:ln>
        </p:spPr>
      </p:sp>
      <p:sp>
        <p:nvSpPr>
          <p:cNvPr id="26" name="Text 24"/>
          <p:cNvSpPr txBox="1"/>
          <p:nvPr/>
        </p:nvSpPr>
        <p:spPr>
          <a:xfrm>
            <a:off x="3520440" y="2624328"/>
            <a:ext cx="457200" cy="228600"/>
          </a:xfrm>
          <a:prstGeom prst="rect">
            <a:avLst/>
          </a:prstGeom>
          <a:noFill/>
          <a:ln/>
        </p:spPr>
        <p:txBody>
          <a:bodyPr wrap="square" lIns="0" tIns="0" rIns="0" bIns="0" rtlCol="0" anchor="ctr"/>
          <a:lstStyle/>
          <a:p>
            <a:pPr algn="ctr" indent="0" marL="0">
              <a:buNone/>
            </a:pPr>
            <a:r>
              <a:rPr lang="en-US" sz="1100" dirty="0">
                <a:solidFill>
                  <a:srgbClr val="6B7280"/>
                </a:solidFill>
              </a:rPr>
              <a:t>40</a:t>
            </a:r>
            <a:endParaRPr lang="en-US" sz="1100" dirty="0"/>
          </a:p>
        </p:txBody>
      </p:sp>
      <p:sp>
        <p:nvSpPr>
          <p:cNvPr id="27" name="Shape 25"/>
          <p:cNvSpPr/>
          <p:nvPr/>
        </p:nvSpPr>
        <p:spPr>
          <a:xfrm>
            <a:off x="5230368" y="2468880"/>
            <a:ext cx="0" cy="137160"/>
          </a:xfrm>
          <a:prstGeom prst="line">
            <a:avLst/>
          </a:prstGeom>
          <a:noFill/>
          <a:ln w="12700">
            <a:solidFill>
              <a:srgbClr val="6B7280"/>
            </a:solidFill>
            <a:prstDash val="solid"/>
          </a:ln>
        </p:spPr>
      </p:sp>
      <p:sp>
        <p:nvSpPr>
          <p:cNvPr id="28" name="Text 26"/>
          <p:cNvSpPr txBox="1"/>
          <p:nvPr/>
        </p:nvSpPr>
        <p:spPr>
          <a:xfrm>
            <a:off x="5001768" y="2624328"/>
            <a:ext cx="457200" cy="228600"/>
          </a:xfrm>
          <a:prstGeom prst="rect">
            <a:avLst/>
          </a:prstGeom>
          <a:noFill/>
          <a:ln/>
        </p:spPr>
        <p:txBody>
          <a:bodyPr wrap="square" lIns="0" tIns="0" rIns="0" bIns="0" rtlCol="0" anchor="ctr"/>
          <a:lstStyle/>
          <a:p>
            <a:pPr algn="ctr" indent="0" marL="0">
              <a:buNone/>
            </a:pPr>
            <a:r>
              <a:rPr lang="en-US" sz="1100" dirty="0">
                <a:solidFill>
                  <a:srgbClr val="6B7280"/>
                </a:solidFill>
              </a:rPr>
              <a:t>58</a:t>
            </a:r>
            <a:endParaRPr lang="en-US" sz="1100" dirty="0"/>
          </a:p>
        </p:txBody>
      </p:sp>
      <p:sp>
        <p:nvSpPr>
          <p:cNvPr id="29" name="Shape 27"/>
          <p:cNvSpPr/>
          <p:nvPr/>
        </p:nvSpPr>
        <p:spPr>
          <a:xfrm>
            <a:off x="7205472" y="2468880"/>
            <a:ext cx="0" cy="137160"/>
          </a:xfrm>
          <a:prstGeom prst="line">
            <a:avLst/>
          </a:prstGeom>
          <a:noFill/>
          <a:ln w="12700">
            <a:solidFill>
              <a:srgbClr val="6B7280"/>
            </a:solidFill>
            <a:prstDash val="solid"/>
          </a:ln>
        </p:spPr>
      </p:sp>
      <p:sp>
        <p:nvSpPr>
          <p:cNvPr id="30" name="Text 28"/>
          <p:cNvSpPr txBox="1"/>
          <p:nvPr/>
        </p:nvSpPr>
        <p:spPr>
          <a:xfrm>
            <a:off x="6976872" y="2624328"/>
            <a:ext cx="457200" cy="228600"/>
          </a:xfrm>
          <a:prstGeom prst="rect">
            <a:avLst/>
          </a:prstGeom>
          <a:noFill/>
          <a:ln/>
        </p:spPr>
        <p:txBody>
          <a:bodyPr wrap="square" lIns="0" tIns="0" rIns="0" bIns="0" rtlCol="0" anchor="ctr"/>
          <a:lstStyle/>
          <a:p>
            <a:pPr algn="ctr" indent="0" marL="0">
              <a:buNone/>
            </a:pPr>
            <a:r>
              <a:rPr lang="en-US" sz="1100" dirty="0">
                <a:solidFill>
                  <a:srgbClr val="6B7280"/>
                </a:solidFill>
              </a:rPr>
              <a:t>82</a:t>
            </a:r>
            <a:endParaRPr lang="en-US" sz="1100" dirty="0"/>
          </a:p>
        </p:txBody>
      </p:sp>
      <p:sp>
        <p:nvSpPr>
          <p:cNvPr id="31" name="Shape 29"/>
          <p:cNvSpPr/>
          <p:nvPr/>
        </p:nvSpPr>
        <p:spPr>
          <a:xfrm>
            <a:off x="8686800" y="2468880"/>
            <a:ext cx="0" cy="137160"/>
          </a:xfrm>
          <a:prstGeom prst="line">
            <a:avLst/>
          </a:prstGeom>
          <a:noFill/>
          <a:ln w="12700">
            <a:solidFill>
              <a:srgbClr val="6B7280"/>
            </a:solidFill>
            <a:prstDash val="solid"/>
          </a:ln>
        </p:spPr>
      </p:sp>
      <p:sp>
        <p:nvSpPr>
          <p:cNvPr id="32" name="Text 30"/>
          <p:cNvSpPr txBox="1"/>
          <p:nvPr/>
        </p:nvSpPr>
        <p:spPr>
          <a:xfrm>
            <a:off x="8458200" y="2624328"/>
            <a:ext cx="457200" cy="228600"/>
          </a:xfrm>
          <a:prstGeom prst="rect">
            <a:avLst/>
          </a:prstGeom>
          <a:noFill/>
          <a:ln/>
        </p:spPr>
        <p:txBody>
          <a:bodyPr wrap="square" lIns="0" tIns="0" rIns="0" bIns="0" rtlCol="0" anchor="ctr"/>
          <a:lstStyle/>
          <a:p>
            <a:pPr algn="ctr" indent="0" marL="0">
              <a:buNone/>
            </a:pPr>
            <a:r>
              <a:rPr lang="en-US" sz="1100" dirty="0">
                <a:solidFill>
                  <a:srgbClr val="6B7280"/>
                </a:solidFill>
              </a:rPr>
              <a:t>100</a:t>
            </a:r>
            <a:endParaRPr lang="en-US" sz="1100" dirty="0"/>
          </a:p>
        </p:txBody>
      </p:sp>
      <p:sp>
        <p:nvSpPr>
          <p:cNvPr id="33" name="Text 31"/>
          <p:cNvSpPr txBox="1"/>
          <p:nvPr/>
        </p:nvSpPr>
        <p:spPr>
          <a:xfrm>
            <a:off x="8412480" y="2834640"/>
            <a:ext cx="457200" cy="228600"/>
          </a:xfrm>
          <a:prstGeom prst="rect">
            <a:avLst/>
          </a:prstGeom>
          <a:noFill/>
          <a:ln/>
        </p:spPr>
        <p:txBody>
          <a:bodyPr wrap="square" lIns="0" tIns="0" rIns="0" bIns="0" rtlCol="0" anchor="ctr"/>
          <a:lstStyle/>
          <a:p>
            <a:pPr indent="0" marL="0">
              <a:buNone/>
            </a:pPr>
            <a:r>
              <a:rPr lang="en-US" sz="1100" dirty="0">
                <a:solidFill>
                  <a:srgbClr val="6B7280"/>
                </a:solidFill>
              </a:rPr>
              <a:t>min</a:t>
            </a:r>
            <a:endParaRPr lang="en-US" sz="1100" dirty="0"/>
          </a:p>
        </p:txBody>
      </p:sp>
      <p:sp>
        <p:nvSpPr>
          <p:cNvPr id="34" name="Text 32"/>
          <p:cNvSpPr txBox="1"/>
          <p:nvPr/>
        </p:nvSpPr>
        <p:spPr>
          <a:xfrm>
            <a:off x="457200" y="3154680"/>
            <a:ext cx="8229600" cy="548640"/>
          </a:xfrm>
          <a:prstGeom prst="rect">
            <a:avLst/>
          </a:prstGeom>
          <a:noFill/>
          <a:ln/>
        </p:spPr>
        <p:txBody>
          <a:bodyPr wrap="square" lIns="0" tIns="0" rIns="0" bIns="0" rtlCol="0" anchor="ctr"/>
          <a:lstStyle/>
          <a:p>
            <a:pPr indent="0" marL="0">
              <a:buNone/>
            </a:pPr>
            <a:r>
              <a:rPr lang="en-US" sz="1600" b="1" dirty="0">
                <a:solidFill>
                  <a:srgbClr val="0B3D2E"/>
                </a:solidFill>
              </a:rPr>
              <a:t>Three new ideas today: measuring something that will not hold still, a program that remembers, and how to find a bug on purpose instead of by luck.</a:t>
            </a:r>
            <a:endParaRPr lang="en-US" sz="1600" dirty="0"/>
          </a:p>
        </p:txBody>
      </p:sp>
      <p:sp>
        <p:nvSpPr>
          <p:cNvPr id="35" name="Shape 33"/>
          <p:cNvSpPr/>
          <p:nvPr/>
        </p:nvSpPr>
        <p:spPr>
          <a:xfrm>
            <a:off x="457200" y="3840480"/>
            <a:ext cx="8229600" cy="502920"/>
          </a:xfrm>
          <a:prstGeom prst="roundRect">
            <a:avLst>
              <a:gd name="adj" fmla="val 14545"/>
            </a:avLst>
          </a:prstGeom>
          <a:solidFill>
            <a:srgbClr val="DDF3E9"/>
          </a:solidFill>
          <a:ln w="15875">
            <a:solidFill>
              <a:srgbClr val="1F8A70"/>
            </a:solidFill>
            <a:prstDash val="solid"/>
          </a:ln>
        </p:spPr>
      </p:sp>
      <p:sp>
        <p:nvSpPr>
          <p:cNvPr id="36" name="Text 34"/>
          <p:cNvSpPr txBox="1"/>
          <p:nvPr/>
        </p:nvSpPr>
        <p:spPr>
          <a:xfrm>
            <a:off x="594360" y="3840480"/>
            <a:ext cx="7955280" cy="50292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By minute 40 every group has an LED bar that follows their voice.</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Get today's files</a:t>
            </a:r>
            <a:endParaRPr lang="en-US" sz="3000" dirty="0"/>
          </a:p>
        </p:txBody>
      </p:sp>
      <p:sp>
        <p:nvSpPr>
          <p:cNvPr id="3" name="Shape 1"/>
          <p:cNvSpPr/>
          <p:nvPr/>
        </p:nvSpPr>
        <p:spPr>
          <a:xfrm>
            <a:off x="457200" y="1051560"/>
            <a:ext cx="5029200" cy="2103120"/>
          </a:xfrm>
          <a:prstGeom prst="roundRect">
            <a:avLst>
              <a:gd name="adj" fmla="val 3478"/>
            </a:avLst>
          </a:prstGeom>
          <a:solidFill>
            <a:srgbClr val="1E1E1E"/>
          </a:solidFill>
          <a:ln w="12700">
            <a:solidFill>
              <a:srgbClr val="3A3A3A"/>
            </a:solidFill>
            <a:prstDash val="solid"/>
          </a:ln>
        </p:spPr>
      </p:sp>
      <p:sp>
        <p:nvSpPr>
          <p:cNvPr id="4" name="Shape 2"/>
          <p:cNvSpPr/>
          <p:nvPr/>
        </p:nvSpPr>
        <p:spPr>
          <a:xfrm>
            <a:off x="594360" y="1143000"/>
            <a:ext cx="118872" cy="118872"/>
          </a:xfrm>
          <a:prstGeom prst="ellipse">
            <a:avLst/>
          </a:prstGeom>
          <a:solidFill>
            <a:srgbClr val="FF5F57"/>
          </a:solidFill>
          <a:ln w="12700">
            <a:solidFill>
              <a:srgbClr val="FF5F57"/>
            </a:solidFill>
            <a:prstDash val="solid"/>
          </a:ln>
        </p:spPr>
      </p:sp>
      <p:sp>
        <p:nvSpPr>
          <p:cNvPr id="5" name="Shape 3"/>
          <p:cNvSpPr/>
          <p:nvPr/>
        </p:nvSpPr>
        <p:spPr>
          <a:xfrm>
            <a:off x="777240" y="1143000"/>
            <a:ext cx="118872" cy="118872"/>
          </a:xfrm>
          <a:prstGeom prst="ellipse">
            <a:avLst/>
          </a:prstGeom>
          <a:solidFill>
            <a:srgbClr val="FEBC2E"/>
          </a:solidFill>
          <a:ln w="12700">
            <a:solidFill>
              <a:srgbClr val="FEBC2E"/>
            </a:solidFill>
            <a:prstDash val="solid"/>
          </a:ln>
        </p:spPr>
      </p:sp>
      <p:sp>
        <p:nvSpPr>
          <p:cNvPr id="6" name="Shape 4"/>
          <p:cNvSpPr/>
          <p:nvPr/>
        </p:nvSpPr>
        <p:spPr>
          <a:xfrm>
            <a:off x="960120" y="1143000"/>
            <a:ext cx="118872" cy="118872"/>
          </a:xfrm>
          <a:prstGeom prst="ellipse">
            <a:avLst/>
          </a:prstGeom>
          <a:solidFill>
            <a:srgbClr val="28C840"/>
          </a:solidFill>
          <a:ln w="12700">
            <a:solidFill>
              <a:srgbClr val="28C840"/>
            </a:solidFill>
            <a:prstDash val="solid"/>
          </a:ln>
        </p:spPr>
      </p:sp>
      <p:sp>
        <p:nvSpPr>
          <p:cNvPr id="7" name="Text 5"/>
          <p:cNvSpPr txBox="1"/>
          <p:nvPr/>
        </p:nvSpPr>
        <p:spPr>
          <a:xfrm>
            <a:off x="457200" y="1106424"/>
            <a:ext cx="5029200" cy="201168"/>
          </a:xfrm>
          <a:prstGeom prst="rect">
            <a:avLst/>
          </a:prstGeom>
          <a:noFill/>
          <a:ln/>
        </p:spPr>
        <p:txBody>
          <a:bodyPr wrap="square" lIns="0" tIns="0" rIns="0" bIns="0" rtlCol="0" anchor="ctr"/>
          <a:lstStyle/>
          <a:p>
            <a:pPr algn="ctr" indent="0" marL="0">
              <a:buNone/>
            </a:pPr>
            <a:r>
              <a:rPr lang="en-US" sz="1000" dirty="0">
                <a:solidFill>
                  <a:srgbClr val="9E9E9E"/>
                </a:solidFill>
              </a:rPr>
              <a:t>Terminal</a:t>
            </a:r>
            <a:endParaRPr lang="en-US" sz="1000" dirty="0"/>
          </a:p>
        </p:txBody>
      </p:sp>
      <p:sp>
        <p:nvSpPr>
          <p:cNvPr id="8" name="Text 6"/>
          <p:cNvSpPr txBox="1"/>
          <p:nvPr/>
        </p:nvSpPr>
        <p:spPr>
          <a:xfrm>
            <a:off x="621792" y="1399032"/>
            <a:ext cx="4700016" cy="1645920"/>
          </a:xfrm>
          <a:prstGeom prst="rect">
            <a:avLst/>
          </a:prstGeom>
          <a:noFill/>
          <a:ln/>
        </p:spPr>
        <p:txBody>
          <a:bodyPr wrap="square" lIns="0" tIns="0" rIns="0" bIns="0" rtlCol="0" anchor="t"/>
          <a:lstStyle/>
          <a:p>
            <a:pPr indent="0" marL="0">
              <a:spcAft>
                <a:spcPts val="200"/>
              </a:spcAft>
              <a:buNone/>
            </a:pPr>
            <a:r>
              <a:rPr lang="en-US" sz="1200" dirty="0">
                <a:solidFill>
                  <a:srgbClr val="8FA3AD"/>
                </a:solidFill>
                <a:latin typeface="Courier New" pitchFamily="34" charset="0"/>
                <a:ea typeface="Courier New" pitchFamily="34" charset="-122"/>
                <a:cs typeface="Courier New" pitchFamily="34" charset="-120"/>
              </a:rPr>
              <a:t>MacBook:~ s20xxxxxx$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~/JA05</a:t>
            </a:r>
            <a:endParaRPr lang="en-US" sz="1200" dirty="0"/>
          </a:p>
          <a:p>
            <a:pPr indent="0" marL="0">
              <a:spcAft>
                <a:spcPts val="200"/>
              </a:spcAft>
              <a:buNone/>
            </a:pPr>
            <a:r>
              <a:rPr lang="en-US" sz="1200" dirty="0">
                <a:solidFill>
                  <a:srgbClr val="8FA3AD"/>
                </a:solidFill>
                <a:latin typeface="Courier New" pitchFamily="34" charset="0"/>
                <a:ea typeface="Courier New" pitchFamily="34" charset="-122"/>
                <a:cs typeface="Courier New" pitchFamily="34" charset="-120"/>
              </a:rPr>
              <a:t>MacBook:JA05 s20xxxxxx$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./get_latest.sh</a:t>
            </a:r>
            <a:endParaRPr lang="en-US" sz="1200" dirty="0"/>
          </a:p>
          <a:p>
            <a:pPr indent="0" marL="0">
              <a:spcAft>
                <a:spcPts val="200"/>
              </a:spcAft>
              <a:buNone/>
            </a:pPr>
            <a:r>
              <a:rPr lang="en-US" sz="1200" dirty="0">
                <a:solidFill>
                  <a:srgbClr val="B9C7BF"/>
                </a:solidFill>
                <a:latin typeface="Courier New" pitchFamily="34" charset="0"/>
                <a:ea typeface="Courier New" pitchFamily="34" charset="-122"/>
                <a:cs typeface="Courier New" pitchFamily="34" charset="-120"/>
              </a:rPr>
              <a:t>Checking GitHub for new files...</a:t>
            </a:r>
            <a:endParaRPr lang="en-US" sz="1200" dirty="0"/>
          </a:p>
          <a:p>
            <a:pPr indent="0" marL="0">
              <a:spcAft>
                <a:spcPts val="200"/>
              </a:spcAft>
              <a:buNone/>
            </a:pPr>
            <a:r>
              <a:rPr lang="en-US" sz="1200" b="1" dirty="0">
                <a:solidFill>
                  <a:srgbClr val="F2A900"/>
                </a:solidFill>
                <a:latin typeface="Courier New" pitchFamily="34" charset="0"/>
                <a:ea typeface="Courier New" pitchFamily="34" charset="-122"/>
                <a:cs typeface="Courier New" pitchFamily="34" charset="-120"/>
              </a:rPr>
              <a:t>Done. You have the latest files.</a:t>
            </a:r>
            <a:endParaRPr lang="en-US" sz="1200" dirty="0"/>
          </a:p>
          <a:p>
            <a:pPr indent="0" marL="0">
              <a:spcAft>
                <a:spcPts val="200"/>
              </a:spcAft>
              <a:buNone/>
            </a:pPr>
            <a:endParaRPr lang="en-US" sz="1200" dirty="0"/>
          </a:p>
          <a:p>
            <a:pPr indent="0" marL="0">
              <a:spcAft>
                <a:spcPts val="200"/>
              </a:spcAft>
              <a:buNone/>
            </a:pPr>
            <a:r>
              <a:rPr lang="en-US" sz="1200" dirty="0">
                <a:solidFill>
                  <a:srgbClr val="B9C7BF"/>
                </a:solidFill>
                <a:latin typeface="Courier New" pitchFamily="34" charset="0"/>
                <a:ea typeface="Courier New" pitchFamily="34" charset="-122"/>
                <a:cs typeface="Courier New" pitchFamily="34" charset="-120"/>
              </a:rPr>
              <a:t>New folder: </a:t>
            </a:r>
            <a:pPr indent="0" marL="0">
              <a:spcAft>
                <a:spcPts val="200"/>
              </a:spcAft>
              <a:buNone/>
            </a:pPr>
            <a:r>
              <a:rPr lang="en-US" sz="1200" b="1" dirty="0">
                <a:solidFill>
                  <a:srgbClr val="F2A900"/>
                </a:solidFill>
                <a:latin typeface="Courier New" pitchFamily="34" charset="0"/>
                <a:ea typeface="Courier New" pitchFamily="34" charset="-122"/>
                <a:cs typeface="Courier New" pitchFamily="34" charset="-120"/>
              </a:rPr>
              <a:t>20261030_L6</a:t>
            </a:r>
            <a:endParaRPr lang="en-US" sz="1200" dirty="0"/>
          </a:p>
        </p:txBody>
      </p:sp>
      <p:sp>
        <p:nvSpPr>
          <p:cNvPr id="9" name="Shape 7"/>
          <p:cNvSpPr/>
          <p:nvPr/>
        </p:nvSpPr>
        <p:spPr>
          <a:xfrm>
            <a:off x="5760720" y="1115568"/>
            <a:ext cx="329184" cy="329184"/>
          </a:xfrm>
          <a:prstGeom prst="ellipse">
            <a:avLst/>
          </a:prstGeom>
          <a:solidFill>
            <a:srgbClr val="F2A900"/>
          </a:solidFill>
          <a:ln w="12700">
            <a:solidFill>
              <a:srgbClr val="C98C00"/>
            </a:solidFill>
            <a:prstDash val="solid"/>
          </a:ln>
        </p:spPr>
      </p:sp>
      <p:sp>
        <p:nvSpPr>
          <p:cNvPr id="10" name="Text 8"/>
          <p:cNvSpPr txBox="1"/>
          <p:nvPr/>
        </p:nvSpPr>
        <p:spPr>
          <a:xfrm>
            <a:off x="5760720" y="11155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1</a:t>
            </a:r>
            <a:endParaRPr lang="en-US" sz="1300" dirty="0"/>
          </a:p>
        </p:txBody>
      </p:sp>
      <p:sp>
        <p:nvSpPr>
          <p:cNvPr id="11" name="Text 9"/>
          <p:cNvSpPr txBox="1"/>
          <p:nvPr/>
        </p:nvSpPr>
        <p:spPr>
          <a:xfrm>
            <a:off x="6217920" y="1097280"/>
            <a:ext cx="2468880" cy="384048"/>
          </a:xfrm>
          <a:prstGeom prst="rect">
            <a:avLst/>
          </a:prstGeom>
          <a:noFill/>
          <a:ln/>
        </p:spPr>
        <p:txBody>
          <a:bodyPr wrap="square" lIns="0" tIns="0" rIns="0" bIns="0" rtlCol="0" anchor="ctr"/>
          <a:lstStyle/>
          <a:p>
            <a:pPr indent="0" marL="0">
              <a:buNone/>
            </a:pPr>
            <a:r>
              <a:rPr lang="en-US" sz="1500" dirty="0">
                <a:solidFill>
                  <a:srgbClr val="1B1B1B"/>
                </a:solidFill>
              </a:rPr>
              <a:t>Saves anything you changed into my_work</a:t>
            </a:r>
            <a:endParaRPr lang="en-US" sz="1500" dirty="0"/>
          </a:p>
        </p:txBody>
      </p:sp>
      <p:sp>
        <p:nvSpPr>
          <p:cNvPr id="12" name="Shape 10"/>
          <p:cNvSpPr/>
          <p:nvPr/>
        </p:nvSpPr>
        <p:spPr>
          <a:xfrm>
            <a:off x="5760720" y="1801368"/>
            <a:ext cx="329184" cy="329184"/>
          </a:xfrm>
          <a:prstGeom prst="ellipse">
            <a:avLst/>
          </a:prstGeom>
          <a:solidFill>
            <a:srgbClr val="F2A900"/>
          </a:solidFill>
          <a:ln w="12700">
            <a:solidFill>
              <a:srgbClr val="C98C00"/>
            </a:solidFill>
            <a:prstDash val="solid"/>
          </a:ln>
        </p:spPr>
      </p:sp>
      <p:sp>
        <p:nvSpPr>
          <p:cNvPr id="13" name="Text 11"/>
          <p:cNvSpPr txBox="1"/>
          <p:nvPr/>
        </p:nvSpPr>
        <p:spPr>
          <a:xfrm>
            <a:off x="5760720" y="18013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2</a:t>
            </a:r>
            <a:endParaRPr lang="en-US" sz="1300" dirty="0"/>
          </a:p>
        </p:txBody>
      </p:sp>
      <p:sp>
        <p:nvSpPr>
          <p:cNvPr id="14" name="Text 12"/>
          <p:cNvSpPr txBox="1"/>
          <p:nvPr/>
        </p:nvSpPr>
        <p:spPr>
          <a:xfrm>
            <a:off x="6217920" y="1783080"/>
            <a:ext cx="2468880" cy="384048"/>
          </a:xfrm>
          <a:prstGeom prst="rect">
            <a:avLst/>
          </a:prstGeom>
          <a:noFill/>
          <a:ln/>
        </p:spPr>
        <p:txBody>
          <a:bodyPr wrap="square" lIns="0" tIns="0" rIns="0" bIns="0" rtlCol="0" anchor="ctr"/>
          <a:lstStyle/>
          <a:p>
            <a:pPr indent="0" marL="0">
              <a:buNone/>
            </a:pPr>
            <a:r>
              <a:rPr lang="en-US" sz="1500" dirty="0">
                <a:solidFill>
                  <a:srgbClr val="1B1B1B"/>
                </a:solidFill>
              </a:rPr>
              <a:t>Gets the newest files from GitHub</a:t>
            </a:r>
            <a:endParaRPr lang="en-US" sz="1500" dirty="0"/>
          </a:p>
        </p:txBody>
      </p:sp>
      <p:sp>
        <p:nvSpPr>
          <p:cNvPr id="15" name="Shape 13"/>
          <p:cNvSpPr/>
          <p:nvPr/>
        </p:nvSpPr>
        <p:spPr>
          <a:xfrm>
            <a:off x="5760720" y="2487168"/>
            <a:ext cx="329184" cy="329184"/>
          </a:xfrm>
          <a:prstGeom prst="ellipse">
            <a:avLst/>
          </a:prstGeom>
          <a:solidFill>
            <a:srgbClr val="F2A900"/>
          </a:solidFill>
          <a:ln w="12700">
            <a:solidFill>
              <a:srgbClr val="C98C00"/>
            </a:solidFill>
            <a:prstDash val="solid"/>
          </a:ln>
        </p:spPr>
      </p:sp>
      <p:sp>
        <p:nvSpPr>
          <p:cNvPr id="16" name="Text 14"/>
          <p:cNvSpPr txBox="1"/>
          <p:nvPr/>
        </p:nvSpPr>
        <p:spPr>
          <a:xfrm>
            <a:off x="5760720" y="24871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3</a:t>
            </a:r>
            <a:endParaRPr lang="en-US" sz="1300" dirty="0"/>
          </a:p>
        </p:txBody>
      </p:sp>
      <p:sp>
        <p:nvSpPr>
          <p:cNvPr id="17" name="Text 15"/>
          <p:cNvSpPr txBox="1"/>
          <p:nvPr/>
        </p:nvSpPr>
        <p:spPr>
          <a:xfrm>
            <a:off x="6217920" y="2468880"/>
            <a:ext cx="2468880" cy="384048"/>
          </a:xfrm>
          <a:prstGeom prst="rect">
            <a:avLst/>
          </a:prstGeom>
          <a:noFill/>
          <a:ln/>
        </p:spPr>
        <p:txBody>
          <a:bodyPr wrap="square" lIns="0" tIns="0" rIns="0" bIns="0" rtlCol="0" anchor="ctr"/>
          <a:lstStyle/>
          <a:p>
            <a:pPr indent="0" marL="0">
              <a:buNone/>
            </a:pPr>
            <a:r>
              <a:rPr lang="en-US" sz="1500" dirty="0">
                <a:solidFill>
                  <a:srgbClr val="1B1B1B"/>
                </a:solidFill>
              </a:rPr>
              <a:t>Never touches your ESP32</a:t>
            </a:r>
            <a:endParaRPr lang="en-US" sz="1500" dirty="0"/>
          </a:p>
        </p:txBody>
      </p:sp>
      <p:sp>
        <p:nvSpPr>
          <p:cNvPr id="18" name="Shape 16"/>
          <p:cNvSpPr/>
          <p:nvPr/>
        </p:nvSpPr>
        <p:spPr>
          <a:xfrm>
            <a:off x="457200" y="3383280"/>
            <a:ext cx="5029200" cy="548640"/>
          </a:xfrm>
          <a:prstGeom prst="roundRect">
            <a:avLst>
              <a:gd name="adj" fmla="val 13333"/>
            </a:avLst>
          </a:prstGeom>
          <a:solidFill>
            <a:srgbClr val="DDF3E9"/>
          </a:solidFill>
          <a:ln w="15875">
            <a:solidFill>
              <a:srgbClr val="1F8A70"/>
            </a:solidFill>
            <a:prstDash val="solid"/>
          </a:ln>
        </p:spPr>
      </p:sp>
      <p:sp>
        <p:nvSpPr>
          <p:cNvPr id="19" name="Text 17"/>
          <p:cNvSpPr txBox="1"/>
          <p:nvPr/>
        </p:nvSpPr>
        <p:spPr>
          <a:xfrm>
            <a:off x="594360" y="3383280"/>
            <a:ext cx="4754880" cy="54864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A folder 20261030_L6 appears in JA05.</a:t>
            </a:r>
            <a:endParaRPr lang="en-US" sz="1400" dirty="0"/>
          </a:p>
        </p:txBody>
      </p:sp>
      <p:sp>
        <p:nvSpPr>
          <p:cNvPr id="20" name="Shape 18"/>
          <p:cNvSpPr/>
          <p:nvPr/>
        </p:nvSpPr>
        <p:spPr>
          <a:xfrm>
            <a:off x="457200" y="4023360"/>
            <a:ext cx="5029200" cy="457200"/>
          </a:xfrm>
          <a:prstGeom prst="roundRect">
            <a:avLst>
              <a:gd name="adj" fmla="val 16000"/>
            </a:avLst>
          </a:prstGeom>
          <a:solidFill>
            <a:srgbClr val="FFF4D6"/>
          </a:solidFill>
          <a:ln w="12700">
            <a:solidFill>
              <a:srgbClr val="E0A800"/>
            </a:solidFill>
            <a:prstDash val="solid"/>
          </a:ln>
        </p:spPr>
      </p:sp>
      <p:sp>
        <p:nvSpPr>
          <p:cNvPr id="21" name="Text 19"/>
          <p:cNvSpPr txBox="1"/>
          <p:nvPr/>
        </p:nvSpPr>
        <p:spPr>
          <a:xfrm>
            <a:off x="594360" y="4023360"/>
            <a:ext cx="4754880" cy="45720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permission denied? Type:  bash get_latest.sh</a:t>
            </a:r>
            <a:endParaRPr lang="en-US" sz="1400" dirty="0"/>
          </a:p>
        </p:txBody>
      </p:sp>
      <p:sp>
        <p:nvSpPr>
          <p:cNvPr id="22" name="Text 20"/>
          <p:cNvSpPr txBox="1"/>
          <p:nvPr/>
        </p:nvSpPr>
        <p:spPr>
          <a:xfrm>
            <a:off x="5760720" y="3383280"/>
            <a:ext cx="2926080" cy="1097280"/>
          </a:xfrm>
          <a:prstGeom prst="rect">
            <a:avLst/>
          </a:prstGeom>
          <a:noFill/>
          <a:ln/>
        </p:spPr>
        <p:txBody>
          <a:bodyPr wrap="square" lIns="0" tIns="0" rIns="0" bIns="0" rtlCol="0" anchor="ctr"/>
          <a:lstStyle/>
          <a:p>
            <a:pPr indent="0" marL="0">
              <a:buNone/>
            </a:pPr>
            <a:r>
              <a:rPr lang="en-US" sz="1400" i="1" dirty="0">
                <a:solidFill>
                  <a:srgbClr val="0B3D2E"/>
                </a:solidFill>
              </a:rPr>
              <a:t>Step 4 also needs lcd128_32.py and lcd128_32_fonts.py uploaded. They are in the folder.</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The seven files, in order</a:t>
            </a:r>
            <a:endParaRPr lang="en-US" sz="3000" dirty="0"/>
          </a:p>
        </p:txBody>
      </p:sp>
      <p:sp>
        <p:nvSpPr>
          <p:cNvPr id="3" name="Shape 1"/>
          <p:cNvSpPr/>
          <p:nvPr/>
        </p:nvSpPr>
        <p:spPr>
          <a:xfrm>
            <a:off x="457200" y="1051560"/>
            <a:ext cx="2834640" cy="411480"/>
          </a:xfrm>
          <a:prstGeom prst="roundRect">
            <a:avLst>
              <a:gd name="adj" fmla="val 13333"/>
            </a:avLst>
          </a:prstGeom>
          <a:solidFill>
            <a:srgbClr val="14261F"/>
          </a:solidFill>
          <a:ln w="12700">
            <a:solidFill>
              <a:srgbClr val="14261F"/>
            </a:solidFill>
            <a:prstDash val="solid"/>
          </a:ln>
        </p:spPr>
      </p:sp>
      <p:sp>
        <p:nvSpPr>
          <p:cNvPr id="4" name="Text 2"/>
          <p:cNvSpPr txBox="1"/>
          <p:nvPr/>
        </p:nvSpPr>
        <p:spPr>
          <a:xfrm>
            <a:off x="548640" y="1051560"/>
            <a:ext cx="2743200" cy="411480"/>
          </a:xfrm>
          <a:prstGeom prst="rect">
            <a:avLst/>
          </a:prstGeom>
          <a:noFill/>
          <a:ln/>
        </p:spPr>
        <p:txBody>
          <a:bodyPr wrap="square" lIns="0" tIns="0" rIns="0" bIns="0" rtlCol="0" anchor="ctr"/>
          <a:lstStyle/>
          <a:p>
            <a:pPr indent="0" marL="0">
              <a:buNone/>
            </a:pPr>
            <a:r>
              <a:rPr lang="en-US" sz="1100" dirty="0">
                <a:solidFill>
                  <a:srgbClr val="F2A900"/>
                </a:solidFill>
                <a:latin typeface="Courier New" pitchFamily="34" charset="0"/>
                <a:ea typeface="Courier New" pitchFamily="34" charset="-122"/>
                <a:cs typeface="Courier New" pitchFamily="34" charset="-120"/>
              </a:rPr>
              <a:t>step0_read_sound.py</a:t>
            </a:r>
            <a:endParaRPr lang="en-US" sz="1100" dirty="0"/>
          </a:p>
        </p:txBody>
      </p:sp>
      <p:sp>
        <p:nvSpPr>
          <p:cNvPr id="5" name="Shape 3"/>
          <p:cNvSpPr/>
          <p:nvPr/>
        </p:nvSpPr>
        <p:spPr>
          <a:xfrm>
            <a:off x="3429000" y="1088136"/>
            <a:ext cx="1600200" cy="338328"/>
          </a:xfrm>
          <a:prstGeom prst="roundRect">
            <a:avLst>
              <a:gd name="adj" fmla="val 16216"/>
            </a:avLst>
          </a:prstGeom>
          <a:solidFill>
            <a:srgbClr val="FFFFFF"/>
          </a:solidFill>
          <a:ln w="19050">
            <a:solidFill>
              <a:srgbClr val="2B6CB0"/>
            </a:solidFill>
            <a:prstDash val="solid"/>
          </a:ln>
        </p:spPr>
      </p:sp>
      <p:sp>
        <p:nvSpPr>
          <p:cNvPr id="6" name="Text 4"/>
          <p:cNvSpPr txBox="1"/>
          <p:nvPr/>
        </p:nvSpPr>
        <p:spPr>
          <a:xfrm>
            <a:off x="3429000" y="1088136"/>
            <a:ext cx="1600200" cy="338328"/>
          </a:xfrm>
          <a:prstGeom prst="rect">
            <a:avLst/>
          </a:prstGeom>
          <a:noFill/>
          <a:ln/>
        </p:spPr>
        <p:txBody>
          <a:bodyPr wrap="square" lIns="0" tIns="0" rIns="0" bIns="0" rtlCol="0" anchor="ctr"/>
          <a:lstStyle/>
          <a:p>
            <a:pPr algn="ctr" indent="0" marL="0">
              <a:buNone/>
            </a:pPr>
            <a:r>
              <a:rPr lang="en-US" sz="1000" b="1" dirty="0">
                <a:solidFill>
                  <a:srgbClr val="2B6CB0"/>
                </a:solidFill>
              </a:rPr>
              <a:t>RUN</a:t>
            </a:r>
            <a:endParaRPr lang="en-US" sz="1000" dirty="0"/>
          </a:p>
        </p:txBody>
      </p:sp>
      <p:sp>
        <p:nvSpPr>
          <p:cNvPr id="7" name="Text 5"/>
          <p:cNvSpPr txBox="1"/>
          <p:nvPr/>
        </p:nvSpPr>
        <p:spPr>
          <a:xfrm>
            <a:off x="5166360" y="1051560"/>
            <a:ext cx="3520440" cy="411480"/>
          </a:xfrm>
          <a:prstGeom prst="rect">
            <a:avLst/>
          </a:prstGeom>
          <a:noFill/>
          <a:ln/>
        </p:spPr>
        <p:txBody>
          <a:bodyPr wrap="square" lIns="0" tIns="0" rIns="0" bIns="0" rtlCol="0" anchor="ctr"/>
          <a:lstStyle/>
          <a:p>
            <a:pPr indent="0" marL="0">
              <a:buNone/>
            </a:pPr>
            <a:r>
              <a:rPr lang="en-US" sz="1200" dirty="0">
                <a:solidFill>
                  <a:srgbClr val="1B1B1B"/>
                </a:solidFill>
              </a:rPr>
              <a:t>The number jumps when you clap</a:t>
            </a:r>
            <a:endParaRPr lang="en-US" sz="1200" dirty="0"/>
          </a:p>
        </p:txBody>
      </p:sp>
      <p:sp>
        <p:nvSpPr>
          <p:cNvPr id="8" name="Shape 6"/>
          <p:cNvSpPr/>
          <p:nvPr/>
        </p:nvSpPr>
        <p:spPr>
          <a:xfrm>
            <a:off x="457200" y="1554480"/>
            <a:ext cx="2834640" cy="411480"/>
          </a:xfrm>
          <a:prstGeom prst="roundRect">
            <a:avLst>
              <a:gd name="adj" fmla="val 13333"/>
            </a:avLst>
          </a:prstGeom>
          <a:solidFill>
            <a:srgbClr val="14261F"/>
          </a:solidFill>
          <a:ln w="12700">
            <a:solidFill>
              <a:srgbClr val="14261F"/>
            </a:solidFill>
            <a:prstDash val="solid"/>
          </a:ln>
        </p:spPr>
      </p:sp>
      <p:sp>
        <p:nvSpPr>
          <p:cNvPr id="9" name="Text 7"/>
          <p:cNvSpPr txBox="1"/>
          <p:nvPr/>
        </p:nvSpPr>
        <p:spPr>
          <a:xfrm>
            <a:off x="548640" y="1554480"/>
            <a:ext cx="2743200" cy="411480"/>
          </a:xfrm>
          <a:prstGeom prst="rect">
            <a:avLst/>
          </a:prstGeom>
          <a:noFill/>
          <a:ln/>
        </p:spPr>
        <p:txBody>
          <a:bodyPr wrap="square" lIns="0" tIns="0" rIns="0" bIns="0" rtlCol="0" anchor="ctr"/>
          <a:lstStyle/>
          <a:p>
            <a:pPr indent="0" marL="0">
              <a:buNone/>
            </a:pPr>
            <a:r>
              <a:rPr lang="en-US" sz="1100" dirty="0">
                <a:solidFill>
                  <a:srgbClr val="F2A900"/>
                </a:solidFill>
                <a:latin typeface="Courier New" pitchFamily="34" charset="0"/>
                <a:ea typeface="Courier New" pitchFamily="34" charset="-122"/>
                <a:cs typeface="Courier New" pitchFamily="34" charset="-120"/>
              </a:rPr>
              <a:t>step0b_test_parts.py</a:t>
            </a:r>
            <a:endParaRPr lang="en-US" sz="1100" dirty="0"/>
          </a:p>
        </p:txBody>
      </p:sp>
      <p:sp>
        <p:nvSpPr>
          <p:cNvPr id="10" name="Shape 8"/>
          <p:cNvSpPr/>
          <p:nvPr/>
        </p:nvSpPr>
        <p:spPr>
          <a:xfrm>
            <a:off x="3429000" y="1591056"/>
            <a:ext cx="1600200" cy="338328"/>
          </a:xfrm>
          <a:prstGeom prst="roundRect">
            <a:avLst>
              <a:gd name="adj" fmla="val 16216"/>
            </a:avLst>
          </a:prstGeom>
          <a:solidFill>
            <a:srgbClr val="FFFFFF"/>
          </a:solidFill>
          <a:ln w="19050">
            <a:solidFill>
              <a:srgbClr val="2B6CB0"/>
            </a:solidFill>
            <a:prstDash val="solid"/>
          </a:ln>
        </p:spPr>
      </p:sp>
      <p:sp>
        <p:nvSpPr>
          <p:cNvPr id="11" name="Text 9"/>
          <p:cNvSpPr txBox="1"/>
          <p:nvPr/>
        </p:nvSpPr>
        <p:spPr>
          <a:xfrm>
            <a:off x="3429000" y="1591056"/>
            <a:ext cx="1600200" cy="338328"/>
          </a:xfrm>
          <a:prstGeom prst="rect">
            <a:avLst/>
          </a:prstGeom>
          <a:noFill/>
          <a:ln/>
        </p:spPr>
        <p:txBody>
          <a:bodyPr wrap="square" lIns="0" tIns="0" rIns="0" bIns="0" rtlCol="0" anchor="ctr"/>
          <a:lstStyle/>
          <a:p>
            <a:pPr algn="ctr" indent="0" marL="0">
              <a:buNone/>
            </a:pPr>
            <a:r>
              <a:rPr lang="en-US" sz="1000" b="1" dirty="0">
                <a:solidFill>
                  <a:srgbClr val="2B6CB0"/>
                </a:solidFill>
              </a:rPr>
              <a:t>RUN</a:t>
            </a:r>
            <a:endParaRPr lang="en-US" sz="1000" dirty="0"/>
          </a:p>
        </p:txBody>
      </p:sp>
      <p:sp>
        <p:nvSpPr>
          <p:cNvPr id="12" name="Text 10"/>
          <p:cNvSpPr txBox="1"/>
          <p:nvPr/>
        </p:nvSpPr>
        <p:spPr>
          <a:xfrm>
            <a:off x="5166360" y="1554480"/>
            <a:ext cx="3520440" cy="411480"/>
          </a:xfrm>
          <a:prstGeom prst="rect">
            <a:avLst/>
          </a:prstGeom>
          <a:noFill/>
          <a:ln/>
        </p:spPr>
        <p:txBody>
          <a:bodyPr wrap="square" lIns="0" tIns="0" rIns="0" bIns="0" rtlCol="0" anchor="ctr"/>
          <a:lstStyle/>
          <a:p>
            <a:pPr indent="0" marL="0">
              <a:buNone/>
            </a:pPr>
            <a:r>
              <a:rPr lang="en-US" sz="1200" dirty="0">
                <a:solidFill>
                  <a:srgbClr val="1B1B1B"/>
                </a:solidFill>
              </a:rPr>
              <a:t>All three tests pass</a:t>
            </a:r>
            <a:endParaRPr lang="en-US" sz="1200" dirty="0"/>
          </a:p>
        </p:txBody>
      </p:sp>
      <p:sp>
        <p:nvSpPr>
          <p:cNvPr id="13" name="Shape 11"/>
          <p:cNvSpPr/>
          <p:nvPr/>
        </p:nvSpPr>
        <p:spPr>
          <a:xfrm>
            <a:off x="457200" y="2057400"/>
            <a:ext cx="2834640" cy="411480"/>
          </a:xfrm>
          <a:prstGeom prst="roundRect">
            <a:avLst>
              <a:gd name="adj" fmla="val 13333"/>
            </a:avLst>
          </a:prstGeom>
          <a:solidFill>
            <a:srgbClr val="14261F"/>
          </a:solidFill>
          <a:ln w="12700">
            <a:solidFill>
              <a:srgbClr val="14261F"/>
            </a:solidFill>
            <a:prstDash val="solid"/>
          </a:ln>
        </p:spPr>
      </p:sp>
      <p:sp>
        <p:nvSpPr>
          <p:cNvPr id="14" name="Text 12"/>
          <p:cNvSpPr txBox="1"/>
          <p:nvPr/>
        </p:nvSpPr>
        <p:spPr>
          <a:xfrm>
            <a:off x="548640" y="2057400"/>
            <a:ext cx="2743200" cy="411480"/>
          </a:xfrm>
          <a:prstGeom prst="rect">
            <a:avLst/>
          </a:prstGeom>
          <a:noFill/>
          <a:ln/>
        </p:spPr>
        <p:txBody>
          <a:bodyPr wrap="square" lIns="0" tIns="0" rIns="0" bIns="0" rtlCol="0" anchor="ctr"/>
          <a:lstStyle/>
          <a:p>
            <a:pPr indent="0" marL="0">
              <a:buNone/>
            </a:pPr>
            <a:r>
              <a:rPr lang="en-US" sz="1100" dirty="0">
                <a:solidFill>
                  <a:srgbClr val="F2A900"/>
                </a:solidFill>
                <a:latin typeface="Courier New" pitchFamily="34" charset="0"/>
                <a:ea typeface="Courier New" pitchFamily="34" charset="-122"/>
                <a:cs typeface="Courier New" pitchFamily="34" charset="-120"/>
              </a:rPr>
              <a:t>step1_peak_level.py</a:t>
            </a:r>
            <a:endParaRPr lang="en-US" sz="1100" dirty="0"/>
          </a:p>
        </p:txBody>
      </p:sp>
      <p:sp>
        <p:nvSpPr>
          <p:cNvPr id="15" name="Shape 13"/>
          <p:cNvSpPr/>
          <p:nvPr/>
        </p:nvSpPr>
        <p:spPr>
          <a:xfrm>
            <a:off x="3429000" y="2093976"/>
            <a:ext cx="1600200" cy="338328"/>
          </a:xfrm>
          <a:prstGeom prst="roundRect">
            <a:avLst>
              <a:gd name="adj" fmla="val 16216"/>
            </a:avLst>
          </a:prstGeom>
          <a:solidFill>
            <a:srgbClr val="FFFFFF"/>
          </a:solidFill>
          <a:ln w="19050">
            <a:solidFill>
              <a:srgbClr val="1F8A70"/>
            </a:solidFill>
            <a:prstDash val="solid"/>
          </a:ln>
        </p:spPr>
      </p:sp>
      <p:sp>
        <p:nvSpPr>
          <p:cNvPr id="16" name="Text 14"/>
          <p:cNvSpPr txBox="1"/>
          <p:nvPr/>
        </p:nvSpPr>
        <p:spPr>
          <a:xfrm>
            <a:off x="3429000" y="2093976"/>
            <a:ext cx="1600200" cy="338328"/>
          </a:xfrm>
          <a:prstGeom prst="rect">
            <a:avLst/>
          </a:prstGeom>
          <a:noFill/>
          <a:ln/>
        </p:spPr>
        <p:txBody>
          <a:bodyPr wrap="square" lIns="0" tIns="0" rIns="0" bIns="0" rtlCol="0" anchor="ctr"/>
          <a:lstStyle/>
          <a:p>
            <a:pPr algn="ctr" indent="0" marL="0">
              <a:buNone/>
            </a:pPr>
            <a:r>
              <a:rPr lang="en-US" sz="1000" b="1" dirty="0">
                <a:solidFill>
                  <a:srgbClr val="1F8A70"/>
                </a:solidFill>
              </a:rPr>
              <a:t>WRITE 1 line</a:t>
            </a:r>
            <a:endParaRPr lang="en-US" sz="1000" dirty="0"/>
          </a:p>
        </p:txBody>
      </p:sp>
      <p:sp>
        <p:nvSpPr>
          <p:cNvPr id="17" name="Text 15"/>
          <p:cNvSpPr txBox="1"/>
          <p:nvPr/>
        </p:nvSpPr>
        <p:spPr>
          <a:xfrm>
            <a:off x="5166360" y="2057400"/>
            <a:ext cx="3520440" cy="411480"/>
          </a:xfrm>
          <a:prstGeom prst="rect">
            <a:avLst/>
          </a:prstGeom>
          <a:noFill/>
          <a:ln/>
        </p:spPr>
        <p:txBody>
          <a:bodyPr wrap="square" lIns="0" tIns="0" rIns="0" bIns="0" rtlCol="0" anchor="ctr"/>
          <a:lstStyle/>
          <a:p>
            <a:pPr indent="0" marL="0">
              <a:buNone/>
            </a:pPr>
            <a:r>
              <a:rPr lang="en-US" sz="1200" dirty="0">
                <a:solidFill>
                  <a:srgbClr val="1B1B1B"/>
                </a:solidFill>
              </a:rPr>
              <a:t>The LED bar follows your voice</a:t>
            </a:r>
            <a:endParaRPr lang="en-US" sz="1200" dirty="0"/>
          </a:p>
        </p:txBody>
      </p:sp>
      <p:sp>
        <p:nvSpPr>
          <p:cNvPr id="18" name="Shape 16"/>
          <p:cNvSpPr/>
          <p:nvPr/>
        </p:nvSpPr>
        <p:spPr>
          <a:xfrm>
            <a:off x="457200" y="2560320"/>
            <a:ext cx="2834640" cy="411480"/>
          </a:xfrm>
          <a:prstGeom prst="roundRect">
            <a:avLst>
              <a:gd name="adj" fmla="val 13333"/>
            </a:avLst>
          </a:prstGeom>
          <a:solidFill>
            <a:srgbClr val="14261F"/>
          </a:solidFill>
          <a:ln w="12700">
            <a:solidFill>
              <a:srgbClr val="14261F"/>
            </a:solidFill>
            <a:prstDash val="solid"/>
          </a:ln>
        </p:spPr>
      </p:sp>
      <p:sp>
        <p:nvSpPr>
          <p:cNvPr id="19" name="Text 17"/>
          <p:cNvSpPr txBox="1"/>
          <p:nvPr/>
        </p:nvSpPr>
        <p:spPr>
          <a:xfrm>
            <a:off x="548640" y="2560320"/>
            <a:ext cx="2743200" cy="411480"/>
          </a:xfrm>
          <a:prstGeom prst="rect">
            <a:avLst/>
          </a:prstGeom>
          <a:noFill/>
          <a:ln/>
        </p:spPr>
        <p:txBody>
          <a:bodyPr wrap="square" lIns="0" tIns="0" rIns="0" bIns="0" rtlCol="0" anchor="ctr"/>
          <a:lstStyle/>
          <a:p>
            <a:pPr indent="0" marL="0">
              <a:buNone/>
            </a:pPr>
            <a:r>
              <a:rPr lang="en-US" sz="1100" dirty="0">
                <a:solidFill>
                  <a:srgbClr val="F2A900"/>
                </a:solidFill>
                <a:latin typeface="Courier New" pitchFamily="34" charset="0"/>
                <a:ea typeface="Courier New" pitchFamily="34" charset="-122"/>
                <a:cs typeface="Courier New" pitchFamily="34" charset="-120"/>
              </a:rPr>
              <a:t>step2_counter_demo.py</a:t>
            </a:r>
            <a:endParaRPr lang="en-US" sz="1100" dirty="0"/>
          </a:p>
        </p:txBody>
      </p:sp>
      <p:sp>
        <p:nvSpPr>
          <p:cNvPr id="20" name="Shape 18"/>
          <p:cNvSpPr/>
          <p:nvPr/>
        </p:nvSpPr>
        <p:spPr>
          <a:xfrm>
            <a:off x="3429000" y="2596896"/>
            <a:ext cx="1600200" cy="338328"/>
          </a:xfrm>
          <a:prstGeom prst="roundRect">
            <a:avLst>
              <a:gd name="adj" fmla="val 16216"/>
            </a:avLst>
          </a:prstGeom>
          <a:solidFill>
            <a:srgbClr val="FFFFFF"/>
          </a:solidFill>
          <a:ln w="19050">
            <a:solidFill>
              <a:srgbClr val="2B6CB0"/>
            </a:solidFill>
            <a:prstDash val="solid"/>
          </a:ln>
        </p:spPr>
      </p:sp>
      <p:sp>
        <p:nvSpPr>
          <p:cNvPr id="21" name="Text 19"/>
          <p:cNvSpPr txBox="1"/>
          <p:nvPr/>
        </p:nvSpPr>
        <p:spPr>
          <a:xfrm>
            <a:off x="3429000" y="2596896"/>
            <a:ext cx="1600200" cy="338328"/>
          </a:xfrm>
          <a:prstGeom prst="rect">
            <a:avLst/>
          </a:prstGeom>
          <a:noFill/>
          <a:ln/>
        </p:spPr>
        <p:txBody>
          <a:bodyPr wrap="square" lIns="0" tIns="0" rIns="0" bIns="0" rtlCol="0" anchor="ctr"/>
          <a:lstStyle/>
          <a:p>
            <a:pPr algn="ctr" indent="0" marL="0">
              <a:buNone/>
            </a:pPr>
            <a:r>
              <a:rPr lang="en-US" sz="1000" b="1" dirty="0">
                <a:solidFill>
                  <a:srgbClr val="2B6CB0"/>
                </a:solidFill>
              </a:rPr>
              <a:t>RUN</a:t>
            </a:r>
            <a:endParaRPr lang="en-US" sz="1000" dirty="0"/>
          </a:p>
        </p:txBody>
      </p:sp>
      <p:sp>
        <p:nvSpPr>
          <p:cNvPr id="22" name="Text 20"/>
          <p:cNvSpPr txBox="1"/>
          <p:nvPr/>
        </p:nvSpPr>
        <p:spPr>
          <a:xfrm>
            <a:off x="5166360" y="2560320"/>
            <a:ext cx="3520440" cy="411480"/>
          </a:xfrm>
          <a:prstGeom prst="rect">
            <a:avLst/>
          </a:prstGeom>
          <a:noFill/>
          <a:ln/>
        </p:spPr>
        <p:txBody>
          <a:bodyPr wrap="square" lIns="0" tIns="0" rIns="0" bIns="0" rtlCol="0" anchor="ctr"/>
          <a:lstStyle/>
          <a:p>
            <a:pPr indent="0" marL="0">
              <a:buNone/>
            </a:pPr>
            <a:r>
              <a:rPr lang="en-US" sz="1200" dirty="0">
                <a:solidFill>
                  <a:srgbClr val="1B1B1B"/>
                </a:solidFill>
              </a:rPr>
              <a:t>One count sticks at 1, the other counts up</a:t>
            </a:r>
            <a:endParaRPr lang="en-US" sz="1200" dirty="0"/>
          </a:p>
        </p:txBody>
      </p:sp>
      <p:sp>
        <p:nvSpPr>
          <p:cNvPr id="23" name="Shape 21"/>
          <p:cNvSpPr/>
          <p:nvPr/>
        </p:nvSpPr>
        <p:spPr>
          <a:xfrm>
            <a:off x="457200" y="3063240"/>
            <a:ext cx="2834640" cy="411480"/>
          </a:xfrm>
          <a:prstGeom prst="roundRect">
            <a:avLst>
              <a:gd name="adj" fmla="val 13333"/>
            </a:avLst>
          </a:prstGeom>
          <a:solidFill>
            <a:srgbClr val="14261F"/>
          </a:solidFill>
          <a:ln w="12700">
            <a:solidFill>
              <a:srgbClr val="14261F"/>
            </a:solidFill>
            <a:prstDash val="solid"/>
          </a:ln>
        </p:spPr>
      </p:sp>
      <p:sp>
        <p:nvSpPr>
          <p:cNvPr id="24" name="Text 22"/>
          <p:cNvSpPr txBox="1"/>
          <p:nvPr/>
        </p:nvSpPr>
        <p:spPr>
          <a:xfrm>
            <a:off x="548640" y="3063240"/>
            <a:ext cx="2743200" cy="411480"/>
          </a:xfrm>
          <a:prstGeom prst="rect">
            <a:avLst/>
          </a:prstGeom>
          <a:noFill/>
          <a:ln/>
        </p:spPr>
        <p:txBody>
          <a:bodyPr wrap="square" lIns="0" tIns="0" rIns="0" bIns="0" rtlCol="0" anchor="ctr"/>
          <a:lstStyle/>
          <a:p>
            <a:pPr indent="0" marL="0">
              <a:buNone/>
            </a:pPr>
            <a:r>
              <a:rPr lang="en-US" sz="1100" dirty="0">
                <a:solidFill>
                  <a:srgbClr val="F2A900"/>
                </a:solidFill>
                <a:latin typeface="Courier New" pitchFamily="34" charset="0"/>
                <a:ea typeface="Courier New" pitchFamily="34" charset="-122"/>
                <a:cs typeface="Courier New" pitchFamily="34" charset="-120"/>
              </a:rPr>
              <a:t>step2b_find_the_bug.py</a:t>
            </a:r>
            <a:endParaRPr lang="en-US" sz="1100" dirty="0"/>
          </a:p>
        </p:txBody>
      </p:sp>
      <p:sp>
        <p:nvSpPr>
          <p:cNvPr id="25" name="Shape 23"/>
          <p:cNvSpPr/>
          <p:nvPr/>
        </p:nvSpPr>
        <p:spPr>
          <a:xfrm>
            <a:off x="3429000" y="3099816"/>
            <a:ext cx="1600200" cy="338328"/>
          </a:xfrm>
          <a:prstGeom prst="roundRect">
            <a:avLst>
              <a:gd name="adj" fmla="val 16216"/>
            </a:avLst>
          </a:prstGeom>
          <a:solidFill>
            <a:srgbClr val="FFFFFF"/>
          </a:solidFill>
          <a:ln w="19050">
            <a:solidFill>
              <a:srgbClr val="C98C00"/>
            </a:solidFill>
            <a:prstDash val="solid"/>
          </a:ln>
        </p:spPr>
      </p:sp>
      <p:sp>
        <p:nvSpPr>
          <p:cNvPr id="26" name="Text 24"/>
          <p:cNvSpPr txBox="1"/>
          <p:nvPr/>
        </p:nvSpPr>
        <p:spPr>
          <a:xfrm>
            <a:off x="3429000" y="3099816"/>
            <a:ext cx="1600200" cy="338328"/>
          </a:xfrm>
          <a:prstGeom prst="rect">
            <a:avLst/>
          </a:prstGeom>
          <a:noFill/>
          <a:ln/>
        </p:spPr>
        <p:txBody>
          <a:bodyPr wrap="square" lIns="0" tIns="0" rIns="0" bIns="0" rtlCol="0" anchor="ctr"/>
          <a:lstStyle/>
          <a:p>
            <a:pPr algn="ctr" indent="0" marL="0">
              <a:buNone/>
            </a:pPr>
            <a:r>
              <a:rPr lang="en-US" sz="1000" b="1" dirty="0">
                <a:solidFill>
                  <a:srgbClr val="C98C00"/>
                </a:solidFill>
              </a:rPr>
              <a:t>MOVE 1 line</a:t>
            </a:r>
            <a:endParaRPr lang="en-US" sz="1000" dirty="0"/>
          </a:p>
        </p:txBody>
      </p:sp>
      <p:sp>
        <p:nvSpPr>
          <p:cNvPr id="27" name="Text 25"/>
          <p:cNvSpPr txBox="1"/>
          <p:nvPr/>
        </p:nvSpPr>
        <p:spPr>
          <a:xfrm>
            <a:off x="5166360" y="3063240"/>
            <a:ext cx="3520440" cy="411480"/>
          </a:xfrm>
          <a:prstGeom prst="rect">
            <a:avLst/>
          </a:prstGeom>
          <a:noFill/>
          <a:ln/>
        </p:spPr>
        <p:txBody>
          <a:bodyPr wrap="square" lIns="0" tIns="0" rIns="0" bIns="0" rtlCol="0" anchor="ctr"/>
          <a:lstStyle/>
          <a:p>
            <a:pPr indent="0" marL="0">
              <a:buNone/>
            </a:pPr>
            <a:r>
              <a:rPr lang="en-US" sz="1200" dirty="0">
                <a:solidFill>
                  <a:srgbClr val="1B1B1B"/>
                </a:solidFill>
              </a:rPr>
              <a:t>It prints 3</a:t>
            </a:r>
            <a:endParaRPr lang="en-US" sz="1200" dirty="0"/>
          </a:p>
        </p:txBody>
      </p:sp>
      <p:sp>
        <p:nvSpPr>
          <p:cNvPr id="28" name="Shape 26"/>
          <p:cNvSpPr/>
          <p:nvPr/>
        </p:nvSpPr>
        <p:spPr>
          <a:xfrm>
            <a:off x="457200" y="3566160"/>
            <a:ext cx="2834640" cy="411480"/>
          </a:xfrm>
          <a:prstGeom prst="roundRect">
            <a:avLst>
              <a:gd name="adj" fmla="val 13333"/>
            </a:avLst>
          </a:prstGeom>
          <a:solidFill>
            <a:srgbClr val="14261F"/>
          </a:solidFill>
          <a:ln w="12700">
            <a:solidFill>
              <a:srgbClr val="14261F"/>
            </a:solidFill>
            <a:prstDash val="solid"/>
          </a:ln>
        </p:spPr>
      </p:sp>
      <p:sp>
        <p:nvSpPr>
          <p:cNvPr id="29" name="Text 27"/>
          <p:cNvSpPr txBox="1"/>
          <p:nvPr/>
        </p:nvSpPr>
        <p:spPr>
          <a:xfrm>
            <a:off x="548640" y="3566160"/>
            <a:ext cx="2743200" cy="411480"/>
          </a:xfrm>
          <a:prstGeom prst="rect">
            <a:avLst/>
          </a:prstGeom>
          <a:noFill/>
          <a:ln/>
        </p:spPr>
        <p:txBody>
          <a:bodyPr wrap="square" lIns="0" tIns="0" rIns="0" bIns="0" rtlCol="0" anchor="ctr"/>
          <a:lstStyle/>
          <a:p>
            <a:pPr indent="0" marL="0">
              <a:buNone/>
            </a:pPr>
            <a:r>
              <a:rPr lang="en-US" sz="1100" dirty="0">
                <a:solidFill>
                  <a:srgbClr val="F2A900"/>
                </a:solidFill>
                <a:latin typeface="Courier New" pitchFamily="34" charset="0"/>
                <a:ea typeface="Courier New" pitchFamily="34" charset="-122"/>
                <a:cs typeface="Courier New" pitchFamily="34" charset="-120"/>
              </a:rPr>
              <a:t>step3_noise_counter.py</a:t>
            </a:r>
            <a:endParaRPr lang="en-US" sz="1100" dirty="0"/>
          </a:p>
        </p:txBody>
      </p:sp>
      <p:sp>
        <p:nvSpPr>
          <p:cNvPr id="30" name="Shape 28"/>
          <p:cNvSpPr/>
          <p:nvPr/>
        </p:nvSpPr>
        <p:spPr>
          <a:xfrm>
            <a:off x="3429000" y="3602736"/>
            <a:ext cx="1600200" cy="338328"/>
          </a:xfrm>
          <a:prstGeom prst="roundRect">
            <a:avLst>
              <a:gd name="adj" fmla="val 16216"/>
            </a:avLst>
          </a:prstGeom>
          <a:solidFill>
            <a:srgbClr val="FFFFFF"/>
          </a:solidFill>
          <a:ln w="19050">
            <a:solidFill>
              <a:srgbClr val="1F8A70"/>
            </a:solidFill>
            <a:prstDash val="solid"/>
          </a:ln>
        </p:spPr>
      </p:sp>
      <p:sp>
        <p:nvSpPr>
          <p:cNvPr id="31" name="Text 29"/>
          <p:cNvSpPr txBox="1"/>
          <p:nvPr/>
        </p:nvSpPr>
        <p:spPr>
          <a:xfrm>
            <a:off x="3429000" y="3602736"/>
            <a:ext cx="1600200" cy="338328"/>
          </a:xfrm>
          <a:prstGeom prst="rect">
            <a:avLst/>
          </a:prstGeom>
          <a:noFill/>
          <a:ln/>
        </p:spPr>
        <p:txBody>
          <a:bodyPr wrap="square" lIns="0" tIns="0" rIns="0" bIns="0" rtlCol="0" anchor="ctr"/>
          <a:lstStyle/>
          <a:p>
            <a:pPr algn="ctr" indent="0" marL="0">
              <a:buNone/>
            </a:pPr>
            <a:r>
              <a:rPr lang="en-US" sz="1000" b="1" dirty="0">
                <a:solidFill>
                  <a:srgbClr val="1F8A70"/>
                </a:solidFill>
              </a:rPr>
              <a:t>WRITE 2 lines</a:t>
            </a:r>
            <a:endParaRPr lang="en-US" sz="1000" dirty="0"/>
          </a:p>
        </p:txBody>
      </p:sp>
      <p:sp>
        <p:nvSpPr>
          <p:cNvPr id="32" name="Text 30"/>
          <p:cNvSpPr txBox="1"/>
          <p:nvPr/>
        </p:nvSpPr>
        <p:spPr>
          <a:xfrm>
            <a:off x="5166360" y="3566160"/>
            <a:ext cx="3520440" cy="411480"/>
          </a:xfrm>
          <a:prstGeom prst="rect">
            <a:avLst/>
          </a:prstGeom>
          <a:noFill/>
          <a:ln/>
        </p:spPr>
        <p:txBody>
          <a:bodyPr wrap="square" lIns="0" tIns="0" rIns="0" bIns="0" rtlCol="0" anchor="ctr"/>
          <a:lstStyle/>
          <a:p>
            <a:pPr indent="0" marL="0">
              <a:buNone/>
            </a:pPr>
            <a:r>
              <a:rPr lang="en-US" sz="1200" dirty="0">
                <a:solidFill>
                  <a:srgbClr val="1B1B1B"/>
                </a:solidFill>
              </a:rPr>
              <a:t>One clap adds exactly 1</a:t>
            </a:r>
            <a:endParaRPr lang="en-US" sz="1200" dirty="0"/>
          </a:p>
        </p:txBody>
      </p:sp>
      <p:sp>
        <p:nvSpPr>
          <p:cNvPr id="33" name="Shape 31"/>
          <p:cNvSpPr/>
          <p:nvPr/>
        </p:nvSpPr>
        <p:spPr>
          <a:xfrm>
            <a:off x="457200" y="4069080"/>
            <a:ext cx="2834640" cy="411480"/>
          </a:xfrm>
          <a:prstGeom prst="roundRect">
            <a:avLst>
              <a:gd name="adj" fmla="val 13333"/>
            </a:avLst>
          </a:prstGeom>
          <a:solidFill>
            <a:srgbClr val="14261F"/>
          </a:solidFill>
          <a:ln w="12700">
            <a:solidFill>
              <a:srgbClr val="14261F"/>
            </a:solidFill>
            <a:prstDash val="solid"/>
          </a:ln>
        </p:spPr>
      </p:sp>
      <p:sp>
        <p:nvSpPr>
          <p:cNvPr id="34" name="Text 32"/>
          <p:cNvSpPr txBox="1"/>
          <p:nvPr/>
        </p:nvSpPr>
        <p:spPr>
          <a:xfrm>
            <a:off x="548640" y="4069080"/>
            <a:ext cx="2743200" cy="411480"/>
          </a:xfrm>
          <a:prstGeom prst="rect">
            <a:avLst/>
          </a:prstGeom>
          <a:noFill/>
          <a:ln/>
        </p:spPr>
        <p:txBody>
          <a:bodyPr wrap="square" lIns="0" tIns="0" rIns="0" bIns="0" rtlCol="0" anchor="ctr"/>
          <a:lstStyle/>
          <a:p>
            <a:pPr indent="0" marL="0">
              <a:buNone/>
            </a:pPr>
            <a:r>
              <a:rPr lang="en-US" sz="1100" dirty="0">
                <a:solidFill>
                  <a:srgbClr val="F2A900"/>
                </a:solidFill>
                <a:latin typeface="Courier New" pitchFamily="34" charset="0"/>
                <a:ea typeface="Courier New" pitchFamily="34" charset="-122"/>
                <a:cs typeface="Courier New" pitchFamily="34" charset="-120"/>
              </a:rPr>
              <a:t>step4_lcd_report.py</a:t>
            </a:r>
            <a:endParaRPr lang="en-US" sz="1100" dirty="0"/>
          </a:p>
        </p:txBody>
      </p:sp>
      <p:sp>
        <p:nvSpPr>
          <p:cNvPr id="35" name="Shape 33"/>
          <p:cNvSpPr/>
          <p:nvPr/>
        </p:nvSpPr>
        <p:spPr>
          <a:xfrm>
            <a:off x="3429000" y="4105656"/>
            <a:ext cx="1600200" cy="338328"/>
          </a:xfrm>
          <a:prstGeom prst="roundRect">
            <a:avLst>
              <a:gd name="adj" fmla="val 16216"/>
            </a:avLst>
          </a:prstGeom>
          <a:solidFill>
            <a:srgbClr val="FFFFFF"/>
          </a:solidFill>
          <a:ln w="19050">
            <a:solidFill>
              <a:srgbClr val="6B7280"/>
            </a:solidFill>
            <a:prstDash val="solid"/>
          </a:ln>
        </p:spPr>
      </p:sp>
      <p:sp>
        <p:nvSpPr>
          <p:cNvPr id="36" name="Text 34"/>
          <p:cNvSpPr txBox="1"/>
          <p:nvPr/>
        </p:nvSpPr>
        <p:spPr>
          <a:xfrm>
            <a:off x="3429000" y="4105656"/>
            <a:ext cx="1600200" cy="338328"/>
          </a:xfrm>
          <a:prstGeom prst="rect">
            <a:avLst/>
          </a:prstGeom>
          <a:noFill/>
          <a:ln/>
        </p:spPr>
        <p:txBody>
          <a:bodyPr wrap="square" lIns="0" tIns="0" rIns="0" bIns="0" rtlCol="0" anchor="ctr"/>
          <a:lstStyle/>
          <a:p>
            <a:pPr algn="ctr" indent="0" marL="0">
              <a:buNone/>
            </a:pPr>
            <a:r>
              <a:rPr lang="en-US" sz="1000" b="1" dirty="0">
                <a:solidFill>
                  <a:srgbClr val="6B7280"/>
                </a:solidFill>
              </a:rPr>
              <a:t>RUN, if you get there</a:t>
            </a:r>
            <a:endParaRPr lang="en-US" sz="1000" dirty="0"/>
          </a:p>
        </p:txBody>
      </p:sp>
      <p:sp>
        <p:nvSpPr>
          <p:cNvPr id="37" name="Text 35"/>
          <p:cNvSpPr txBox="1"/>
          <p:nvPr/>
        </p:nvSpPr>
        <p:spPr>
          <a:xfrm>
            <a:off x="5166360" y="4069080"/>
            <a:ext cx="3520440" cy="411480"/>
          </a:xfrm>
          <a:prstGeom prst="rect">
            <a:avLst/>
          </a:prstGeom>
          <a:noFill/>
          <a:ln/>
        </p:spPr>
        <p:txBody>
          <a:bodyPr wrap="square" lIns="0" tIns="0" rIns="0" bIns="0" rtlCol="0" anchor="ctr"/>
          <a:lstStyle/>
          <a:p>
            <a:pPr indent="0" marL="0">
              <a:buNone/>
            </a:pPr>
            <a:r>
              <a:rPr lang="en-US" sz="1200" dirty="0">
                <a:solidFill>
                  <a:srgbClr val="1B1B1B"/>
                </a:solidFill>
              </a:rPr>
              <a:t>The screen matches the LEDs</a:t>
            </a:r>
            <a:endParaRPr lang="en-US" sz="1200" dirty="0"/>
          </a:p>
        </p:txBody>
      </p:sp>
      <p:sp>
        <p:nvSpPr>
          <p:cNvPr id="38" name="Text 36"/>
          <p:cNvSpPr txBox="1"/>
          <p:nvPr/>
        </p:nvSpPr>
        <p:spPr>
          <a:xfrm>
            <a:off x="3429000" y="841248"/>
            <a:ext cx="1600200" cy="201168"/>
          </a:xfrm>
          <a:prstGeom prst="rect">
            <a:avLst/>
          </a:prstGeom>
          <a:noFill/>
          <a:ln/>
        </p:spPr>
        <p:txBody>
          <a:bodyPr wrap="square" lIns="0" tIns="0" rIns="0" bIns="0" rtlCol="0" anchor="ctr"/>
          <a:lstStyle/>
          <a:p>
            <a:pPr algn="ctr" indent="0" marL="0">
              <a:buNone/>
            </a:pPr>
            <a:r>
              <a:rPr lang="en-US" sz="1000" b="1" dirty="0">
                <a:solidFill>
                  <a:srgbClr val="6B7280"/>
                </a:solidFill>
              </a:rPr>
              <a:t>you do</a:t>
            </a:r>
            <a:endParaRPr lang="en-US" sz="1000" dirty="0"/>
          </a:p>
        </p:txBody>
      </p:sp>
      <p:sp>
        <p:nvSpPr>
          <p:cNvPr id="39" name="Text 37"/>
          <p:cNvSpPr txBox="1"/>
          <p:nvPr/>
        </p:nvSpPr>
        <p:spPr>
          <a:xfrm>
            <a:off x="5166360" y="841248"/>
            <a:ext cx="3520440" cy="201168"/>
          </a:xfrm>
          <a:prstGeom prst="rect">
            <a:avLst/>
          </a:prstGeom>
          <a:noFill/>
          <a:ln/>
        </p:spPr>
        <p:txBody>
          <a:bodyPr wrap="square" lIns="0" tIns="0" rIns="0" bIns="0" rtlCol="0" anchor="ctr"/>
          <a:lstStyle/>
          <a:p>
            <a:pPr indent="0" marL="0">
              <a:buNone/>
            </a:pPr>
            <a:r>
              <a:rPr lang="en-US" sz="1000" b="1" dirty="0">
                <a:solidFill>
                  <a:srgbClr val="6B7280"/>
                </a:solidFill>
              </a:rPr>
              <a:t>you should see</a:t>
            </a:r>
            <a:endParaRPr lang="en-US" sz="1000" dirty="0"/>
          </a:p>
        </p:txBody>
      </p:sp>
      <p:sp>
        <p:nvSpPr>
          <p:cNvPr id="40" name="Shape 38"/>
          <p:cNvSpPr/>
          <p:nvPr/>
        </p:nvSpPr>
        <p:spPr>
          <a:xfrm>
            <a:off x="457200" y="4462272"/>
            <a:ext cx="8229600" cy="384048"/>
          </a:xfrm>
          <a:prstGeom prst="roundRect">
            <a:avLst>
              <a:gd name="adj" fmla="val 14286"/>
            </a:avLst>
          </a:prstGeom>
          <a:solidFill>
            <a:srgbClr val="EEF5F1"/>
          </a:solidFill>
          <a:ln w="12700">
            <a:solidFill>
              <a:srgbClr val="D3E4DB"/>
            </a:solidFill>
            <a:prstDash val="solid"/>
          </a:ln>
        </p:spPr>
      </p:sp>
      <p:sp>
        <p:nvSpPr>
          <p:cNvPr id="41" name="Text 39"/>
          <p:cNvSpPr txBox="1"/>
          <p:nvPr/>
        </p:nvSpPr>
        <p:spPr>
          <a:xfrm>
            <a:off x="685800" y="4462272"/>
            <a:ext cx="7315200" cy="384048"/>
          </a:xfrm>
          <a:prstGeom prst="rect">
            <a:avLst/>
          </a:prstGeom>
          <a:noFill/>
          <a:ln/>
        </p:spPr>
        <p:txBody>
          <a:bodyPr wrap="square" lIns="0" tIns="0" rIns="0" bIns="0" rtlCol="0" anchor="ctr"/>
          <a:lstStyle/>
          <a:p>
            <a:pPr indent="0" marL="0">
              <a:buNone/>
            </a:pPr>
            <a:r>
              <a:rPr lang="en-US" sz="1300" b="1" dirty="0">
                <a:solidFill>
                  <a:srgbClr val="0B3D2E"/>
                </a:solidFill>
              </a:rPr>
              <a:t>Every file says WHAT YOU DO at the top. RUN means run it unchanged: reading it IS the work.</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Every file has the same five parts</a:t>
            </a:r>
            <a:endParaRPr lang="en-US" sz="3000" dirty="0"/>
          </a:p>
        </p:txBody>
      </p:sp>
      <p:sp>
        <p:nvSpPr>
          <p:cNvPr id="3" name="Shape 1"/>
          <p:cNvSpPr/>
          <p:nvPr/>
        </p:nvSpPr>
        <p:spPr>
          <a:xfrm>
            <a:off x="457200" y="1051560"/>
            <a:ext cx="5120640" cy="566928"/>
          </a:xfrm>
          <a:prstGeom prst="roundRect">
            <a:avLst>
              <a:gd name="adj" fmla="val 12903"/>
            </a:avLst>
          </a:prstGeom>
          <a:solidFill>
            <a:srgbClr val="FFFFFF"/>
          </a:solidFill>
          <a:ln w="15875">
            <a:solidFill>
              <a:srgbClr val="6B7280"/>
            </a:solidFill>
            <a:prstDash val="solid"/>
          </a:ln>
        </p:spPr>
      </p:sp>
      <p:sp>
        <p:nvSpPr>
          <p:cNvPr id="4" name="Shape 2"/>
          <p:cNvSpPr/>
          <p:nvPr/>
        </p:nvSpPr>
        <p:spPr>
          <a:xfrm>
            <a:off x="594360" y="1170432"/>
            <a:ext cx="329184" cy="329184"/>
          </a:xfrm>
          <a:prstGeom prst="ellipse">
            <a:avLst/>
          </a:prstGeom>
          <a:solidFill>
            <a:srgbClr val="6B7280"/>
          </a:solidFill>
          <a:ln w="12700">
            <a:solidFill>
              <a:srgbClr val="6B7280"/>
            </a:solidFill>
            <a:prstDash val="solid"/>
          </a:ln>
        </p:spPr>
      </p:sp>
      <p:sp>
        <p:nvSpPr>
          <p:cNvPr id="5" name="Text 3"/>
          <p:cNvSpPr txBox="1"/>
          <p:nvPr/>
        </p:nvSpPr>
        <p:spPr>
          <a:xfrm>
            <a:off x="594360" y="11704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Text 4"/>
          <p:cNvSpPr txBox="1"/>
          <p:nvPr/>
        </p:nvSpPr>
        <p:spPr>
          <a:xfrm>
            <a:off x="1051560" y="1088136"/>
            <a:ext cx="2194560" cy="274320"/>
          </a:xfrm>
          <a:prstGeom prst="rect">
            <a:avLst/>
          </a:prstGeom>
          <a:noFill/>
          <a:ln/>
        </p:spPr>
        <p:txBody>
          <a:bodyPr wrap="square" lIns="0" tIns="0" rIns="0" bIns="0" rtlCol="0" anchor="ctr"/>
          <a:lstStyle/>
          <a:p>
            <a:pPr indent="0" marL="0">
              <a:buNone/>
            </a:pPr>
            <a:r>
              <a:rPr lang="en-US" sz="1200" b="1" dirty="0">
                <a:solidFill>
                  <a:srgbClr val="6B7280"/>
                </a:solidFill>
              </a:rPr>
              <a:t>SETUP</a:t>
            </a:r>
            <a:endParaRPr lang="en-US" sz="1200" dirty="0"/>
          </a:p>
        </p:txBody>
      </p:sp>
      <p:sp>
        <p:nvSpPr>
          <p:cNvPr id="7" name="Text 5"/>
          <p:cNvSpPr txBox="1"/>
          <p:nvPr/>
        </p:nvSpPr>
        <p:spPr>
          <a:xfrm>
            <a:off x="1051560" y="1325880"/>
            <a:ext cx="3017520" cy="256032"/>
          </a:xfrm>
          <a:prstGeom prst="rect">
            <a:avLst/>
          </a:prstGeom>
          <a:noFill/>
          <a:ln/>
        </p:spPr>
        <p:txBody>
          <a:bodyPr wrap="square" lIns="0" tIns="0" rIns="0" bIns="0" rtlCol="0" anchor="ctr"/>
          <a:lstStyle/>
          <a:p>
            <a:pPr indent="0" marL="0">
              <a:buNone/>
            </a:pPr>
            <a:r>
              <a:rPr lang="en-US" sz="1100" dirty="0">
                <a:solidFill>
                  <a:srgbClr val="1B1B1B"/>
                </a:solidFill>
              </a:rPr>
              <a:t>the pins and the sensor</a:t>
            </a:r>
            <a:endParaRPr lang="en-US" sz="1100" dirty="0"/>
          </a:p>
        </p:txBody>
      </p:sp>
      <p:sp>
        <p:nvSpPr>
          <p:cNvPr id="8" name="Text 6"/>
          <p:cNvSpPr txBox="1"/>
          <p:nvPr/>
        </p:nvSpPr>
        <p:spPr>
          <a:xfrm>
            <a:off x="4160520" y="1207008"/>
            <a:ext cx="1280160" cy="274320"/>
          </a:xfrm>
          <a:prstGeom prst="rect">
            <a:avLst/>
          </a:prstGeom>
          <a:noFill/>
          <a:ln/>
        </p:spPr>
        <p:txBody>
          <a:bodyPr wrap="square" lIns="0" tIns="0" rIns="0" bIns="0" rtlCol="0" anchor="ctr"/>
          <a:lstStyle/>
          <a:p>
            <a:pPr algn="r" indent="0" marL="0">
              <a:buNone/>
            </a:pPr>
            <a:r>
              <a:rPr lang="en-US" sz="1000" i="1" dirty="0">
                <a:solidFill>
                  <a:srgbClr val="6B7280"/>
                </a:solidFill>
              </a:rPr>
              <a:t>lines 20-30</a:t>
            </a:r>
            <a:endParaRPr lang="en-US" sz="1000" dirty="0"/>
          </a:p>
        </p:txBody>
      </p:sp>
      <p:sp>
        <p:nvSpPr>
          <p:cNvPr id="9" name="Shape 7"/>
          <p:cNvSpPr/>
          <p:nvPr/>
        </p:nvSpPr>
        <p:spPr>
          <a:xfrm>
            <a:off x="457200" y="1709928"/>
            <a:ext cx="5120640" cy="566928"/>
          </a:xfrm>
          <a:prstGeom prst="roundRect">
            <a:avLst>
              <a:gd name="adj" fmla="val 12903"/>
            </a:avLst>
          </a:prstGeom>
          <a:solidFill>
            <a:srgbClr val="FFFFFF"/>
          </a:solidFill>
          <a:ln w="15875">
            <a:solidFill>
              <a:srgbClr val="C98C00"/>
            </a:solidFill>
            <a:prstDash val="solid"/>
          </a:ln>
        </p:spPr>
      </p:sp>
      <p:sp>
        <p:nvSpPr>
          <p:cNvPr id="10" name="Shape 8"/>
          <p:cNvSpPr/>
          <p:nvPr/>
        </p:nvSpPr>
        <p:spPr>
          <a:xfrm>
            <a:off x="594360" y="1828800"/>
            <a:ext cx="329184" cy="329184"/>
          </a:xfrm>
          <a:prstGeom prst="ellipse">
            <a:avLst/>
          </a:prstGeom>
          <a:solidFill>
            <a:srgbClr val="C98C00"/>
          </a:solidFill>
          <a:ln w="12700">
            <a:solidFill>
              <a:srgbClr val="C98C00"/>
            </a:solidFill>
            <a:prstDash val="solid"/>
          </a:ln>
        </p:spPr>
      </p:sp>
      <p:sp>
        <p:nvSpPr>
          <p:cNvPr id="11" name="Text 9"/>
          <p:cNvSpPr txBox="1"/>
          <p:nvPr/>
        </p:nvSpPr>
        <p:spPr>
          <a:xfrm>
            <a:off x="594360" y="1828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Text 10"/>
          <p:cNvSpPr txBox="1"/>
          <p:nvPr/>
        </p:nvSpPr>
        <p:spPr>
          <a:xfrm>
            <a:off x="1051560" y="1746504"/>
            <a:ext cx="2194560" cy="274320"/>
          </a:xfrm>
          <a:prstGeom prst="rect">
            <a:avLst/>
          </a:prstGeom>
          <a:noFill/>
          <a:ln/>
        </p:spPr>
        <p:txBody>
          <a:bodyPr wrap="square" lIns="0" tIns="0" rIns="0" bIns="0" rtlCol="0" anchor="ctr"/>
          <a:lstStyle/>
          <a:p>
            <a:pPr indent="0" marL="0">
              <a:buNone/>
            </a:pPr>
            <a:r>
              <a:rPr lang="en-US" sz="1200" b="1" dirty="0">
                <a:solidFill>
                  <a:srgbClr val="C98C00"/>
                </a:solidFill>
              </a:rPr>
              <a:t>NUMBERS YOU CAN CHANGE</a:t>
            </a:r>
            <a:endParaRPr lang="en-US" sz="1200" dirty="0"/>
          </a:p>
        </p:txBody>
      </p:sp>
      <p:sp>
        <p:nvSpPr>
          <p:cNvPr id="13" name="Text 11"/>
          <p:cNvSpPr txBox="1"/>
          <p:nvPr/>
        </p:nvSpPr>
        <p:spPr>
          <a:xfrm>
            <a:off x="1051560" y="1984248"/>
            <a:ext cx="3017520" cy="256032"/>
          </a:xfrm>
          <a:prstGeom prst="rect">
            <a:avLst/>
          </a:prstGeom>
          <a:noFill/>
          <a:ln/>
        </p:spPr>
        <p:txBody>
          <a:bodyPr wrap="square" lIns="0" tIns="0" rIns="0" bIns="0" rtlCol="0" anchor="ctr"/>
          <a:lstStyle/>
          <a:p>
            <a:pPr indent="0" marL="0">
              <a:buNone/>
            </a:pPr>
            <a:r>
              <a:rPr lang="en-US" sz="1100" dirty="0">
                <a:solidFill>
                  <a:srgbClr val="1B1B1B"/>
                </a:solidFill>
              </a:rPr>
              <a:t>QUIET, LOUD, COOLDOWN</a:t>
            </a:r>
            <a:endParaRPr lang="en-US" sz="1100" dirty="0"/>
          </a:p>
        </p:txBody>
      </p:sp>
      <p:sp>
        <p:nvSpPr>
          <p:cNvPr id="14" name="Text 12"/>
          <p:cNvSpPr txBox="1"/>
          <p:nvPr/>
        </p:nvSpPr>
        <p:spPr>
          <a:xfrm>
            <a:off x="4160520" y="1865376"/>
            <a:ext cx="1280160" cy="274320"/>
          </a:xfrm>
          <a:prstGeom prst="rect">
            <a:avLst/>
          </a:prstGeom>
          <a:noFill/>
          <a:ln/>
        </p:spPr>
        <p:txBody>
          <a:bodyPr wrap="square" lIns="0" tIns="0" rIns="0" bIns="0" rtlCol="0" anchor="ctr"/>
          <a:lstStyle/>
          <a:p>
            <a:pPr algn="r" indent="0" marL="0">
              <a:buNone/>
            </a:pPr>
            <a:r>
              <a:rPr lang="en-US" sz="1000" i="1" dirty="0">
                <a:solidFill>
                  <a:srgbClr val="6B7280"/>
                </a:solidFill>
              </a:rPr>
              <a:t>lines 33-40</a:t>
            </a:r>
            <a:endParaRPr lang="en-US" sz="1000" dirty="0"/>
          </a:p>
        </p:txBody>
      </p:sp>
      <p:sp>
        <p:nvSpPr>
          <p:cNvPr id="15" name="Shape 13"/>
          <p:cNvSpPr/>
          <p:nvPr/>
        </p:nvSpPr>
        <p:spPr>
          <a:xfrm>
            <a:off x="457200" y="2368296"/>
            <a:ext cx="5120640" cy="566928"/>
          </a:xfrm>
          <a:prstGeom prst="roundRect">
            <a:avLst>
              <a:gd name="adj" fmla="val 12903"/>
            </a:avLst>
          </a:prstGeom>
          <a:solidFill>
            <a:srgbClr val="FFFBEA"/>
          </a:solidFill>
          <a:ln w="25400">
            <a:solidFill>
              <a:srgbClr val="2B6CB0"/>
            </a:solidFill>
            <a:prstDash val="solid"/>
          </a:ln>
        </p:spPr>
      </p:sp>
      <p:sp>
        <p:nvSpPr>
          <p:cNvPr id="16" name="Shape 14"/>
          <p:cNvSpPr/>
          <p:nvPr/>
        </p:nvSpPr>
        <p:spPr>
          <a:xfrm>
            <a:off x="594360" y="2487168"/>
            <a:ext cx="329184" cy="329184"/>
          </a:xfrm>
          <a:prstGeom prst="ellipse">
            <a:avLst/>
          </a:prstGeom>
          <a:solidFill>
            <a:srgbClr val="2B6CB0"/>
          </a:solidFill>
          <a:ln w="12700">
            <a:solidFill>
              <a:srgbClr val="2B6CB0"/>
            </a:solidFill>
            <a:prstDash val="solid"/>
          </a:ln>
        </p:spPr>
      </p:sp>
      <p:sp>
        <p:nvSpPr>
          <p:cNvPr id="17" name="Text 15"/>
          <p:cNvSpPr txBox="1"/>
          <p:nvPr/>
        </p:nvSpPr>
        <p:spPr>
          <a:xfrm>
            <a:off x="594360" y="2487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6"/>
          <p:cNvSpPr txBox="1"/>
          <p:nvPr/>
        </p:nvSpPr>
        <p:spPr>
          <a:xfrm>
            <a:off x="1051560" y="2404872"/>
            <a:ext cx="2194560" cy="274320"/>
          </a:xfrm>
          <a:prstGeom prst="rect">
            <a:avLst/>
          </a:prstGeom>
          <a:noFill/>
          <a:ln/>
        </p:spPr>
        <p:txBody>
          <a:bodyPr wrap="square" lIns="0" tIns="0" rIns="0" bIns="0" rtlCol="0" anchor="ctr"/>
          <a:lstStyle/>
          <a:p>
            <a:pPr indent="0" marL="0">
              <a:buNone/>
            </a:pPr>
            <a:r>
              <a:rPr lang="en-US" sz="1200" b="1" dirty="0">
                <a:solidFill>
                  <a:srgbClr val="2B6CB0"/>
                </a:solidFill>
              </a:rPr>
              <a:t>FUNCTIONS</a:t>
            </a:r>
            <a:endParaRPr lang="en-US" sz="1200" dirty="0"/>
          </a:p>
        </p:txBody>
      </p:sp>
      <p:sp>
        <p:nvSpPr>
          <p:cNvPr id="19" name="Text 17"/>
          <p:cNvSpPr txBox="1"/>
          <p:nvPr/>
        </p:nvSpPr>
        <p:spPr>
          <a:xfrm>
            <a:off x="1051560" y="2642616"/>
            <a:ext cx="3017520" cy="256032"/>
          </a:xfrm>
          <a:prstGeom prst="rect">
            <a:avLst/>
          </a:prstGeom>
          <a:noFill/>
          <a:ln/>
        </p:spPr>
        <p:txBody>
          <a:bodyPr wrap="square" lIns="0" tIns="0" rIns="0" bIns="0" rtlCol="0" anchor="ctr"/>
          <a:lstStyle/>
          <a:p>
            <a:pPr indent="0" marL="0">
              <a:buNone/>
            </a:pPr>
            <a:r>
              <a:rPr lang="en-US" sz="1100" dirty="0">
                <a:solidFill>
                  <a:srgbClr val="1B1B1B"/>
                </a:solidFill>
              </a:rPr>
              <a:t>the thinking: loudness(), level_for()</a:t>
            </a:r>
            <a:endParaRPr lang="en-US" sz="1100" dirty="0"/>
          </a:p>
        </p:txBody>
      </p:sp>
      <p:sp>
        <p:nvSpPr>
          <p:cNvPr id="20" name="Text 18"/>
          <p:cNvSpPr txBox="1"/>
          <p:nvPr/>
        </p:nvSpPr>
        <p:spPr>
          <a:xfrm>
            <a:off x="4160520" y="2523744"/>
            <a:ext cx="1280160" cy="274320"/>
          </a:xfrm>
          <a:prstGeom prst="rect">
            <a:avLst/>
          </a:prstGeom>
          <a:noFill/>
          <a:ln/>
        </p:spPr>
        <p:txBody>
          <a:bodyPr wrap="square" lIns="0" tIns="0" rIns="0" bIns="0" rtlCol="0" anchor="ctr"/>
          <a:lstStyle/>
          <a:p>
            <a:pPr algn="r" indent="0" marL="0">
              <a:buNone/>
            </a:pPr>
            <a:r>
              <a:rPr lang="en-US" sz="1000" i="1" dirty="0">
                <a:solidFill>
                  <a:srgbClr val="6B7280"/>
                </a:solidFill>
              </a:rPr>
              <a:t>lines 43-68</a:t>
            </a:r>
            <a:endParaRPr lang="en-US" sz="1000" dirty="0"/>
          </a:p>
        </p:txBody>
      </p:sp>
      <p:sp>
        <p:nvSpPr>
          <p:cNvPr id="21" name="Shape 19"/>
          <p:cNvSpPr/>
          <p:nvPr/>
        </p:nvSpPr>
        <p:spPr>
          <a:xfrm>
            <a:off x="457200" y="3026664"/>
            <a:ext cx="5120640" cy="566928"/>
          </a:xfrm>
          <a:prstGeom prst="roundRect">
            <a:avLst>
              <a:gd name="adj" fmla="val 12903"/>
            </a:avLst>
          </a:prstGeom>
          <a:solidFill>
            <a:srgbClr val="FFFFFF"/>
          </a:solidFill>
          <a:ln w="15875">
            <a:solidFill>
              <a:srgbClr val="8E44AD"/>
            </a:solidFill>
            <a:prstDash val="solid"/>
          </a:ln>
        </p:spPr>
      </p:sp>
      <p:sp>
        <p:nvSpPr>
          <p:cNvPr id="22" name="Shape 20"/>
          <p:cNvSpPr/>
          <p:nvPr/>
        </p:nvSpPr>
        <p:spPr>
          <a:xfrm>
            <a:off x="594360" y="3145536"/>
            <a:ext cx="329184" cy="329184"/>
          </a:xfrm>
          <a:prstGeom prst="ellipse">
            <a:avLst/>
          </a:prstGeom>
          <a:solidFill>
            <a:srgbClr val="8E44AD"/>
          </a:solidFill>
          <a:ln w="12700">
            <a:solidFill>
              <a:srgbClr val="8E44AD"/>
            </a:solidFill>
            <a:prstDash val="solid"/>
          </a:ln>
        </p:spPr>
      </p:sp>
      <p:sp>
        <p:nvSpPr>
          <p:cNvPr id="23" name="Text 21"/>
          <p:cNvSpPr txBox="1"/>
          <p:nvPr/>
        </p:nvSpPr>
        <p:spPr>
          <a:xfrm>
            <a:off x="594360" y="31455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4" name="Text 22"/>
          <p:cNvSpPr txBox="1"/>
          <p:nvPr/>
        </p:nvSpPr>
        <p:spPr>
          <a:xfrm>
            <a:off x="1051560" y="3063240"/>
            <a:ext cx="2194560" cy="274320"/>
          </a:xfrm>
          <a:prstGeom prst="rect">
            <a:avLst/>
          </a:prstGeom>
          <a:noFill/>
          <a:ln/>
        </p:spPr>
        <p:txBody>
          <a:bodyPr wrap="square" lIns="0" tIns="0" rIns="0" bIns="0" rtlCol="0" anchor="ctr"/>
          <a:lstStyle/>
          <a:p>
            <a:pPr indent="0" marL="0">
              <a:buNone/>
            </a:pPr>
            <a:r>
              <a:rPr lang="en-US" sz="1200" b="1" dirty="0">
                <a:solidFill>
                  <a:srgbClr val="8E44AD"/>
                </a:solidFill>
              </a:rPr>
              <a:t>THE MEMORY</a:t>
            </a:r>
            <a:endParaRPr lang="en-US" sz="1200" dirty="0"/>
          </a:p>
        </p:txBody>
      </p:sp>
      <p:sp>
        <p:nvSpPr>
          <p:cNvPr id="25" name="Text 23"/>
          <p:cNvSpPr txBox="1"/>
          <p:nvPr/>
        </p:nvSpPr>
        <p:spPr>
          <a:xfrm>
            <a:off x="1051560" y="3300984"/>
            <a:ext cx="3017520" cy="256032"/>
          </a:xfrm>
          <a:prstGeom prst="rect">
            <a:avLst/>
          </a:prstGeom>
          <a:noFill/>
          <a:ln/>
        </p:spPr>
        <p:txBody>
          <a:bodyPr wrap="square" lIns="0" tIns="0" rIns="0" bIns="0" rtlCol="0" anchor="ctr"/>
          <a:lstStyle/>
          <a:p>
            <a:pPr indent="0" marL="0">
              <a:buNone/>
            </a:pPr>
            <a:r>
              <a:rPr lang="en-US" sz="1100" dirty="0">
                <a:solidFill>
                  <a:srgbClr val="1B1B1B"/>
                </a:solidFill>
              </a:rPr>
              <a:t>made once, before the loop</a:t>
            </a:r>
            <a:endParaRPr lang="en-US" sz="1100" dirty="0"/>
          </a:p>
        </p:txBody>
      </p:sp>
      <p:sp>
        <p:nvSpPr>
          <p:cNvPr id="26" name="Text 24"/>
          <p:cNvSpPr txBox="1"/>
          <p:nvPr/>
        </p:nvSpPr>
        <p:spPr>
          <a:xfrm>
            <a:off x="4160520" y="3182112"/>
            <a:ext cx="1280160" cy="274320"/>
          </a:xfrm>
          <a:prstGeom prst="rect">
            <a:avLst/>
          </a:prstGeom>
          <a:noFill/>
          <a:ln/>
        </p:spPr>
        <p:txBody>
          <a:bodyPr wrap="square" lIns="0" tIns="0" rIns="0" bIns="0" rtlCol="0" anchor="ctr"/>
          <a:lstStyle/>
          <a:p>
            <a:pPr algn="r" indent="0" marL="0">
              <a:buNone/>
            </a:pPr>
            <a:r>
              <a:rPr lang="en-US" sz="1000" i="1" dirty="0">
                <a:solidFill>
                  <a:srgbClr val="6B7280"/>
                </a:solidFill>
              </a:rPr>
              <a:t>lines 70-75</a:t>
            </a:r>
            <a:endParaRPr lang="en-US" sz="1000" dirty="0"/>
          </a:p>
        </p:txBody>
      </p:sp>
      <p:sp>
        <p:nvSpPr>
          <p:cNvPr id="27" name="Shape 25"/>
          <p:cNvSpPr/>
          <p:nvPr/>
        </p:nvSpPr>
        <p:spPr>
          <a:xfrm>
            <a:off x="457200" y="3685032"/>
            <a:ext cx="5120640" cy="566928"/>
          </a:xfrm>
          <a:prstGeom prst="roundRect">
            <a:avLst>
              <a:gd name="adj" fmla="val 12903"/>
            </a:avLst>
          </a:prstGeom>
          <a:solidFill>
            <a:srgbClr val="FFFBEA"/>
          </a:solidFill>
          <a:ln w="25400">
            <a:solidFill>
              <a:srgbClr val="1F8A70"/>
            </a:solidFill>
            <a:prstDash val="solid"/>
          </a:ln>
        </p:spPr>
      </p:sp>
      <p:sp>
        <p:nvSpPr>
          <p:cNvPr id="28" name="Shape 26"/>
          <p:cNvSpPr/>
          <p:nvPr/>
        </p:nvSpPr>
        <p:spPr>
          <a:xfrm>
            <a:off x="594360" y="3803904"/>
            <a:ext cx="329184" cy="329184"/>
          </a:xfrm>
          <a:prstGeom prst="ellipse">
            <a:avLst/>
          </a:prstGeom>
          <a:solidFill>
            <a:srgbClr val="1F8A70"/>
          </a:solidFill>
          <a:ln w="12700">
            <a:solidFill>
              <a:srgbClr val="1F8A70"/>
            </a:solidFill>
            <a:prstDash val="solid"/>
          </a:ln>
        </p:spPr>
      </p:sp>
      <p:sp>
        <p:nvSpPr>
          <p:cNvPr id="29" name="Text 27"/>
          <p:cNvSpPr txBox="1"/>
          <p:nvPr/>
        </p:nvSpPr>
        <p:spPr>
          <a:xfrm>
            <a:off x="594360" y="38039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0" name="Text 28"/>
          <p:cNvSpPr txBox="1"/>
          <p:nvPr/>
        </p:nvSpPr>
        <p:spPr>
          <a:xfrm>
            <a:off x="1051560" y="3721608"/>
            <a:ext cx="2194560" cy="274320"/>
          </a:xfrm>
          <a:prstGeom prst="rect">
            <a:avLst/>
          </a:prstGeom>
          <a:noFill/>
          <a:ln/>
        </p:spPr>
        <p:txBody>
          <a:bodyPr wrap="square" lIns="0" tIns="0" rIns="0" bIns="0" rtlCol="0" anchor="ctr"/>
          <a:lstStyle/>
          <a:p>
            <a:pPr indent="0" marL="0">
              <a:buNone/>
            </a:pPr>
            <a:r>
              <a:rPr lang="en-US" sz="1200" b="1" dirty="0">
                <a:solidFill>
                  <a:srgbClr val="1F8A70"/>
                </a:solidFill>
              </a:rPr>
              <a:t>THE LOOP</a:t>
            </a:r>
            <a:endParaRPr lang="en-US" sz="1200" dirty="0"/>
          </a:p>
        </p:txBody>
      </p:sp>
      <p:sp>
        <p:nvSpPr>
          <p:cNvPr id="31" name="Text 29"/>
          <p:cNvSpPr txBox="1"/>
          <p:nvPr/>
        </p:nvSpPr>
        <p:spPr>
          <a:xfrm>
            <a:off x="1051560" y="3959352"/>
            <a:ext cx="3017520" cy="256032"/>
          </a:xfrm>
          <a:prstGeom prst="rect">
            <a:avLst/>
          </a:prstGeom>
          <a:noFill/>
          <a:ln/>
        </p:spPr>
        <p:txBody>
          <a:bodyPr wrap="square" lIns="0" tIns="0" rIns="0" bIns="0" rtlCol="0" anchor="ctr"/>
          <a:lstStyle/>
          <a:p>
            <a:pPr indent="0" marL="0">
              <a:buNone/>
            </a:pPr>
            <a:r>
              <a:rPr lang="en-US" sz="1100" dirty="0">
                <a:solidFill>
                  <a:srgbClr val="1B1B1B"/>
                </a:solidFill>
              </a:rPr>
              <a:t>again and again, until you stop it</a:t>
            </a:r>
            <a:endParaRPr lang="en-US" sz="1100" dirty="0"/>
          </a:p>
        </p:txBody>
      </p:sp>
      <p:sp>
        <p:nvSpPr>
          <p:cNvPr id="32" name="Text 30"/>
          <p:cNvSpPr txBox="1"/>
          <p:nvPr/>
        </p:nvSpPr>
        <p:spPr>
          <a:xfrm>
            <a:off x="4160520" y="3840480"/>
            <a:ext cx="1280160" cy="274320"/>
          </a:xfrm>
          <a:prstGeom prst="rect">
            <a:avLst/>
          </a:prstGeom>
          <a:noFill/>
          <a:ln/>
        </p:spPr>
        <p:txBody>
          <a:bodyPr wrap="square" lIns="0" tIns="0" rIns="0" bIns="0" rtlCol="0" anchor="ctr"/>
          <a:lstStyle/>
          <a:p>
            <a:pPr algn="r" indent="0" marL="0">
              <a:buNone/>
            </a:pPr>
            <a:r>
              <a:rPr lang="en-US" sz="1000" i="1" dirty="0">
                <a:solidFill>
                  <a:srgbClr val="6B7280"/>
                </a:solidFill>
              </a:rPr>
              <a:t>lines 77-100</a:t>
            </a:r>
            <a:endParaRPr lang="en-US" sz="1000" dirty="0"/>
          </a:p>
        </p:txBody>
      </p:sp>
      <p:sp>
        <p:nvSpPr>
          <p:cNvPr id="33" name="Text 31"/>
          <p:cNvSpPr txBox="1"/>
          <p:nvPr/>
        </p:nvSpPr>
        <p:spPr>
          <a:xfrm>
            <a:off x="457200" y="4389120"/>
            <a:ext cx="5120640" cy="228600"/>
          </a:xfrm>
          <a:prstGeom prst="rect">
            <a:avLst/>
          </a:prstGeom>
          <a:noFill/>
          <a:ln/>
        </p:spPr>
        <p:txBody>
          <a:bodyPr wrap="square" lIns="0" tIns="0" rIns="0" bIns="0" rtlCol="0" anchor="ctr"/>
          <a:lstStyle/>
          <a:p>
            <a:pPr algn="r" indent="0" marL="0">
              <a:buNone/>
            </a:pPr>
            <a:r>
              <a:rPr lang="en-US" sz="1000" i="1" dirty="0">
                <a:solidFill>
                  <a:srgbClr val="6B7280"/>
                </a:solidFill>
              </a:rPr>
              <a:t>line numbers from step3_noise_counter.py</a:t>
            </a:r>
            <a:endParaRPr lang="en-US" sz="1000" dirty="0"/>
          </a:p>
        </p:txBody>
      </p:sp>
      <p:sp>
        <p:nvSpPr>
          <p:cNvPr id="34" name="Shape 32"/>
          <p:cNvSpPr/>
          <p:nvPr/>
        </p:nvSpPr>
        <p:spPr>
          <a:xfrm>
            <a:off x="5760720" y="1051560"/>
            <a:ext cx="2926080" cy="1463040"/>
          </a:xfrm>
          <a:prstGeom prst="roundRect">
            <a:avLst>
              <a:gd name="adj" fmla="val 6250"/>
            </a:avLst>
          </a:prstGeom>
          <a:solidFill>
            <a:srgbClr val="FFFBEA"/>
          </a:solidFill>
          <a:ln w="19050">
            <a:solidFill>
              <a:srgbClr val="E0A800"/>
            </a:solidFill>
            <a:prstDash val="solid"/>
          </a:ln>
        </p:spPr>
      </p:sp>
      <p:sp>
        <p:nvSpPr>
          <p:cNvPr id="35" name="Text 33"/>
          <p:cNvSpPr txBox="1"/>
          <p:nvPr/>
        </p:nvSpPr>
        <p:spPr>
          <a:xfrm>
            <a:off x="5943600" y="1143000"/>
            <a:ext cx="2560320" cy="457200"/>
          </a:xfrm>
          <a:prstGeom prst="rect">
            <a:avLst/>
          </a:prstGeom>
          <a:noFill/>
          <a:ln/>
        </p:spPr>
        <p:txBody>
          <a:bodyPr wrap="square" lIns="0" tIns="0" rIns="0" bIns="0" rtlCol="0" anchor="ctr"/>
          <a:lstStyle/>
          <a:p>
            <a:pPr indent="0" marL="0">
              <a:buNone/>
            </a:pPr>
            <a:r>
              <a:rPr lang="en-US" sz="1500" b="1" dirty="0">
                <a:solidFill>
                  <a:srgbClr val="9A6B00"/>
                </a:solidFill>
              </a:rPr>
              <a:t>You only ever touch two parts</a:t>
            </a:r>
            <a:endParaRPr lang="en-US" sz="1500" dirty="0"/>
          </a:p>
        </p:txBody>
      </p:sp>
      <p:sp>
        <p:nvSpPr>
          <p:cNvPr id="36" name="Text 34"/>
          <p:cNvSpPr txBox="1"/>
          <p:nvPr/>
        </p:nvSpPr>
        <p:spPr>
          <a:xfrm>
            <a:off x="5943600" y="1600200"/>
            <a:ext cx="2560320" cy="822960"/>
          </a:xfrm>
          <a:prstGeom prst="rect">
            <a:avLst/>
          </a:prstGeom>
          <a:noFill/>
          <a:ln/>
        </p:spPr>
        <p:txBody>
          <a:bodyPr wrap="square" lIns="0" tIns="0" rIns="0" bIns="0" rtlCol="0" anchor="t"/>
          <a:lstStyle/>
          <a:p>
            <a:pPr indent="0" marL="0">
              <a:buNone/>
            </a:pPr>
            <a:r>
              <a:rPr lang="en-US" sz="1300" dirty="0">
                <a:solidFill>
                  <a:srgbClr val="1B1B1B"/>
                </a:solidFill>
              </a:rPr>
              <a:t>A function in part 3, or the loop in part 5. Parts 1 and 4 you read, never edit.</a:t>
            </a:r>
            <a:endParaRPr lang="en-US" sz="1300" dirty="0"/>
          </a:p>
        </p:txBody>
      </p:sp>
      <p:sp>
        <p:nvSpPr>
          <p:cNvPr id="37" name="Shape 35"/>
          <p:cNvSpPr/>
          <p:nvPr/>
        </p:nvSpPr>
        <p:spPr>
          <a:xfrm>
            <a:off x="5760720" y="2697480"/>
            <a:ext cx="2926080" cy="1234440"/>
          </a:xfrm>
          <a:prstGeom prst="roundRect">
            <a:avLst>
              <a:gd name="adj" fmla="val 5926"/>
            </a:avLst>
          </a:prstGeom>
          <a:solidFill>
            <a:srgbClr val="2B2F33"/>
          </a:solidFill>
          <a:ln w="12700">
            <a:solidFill>
              <a:srgbClr val="2B2F33"/>
            </a:solidFill>
            <a:prstDash val="solid"/>
          </a:ln>
        </p:spPr>
      </p:sp>
      <p:sp>
        <p:nvSpPr>
          <p:cNvPr id="38" name="Text 36"/>
          <p:cNvSpPr txBox="1"/>
          <p:nvPr/>
        </p:nvSpPr>
        <p:spPr>
          <a:xfrm>
            <a:off x="5897880" y="2761488"/>
            <a:ext cx="2651760" cy="219456"/>
          </a:xfrm>
          <a:prstGeom prst="rect">
            <a:avLst/>
          </a:prstGeom>
          <a:noFill/>
          <a:ln/>
        </p:spPr>
        <p:txBody>
          <a:bodyPr wrap="square" lIns="0" tIns="0" rIns="0" bIns="0" rtlCol="0" anchor="ctr"/>
          <a:lstStyle/>
          <a:p>
            <a:pPr indent="0" marL="0">
              <a:buNone/>
            </a:pPr>
            <a:r>
              <a:rPr lang="en-US" sz="1100" i="1" dirty="0">
                <a:solidFill>
                  <a:srgbClr val="C9CED3"/>
                </a:solidFill>
              </a:rPr>
              <a:t>Look for these</a:t>
            </a:r>
            <a:endParaRPr lang="en-US" sz="1100" dirty="0"/>
          </a:p>
        </p:txBody>
      </p:sp>
      <p:sp>
        <p:nvSpPr>
          <p:cNvPr id="39" name="Shape 37"/>
          <p:cNvSpPr/>
          <p:nvPr/>
        </p:nvSpPr>
        <p:spPr>
          <a:xfrm>
            <a:off x="5870448" y="3017520"/>
            <a:ext cx="2706624" cy="0"/>
          </a:xfrm>
          <a:prstGeom prst="line">
            <a:avLst/>
          </a:prstGeom>
          <a:noFill/>
          <a:ln w="12700">
            <a:solidFill>
              <a:srgbClr val="454B51"/>
            </a:solidFill>
            <a:prstDash val="solid"/>
          </a:ln>
        </p:spPr>
      </p:sp>
      <p:sp>
        <p:nvSpPr>
          <p:cNvPr id="40" name="Text 38"/>
          <p:cNvSpPr txBox="1"/>
          <p:nvPr/>
        </p:nvSpPr>
        <p:spPr>
          <a:xfrm>
            <a:off x="5925312" y="3081528"/>
            <a:ext cx="2596896" cy="777240"/>
          </a:xfrm>
          <a:prstGeom prst="rect">
            <a:avLst/>
          </a:prstGeom>
          <a:noFill/>
          <a:ln/>
        </p:spPr>
        <p:txBody>
          <a:bodyPr wrap="square" lIns="0" tIns="0" rIns="0" bIns="0" rtlCol="0" anchor="t"/>
          <a:lstStyle/>
          <a:p>
            <a:pPr indent="0" marL="0">
              <a:buNone/>
            </a:pPr>
            <a:r>
              <a:rPr lang="en-US" sz="1000" dirty="0">
                <a:solidFill>
                  <a:srgbClr val="E8EAED"/>
                </a:solidFill>
                <a:latin typeface="Courier New" pitchFamily="34" charset="0"/>
                <a:ea typeface="Courier New" pitchFamily="34" charset="-122"/>
                <a:cs typeface="Courier New" pitchFamily="34" charset="-120"/>
              </a:rPr>
              <a:t>&gt;&gt;&gt;&gt;&gt; YOUR CODE</a:t>
            </a:r>
            <a:endParaRPr lang="en-US" sz="1000" dirty="0"/>
          </a:p>
          <a:p>
            <a:pPr indent="0" marL="0">
              <a:buNone/>
            </a:pPr>
            <a:r>
              <a:rPr lang="en-US" sz="1000" dirty="0">
                <a:solidFill>
                  <a:srgbClr val="E8EAED"/>
                </a:solidFill>
                <a:latin typeface="Courier New" pitchFamily="34" charset="0"/>
                <a:ea typeface="Courier New" pitchFamily="34" charset="-122"/>
                <a:cs typeface="Courier New" pitchFamily="34" charset="-120"/>
              </a:rPr>
              <a:t>      STARTS HERE &gt;&gt;&gt;&gt;&gt;</a:t>
            </a:r>
            <a:endParaRPr lang="en-US" sz="1000" dirty="0"/>
          </a:p>
          <a:p>
            <a:pPr indent="0" marL="0">
              <a:buNone/>
            </a:pPr>
            <a:endParaRPr lang="en-US" sz="1000" dirty="0"/>
          </a:p>
          <a:p>
            <a:pPr indent="0" marL="0">
              <a:buNone/>
            </a:pPr>
            <a:r>
              <a:rPr lang="en-US" sz="1000" dirty="0">
                <a:solidFill>
                  <a:srgbClr val="E8EAED"/>
                </a:solidFill>
                <a:latin typeface="Courier New" pitchFamily="34" charset="0"/>
                <a:ea typeface="Courier New" pitchFamily="34" charset="-122"/>
                <a:cs typeface="Courier New" pitchFamily="34" charset="-120"/>
              </a:rPr>
              <a:t>&lt;&lt;&lt;&lt;&lt; YOUR CODE</a:t>
            </a:r>
            <a:endParaRPr lang="en-US" sz="1000" dirty="0"/>
          </a:p>
          <a:p>
            <a:pPr indent="0" marL="0">
              <a:buNone/>
            </a:pPr>
            <a:r>
              <a:rPr lang="en-US" sz="1000" dirty="0">
                <a:solidFill>
                  <a:srgbClr val="E8EAED"/>
                </a:solidFill>
                <a:latin typeface="Courier New" pitchFamily="34" charset="0"/>
                <a:ea typeface="Courier New" pitchFamily="34" charset="-122"/>
                <a:cs typeface="Courier New" pitchFamily="34" charset="-120"/>
              </a:rPr>
              <a:t>      ENDS HERE &lt;&lt;&lt;&lt;&lt;</a:t>
            </a:r>
            <a:endParaRPr lang="en-US" sz="1000" dirty="0"/>
          </a:p>
        </p:txBody>
      </p:sp>
      <p:sp>
        <p:nvSpPr>
          <p:cNvPr id="41" name="Text 39"/>
          <p:cNvSpPr txBox="1"/>
          <p:nvPr/>
        </p:nvSpPr>
        <p:spPr>
          <a:xfrm>
            <a:off x="5760720" y="4023360"/>
            <a:ext cx="2926080" cy="594360"/>
          </a:xfrm>
          <a:prstGeom prst="rect">
            <a:avLst/>
          </a:prstGeom>
          <a:noFill/>
          <a:ln/>
        </p:spPr>
        <p:txBody>
          <a:bodyPr wrap="square" lIns="0" tIns="0" rIns="0" bIns="0" rtlCol="0" anchor="t"/>
          <a:lstStyle/>
          <a:p>
            <a:pPr indent="0" marL="0">
              <a:buNone/>
            </a:pPr>
            <a:r>
              <a:rPr lang="en-US" sz="1200" b="1" dirty="0">
                <a:solidFill>
                  <a:srgbClr val="0B3D2E"/>
                </a:solidFill>
              </a:rPr>
              <a:t>Scroll until you see the arrows. Your work goes between them, and nowhere else.</a:t>
            </a:r>
            <a:endParaRPr lang="en-US" sz="12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Wire it: microphone + Lesson 3 LEDs</a:t>
            </a:r>
            <a:endParaRPr lang="en-US" sz="3000" dirty="0"/>
          </a:p>
        </p:txBody>
      </p:sp>
      <p:sp>
        <p:nvSpPr>
          <p:cNvPr id="3" name="Shape 1"/>
          <p:cNvSpPr/>
          <p:nvPr/>
        </p:nvSpPr>
        <p:spPr>
          <a:xfrm>
            <a:off x="411480" y="960120"/>
            <a:ext cx="1325880" cy="3611880"/>
          </a:xfrm>
          <a:prstGeom prst="roundRect">
            <a:avLst>
              <a:gd name="adj" fmla="val 5517"/>
            </a:avLst>
          </a:prstGeom>
          <a:solidFill>
            <a:srgbClr val="263238"/>
          </a:solidFill>
          <a:ln w="12700">
            <a:solidFill>
              <a:srgbClr val="263238"/>
            </a:solidFill>
            <a:prstDash val="solid"/>
          </a:ln>
        </p:spPr>
      </p:sp>
      <p:sp>
        <p:nvSpPr>
          <p:cNvPr id="4" name="Text 2"/>
          <p:cNvSpPr txBox="1"/>
          <p:nvPr/>
        </p:nvSpPr>
        <p:spPr>
          <a:xfrm>
            <a:off x="502920" y="1033272"/>
            <a:ext cx="1143000" cy="228600"/>
          </a:xfrm>
          <a:prstGeom prst="rect">
            <a:avLst/>
          </a:prstGeom>
          <a:noFill/>
          <a:ln/>
        </p:spPr>
        <p:txBody>
          <a:bodyPr wrap="square" lIns="0" tIns="0" rIns="0" bIns="0" rtlCol="0" anchor="ctr"/>
          <a:lstStyle/>
          <a:p>
            <a:pPr indent="0" marL="0">
              <a:buNone/>
            </a:pPr>
            <a:r>
              <a:rPr lang="en-US" sz="1100" b="1" dirty="0">
                <a:solidFill>
                  <a:srgbClr val="B0BEC5"/>
                </a:solidFill>
              </a:rPr>
              <a:t>ESP32</a:t>
            </a:r>
            <a:endParaRPr lang="en-US" sz="1100" dirty="0"/>
          </a:p>
        </p:txBody>
      </p:sp>
      <p:sp>
        <p:nvSpPr>
          <p:cNvPr id="5" name="Shape 3"/>
          <p:cNvSpPr/>
          <p:nvPr/>
        </p:nvSpPr>
        <p:spPr>
          <a:xfrm>
            <a:off x="1673352" y="1216152"/>
            <a:ext cx="128016" cy="128016"/>
          </a:xfrm>
          <a:prstGeom prst="rect">
            <a:avLst/>
          </a:prstGeom>
          <a:solidFill>
            <a:srgbClr val="FFD54F"/>
          </a:solidFill>
          <a:ln w="6350">
            <a:solidFill>
              <a:srgbClr val="37474F"/>
            </a:solidFill>
            <a:prstDash val="solid"/>
          </a:ln>
        </p:spPr>
      </p:sp>
      <p:sp>
        <p:nvSpPr>
          <p:cNvPr id="6" name="Text 4"/>
          <p:cNvSpPr txBox="1"/>
          <p:nvPr/>
        </p:nvSpPr>
        <p:spPr>
          <a:xfrm>
            <a:off x="457200" y="1179576"/>
            <a:ext cx="1170432" cy="201168"/>
          </a:xfrm>
          <a:prstGeom prst="rect">
            <a:avLst/>
          </a:prstGeom>
          <a:noFill/>
          <a:ln/>
        </p:spPr>
        <p:txBody>
          <a:bodyPr wrap="square" lIns="0" tIns="0" rIns="0" bIns="0" rtlCol="0" anchor="ctr"/>
          <a:lstStyle/>
          <a:p>
            <a:pPr algn="r" indent="0" marL="0">
              <a:buNone/>
            </a:pPr>
            <a:r>
              <a:rPr lang="en-US" sz="1100" b="1" dirty="0">
                <a:solidFill>
                  <a:srgbClr val="FFFFFF"/>
                </a:solidFill>
              </a:rPr>
              <a:t>3V3</a:t>
            </a:r>
            <a:endParaRPr lang="en-US" sz="1100" dirty="0"/>
          </a:p>
        </p:txBody>
      </p:sp>
      <p:sp>
        <p:nvSpPr>
          <p:cNvPr id="7" name="Shape 5"/>
          <p:cNvSpPr/>
          <p:nvPr/>
        </p:nvSpPr>
        <p:spPr>
          <a:xfrm>
            <a:off x="1673352" y="1627632"/>
            <a:ext cx="128016" cy="128016"/>
          </a:xfrm>
          <a:prstGeom prst="rect">
            <a:avLst/>
          </a:prstGeom>
          <a:solidFill>
            <a:srgbClr val="FFD54F"/>
          </a:solidFill>
          <a:ln w="6350">
            <a:solidFill>
              <a:srgbClr val="37474F"/>
            </a:solidFill>
            <a:prstDash val="solid"/>
          </a:ln>
        </p:spPr>
      </p:sp>
      <p:sp>
        <p:nvSpPr>
          <p:cNvPr id="8" name="Text 6"/>
          <p:cNvSpPr txBox="1"/>
          <p:nvPr/>
        </p:nvSpPr>
        <p:spPr>
          <a:xfrm>
            <a:off x="457200" y="1591056"/>
            <a:ext cx="1170432" cy="201168"/>
          </a:xfrm>
          <a:prstGeom prst="rect">
            <a:avLst/>
          </a:prstGeom>
          <a:noFill/>
          <a:ln/>
        </p:spPr>
        <p:txBody>
          <a:bodyPr wrap="square" lIns="0" tIns="0" rIns="0" bIns="0" rtlCol="0" anchor="ctr"/>
          <a:lstStyle/>
          <a:p>
            <a:pPr algn="r" indent="0" marL="0">
              <a:buNone/>
            </a:pPr>
            <a:r>
              <a:rPr lang="en-US" sz="1100" b="1" dirty="0">
                <a:solidFill>
                  <a:srgbClr val="FFFFFF"/>
                </a:solidFill>
              </a:rPr>
              <a:t>SENSOR VP</a:t>
            </a:r>
            <a:endParaRPr lang="en-US" sz="1100" dirty="0"/>
          </a:p>
        </p:txBody>
      </p:sp>
      <p:sp>
        <p:nvSpPr>
          <p:cNvPr id="9" name="Shape 7"/>
          <p:cNvSpPr/>
          <p:nvPr/>
        </p:nvSpPr>
        <p:spPr>
          <a:xfrm>
            <a:off x="1673352" y="2221992"/>
            <a:ext cx="128016" cy="128016"/>
          </a:xfrm>
          <a:prstGeom prst="rect">
            <a:avLst/>
          </a:prstGeom>
          <a:solidFill>
            <a:srgbClr val="FFD54F"/>
          </a:solidFill>
          <a:ln w="6350">
            <a:solidFill>
              <a:srgbClr val="37474F"/>
            </a:solidFill>
            <a:prstDash val="solid"/>
          </a:ln>
        </p:spPr>
      </p:sp>
      <p:sp>
        <p:nvSpPr>
          <p:cNvPr id="10" name="Text 8"/>
          <p:cNvSpPr txBox="1"/>
          <p:nvPr/>
        </p:nvSpPr>
        <p:spPr>
          <a:xfrm>
            <a:off x="457200" y="2185416"/>
            <a:ext cx="1170432" cy="201168"/>
          </a:xfrm>
          <a:prstGeom prst="rect">
            <a:avLst/>
          </a:prstGeom>
          <a:noFill/>
          <a:ln/>
        </p:spPr>
        <p:txBody>
          <a:bodyPr wrap="square" lIns="0" tIns="0" rIns="0" bIns="0" rtlCol="0" anchor="ctr"/>
          <a:lstStyle/>
          <a:p>
            <a:pPr algn="r" indent="0" marL="0">
              <a:buNone/>
            </a:pPr>
            <a:r>
              <a:rPr lang="en-US" sz="1100" b="1" dirty="0">
                <a:solidFill>
                  <a:srgbClr val="FFFFFF"/>
                </a:solidFill>
              </a:rPr>
              <a:t>GPIO16</a:t>
            </a:r>
            <a:endParaRPr lang="en-US" sz="1100" dirty="0"/>
          </a:p>
        </p:txBody>
      </p:sp>
      <p:sp>
        <p:nvSpPr>
          <p:cNvPr id="11" name="Shape 9"/>
          <p:cNvSpPr/>
          <p:nvPr/>
        </p:nvSpPr>
        <p:spPr>
          <a:xfrm>
            <a:off x="1673352" y="2587752"/>
            <a:ext cx="128016" cy="128016"/>
          </a:xfrm>
          <a:prstGeom prst="rect">
            <a:avLst/>
          </a:prstGeom>
          <a:solidFill>
            <a:srgbClr val="FFD54F"/>
          </a:solidFill>
          <a:ln w="6350">
            <a:solidFill>
              <a:srgbClr val="37474F"/>
            </a:solidFill>
            <a:prstDash val="solid"/>
          </a:ln>
        </p:spPr>
      </p:sp>
      <p:sp>
        <p:nvSpPr>
          <p:cNvPr id="12" name="Text 10"/>
          <p:cNvSpPr txBox="1"/>
          <p:nvPr/>
        </p:nvSpPr>
        <p:spPr>
          <a:xfrm>
            <a:off x="457200" y="2551176"/>
            <a:ext cx="1170432" cy="201168"/>
          </a:xfrm>
          <a:prstGeom prst="rect">
            <a:avLst/>
          </a:prstGeom>
          <a:noFill/>
          <a:ln/>
        </p:spPr>
        <p:txBody>
          <a:bodyPr wrap="square" lIns="0" tIns="0" rIns="0" bIns="0" rtlCol="0" anchor="ctr"/>
          <a:lstStyle/>
          <a:p>
            <a:pPr algn="r" indent="0" marL="0">
              <a:buNone/>
            </a:pPr>
            <a:r>
              <a:rPr lang="en-US" sz="1100" b="1" dirty="0">
                <a:solidFill>
                  <a:srgbClr val="FFFFFF"/>
                </a:solidFill>
              </a:rPr>
              <a:t>GPIO17</a:t>
            </a:r>
            <a:endParaRPr lang="en-US" sz="1100" dirty="0"/>
          </a:p>
        </p:txBody>
      </p:sp>
      <p:sp>
        <p:nvSpPr>
          <p:cNvPr id="13" name="Shape 11"/>
          <p:cNvSpPr/>
          <p:nvPr/>
        </p:nvSpPr>
        <p:spPr>
          <a:xfrm>
            <a:off x="1673352" y="2953512"/>
            <a:ext cx="128016" cy="128016"/>
          </a:xfrm>
          <a:prstGeom prst="rect">
            <a:avLst/>
          </a:prstGeom>
          <a:solidFill>
            <a:srgbClr val="FFD54F"/>
          </a:solidFill>
          <a:ln w="6350">
            <a:solidFill>
              <a:srgbClr val="37474F"/>
            </a:solidFill>
            <a:prstDash val="solid"/>
          </a:ln>
        </p:spPr>
      </p:sp>
      <p:sp>
        <p:nvSpPr>
          <p:cNvPr id="14" name="Text 12"/>
          <p:cNvSpPr txBox="1"/>
          <p:nvPr/>
        </p:nvSpPr>
        <p:spPr>
          <a:xfrm>
            <a:off x="457200" y="2916936"/>
            <a:ext cx="1170432" cy="201168"/>
          </a:xfrm>
          <a:prstGeom prst="rect">
            <a:avLst/>
          </a:prstGeom>
          <a:noFill/>
          <a:ln/>
        </p:spPr>
        <p:txBody>
          <a:bodyPr wrap="square" lIns="0" tIns="0" rIns="0" bIns="0" rtlCol="0" anchor="ctr"/>
          <a:lstStyle/>
          <a:p>
            <a:pPr algn="r" indent="0" marL="0">
              <a:buNone/>
            </a:pPr>
            <a:r>
              <a:rPr lang="en-US" sz="1100" b="1" dirty="0">
                <a:solidFill>
                  <a:srgbClr val="FFFFFF"/>
                </a:solidFill>
              </a:rPr>
              <a:t>GPIO18</a:t>
            </a:r>
            <a:endParaRPr lang="en-US" sz="1100" dirty="0"/>
          </a:p>
        </p:txBody>
      </p:sp>
      <p:sp>
        <p:nvSpPr>
          <p:cNvPr id="15" name="Shape 13"/>
          <p:cNvSpPr/>
          <p:nvPr/>
        </p:nvSpPr>
        <p:spPr>
          <a:xfrm>
            <a:off x="1673352" y="3319272"/>
            <a:ext cx="128016" cy="128016"/>
          </a:xfrm>
          <a:prstGeom prst="rect">
            <a:avLst/>
          </a:prstGeom>
          <a:solidFill>
            <a:srgbClr val="FFD54F"/>
          </a:solidFill>
          <a:ln w="6350">
            <a:solidFill>
              <a:srgbClr val="37474F"/>
            </a:solidFill>
            <a:prstDash val="solid"/>
          </a:ln>
        </p:spPr>
      </p:sp>
      <p:sp>
        <p:nvSpPr>
          <p:cNvPr id="16" name="Text 14"/>
          <p:cNvSpPr txBox="1"/>
          <p:nvPr/>
        </p:nvSpPr>
        <p:spPr>
          <a:xfrm>
            <a:off x="457200" y="3282696"/>
            <a:ext cx="1170432" cy="201168"/>
          </a:xfrm>
          <a:prstGeom prst="rect">
            <a:avLst/>
          </a:prstGeom>
          <a:noFill/>
          <a:ln/>
        </p:spPr>
        <p:txBody>
          <a:bodyPr wrap="square" lIns="0" tIns="0" rIns="0" bIns="0" rtlCol="0" anchor="ctr"/>
          <a:lstStyle/>
          <a:p>
            <a:pPr algn="r" indent="0" marL="0">
              <a:buNone/>
            </a:pPr>
            <a:r>
              <a:rPr lang="en-US" sz="1100" b="1" dirty="0">
                <a:solidFill>
                  <a:srgbClr val="FFFFFF"/>
                </a:solidFill>
              </a:rPr>
              <a:t>GPIO19</a:t>
            </a:r>
            <a:endParaRPr lang="en-US" sz="1100" dirty="0"/>
          </a:p>
        </p:txBody>
      </p:sp>
      <p:sp>
        <p:nvSpPr>
          <p:cNvPr id="17" name="Shape 15"/>
          <p:cNvSpPr/>
          <p:nvPr/>
        </p:nvSpPr>
        <p:spPr>
          <a:xfrm>
            <a:off x="1673352" y="3685032"/>
            <a:ext cx="128016" cy="128016"/>
          </a:xfrm>
          <a:prstGeom prst="rect">
            <a:avLst/>
          </a:prstGeom>
          <a:solidFill>
            <a:srgbClr val="FFD54F"/>
          </a:solidFill>
          <a:ln w="6350">
            <a:solidFill>
              <a:srgbClr val="37474F"/>
            </a:solidFill>
            <a:prstDash val="solid"/>
          </a:ln>
        </p:spPr>
      </p:sp>
      <p:sp>
        <p:nvSpPr>
          <p:cNvPr id="18" name="Text 16"/>
          <p:cNvSpPr txBox="1"/>
          <p:nvPr/>
        </p:nvSpPr>
        <p:spPr>
          <a:xfrm>
            <a:off x="457200" y="3648456"/>
            <a:ext cx="1170432" cy="201168"/>
          </a:xfrm>
          <a:prstGeom prst="rect">
            <a:avLst/>
          </a:prstGeom>
          <a:noFill/>
          <a:ln/>
        </p:spPr>
        <p:txBody>
          <a:bodyPr wrap="square" lIns="0" tIns="0" rIns="0" bIns="0" rtlCol="0" anchor="ctr"/>
          <a:lstStyle/>
          <a:p>
            <a:pPr algn="r" indent="0" marL="0">
              <a:buNone/>
            </a:pPr>
            <a:r>
              <a:rPr lang="en-US" sz="1100" b="1" dirty="0">
                <a:solidFill>
                  <a:srgbClr val="FFFFFF"/>
                </a:solidFill>
              </a:rPr>
              <a:t>GPIO23</a:t>
            </a:r>
            <a:endParaRPr lang="en-US" sz="1100" dirty="0"/>
          </a:p>
        </p:txBody>
      </p:sp>
      <p:sp>
        <p:nvSpPr>
          <p:cNvPr id="19" name="Shape 17"/>
          <p:cNvSpPr/>
          <p:nvPr/>
        </p:nvSpPr>
        <p:spPr>
          <a:xfrm>
            <a:off x="1673352" y="4187952"/>
            <a:ext cx="128016" cy="128016"/>
          </a:xfrm>
          <a:prstGeom prst="rect">
            <a:avLst/>
          </a:prstGeom>
          <a:solidFill>
            <a:srgbClr val="FFD54F"/>
          </a:solidFill>
          <a:ln w="6350">
            <a:solidFill>
              <a:srgbClr val="37474F"/>
            </a:solidFill>
            <a:prstDash val="solid"/>
          </a:ln>
        </p:spPr>
      </p:sp>
      <p:sp>
        <p:nvSpPr>
          <p:cNvPr id="20" name="Text 18"/>
          <p:cNvSpPr txBox="1"/>
          <p:nvPr/>
        </p:nvSpPr>
        <p:spPr>
          <a:xfrm>
            <a:off x="457200" y="4151376"/>
            <a:ext cx="1170432" cy="201168"/>
          </a:xfrm>
          <a:prstGeom prst="rect">
            <a:avLst/>
          </a:prstGeom>
          <a:noFill/>
          <a:ln/>
        </p:spPr>
        <p:txBody>
          <a:bodyPr wrap="square" lIns="0" tIns="0" rIns="0" bIns="0" rtlCol="0" anchor="ctr"/>
          <a:lstStyle/>
          <a:p>
            <a:pPr algn="r" indent="0" marL="0">
              <a:buNone/>
            </a:pPr>
            <a:r>
              <a:rPr lang="en-US" sz="1100" b="1" dirty="0">
                <a:solidFill>
                  <a:srgbClr val="FFFFFF"/>
                </a:solidFill>
              </a:rPr>
              <a:t>GND</a:t>
            </a:r>
            <a:endParaRPr lang="en-US" sz="1100" dirty="0"/>
          </a:p>
        </p:txBody>
      </p:sp>
      <p:sp>
        <p:nvSpPr>
          <p:cNvPr id="21" name="Shape 19"/>
          <p:cNvSpPr/>
          <p:nvPr/>
        </p:nvSpPr>
        <p:spPr>
          <a:xfrm>
            <a:off x="3429000" y="1024128"/>
            <a:ext cx="1463040" cy="923544"/>
          </a:xfrm>
          <a:prstGeom prst="roundRect">
            <a:avLst>
              <a:gd name="adj" fmla="val 5941"/>
            </a:avLst>
          </a:prstGeom>
          <a:solidFill>
            <a:srgbClr val="1E5AA8"/>
          </a:solidFill>
          <a:ln w="12700">
            <a:solidFill>
              <a:srgbClr val="174A8B"/>
            </a:solidFill>
            <a:prstDash val="solid"/>
          </a:ln>
        </p:spPr>
      </p:sp>
      <p:sp>
        <p:nvSpPr>
          <p:cNvPr id="22" name="Shape 20"/>
          <p:cNvSpPr/>
          <p:nvPr/>
        </p:nvSpPr>
        <p:spPr>
          <a:xfrm>
            <a:off x="4270248" y="1184148"/>
            <a:ext cx="457200" cy="457200"/>
          </a:xfrm>
          <a:prstGeom prst="ellipse">
            <a:avLst/>
          </a:prstGeom>
          <a:solidFill>
            <a:srgbClr val="37474F"/>
          </a:solidFill>
          <a:ln w="19050">
            <a:solidFill>
              <a:srgbClr val="90A4AE"/>
            </a:solidFill>
            <a:prstDash val="solid"/>
          </a:ln>
        </p:spPr>
      </p:sp>
      <p:sp>
        <p:nvSpPr>
          <p:cNvPr id="23" name="Shape 21"/>
          <p:cNvSpPr/>
          <p:nvPr/>
        </p:nvSpPr>
        <p:spPr>
          <a:xfrm>
            <a:off x="4407408" y="1252728"/>
            <a:ext cx="182880" cy="182880"/>
          </a:xfrm>
          <a:prstGeom prst="ellipse">
            <a:avLst/>
          </a:prstGeom>
          <a:solidFill>
            <a:srgbClr val="263238"/>
          </a:solidFill>
          <a:ln w="12700">
            <a:solidFill>
              <a:srgbClr val="263238"/>
            </a:solidFill>
            <a:prstDash val="solid"/>
          </a:ln>
        </p:spPr>
      </p:sp>
      <p:sp>
        <p:nvSpPr>
          <p:cNvPr id="24" name="Shape 22"/>
          <p:cNvSpPr/>
          <p:nvPr/>
        </p:nvSpPr>
        <p:spPr>
          <a:xfrm>
            <a:off x="3364992" y="1216152"/>
            <a:ext cx="128016" cy="128016"/>
          </a:xfrm>
          <a:prstGeom prst="rect">
            <a:avLst/>
          </a:prstGeom>
          <a:solidFill>
            <a:srgbClr val="FFD54F"/>
          </a:solidFill>
          <a:ln w="6350">
            <a:solidFill>
              <a:srgbClr val="37474F"/>
            </a:solidFill>
            <a:prstDash val="solid"/>
          </a:ln>
        </p:spPr>
      </p:sp>
      <p:sp>
        <p:nvSpPr>
          <p:cNvPr id="25" name="Text 23"/>
          <p:cNvSpPr txBox="1"/>
          <p:nvPr/>
        </p:nvSpPr>
        <p:spPr>
          <a:xfrm>
            <a:off x="3520440" y="1188720"/>
            <a:ext cx="411480" cy="182880"/>
          </a:xfrm>
          <a:prstGeom prst="rect">
            <a:avLst/>
          </a:prstGeom>
          <a:noFill/>
          <a:ln/>
        </p:spPr>
        <p:txBody>
          <a:bodyPr wrap="square" lIns="0" tIns="0" rIns="0" bIns="0" rtlCol="0" anchor="ctr"/>
          <a:lstStyle/>
          <a:p>
            <a:pPr indent="0" marL="0">
              <a:buNone/>
            </a:pPr>
            <a:r>
              <a:rPr lang="en-US" sz="900" b="1" dirty="0">
                <a:solidFill>
                  <a:srgbClr val="FFFFFF"/>
                </a:solidFill>
              </a:rPr>
              <a:t>V</a:t>
            </a:r>
            <a:endParaRPr lang="en-US" sz="900" dirty="0"/>
          </a:p>
        </p:txBody>
      </p:sp>
      <p:sp>
        <p:nvSpPr>
          <p:cNvPr id="26" name="Shape 24"/>
          <p:cNvSpPr/>
          <p:nvPr/>
        </p:nvSpPr>
        <p:spPr>
          <a:xfrm>
            <a:off x="3364992" y="3867912"/>
            <a:ext cx="128016" cy="128016"/>
          </a:xfrm>
          <a:prstGeom prst="rect">
            <a:avLst/>
          </a:prstGeom>
          <a:solidFill>
            <a:srgbClr val="FFD54F"/>
          </a:solidFill>
          <a:ln w="6350">
            <a:solidFill>
              <a:srgbClr val="37474F"/>
            </a:solidFill>
            <a:prstDash val="solid"/>
          </a:ln>
        </p:spPr>
      </p:sp>
      <p:sp>
        <p:nvSpPr>
          <p:cNvPr id="27" name="Text 25"/>
          <p:cNvSpPr txBox="1"/>
          <p:nvPr/>
        </p:nvSpPr>
        <p:spPr>
          <a:xfrm>
            <a:off x="3520440" y="3840480"/>
            <a:ext cx="411480" cy="182880"/>
          </a:xfrm>
          <a:prstGeom prst="rect">
            <a:avLst/>
          </a:prstGeom>
          <a:noFill/>
          <a:ln/>
        </p:spPr>
        <p:txBody>
          <a:bodyPr wrap="square" lIns="0" tIns="0" rIns="0" bIns="0" rtlCol="0" anchor="ctr"/>
          <a:lstStyle/>
          <a:p>
            <a:pPr indent="0" marL="0">
              <a:buNone/>
            </a:pPr>
            <a:r>
              <a:rPr lang="en-US" sz="900" b="1" dirty="0">
                <a:solidFill>
                  <a:srgbClr val="FFFFFF"/>
                </a:solidFill>
              </a:rPr>
              <a:t>G</a:t>
            </a:r>
            <a:endParaRPr lang="en-US" sz="900" dirty="0"/>
          </a:p>
        </p:txBody>
      </p:sp>
      <p:sp>
        <p:nvSpPr>
          <p:cNvPr id="28" name="Shape 26"/>
          <p:cNvSpPr/>
          <p:nvPr/>
        </p:nvSpPr>
        <p:spPr>
          <a:xfrm>
            <a:off x="3364992" y="1627632"/>
            <a:ext cx="128016" cy="128016"/>
          </a:xfrm>
          <a:prstGeom prst="rect">
            <a:avLst/>
          </a:prstGeom>
          <a:solidFill>
            <a:srgbClr val="FFD54F"/>
          </a:solidFill>
          <a:ln w="6350">
            <a:solidFill>
              <a:srgbClr val="37474F"/>
            </a:solidFill>
            <a:prstDash val="solid"/>
          </a:ln>
        </p:spPr>
      </p:sp>
      <p:sp>
        <p:nvSpPr>
          <p:cNvPr id="29" name="Text 27"/>
          <p:cNvSpPr txBox="1"/>
          <p:nvPr/>
        </p:nvSpPr>
        <p:spPr>
          <a:xfrm>
            <a:off x="3520440" y="1600200"/>
            <a:ext cx="411480" cy="182880"/>
          </a:xfrm>
          <a:prstGeom prst="rect">
            <a:avLst/>
          </a:prstGeom>
          <a:noFill/>
          <a:ln/>
        </p:spPr>
        <p:txBody>
          <a:bodyPr wrap="square" lIns="0" tIns="0" rIns="0" bIns="0" rtlCol="0" anchor="ctr"/>
          <a:lstStyle/>
          <a:p>
            <a:pPr indent="0" marL="0">
              <a:buNone/>
            </a:pPr>
            <a:r>
              <a:rPr lang="en-US" sz="900" b="1" dirty="0">
                <a:solidFill>
                  <a:srgbClr val="FFFFFF"/>
                </a:solidFill>
              </a:rPr>
              <a:t>S</a:t>
            </a:r>
            <a:endParaRPr lang="en-US" sz="900" dirty="0"/>
          </a:p>
        </p:txBody>
      </p:sp>
      <p:sp>
        <p:nvSpPr>
          <p:cNvPr id="30" name="Text 28"/>
          <p:cNvSpPr txBox="1"/>
          <p:nvPr/>
        </p:nvSpPr>
        <p:spPr>
          <a:xfrm>
            <a:off x="3520440" y="1709928"/>
            <a:ext cx="1188720" cy="182880"/>
          </a:xfrm>
          <a:prstGeom prst="rect">
            <a:avLst/>
          </a:prstGeom>
          <a:noFill/>
          <a:ln/>
        </p:spPr>
        <p:txBody>
          <a:bodyPr wrap="square" lIns="0" tIns="0" rIns="0" bIns="0" rtlCol="0" anchor="ctr"/>
          <a:lstStyle/>
          <a:p>
            <a:pPr indent="0" marL="0">
              <a:buNone/>
            </a:pPr>
            <a:r>
              <a:rPr lang="en-US" sz="900" b="1" dirty="0">
                <a:solidFill>
                  <a:srgbClr val="CFE0F5"/>
                </a:solidFill>
              </a:rPr>
              <a:t>sound sensor</a:t>
            </a:r>
            <a:endParaRPr lang="en-US" sz="900" dirty="0"/>
          </a:p>
        </p:txBody>
      </p:sp>
      <p:sp>
        <p:nvSpPr>
          <p:cNvPr id="31" name="Shape 29"/>
          <p:cNvSpPr/>
          <p:nvPr/>
        </p:nvSpPr>
        <p:spPr>
          <a:xfrm>
            <a:off x="1801368" y="1280160"/>
            <a:ext cx="1170432" cy="0"/>
          </a:xfrm>
          <a:prstGeom prst="line">
            <a:avLst/>
          </a:prstGeom>
          <a:noFill/>
          <a:ln w="38100">
            <a:solidFill>
              <a:srgbClr val="D64545"/>
            </a:solidFill>
            <a:prstDash val="solid"/>
          </a:ln>
        </p:spPr>
      </p:sp>
      <p:sp>
        <p:nvSpPr>
          <p:cNvPr id="32" name="Shape 30"/>
          <p:cNvSpPr/>
          <p:nvPr/>
        </p:nvSpPr>
        <p:spPr>
          <a:xfrm>
            <a:off x="2971800" y="1280160"/>
            <a:ext cx="393192" cy="0"/>
          </a:xfrm>
          <a:prstGeom prst="line">
            <a:avLst/>
          </a:prstGeom>
          <a:noFill/>
          <a:ln w="38100">
            <a:solidFill>
              <a:srgbClr val="D64545"/>
            </a:solidFill>
            <a:prstDash val="solid"/>
          </a:ln>
        </p:spPr>
      </p:sp>
      <p:sp>
        <p:nvSpPr>
          <p:cNvPr id="33" name="Shape 31"/>
          <p:cNvSpPr/>
          <p:nvPr/>
        </p:nvSpPr>
        <p:spPr>
          <a:xfrm>
            <a:off x="1801368" y="1691640"/>
            <a:ext cx="850392" cy="0"/>
          </a:xfrm>
          <a:prstGeom prst="line">
            <a:avLst/>
          </a:prstGeom>
          <a:noFill/>
          <a:ln w="38100">
            <a:solidFill>
              <a:srgbClr val="8E44AD"/>
            </a:solidFill>
            <a:prstDash val="solid"/>
          </a:ln>
        </p:spPr>
      </p:sp>
      <p:sp>
        <p:nvSpPr>
          <p:cNvPr id="34" name="Shape 32"/>
          <p:cNvSpPr/>
          <p:nvPr/>
        </p:nvSpPr>
        <p:spPr>
          <a:xfrm>
            <a:off x="2651760" y="1691640"/>
            <a:ext cx="713232" cy="0"/>
          </a:xfrm>
          <a:prstGeom prst="line">
            <a:avLst/>
          </a:prstGeom>
          <a:noFill/>
          <a:ln w="38100">
            <a:solidFill>
              <a:srgbClr val="8E44AD"/>
            </a:solidFill>
            <a:prstDash val="solid"/>
          </a:ln>
        </p:spPr>
      </p:sp>
      <p:sp>
        <p:nvSpPr>
          <p:cNvPr id="35" name="Shape 33"/>
          <p:cNvSpPr/>
          <p:nvPr/>
        </p:nvSpPr>
        <p:spPr>
          <a:xfrm>
            <a:off x="1801368" y="4251960"/>
            <a:ext cx="1399032" cy="0"/>
          </a:xfrm>
          <a:prstGeom prst="line">
            <a:avLst/>
          </a:prstGeom>
          <a:noFill/>
          <a:ln w="38100">
            <a:solidFill>
              <a:srgbClr val="1B1B1B"/>
            </a:solidFill>
            <a:prstDash val="solid"/>
          </a:ln>
        </p:spPr>
      </p:sp>
      <p:sp>
        <p:nvSpPr>
          <p:cNvPr id="36" name="Shape 34"/>
          <p:cNvSpPr/>
          <p:nvPr/>
        </p:nvSpPr>
        <p:spPr>
          <a:xfrm>
            <a:off x="3200400" y="3931920"/>
            <a:ext cx="0" cy="320040"/>
          </a:xfrm>
          <a:prstGeom prst="line">
            <a:avLst/>
          </a:prstGeom>
          <a:noFill/>
          <a:ln w="38100">
            <a:solidFill>
              <a:srgbClr val="1B1B1B"/>
            </a:solidFill>
            <a:prstDash val="solid"/>
          </a:ln>
        </p:spPr>
      </p:sp>
      <p:sp>
        <p:nvSpPr>
          <p:cNvPr id="37" name="Shape 35"/>
          <p:cNvSpPr/>
          <p:nvPr/>
        </p:nvSpPr>
        <p:spPr>
          <a:xfrm>
            <a:off x="3200400" y="3931920"/>
            <a:ext cx="164592" cy="0"/>
          </a:xfrm>
          <a:prstGeom prst="line">
            <a:avLst/>
          </a:prstGeom>
          <a:noFill/>
          <a:ln w="38100">
            <a:solidFill>
              <a:srgbClr val="1B1B1B"/>
            </a:solidFill>
            <a:prstDash val="solid"/>
          </a:ln>
        </p:spPr>
      </p:sp>
      <p:sp>
        <p:nvSpPr>
          <p:cNvPr id="38" name="Shape 36"/>
          <p:cNvSpPr/>
          <p:nvPr/>
        </p:nvSpPr>
        <p:spPr>
          <a:xfrm>
            <a:off x="1801368" y="2286000"/>
            <a:ext cx="256032" cy="0"/>
          </a:xfrm>
          <a:prstGeom prst="line">
            <a:avLst/>
          </a:prstGeom>
          <a:noFill/>
          <a:ln w="31750">
            <a:solidFill>
              <a:srgbClr val="F28C28"/>
            </a:solidFill>
            <a:prstDash val="solid"/>
          </a:ln>
        </p:spPr>
      </p:sp>
      <p:sp>
        <p:nvSpPr>
          <p:cNvPr id="39" name="Shape 37"/>
          <p:cNvSpPr/>
          <p:nvPr/>
        </p:nvSpPr>
        <p:spPr>
          <a:xfrm>
            <a:off x="2057400" y="2286000"/>
            <a:ext cx="155448" cy="0"/>
          </a:xfrm>
          <a:prstGeom prst="line">
            <a:avLst/>
          </a:prstGeom>
          <a:noFill/>
          <a:ln w="25400">
            <a:solidFill>
              <a:srgbClr val="9AA0A6"/>
            </a:solidFill>
            <a:prstDash val="solid"/>
          </a:ln>
        </p:spPr>
      </p:sp>
      <p:sp>
        <p:nvSpPr>
          <p:cNvPr id="40" name="Shape 38"/>
          <p:cNvSpPr/>
          <p:nvPr/>
        </p:nvSpPr>
        <p:spPr>
          <a:xfrm>
            <a:off x="2542032" y="2286000"/>
            <a:ext cx="155448" cy="0"/>
          </a:xfrm>
          <a:prstGeom prst="line">
            <a:avLst/>
          </a:prstGeom>
          <a:noFill/>
          <a:ln w="25400">
            <a:solidFill>
              <a:srgbClr val="9AA0A6"/>
            </a:solidFill>
            <a:prstDash val="solid"/>
          </a:ln>
        </p:spPr>
      </p:sp>
      <p:sp>
        <p:nvSpPr>
          <p:cNvPr id="41" name="Shape 39"/>
          <p:cNvSpPr/>
          <p:nvPr/>
        </p:nvSpPr>
        <p:spPr>
          <a:xfrm>
            <a:off x="2212848" y="2203704"/>
            <a:ext cx="329184" cy="164592"/>
          </a:xfrm>
          <a:prstGeom prst="roundRect">
            <a:avLst>
              <a:gd name="adj" fmla="val 33333"/>
            </a:avLst>
          </a:prstGeom>
          <a:solidFill>
            <a:srgbClr val="E3C99A"/>
          </a:solidFill>
          <a:ln w="9525">
            <a:solidFill>
              <a:srgbClr val="B8986A"/>
            </a:solidFill>
            <a:prstDash val="solid"/>
          </a:ln>
        </p:spPr>
      </p:sp>
      <p:sp>
        <p:nvSpPr>
          <p:cNvPr id="42" name="Shape 40"/>
          <p:cNvSpPr/>
          <p:nvPr/>
        </p:nvSpPr>
        <p:spPr>
          <a:xfrm>
            <a:off x="2267712" y="2203704"/>
            <a:ext cx="32004" cy="164592"/>
          </a:xfrm>
          <a:prstGeom prst="rect">
            <a:avLst/>
          </a:prstGeom>
          <a:solidFill>
            <a:srgbClr val="D64545"/>
          </a:solidFill>
          <a:ln w="12700">
            <a:solidFill>
              <a:srgbClr val="D64545"/>
            </a:solidFill>
            <a:prstDash val="solid"/>
          </a:ln>
        </p:spPr>
      </p:sp>
      <p:sp>
        <p:nvSpPr>
          <p:cNvPr id="43" name="Shape 41"/>
          <p:cNvSpPr/>
          <p:nvPr/>
        </p:nvSpPr>
        <p:spPr>
          <a:xfrm>
            <a:off x="2321500" y="2203704"/>
            <a:ext cx="32004" cy="164592"/>
          </a:xfrm>
          <a:prstGeom prst="rect">
            <a:avLst/>
          </a:prstGeom>
          <a:solidFill>
            <a:srgbClr val="D64545"/>
          </a:solidFill>
          <a:ln w="12700">
            <a:solidFill>
              <a:srgbClr val="D64545"/>
            </a:solidFill>
            <a:prstDash val="solid"/>
          </a:ln>
        </p:spPr>
      </p:sp>
      <p:sp>
        <p:nvSpPr>
          <p:cNvPr id="44" name="Shape 42"/>
          <p:cNvSpPr/>
          <p:nvPr/>
        </p:nvSpPr>
        <p:spPr>
          <a:xfrm>
            <a:off x="2375288" y="2203704"/>
            <a:ext cx="32004" cy="164592"/>
          </a:xfrm>
          <a:prstGeom prst="rect">
            <a:avLst/>
          </a:prstGeom>
          <a:solidFill>
            <a:srgbClr val="8B4513"/>
          </a:solidFill>
          <a:ln w="12700">
            <a:solidFill>
              <a:srgbClr val="8B4513"/>
            </a:solidFill>
            <a:prstDash val="solid"/>
          </a:ln>
        </p:spPr>
      </p:sp>
      <p:sp>
        <p:nvSpPr>
          <p:cNvPr id="45" name="Shape 43"/>
          <p:cNvSpPr/>
          <p:nvPr/>
        </p:nvSpPr>
        <p:spPr>
          <a:xfrm>
            <a:off x="2465653" y="2203704"/>
            <a:ext cx="32004" cy="164592"/>
          </a:xfrm>
          <a:prstGeom prst="rect">
            <a:avLst/>
          </a:prstGeom>
          <a:solidFill>
            <a:srgbClr val="C9A227"/>
          </a:solidFill>
          <a:ln w="12700">
            <a:solidFill>
              <a:srgbClr val="C9A227"/>
            </a:solidFill>
            <a:prstDash val="solid"/>
          </a:ln>
        </p:spPr>
      </p:sp>
      <p:sp>
        <p:nvSpPr>
          <p:cNvPr id="46" name="Shape 44"/>
          <p:cNvSpPr/>
          <p:nvPr/>
        </p:nvSpPr>
        <p:spPr>
          <a:xfrm>
            <a:off x="2788920" y="2286000"/>
            <a:ext cx="219456" cy="0"/>
          </a:xfrm>
          <a:prstGeom prst="line">
            <a:avLst/>
          </a:prstGeom>
          <a:noFill/>
          <a:ln w="25400">
            <a:solidFill>
              <a:srgbClr val="9AA0A6"/>
            </a:solidFill>
            <a:prstDash val="solid"/>
          </a:ln>
        </p:spPr>
      </p:sp>
      <p:sp>
        <p:nvSpPr>
          <p:cNvPr id="47" name="Shape 45"/>
          <p:cNvSpPr/>
          <p:nvPr/>
        </p:nvSpPr>
        <p:spPr>
          <a:xfrm>
            <a:off x="3319272" y="2286000"/>
            <a:ext cx="109728" cy="0"/>
          </a:xfrm>
          <a:prstGeom prst="line">
            <a:avLst/>
          </a:prstGeom>
          <a:noFill/>
          <a:ln w="25400">
            <a:solidFill>
              <a:srgbClr val="9AA0A6"/>
            </a:solidFill>
            <a:prstDash val="solid"/>
          </a:ln>
        </p:spPr>
      </p:sp>
      <p:sp>
        <p:nvSpPr>
          <p:cNvPr id="48" name="Shape 46"/>
          <p:cNvSpPr/>
          <p:nvPr/>
        </p:nvSpPr>
        <p:spPr>
          <a:xfrm>
            <a:off x="2962656" y="2084832"/>
            <a:ext cx="402336" cy="402336"/>
          </a:xfrm>
          <a:prstGeom prst="ellipse">
            <a:avLst/>
          </a:prstGeom>
          <a:solidFill>
            <a:srgbClr val="F2A900">
              <a:alpha val="45000"/>
            </a:srgbClr>
          </a:solidFill>
          <a:ln w="12700">
            <a:solidFill>
              <a:srgbClr val="F2A900">
                <a:alpha val="0"/>
              </a:srgbClr>
            </a:solidFill>
            <a:prstDash val="solid"/>
          </a:ln>
        </p:spPr>
      </p:sp>
      <p:sp>
        <p:nvSpPr>
          <p:cNvPr id="49" name="Shape 47"/>
          <p:cNvSpPr/>
          <p:nvPr/>
        </p:nvSpPr>
        <p:spPr>
          <a:xfrm>
            <a:off x="3008376" y="2130552"/>
            <a:ext cx="310896" cy="310896"/>
          </a:xfrm>
          <a:prstGeom prst="ellipse">
            <a:avLst/>
          </a:prstGeom>
          <a:solidFill>
            <a:srgbClr val="D64545"/>
          </a:solidFill>
          <a:ln w="19050">
            <a:solidFill>
              <a:srgbClr val="D64545"/>
            </a:solidFill>
            <a:prstDash val="solid"/>
          </a:ln>
        </p:spPr>
      </p:sp>
      <p:sp>
        <p:nvSpPr>
          <p:cNvPr id="50" name="Shape 48"/>
          <p:cNvSpPr/>
          <p:nvPr/>
        </p:nvSpPr>
        <p:spPr>
          <a:xfrm>
            <a:off x="3429000" y="2286000"/>
            <a:ext cx="2057400" cy="0"/>
          </a:xfrm>
          <a:prstGeom prst="line">
            <a:avLst/>
          </a:prstGeom>
          <a:noFill/>
          <a:ln w="25400">
            <a:solidFill>
              <a:srgbClr val="1B1B1B"/>
            </a:solidFill>
            <a:prstDash val="solid"/>
          </a:ln>
        </p:spPr>
      </p:sp>
      <p:sp>
        <p:nvSpPr>
          <p:cNvPr id="51" name="Shape 49"/>
          <p:cNvSpPr/>
          <p:nvPr/>
        </p:nvSpPr>
        <p:spPr>
          <a:xfrm>
            <a:off x="5486400" y="2286000"/>
            <a:ext cx="0" cy="2240280"/>
          </a:xfrm>
          <a:prstGeom prst="line">
            <a:avLst/>
          </a:prstGeom>
          <a:noFill/>
          <a:ln w="25400">
            <a:solidFill>
              <a:srgbClr val="1B1B1B"/>
            </a:solidFill>
            <a:prstDash val="solid"/>
          </a:ln>
        </p:spPr>
      </p:sp>
      <p:sp>
        <p:nvSpPr>
          <p:cNvPr id="52" name="Shape 50"/>
          <p:cNvSpPr/>
          <p:nvPr/>
        </p:nvSpPr>
        <p:spPr>
          <a:xfrm>
            <a:off x="2057400" y="4526280"/>
            <a:ext cx="3429000" cy="0"/>
          </a:xfrm>
          <a:prstGeom prst="line">
            <a:avLst/>
          </a:prstGeom>
          <a:noFill/>
          <a:ln w="25400">
            <a:solidFill>
              <a:srgbClr val="1B1B1B"/>
            </a:solidFill>
            <a:prstDash val="solid"/>
          </a:ln>
        </p:spPr>
      </p:sp>
      <p:sp>
        <p:nvSpPr>
          <p:cNvPr id="53" name="Shape 51"/>
          <p:cNvSpPr/>
          <p:nvPr/>
        </p:nvSpPr>
        <p:spPr>
          <a:xfrm>
            <a:off x="2057400" y="4251960"/>
            <a:ext cx="0" cy="274320"/>
          </a:xfrm>
          <a:prstGeom prst="line">
            <a:avLst/>
          </a:prstGeom>
          <a:noFill/>
          <a:ln w="25400">
            <a:solidFill>
              <a:srgbClr val="1B1B1B"/>
            </a:solidFill>
            <a:prstDash val="solid"/>
          </a:ln>
        </p:spPr>
      </p:sp>
      <p:sp>
        <p:nvSpPr>
          <p:cNvPr id="54" name="Shape 52"/>
          <p:cNvSpPr/>
          <p:nvPr/>
        </p:nvSpPr>
        <p:spPr>
          <a:xfrm>
            <a:off x="1801368" y="4251960"/>
            <a:ext cx="256032" cy="0"/>
          </a:xfrm>
          <a:prstGeom prst="line">
            <a:avLst/>
          </a:prstGeom>
          <a:noFill/>
          <a:ln w="25400">
            <a:solidFill>
              <a:srgbClr val="1B1B1B"/>
            </a:solidFill>
            <a:prstDash val="solid"/>
          </a:ln>
        </p:spPr>
      </p:sp>
      <p:sp>
        <p:nvSpPr>
          <p:cNvPr id="55" name="Shape 53"/>
          <p:cNvSpPr/>
          <p:nvPr/>
        </p:nvSpPr>
        <p:spPr>
          <a:xfrm>
            <a:off x="1801368" y="2651760"/>
            <a:ext cx="256032" cy="0"/>
          </a:xfrm>
          <a:prstGeom prst="line">
            <a:avLst/>
          </a:prstGeom>
          <a:noFill/>
          <a:ln w="31750">
            <a:solidFill>
              <a:srgbClr val="E0B000"/>
            </a:solidFill>
            <a:prstDash val="solid"/>
          </a:ln>
        </p:spPr>
      </p:sp>
      <p:sp>
        <p:nvSpPr>
          <p:cNvPr id="56" name="Shape 54"/>
          <p:cNvSpPr/>
          <p:nvPr/>
        </p:nvSpPr>
        <p:spPr>
          <a:xfrm>
            <a:off x="2057400" y="2651760"/>
            <a:ext cx="155448" cy="0"/>
          </a:xfrm>
          <a:prstGeom prst="line">
            <a:avLst/>
          </a:prstGeom>
          <a:noFill/>
          <a:ln w="25400">
            <a:solidFill>
              <a:srgbClr val="9AA0A6"/>
            </a:solidFill>
            <a:prstDash val="solid"/>
          </a:ln>
        </p:spPr>
      </p:sp>
      <p:sp>
        <p:nvSpPr>
          <p:cNvPr id="57" name="Shape 55"/>
          <p:cNvSpPr/>
          <p:nvPr/>
        </p:nvSpPr>
        <p:spPr>
          <a:xfrm>
            <a:off x="2542032" y="2651760"/>
            <a:ext cx="155448" cy="0"/>
          </a:xfrm>
          <a:prstGeom prst="line">
            <a:avLst/>
          </a:prstGeom>
          <a:noFill/>
          <a:ln w="25400">
            <a:solidFill>
              <a:srgbClr val="9AA0A6"/>
            </a:solidFill>
            <a:prstDash val="solid"/>
          </a:ln>
        </p:spPr>
      </p:sp>
      <p:sp>
        <p:nvSpPr>
          <p:cNvPr id="58" name="Shape 56"/>
          <p:cNvSpPr/>
          <p:nvPr/>
        </p:nvSpPr>
        <p:spPr>
          <a:xfrm>
            <a:off x="2212848" y="2569464"/>
            <a:ext cx="329184" cy="164592"/>
          </a:xfrm>
          <a:prstGeom prst="roundRect">
            <a:avLst>
              <a:gd name="adj" fmla="val 33333"/>
            </a:avLst>
          </a:prstGeom>
          <a:solidFill>
            <a:srgbClr val="E3C99A"/>
          </a:solidFill>
          <a:ln w="9525">
            <a:solidFill>
              <a:srgbClr val="B8986A"/>
            </a:solidFill>
            <a:prstDash val="solid"/>
          </a:ln>
        </p:spPr>
      </p:sp>
      <p:sp>
        <p:nvSpPr>
          <p:cNvPr id="59" name="Shape 57"/>
          <p:cNvSpPr/>
          <p:nvPr/>
        </p:nvSpPr>
        <p:spPr>
          <a:xfrm>
            <a:off x="2267712" y="2569464"/>
            <a:ext cx="32004" cy="164592"/>
          </a:xfrm>
          <a:prstGeom prst="rect">
            <a:avLst/>
          </a:prstGeom>
          <a:solidFill>
            <a:srgbClr val="D64545"/>
          </a:solidFill>
          <a:ln w="12700">
            <a:solidFill>
              <a:srgbClr val="D64545"/>
            </a:solidFill>
            <a:prstDash val="solid"/>
          </a:ln>
        </p:spPr>
      </p:sp>
      <p:sp>
        <p:nvSpPr>
          <p:cNvPr id="60" name="Shape 58"/>
          <p:cNvSpPr/>
          <p:nvPr/>
        </p:nvSpPr>
        <p:spPr>
          <a:xfrm>
            <a:off x="2321500" y="2569464"/>
            <a:ext cx="32004" cy="164592"/>
          </a:xfrm>
          <a:prstGeom prst="rect">
            <a:avLst/>
          </a:prstGeom>
          <a:solidFill>
            <a:srgbClr val="D64545"/>
          </a:solidFill>
          <a:ln w="12700">
            <a:solidFill>
              <a:srgbClr val="D64545"/>
            </a:solidFill>
            <a:prstDash val="solid"/>
          </a:ln>
        </p:spPr>
      </p:sp>
      <p:sp>
        <p:nvSpPr>
          <p:cNvPr id="61" name="Shape 59"/>
          <p:cNvSpPr/>
          <p:nvPr/>
        </p:nvSpPr>
        <p:spPr>
          <a:xfrm>
            <a:off x="2375288" y="2569464"/>
            <a:ext cx="32004" cy="164592"/>
          </a:xfrm>
          <a:prstGeom prst="rect">
            <a:avLst/>
          </a:prstGeom>
          <a:solidFill>
            <a:srgbClr val="8B4513"/>
          </a:solidFill>
          <a:ln w="12700">
            <a:solidFill>
              <a:srgbClr val="8B4513"/>
            </a:solidFill>
            <a:prstDash val="solid"/>
          </a:ln>
        </p:spPr>
      </p:sp>
      <p:sp>
        <p:nvSpPr>
          <p:cNvPr id="62" name="Shape 60"/>
          <p:cNvSpPr/>
          <p:nvPr/>
        </p:nvSpPr>
        <p:spPr>
          <a:xfrm>
            <a:off x="2465653" y="2569464"/>
            <a:ext cx="32004" cy="164592"/>
          </a:xfrm>
          <a:prstGeom prst="rect">
            <a:avLst/>
          </a:prstGeom>
          <a:solidFill>
            <a:srgbClr val="C9A227"/>
          </a:solidFill>
          <a:ln w="12700">
            <a:solidFill>
              <a:srgbClr val="C9A227"/>
            </a:solidFill>
            <a:prstDash val="solid"/>
          </a:ln>
        </p:spPr>
      </p:sp>
      <p:sp>
        <p:nvSpPr>
          <p:cNvPr id="63" name="Shape 61"/>
          <p:cNvSpPr/>
          <p:nvPr/>
        </p:nvSpPr>
        <p:spPr>
          <a:xfrm>
            <a:off x="2788920" y="2651760"/>
            <a:ext cx="219456" cy="0"/>
          </a:xfrm>
          <a:prstGeom prst="line">
            <a:avLst/>
          </a:prstGeom>
          <a:noFill/>
          <a:ln w="25400">
            <a:solidFill>
              <a:srgbClr val="9AA0A6"/>
            </a:solidFill>
            <a:prstDash val="solid"/>
          </a:ln>
        </p:spPr>
      </p:sp>
      <p:sp>
        <p:nvSpPr>
          <p:cNvPr id="64" name="Shape 62"/>
          <p:cNvSpPr/>
          <p:nvPr/>
        </p:nvSpPr>
        <p:spPr>
          <a:xfrm>
            <a:off x="3319272" y="2651760"/>
            <a:ext cx="109728" cy="0"/>
          </a:xfrm>
          <a:prstGeom prst="line">
            <a:avLst/>
          </a:prstGeom>
          <a:noFill/>
          <a:ln w="25400">
            <a:solidFill>
              <a:srgbClr val="9AA0A6"/>
            </a:solidFill>
            <a:prstDash val="solid"/>
          </a:ln>
        </p:spPr>
      </p:sp>
      <p:sp>
        <p:nvSpPr>
          <p:cNvPr id="65" name="Shape 63"/>
          <p:cNvSpPr/>
          <p:nvPr/>
        </p:nvSpPr>
        <p:spPr>
          <a:xfrm>
            <a:off x="2962656" y="2450592"/>
            <a:ext cx="402336" cy="402336"/>
          </a:xfrm>
          <a:prstGeom prst="ellipse">
            <a:avLst/>
          </a:prstGeom>
          <a:solidFill>
            <a:srgbClr val="F2A900">
              <a:alpha val="45000"/>
            </a:srgbClr>
          </a:solidFill>
          <a:ln w="12700">
            <a:solidFill>
              <a:srgbClr val="F2A900">
                <a:alpha val="0"/>
              </a:srgbClr>
            </a:solidFill>
            <a:prstDash val="solid"/>
          </a:ln>
        </p:spPr>
      </p:sp>
      <p:sp>
        <p:nvSpPr>
          <p:cNvPr id="66" name="Shape 64"/>
          <p:cNvSpPr/>
          <p:nvPr/>
        </p:nvSpPr>
        <p:spPr>
          <a:xfrm>
            <a:off x="3008376" y="2496312"/>
            <a:ext cx="310896" cy="310896"/>
          </a:xfrm>
          <a:prstGeom prst="ellipse">
            <a:avLst/>
          </a:prstGeom>
          <a:solidFill>
            <a:srgbClr val="D64545"/>
          </a:solidFill>
          <a:ln w="19050">
            <a:solidFill>
              <a:srgbClr val="D64545"/>
            </a:solidFill>
            <a:prstDash val="solid"/>
          </a:ln>
        </p:spPr>
      </p:sp>
      <p:sp>
        <p:nvSpPr>
          <p:cNvPr id="67" name="Shape 65"/>
          <p:cNvSpPr/>
          <p:nvPr/>
        </p:nvSpPr>
        <p:spPr>
          <a:xfrm>
            <a:off x="3429000" y="2651760"/>
            <a:ext cx="2057400" cy="0"/>
          </a:xfrm>
          <a:prstGeom prst="line">
            <a:avLst/>
          </a:prstGeom>
          <a:noFill/>
          <a:ln w="25400">
            <a:solidFill>
              <a:srgbClr val="1B1B1B"/>
            </a:solidFill>
            <a:prstDash val="solid"/>
          </a:ln>
        </p:spPr>
      </p:sp>
      <p:sp>
        <p:nvSpPr>
          <p:cNvPr id="68" name="Shape 66"/>
          <p:cNvSpPr/>
          <p:nvPr/>
        </p:nvSpPr>
        <p:spPr>
          <a:xfrm>
            <a:off x="5486400" y="2651760"/>
            <a:ext cx="0" cy="1874520"/>
          </a:xfrm>
          <a:prstGeom prst="line">
            <a:avLst/>
          </a:prstGeom>
          <a:noFill/>
          <a:ln w="25400">
            <a:solidFill>
              <a:srgbClr val="1B1B1B"/>
            </a:solidFill>
            <a:prstDash val="solid"/>
          </a:ln>
        </p:spPr>
      </p:sp>
      <p:sp>
        <p:nvSpPr>
          <p:cNvPr id="69" name="Shape 67"/>
          <p:cNvSpPr/>
          <p:nvPr/>
        </p:nvSpPr>
        <p:spPr>
          <a:xfrm>
            <a:off x="2057400" y="4526280"/>
            <a:ext cx="3429000" cy="0"/>
          </a:xfrm>
          <a:prstGeom prst="line">
            <a:avLst/>
          </a:prstGeom>
          <a:noFill/>
          <a:ln w="25400">
            <a:solidFill>
              <a:srgbClr val="1B1B1B"/>
            </a:solidFill>
            <a:prstDash val="solid"/>
          </a:ln>
        </p:spPr>
      </p:sp>
      <p:sp>
        <p:nvSpPr>
          <p:cNvPr id="70" name="Shape 68"/>
          <p:cNvSpPr/>
          <p:nvPr/>
        </p:nvSpPr>
        <p:spPr>
          <a:xfrm>
            <a:off x="2057400" y="4251960"/>
            <a:ext cx="0" cy="274320"/>
          </a:xfrm>
          <a:prstGeom prst="line">
            <a:avLst/>
          </a:prstGeom>
          <a:noFill/>
          <a:ln w="25400">
            <a:solidFill>
              <a:srgbClr val="1B1B1B"/>
            </a:solidFill>
            <a:prstDash val="solid"/>
          </a:ln>
        </p:spPr>
      </p:sp>
      <p:sp>
        <p:nvSpPr>
          <p:cNvPr id="71" name="Shape 69"/>
          <p:cNvSpPr/>
          <p:nvPr/>
        </p:nvSpPr>
        <p:spPr>
          <a:xfrm>
            <a:off x="1801368" y="4251960"/>
            <a:ext cx="256032" cy="0"/>
          </a:xfrm>
          <a:prstGeom prst="line">
            <a:avLst/>
          </a:prstGeom>
          <a:noFill/>
          <a:ln w="25400">
            <a:solidFill>
              <a:srgbClr val="1B1B1B"/>
            </a:solidFill>
            <a:prstDash val="solid"/>
          </a:ln>
        </p:spPr>
      </p:sp>
      <p:sp>
        <p:nvSpPr>
          <p:cNvPr id="72" name="Shape 70"/>
          <p:cNvSpPr/>
          <p:nvPr/>
        </p:nvSpPr>
        <p:spPr>
          <a:xfrm>
            <a:off x="1801368" y="3017520"/>
            <a:ext cx="256032" cy="0"/>
          </a:xfrm>
          <a:prstGeom prst="line">
            <a:avLst/>
          </a:prstGeom>
          <a:noFill/>
          <a:ln w="31750">
            <a:solidFill>
              <a:srgbClr val="1F8A70"/>
            </a:solidFill>
            <a:prstDash val="solid"/>
          </a:ln>
        </p:spPr>
      </p:sp>
      <p:sp>
        <p:nvSpPr>
          <p:cNvPr id="73" name="Shape 71"/>
          <p:cNvSpPr/>
          <p:nvPr/>
        </p:nvSpPr>
        <p:spPr>
          <a:xfrm>
            <a:off x="2057400" y="3017520"/>
            <a:ext cx="155448" cy="0"/>
          </a:xfrm>
          <a:prstGeom prst="line">
            <a:avLst/>
          </a:prstGeom>
          <a:noFill/>
          <a:ln w="25400">
            <a:solidFill>
              <a:srgbClr val="9AA0A6"/>
            </a:solidFill>
            <a:prstDash val="solid"/>
          </a:ln>
        </p:spPr>
      </p:sp>
      <p:sp>
        <p:nvSpPr>
          <p:cNvPr id="74" name="Shape 72"/>
          <p:cNvSpPr/>
          <p:nvPr/>
        </p:nvSpPr>
        <p:spPr>
          <a:xfrm>
            <a:off x="2542032" y="3017520"/>
            <a:ext cx="155448" cy="0"/>
          </a:xfrm>
          <a:prstGeom prst="line">
            <a:avLst/>
          </a:prstGeom>
          <a:noFill/>
          <a:ln w="25400">
            <a:solidFill>
              <a:srgbClr val="9AA0A6"/>
            </a:solidFill>
            <a:prstDash val="solid"/>
          </a:ln>
        </p:spPr>
      </p:sp>
      <p:sp>
        <p:nvSpPr>
          <p:cNvPr id="75" name="Shape 73"/>
          <p:cNvSpPr/>
          <p:nvPr/>
        </p:nvSpPr>
        <p:spPr>
          <a:xfrm>
            <a:off x="2212848" y="2935224"/>
            <a:ext cx="329184" cy="164592"/>
          </a:xfrm>
          <a:prstGeom prst="roundRect">
            <a:avLst>
              <a:gd name="adj" fmla="val 33333"/>
            </a:avLst>
          </a:prstGeom>
          <a:solidFill>
            <a:srgbClr val="E3C99A"/>
          </a:solidFill>
          <a:ln w="9525">
            <a:solidFill>
              <a:srgbClr val="B8986A"/>
            </a:solidFill>
            <a:prstDash val="solid"/>
          </a:ln>
        </p:spPr>
      </p:sp>
      <p:sp>
        <p:nvSpPr>
          <p:cNvPr id="76" name="Shape 74"/>
          <p:cNvSpPr/>
          <p:nvPr/>
        </p:nvSpPr>
        <p:spPr>
          <a:xfrm>
            <a:off x="2267712" y="2935224"/>
            <a:ext cx="32004" cy="164592"/>
          </a:xfrm>
          <a:prstGeom prst="rect">
            <a:avLst/>
          </a:prstGeom>
          <a:solidFill>
            <a:srgbClr val="D64545"/>
          </a:solidFill>
          <a:ln w="12700">
            <a:solidFill>
              <a:srgbClr val="D64545"/>
            </a:solidFill>
            <a:prstDash val="solid"/>
          </a:ln>
        </p:spPr>
      </p:sp>
      <p:sp>
        <p:nvSpPr>
          <p:cNvPr id="77" name="Shape 75"/>
          <p:cNvSpPr/>
          <p:nvPr/>
        </p:nvSpPr>
        <p:spPr>
          <a:xfrm>
            <a:off x="2321500" y="2935224"/>
            <a:ext cx="32004" cy="164592"/>
          </a:xfrm>
          <a:prstGeom prst="rect">
            <a:avLst/>
          </a:prstGeom>
          <a:solidFill>
            <a:srgbClr val="D64545"/>
          </a:solidFill>
          <a:ln w="12700">
            <a:solidFill>
              <a:srgbClr val="D64545"/>
            </a:solidFill>
            <a:prstDash val="solid"/>
          </a:ln>
        </p:spPr>
      </p:sp>
      <p:sp>
        <p:nvSpPr>
          <p:cNvPr id="78" name="Shape 76"/>
          <p:cNvSpPr/>
          <p:nvPr/>
        </p:nvSpPr>
        <p:spPr>
          <a:xfrm>
            <a:off x="2375288" y="2935224"/>
            <a:ext cx="32004" cy="164592"/>
          </a:xfrm>
          <a:prstGeom prst="rect">
            <a:avLst/>
          </a:prstGeom>
          <a:solidFill>
            <a:srgbClr val="8B4513"/>
          </a:solidFill>
          <a:ln w="12700">
            <a:solidFill>
              <a:srgbClr val="8B4513"/>
            </a:solidFill>
            <a:prstDash val="solid"/>
          </a:ln>
        </p:spPr>
      </p:sp>
      <p:sp>
        <p:nvSpPr>
          <p:cNvPr id="79" name="Shape 77"/>
          <p:cNvSpPr/>
          <p:nvPr/>
        </p:nvSpPr>
        <p:spPr>
          <a:xfrm>
            <a:off x="2465653" y="2935224"/>
            <a:ext cx="32004" cy="164592"/>
          </a:xfrm>
          <a:prstGeom prst="rect">
            <a:avLst/>
          </a:prstGeom>
          <a:solidFill>
            <a:srgbClr val="C9A227"/>
          </a:solidFill>
          <a:ln w="12700">
            <a:solidFill>
              <a:srgbClr val="C9A227"/>
            </a:solidFill>
            <a:prstDash val="solid"/>
          </a:ln>
        </p:spPr>
      </p:sp>
      <p:sp>
        <p:nvSpPr>
          <p:cNvPr id="80" name="Shape 78"/>
          <p:cNvSpPr/>
          <p:nvPr/>
        </p:nvSpPr>
        <p:spPr>
          <a:xfrm>
            <a:off x="2788920" y="3017520"/>
            <a:ext cx="219456" cy="0"/>
          </a:xfrm>
          <a:prstGeom prst="line">
            <a:avLst/>
          </a:prstGeom>
          <a:noFill/>
          <a:ln w="25400">
            <a:solidFill>
              <a:srgbClr val="9AA0A6"/>
            </a:solidFill>
            <a:prstDash val="solid"/>
          </a:ln>
        </p:spPr>
      </p:sp>
      <p:sp>
        <p:nvSpPr>
          <p:cNvPr id="81" name="Shape 79"/>
          <p:cNvSpPr/>
          <p:nvPr/>
        </p:nvSpPr>
        <p:spPr>
          <a:xfrm>
            <a:off x="3319272" y="3017520"/>
            <a:ext cx="109728" cy="0"/>
          </a:xfrm>
          <a:prstGeom prst="line">
            <a:avLst/>
          </a:prstGeom>
          <a:noFill/>
          <a:ln w="25400">
            <a:solidFill>
              <a:srgbClr val="9AA0A6"/>
            </a:solidFill>
            <a:prstDash val="solid"/>
          </a:ln>
        </p:spPr>
      </p:sp>
      <p:sp>
        <p:nvSpPr>
          <p:cNvPr id="82" name="Shape 80"/>
          <p:cNvSpPr/>
          <p:nvPr/>
        </p:nvSpPr>
        <p:spPr>
          <a:xfrm>
            <a:off x="2962656" y="2816352"/>
            <a:ext cx="402336" cy="402336"/>
          </a:xfrm>
          <a:prstGeom prst="ellipse">
            <a:avLst/>
          </a:prstGeom>
          <a:solidFill>
            <a:srgbClr val="F2A900">
              <a:alpha val="45000"/>
            </a:srgbClr>
          </a:solidFill>
          <a:ln w="12700">
            <a:solidFill>
              <a:srgbClr val="F2A900">
                <a:alpha val="0"/>
              </a:srgbClr>
            </a:solidFill>
            <a:prstDash val="solid"/>
          </a:ln>
        </p:spPr>
      </p:sp>
      <p:sp>
        <p:nvSpPr>
          <p:cNvPr id="83" name="Shape 81"/>
          <p:cNvSpPr/>
          <p:nvPr/>
        </p:nvSpPr>
        <p:spPr>
          <a:xfrm>
            <a:off x="3008376" y="2862072"/>
            <a:ext cx="310896" cy="310896"/>
          </a:xfrm>
          <a:prstGeom prst="ellipse">
            <a:avLst/>
          </a:prstGeom>
          <a:solidFill>
            <a:srgbClr val="D64545"/>
          </a:solidFill>
          <a:ln w="19050">
            <a:solidFill>
              <a:srgbClr val="D64545"/>
            </a:solidFill>
            <a:prstDash val="solid"/>
          </a:ln>
        </p:spPr>
      </p:sp>
      <p:sp>
        <p:nvSpPr>
          <p:cNvPr id="84" name="Shape 82"/>
          <p:cNvSpPr/>
          <p:nvPr/>
        </p:nvSpPr>
        <p:spPr>
          <a:xfrm>
            <a:off x="3429000" y="3017520"/>
            <a:ext cx="2057400" cy="0"/>
          </a:xfrm>
          <a:prstGeom prst="line">
            <a:avLst/>
          </a:prstGeom>
          <a:noFill/>
          <a:ln w="25400">
            <a:solidFill>
              <a:srgbClr val="1B1B1B"/>
            </a:solidFill>
            <a:prstDash val="solid"/>
          </a:ln>
        </p:spPr>
      </p:sp>
      <p:sp>
        <p:nvSpPr>
          <p:cNvPr id="85" name="Shape 83"/>
          <p:cNvSpPr/>
          <p:nvPr/>
        </p:nvSpPr>
        <p:spPr>
          <a:xfrm>
            <a:off x="5486400" y="3017520"/>
            <a:ext cx="0" cy="1508760"/>
          </a:xfrm>
          <a:prstGeom prst="line">
            <a:avLst/>
          </a:prstGeom>
          <a:noFill/>
          <a:ln w="25400">
            <a:solidFill>
              <a:srgbClr val="1B1B1B"/>
            </a:solidFill>
            <a:prstDash val="solid"/>
          </a:ln>
        </p:spPr>
      </p:sp>
      <p:sp>
        <p:nvSpPr>
          <p:cNvPr id="86" name="Shape 84"/>
          <p:cNvSpPr/>
          <p:nvPr/>
        </p:nvSpPr>
        <p:spPr>
          <a:xfrm>
            <a:off x="2057400" y="4526280"/>
            <a:ext cx="3429000" cy="0"/>
          </a:xfrm>
          <a:prstGeom prst="line">
            <a:avLst/>
          </a:prstGeom>
          <a:noFill/>
          <a:ln w="25400">
            <a:solidFill>
              <a:srgbClr val="1B1B1B"/>
            </a:solidFill>
            <a:prstDash val="solid"/>
          </a:ln>
        </p:spPr>
      </p:sp>
      <p:sp>
        <p:nvSpPr>
          <p:cNvPr id="87" name="Shape 85"/>
          <p:cNvSpPr/>
          <p:nvPr/>
        </p:nvSpPr>
        <p:spPr>
          <a:xfrm>
            <a:off x="2057400" y="4251960"/>
            <a:ext cx="0" cy="274320"/>
          </a:xfrm>
          <a:prstGeom prst="line">
            <a:avLst/>
          </a:prstGeom>
          <a:noFill/>
          <a:ln w="25400">
            <a:solidFill>
              <a:srgbClr val="1B1B1B"/>
            </a:solidFill>
            <a:prstDash val="solid"/>
          </a:ln>
        </p:spPr>
      </p:sp>
      <p:sp>
        <p:nvSpPr>
          <p:cNvPr id="88" name="Shape 86"/>
          <p:cNvSpPr/>
          <p:nvPr/>
        </p:nvSpPr>
        <p:spPr>
          <a:xfrm>
            <a:off x="1801368" y="4251960"/>
            <a:ext cx="256032" cy="0"/>
          </a:xfrm>
          <a:prstGeom prst="line">
            <a:avLst/>
          </a:prstGeom>
          <a:noFill/>
          <a:ln w="25400">
            <a:solidFill>
              <a:srgbClr val="1B1B1B"/>
            </a:solidFill>
            <a:prstDash val="solid"/>
          </a:ln>
        </p:spPr>
      </p:sp>
      <p:sp>
        <p:nvSpPr>
          <p:cNvPr id="89" name="Shape 87"/>
          <p:cNvSpPr/>
          <p:nvPr/>
        </p:nvSpPr>
        <p:spPr>
          <a:xfrm>
            <a:off x="1801368" y="3383280"/>
            <a:ext cx="256032" cy="0"/>
          </a:xfrm>
          <a:prstGeom prst="line">
            <a:avLst/>
          </a:prstGeom>
          <a:noFill/>
          <a:ln w="31750">
            <a:solidFill>
              <a:srgbClr val="2B6CB0"/>
            </a:solidFill>
            <a:prstDash val="solid"/>
          </a:ln>
        </p:spPr>
      </p:sp>
      <p:sp>
        <p:nvSpPr>
          <p:cNvPr id="90" name="Shape 88"/>
          <p:cNvSpPr/>
          <p:nvPr/>
        </p:nvSpPr>
        <p:spPr>
          <a:xfrm>
            <a:off x="2057400" y="3383280"/>
            <a:ext cx="155448" cy="0"/>
          </a:xfrm>
          <a:prstGeom prst="line">
            <a:avLst/>
          </a:prstGeom>
          <a:noFill/>
          <a:ln w="25400">
            <a:solidFill>
              <a:srgbClr val="9AA0A6"/>
            </a:solidFill>
            <a:prstDash val="solid"/>
          </a:ln>
        </p:spPr>
      </p:sp>
      <p:sp>
        <p:nvSpPr>
          <p:cNvPr id="91" name="Shape 89"/>
          <p:cNvSpPr/>
          <p:nvPr/>
        </p:nvSpPr>
        <p:spPr>
          <a:xfrm>
            <a:off x="2542032" y="3383280"/>
            <a:ext cx="155448" cy="0"/>
          </a:xfrm>
          <a:prstGeom prst="line">
            <a:avLst/>
          </a:prstGeom>
          <a:noFill/>
          <a:ln w="25400">
            <a:solidFill>
              <a:srgbClr val="9AA0A6"/>
            </a:solidFill>
            <a:prstDash val="solid"/>
          </a:ln>
        </p:spPr>
      </p:sp>
      <p:sp>
        <p:nvSpPr>
          <p:cNvPr id="92" name="Shape 90"/>
          <p:cNvSpPr/>
          <p:nvPr/>
        </p:nvSpPr>
        <p:spPr>
          <a:xfrm>
            <a:off x="2212848" y="3300984"/>
            <a:ext cx="329184" cy="164592"/>
          </a:xfrm>
          <a:prstGeom prst="roundRect">
            <a:avLst>
              <a:gd name="adj" fmla="val 33333"/>
            </a:avLst>
          </a:prstGeom>
          <a:solidFill>
            <a:srgbClr val="E3C99A"/>
          </a:solidFill>
          <a:ln w="9525">
            <a:solidFill>
              <a:srgbClr val="B8986A"/>
            </a:solidFill>
            <a:prstDash val="solid"/>
          </a:ln>
        </p:spPr>
      </p:sp>
      <p:sp>
        <p:nvSpPr>
          <p:cNvPr id="93" name="Shape 91"/>
          <p:cNvSpPr/>
          <p:nvPr/>
        </p:nvSpPr>
        <p:spPr>
          <a:xfrm>
            <a:off x="2267712" y="3300984"/>
            <a:ext cx="32004" cy="164592"/>
          </a:xfrm>
          <a:prstGeom prst="rect">
            <a:avLst/>
          </a:prstGeom>
          <a:solidFill>
            <a:srgbClr val="D64545"/>
          </a:solidFill>
          <a:ln w="12700">
            <a:solidFill>
              <a:srgbClr val="D64545"/>
            </a:solidFill>
            <a:prstDash val="solid"/>
          </a:ln>
        </p:spPr>
      </p:sp>
      <p:sp>
        <p:nvSpPr>
          <p:cNvPr id="94" name="Shape 92"/>
          <p:cNvSpPr/>
          <p:nvPr/>
        </p:nvSpPr>
        <p:spPr>
          <a:xfrm>
            <a:off x="2321500" y="3300984"/>
            <a:ext cx="32004" cy="164592"/>
          </a:xfrm>
          <a:prstGeom prst="rect">
            <a:avLst/>
          </a:prstGeom>
          <a:solidFill>
            <a:srgbClr val="D64545"/>
          </a:solidFill>
          <a:ln w="12700">
            <a:solidFill>
              <a:srgbClr val="D64545"/>
            </a:solidFill>
            <a:prstDash val="solid"/>
          </a:ln>
        </p:spPr>
      </p:sp>
      <p:sp>
        <p:nvSpPr>
          <p:cNvPr id="95" name="Shape 93"/>
          <p:cNvSpPr/>
          <p:nvPr/>
        </p:nvSpPr>
        <p:spPr>
          <a:xfrm>
            <a:off x="2375288" y="3300984"/>
            <a:ext cx="32004" cy="164592"/>
          </a:xfrm>
          <a:prstGeom prst="rect">
            <a:avLst/>
          </a:prstGeom>
          <a:solidFill>
            <a:srgbClr val="8B4513"/>
          </a:solidFill>
          <a:ln w="12700">
            <a:solidFill>
              <a:srgbClr val="8B4513"/>
            </a:solidFill>
            <a:prstDash val="solid"/>
          </a:ln>
        </p:spPr>
      </p:sp>
      <p:sp>
        <p:nvSpPr>
          <p:cNvPr id="96" name="Shape 94"/>
          <p:cNvSpPr/>
          <p:nvPr/>
        </p:nvSpPr>
        <p:spPr>
          <a:xfrm>
            <a:off x="2465653" y="3300984"/>
            <a:ext cx="32004" cy="164592"/>
          </a:xfrm>
          <a:prstGeom prst="rect">
            <a:avLst/>
          </a:prstGeom>
          <a:solidFill>
            <a:srgbClr val="C9A227"/>
          </a:solidFill>
          <a:ln w="12700">
            <a:solidFill>
              <a:srgbClr val="C9A227"/>
            </a:solidFill>
            <a:prstDash val="solid"/>
          </a:ln>
        </p:spPr>
      </p:sp>
      <p:sp>
        <p:nvSpPr>
          <p:cNvPr id="97" name="Shape 95"/>
          <p:cNvSpPr/>
          <p:nvPr/>
        </p:nvSpPr>
        <p:spPr>
          <a:xfrm>
            <a:off x="2788920" y="3383280"/>
            <a:ext cx="219456" cy="0"/>
          </a:xfrm>
          <a:prstGeom prst="line">
            <a:avLst/>
          </a:prstGeom>
          <a:noFill/>
          <a:ln w="25400">
            <a:solidFill>
              <a:srgbClr val="9AA0A6"/>
            </a:solidFill>
            <a:prstDash val="solid"/>
          </a:ln>
        </p:spPr>
      </p:sp>
      <p:sp>
        <p:nvSpPr>
          <p:cNvPr id="98" name="Shape 96"/>
          <p:cNvSpPr/>
          <p:nvPr/>
        </p:nvSpPr>
        <p:spPr>
          <a:xfrm>
            <a:off x="3319272" y="3383280"/>
            <a:ext cx="109728" cy="0"/>
          </a:xfrm>
          <a:prstGeom prst="line">
            <a:avLst/>
          </a:prstGeom>
          <a:noFill/>
          <a:ln w="25400">
            <a:solidFill>
              <a:srgbClr val="9AA0A6"/>
            </a:solidFill>
            <a:prstDash val="solid"/>
          </a:ln>
        </p:spPr>
      </p:sp>
      <p:sp>
        <p:nvSpPr>
          <p:cNvPr id="99" name="Shape 97"/>
          <p:cNvSpPr/>
          <p:nvPr/>
        </p:nvSpPr>
        <p:spPr>
          <a:xfrm>
            <a:off x="3008376" y="3227832"/>
            <a:ext cx="310896" cy="310896"/>
          </a:xfrm>
          <a:prstGeom prst="ellipse">
            <a:avLst/>
          </a:prstGeom>
          <a:solidFill>
            <a:srgbClr val="F3F3F3"/>
          </a:solidFill>
          <a:ln w="19050">
            <a:solidFill>
              <a:srgbClr val="D64545"/>
            </a:solidFill>
            <a:prstDash val="solid"/>
          </a:ln>
        </p:spPr>
      </p:sp>
      <p:sp>
        <p:nvSpPr>
          <p:cNvPr id="100" name="Shape 98"/>
          <p:cNvSpPr/>
          <p:nvPr/>
        </p:nvSpPr>
        <p:spPr>
          <a:xfrm>
            <a:off x="3429000" y="3383280"/>
            <a:ext cx="2057400" cy="0"/>
          </a:xfrm>
          <a:prstGeom prst="line">
            <a:avLst/>
          </a:prstGeom>
          <a:noFill/>
          <a:ln w="25400">
            <a:solidFill>
              <a:srgbClr val="1B1B1B"/>
            </a:solidFill>
            <a:prstDash val="solid"/>
          </a:ln>
        </p:spPr>
      </p:sp>
      <p:sp>
        <p:nvSpPr>
          <p:cNvPr id="101" name="Shape 99"/>
          <p:cNvSpPr/>
          <p:nvPr/>
        </p:nvSpPr>
        <p:spPr>
          <a:xfrm>
            <a:off x="5486400" y="3383280"/>
            <a:ext cx="0" cy="1143000"/>
          </a:xfrm>
          <a:prstGeom prst="line">
            <a:avLst/>
          </a:prstGeom>
          <a:noFill/>
          <a:ln w="25400">
            <a:solidFill>
              <a:srgbClr val="1B1B1B"/>
            </a:solidFill>
            <a:prstDash val="solid"/>
          </a:ln>
        </p:spPr>
      </p:sp>
      <p:sp>
        <p:nvSpPr>
          <p:cNvPr id="102" name="Shape 100"/>
          <p:cNvSpPr/>
          <p:nvPr/>
        </p:nvSpPr>
        <p:spPr>
          <a:xfrm>
            <a:off x="2057400" y="4526280"/>
            <a:ext cx="3429000" cy="0"/>
          </a:xfrm>
          <a:prstGeom prst="line">
            <a:avLst/>
          </a:prstGeom>
          <a:noFill/>
          <a:ln w="25400">
            <a:solidFill>
              <a:srgbClr val="1B1B1B"/>
            </a:solidFill>
            <a:prstDash val="solid"/>
          </a:ln>
        </p:spPr>
      </p:sp>
      <p:sp>
        <p:nvSpPr>
          <p:cNvPr id="103" name="Shape 101"/>
          <p:cNvSpPr/>
          <p:nvPr/>
        </p:nvSpPr>
        <p:spPr>
          <a:xfrm>
            <a:off x="2057400" y="4251960"/>
            <a:ext cx="0" cy="274320"/>
          </a:xfrm>
          <a:prstGeom prst="line">
            <a:avLst/>
          </a:prstGeom>
          <a:noFill/>
          <a:ln w="25400">
            <a:solidFill>
              <a:srgbClr val="1B1B1B"/>
            </a:solidFill>
            <a:prstDash val="solid"/>
          </a:ln>
        </p:spPr>
      </p:sp>
      <p:sp>
        <p:nvSpPr>
          <p:cNvPr id="104" name="Shape 102"/>
          <p:cNvSpPr/>
          <p:nvPr/>
        </p:nvSpPr>
        <p:spPr>
          <a:xfrm>
            <a:off x="1801368" y="4251960"/>
            <a:ext cx="256032" cy="0"/>
          </a:xfrm>
          <a:prstGeom prst="line">
            <a:avLst/>
          </a:prstGeom>
          <a:noFill/>
          <a:ln w="25400">
            <a:solidFill>
              <a:srgbClr val="1B1B1B"/>
            </a:solidFill>
            <a:prstDash val="solid"/>
          </a:ln>
        </p:spPr>
      </p:sp>
      <p:sp>
        <p:nvSpPr>
          <p:cNvPr id="105" name="Shape 103"/>
          <p:cNvSpPr/>
          <p:nvPr/>
        </p:nvSpPr>
        <p:spPr>
          <a:xfrm>
            <a:off x="1801368" y="3749040"/>
            <a:ext cx="256032" cy="0"/>
          </a:xfrm>
          <a:prstGeom prst="line">
            <a:avLst/>
          </a:prstGeom>
          <a:noFill/>
          <a:ln w="31750">
            <a:solidFill>
              <a:srgbClr val="8E44AD"/>
            </a:solidFill>
            <a:prstDash val="solid"/>
          </a:ln>
        </p:spPr>
      </p:sp>
      <p:sp>
        <p:nvSpPr>
          <p:cNvPr id="106" name="Shape 104"/>
          <p:cNvSpPr/>
          <p:nvPr/>
        </p:nvSpPr>
        <p:spPr>
          <a:xfrm>
            <a:off x="2057400" y="3749040"/>
            <a:ext cx="155448" cy="0"/>
          </a:xfrm>
          <a:prstGeom prst="line">
            <a:avLst/>
          </a:prstGeom>
          <a:noFill/>
          <a:ln w="25400">
            <a:solidFill>
              <a:srgbClr val="9AA0A6"/>
            </a:solidFill>
            <a:prstDash val="solid"/>
          </a:ln>
        </p:spPr>
      </p:sp>
      <p:sp>
        <p:nvSpPr>
          <p:cNvPr id="107" name="Shape 105"/>
          <p:cNvSpPr/>
          <p:nvPr/>
        </p:nvSpPr>
        <p:spPr>
          <a:xfrm>
            <a:off x="2542032" y="3749040"/>
            <a:ext cx="155448" cy="0"/>
          </a:xfrm>
          <a:prstGeom prst="line">
            <a:avLst/>
          </a:prstGeom>
          <a:noFill/>
          <a:ln w="25400">
            <a:solidFill>
              <a:srgbClr val="9AA0A6"/>
            </a:solidFill>
            <a:prstDash val="solid"/>
          </a:ln>
        </p:spPr>
      </p:sp>
      <p:sp>
        <p:nvSpPr>
          <p:cNvPr id="108" name="Shape 106"/>
          <p:cNvSpPr/>
          <p:nvPr/>
        </p:nvSpPr>
        <p:spPr>
          <a:xfrm>
            <a:off x="2212848" y="3666744"/>
            <a:ext cx="329184" cy="164592"/>
          </a:xfrm>
          <a:prstGeom prst="roundRect">
            <a:avLst>
              <a:gd name="adj" fmla="val 33333"/>
            </a:avLst>
          </a:prstGeom>
          <a:solidFill>
            <a:srgbClr val="E3C99A"/>
          </a:solidFill>
          <a:ln w="9525">
            <a:solidFill>
              <a:srgbClr val="B8986A"/>
            </a:solidFill>
            <a:prstDash val="solid"/>
          </a:ln>
        </p:spPr>
      </p:sp>
      <p:sp>
        <p:nvSpPr>
          <p:cNvPr id="109" name="Shape 107"/>
          <p:cNvSpPr/>
          <p:nvPr/>
        </p:nvSpPr>
        <p:spPr>
          <a:xfrm>
            <a:off x="2267712" y="3666744"/>
            <a:ext cx="32004" cy="164592"/>
          </a:xfrm>
          <a:prstGeom prst="rect">
            <a:avLst/>
          </a:prstGeom>
          <a:solidFill>
            <a:srgbClr val="D64545"/>
          </a:solidFill>
          <a:ln w="12700">
            <a:solidFill>
              <a:srgbClr val="D64545"/>
            </a:solidFill>
            <a:prstDash val="solid"/>
          </a:ln>
        </p:spPr>
      </p:sp>
      <p:sp>
        <p:nvSpPr>
          <p:cNvPr id="110" name="Shape 108"/>
          <p:cNvSpPr/>
          <p:nvPr/>
        </p:nvSpPr>
        <p:spPr>
          <a:xfrm>
            <a:off x="2321500" y="3666744"/>
            <a:ext cx="32004" cy="164592"/>
          </a:xfrm>
          <a:prstGeom prst="rect">
            <a:avLst/>
          </a:prstGeom>
          <a:solidFill>
            <a:srgbClr val="D64545"/>
          </a:solidFill>
          <a:ln w="12700">
            <a:solidFill>
              <a:srgbClr val="D64545"/>
            </a:solidFill>
            <a:prstDash val="solid"/>
          </a:ln>
        </p:spPr>
      </p:sp>
      <p:sp>
        <p:nvSpPr>
          <p:cNvPr id="111" name="Shape 109"/>
          <p:cNvSpPr/>
          <p:nvPr/>
        </p:nvSpPr>
        <p:spPr>
          <a:xfrm>
            <a:off x="2375288" y="3666744"/>
            <a:ext cx="32004" cy="164592"/>
          </a:xfrm>
          <a:prstGeom prst="rect">
            <a:avLst/>
          </a:prstGeom>
          <a:solidFill>
            <a:srgbClr val="8B4513"/>
          </a:solidFill>
          <a:ln w="12700">
            <a:solidFill>
              <a:srgbClr val="8B4513"/>
            </a:solidFill>
            <a:prstDash val="solid"/>
          </a:ln>
        </p:spPr>
      </p:sp>
      <p:sp>
        <p:nvSpPr>
          <p:cNvPr id="112" name="Shape 110"/>
          <p:cNvSpPr/>
          <p:nvPr/>
        </p:nvSpPr>
        <p:spPr>
          <a:xfrm>
            <a:off x="2465653" y="3666744"/>
            <a:ext cx="32004" cy="164592"/>
          </a:xfrm>
          <a:prstGeom prst="rect">
            <a:avLst/>
          </a:prstGeom>
          <a:solidFill>
            <a:srgbClr val="C9A227"/>
          </a:solidFill>
          <a:ln w="12700">
            <a:solidFill>
              <a:srgbClr val="C9A227"/>
            </a:solidFill>
            <a:prstDash val="solid"/>
          </a:ln>
        </p:spPr>
      </p:sp>
      <p:sp>
        <p:nvSpPr>
          <p:cNvPr id="113" name="Shape 111"/>
          <p:cNvSpPr/>
          <p:nvPr/>
        </p:nvSpPr>
        <p:spPr>
          <a:xfrm>
            <a:off x="2788920" y="3749040"/>
            <a:ext cx="219456" cy="0"/>
          </a:xfrm>
          <a:prstGeom prst="line">
            <a:avLst/>
          </a:prstGeom>
          <a:noFill/>
          <a:ln w="25400">
            <a:solidFill>
              <a:srgbClr val="9AA0A6"/>
            </a:solidFill>
            <a:prstDash val="solid"/>
          </a:ln>
        </p:spPr>
      </p:sp>
      <p:sp>
        <p:nvSpPr>
          <p:cNvPr id="114" name="Shape 112"/>
          <p:cNvSpPr/>
          <p:nvPr/>
        </p:nvSpPr>
        <p:spPr>
          <a:xfrm>
            <a:off x="3319272" y="3749040"/>
            <a:ext cx="109728" cy="0"/>
          </a:xfrm>
          <a:prstGeom prst="line">
            <a:avLst/>
          </a:prstGeom>
          <a:noFill/>
          <a:ln w="25400">
            <a:solidFill>
              <a:srgbClr val="9AA0A6"/>
            </a:solidFill>
            <a:prstDash val="solid"/>
          </a:ln>
        </p:spPr>
      </p:sp>
      <p:sp>
        <p:nvSpPr>
          <p:cNvPr id="115" name="Shape 113"/>
          <p:cNvSpPr/>
          <p:nvPr/>
        </p:nvSpPr>
        <p:spPr>
          <a:xfrm>
            <a:off x="3008376" y="3593592"/>
            <a:ext cx="310896" cy="310896"/>
          </a:xfrm>
          <a:prstGeom prst="ellipse">
            <a:avLst/>
          </a:prstGeom>
          <a:solidFill>
            <a:srgbClr val="F3F3F3"/>
          </a:solidFill>
          <a:ln w="19050">
            <a:solidFill>
              <a:srgbClr val="D64545"/>
            </a:solidFill>
            <a:prstDash val="solid"/>
          </a:ln>
        </p:spPr>
      </p:sp>
      <p:sp>
        <p:nvSpPr>
          <p:cNvPr id="116" name="Shape 114"/>
          <p:cNvSpPr/>
          <p:nvPr/>
        </p:nvSpPr>
        <p:spPr>
          <a:xfrm>
            <a:off x="3429000" y="3749040"/>
            <a:ext cx="2057400" cy="0"/>
          </a:xfrm>
          <a:prstGeom prst="line">
            <a:avLst/>
          </a:prstGeom>
          <a:noFill/>
          <a:ln w="25400">
            <a:solidFill>
              <a:srgbClr val="1B1B1B"/>
            </a:solidFill>
            <a:prstDash val="solid"/>
          </a:ln>
        </p:spPr>
      </p:sp>
      <p:sp>
        <p:nvSpPr>
          <p:cNvPr id="117" name="Shape 115"/>
          <p:cNvSpPr/>
          <p:nvPr/>
        </p:nvSpPr>
        <p:spPr>
          <a:xfrm>
            <a:off x="5486400" y="3749040"/>
            <a:ext cx="0" cy="777240"/>
          </a:xfrm>
          <a:prstGeom prst="line">
            <a:avLst/>
          </a:prstGeom>
          <a:noFill/>
          <a:ln w="25400">
            <a:solidFill>
              <a:srgbClr val="1B1B1B"/>
            </a:solidFill>
            <a:prstDash val="solid"/>
          </a:ln>
        </p:spPr>
      </p:sp>
      <p:sp>
        <p:nvSpPr>
          <p:cNvPr id="118" name="Shape 116"/>
          <p:cNvSpPr/>
          <p:nvPr/>
        </p:nvSpPr>
        <p:spPr>
          <a:xfrm>
            <a:off x="2057400" y="4526280"/>
            <a:ext cx="3429000" cy="0"/>
          </a:xfrm>
          <a:prstGeom prst="line">
            <a:avLst/>
          </a:prstGeom>
          <a:noFill/>
          <a:ln w="25400">
            <a:solidFill>
              <a:srgbClr val="1B1B1B"/>
            </a:solidFill>
            <a:prstDash val="solid"/>
          </a:ln>
        </p:spPr>
      </p:sp>
      <p:sp>
        <p:nvSpPr>
          <p:cNvPr id="119" name="Shape 117"/>
          <p:cNvSpPr/>
          <p:nvPr/>
        </p:nvSpPr>
        <p:spPr>
          <a:xfrm>
            <a:off x="2057400" y="4251960"/>
            <a:ext cx="0" cy="274320"/>
          </a:xfrm>
          <a:prstGeom prst="line">
            <a:avLst/>
          </a:prstGeom>
          <a:noFill/>
          <a:ln w="25400">
            <a:solidFill>
              <a:srgbClr val="1B1B1B"/>
            </a:solidFill>
            <a:prstDash val="solid"/>
          </a:ln>
        </p:spPr>
      </p:sp>
      <p:sp>
        <p:nvSpPr>
          <p:cNvPr id="120" name="Shape 118"/>
          <p:cNvSpPr/>
          <p:nvPr/>
        </p:nvSpPr>
        <p:spPr>
          <a:xfrm>
            <a:off x="1801368" y="4251960"/>
            <a:ext cx="256032" cy="0"/>
          </a:xfrm>
          <a:prstGeom prst="line">
            <a:avLst/>
          </a:prstGeom>
          <a:noFill/>
          <a:ln w="25400">
            <a:solidFill>
              <a:srgbClr val="1B1B1B"/>
            </a:solidFill>
            <a:prstDash val="solid"/>
          </a:ln>
        </p:spPr>
      </p:sp>
      <p:sp>
        <p:nvSpPr>
          <p:cNvPr id="121" name="Text 119"/>
          <p:cNvSpPr txBox="1"/>
          <p:nvPr/>
        </p:nvSpPr>
        <p:spPr>
          <a:xfrm>
            <a:off x="1691640" y="1417320"/>
            <a:ext cx="1645920" cy="201168"/>
          </a:xfrm>
          <a:prstGeom prst="rect">
            <a:avLst/>
          </a:prstGeom>
          <a:noFill/>
          <a:ln/>
        </p:spPr>
        <p:txBody>
          <a:bodyPr wrap="square" lIns="0" tIns="0" rIns="0" bIns="0" rtlCol="0" anchor="ctr"/>
          <a:lstStyle/>
          <a:p>
            <a:pPr algn="ctr" indent="0" marL="0">
              <a:buNone/>
            </a:pPr>
            <a:r>
              <a:rPr lang="en-US" sz="1000" b="1" i="1" dirty="0">
                <a:solidFill>
                  <a:srgbClr val="8E44AD"/>
                </a:solidFill>
              </a:rPr>
              <a:t>S = analog out</a:t>
            </a:r>
            <a:endParaRPr lang="en-US" sz="1000" dirty="0"/>
          </a:p>
        </p:txBody>
      </p:sp>
      <p:sp>
        <p:nvSpPr>
          <p:cNvPr id="122" name="Shape 120"/>
          <p:cNvSpPr/>
          <p:nvPr/>
        </p:nvSpPr>
        <p:spPr>
          <a:xfrm>
            <a:off x="6035040" y="960120"/>
            <a:ext cx="2697480" cy="1234440"/>
          </a:xfrm>
          <a:prstGeom prst="roundRect">
            <a:avLst>
              <a:gd name="adj" fmla="val 5926"/>
            </a:avLst>
          </a:prstGeom>
          <a:solidFill>
            <a:srgbClr val="FDECEC"/>
          </a:solidFill>
          <a:ln w="19050">
            <a:solidFill>
              <a:srgbClr val="D64545"/>
            </a:solidFill>
            <a:prstDash val="solid"/>
          </a:ln>
        </p:spPr>
      </p:sp>
      <p:sp>
        <p:nvSpPr>
          <p:cNvPr id="123" name="Text 121"/>
          <p:cNvSpPr txBox="1"/>
          <p:nvPr/>
        </p:nvSpPr>
        <p:spPr>
          <a:xfrm>
            <a:off x="6217920" y="1024128"/>
            <a:ext cx="2377440" cy="292608"/>
          </a:xfrm>
          <a:prstGeom prst="rect">
            <a:avLst/>
          </a:prstGeom>
          <a:noFill/>
          <a:ln/>
        </p:spPr>
        <p:txBody>
          <a:bodyPr wrap="square" lIns="0" tIns="0" rIns="0" bIns="0" rtlCol="0" anchor="ctr"/>
          <a:lstStyle/>
          <a:p>
            <a:pPr indent="0" marL="0">
              <a:buNone/>
            </a:pPr>
            <a:r>
              <a:rPr lang="en-US" sz="1700" b="1" dirty="0">
                <a:solidFill>
                  <a:srgbClr val="D64545"/>
                </a:solidFill>
              </a:rPr>
              <a:t>The blue screw</a:t>
            </a:r>
            <a:endParaRPr lang="en-US" sz="1700" dirty="0"/>
          </a:p>
        </p:txBody>
      </p:sp>
      <p:sp>
        <p:nvSpPr>
          <p:cNvPr id="124" name="Text 122"/>
          <p:cNvSpPr txBox="1"/>
          <p:nvPr/>
        </p:nvSpPr>
        <p:spPr>
          <a:xfrm>
            <a:off x="6217920" y="1335024"/>
            <a:ext cx="2377440" cy="822960"/>
          </a:xfrm>
          <a:prstGeom prst="rect">
            <a:avLst/>
          </a:prstGeom>
          <a:noFill/>
          <a:ln/>
        </p:spPr>
        <p:txBody>
          <a:bodyPr wrap="square" lIns="0" tIns="0" rIns="0" bIns="0" rtlCol="0" anchor="t"/>
          <a:lstStyle/>
          <a:p>
            <a:pPr indent="0" marL="0">
              <a:buNone/>
            </a:pPr>
            <a:r>
              <a:rPr lang="en-US" sz="1300" dirty="0">
                <a:solidFill>
                  <a:srgbClr val="1B1B1B"/>
                </a:solidFill>
              </a:rPr>
              <a:t>sets how big the signal reaching S is. It does NOT set what counts as loud: your code does that. Set it once, leave it.</a:t>
            </a:r>
            <a:endParaRPr lang="en-US" sz="1300" dirty="0"/>
          </a:p>
        </p:txBody>
      </p:sp>
      <p:sp>
        <p:nvSpPr>
          <p:cNvPr id="125" name="Shape 123"/>
          <p:cNvSpPr/>
          <p:nvPr/>
        </p:nvSpPr>
        <p:spPr>
          <a:xfrm>
            <a:off x="6035040" y="2286000"/>
            <a:ext cx="2697480" cy="1051560"/>
          </a:xfrm>
          <a:prstGeom prst="roundRect">
            <a:avLst>
              <a:gd name="adj" fmla="val 6957"/>
            </a:avLst>
          </a:prstGeom>
          <a:solidFill>
            <a:srgbClr val="FFF4D6"/>
          </a:solidFill>
          <a:ln w="15875">
            <a:solidFill>
              <a:srgbClr val="E0A800"/>
            </a:solidFill>
            <a:prstDash val="solid"/>
          </a:ln>
        </p:spPr>
      </p:sp>
      <p:sp>
        <p:nvSpPr>
          <p:cNvPr id="126" name="Text 124"/>
          <p:cNvSpPr txBox="1"/>
          <p:nvPr/>
        </p:nvSpPr>
        <p:spPr>
          <a:xfrm>
            <a:off x="6217920" y="2286000"/>
            <a:ext cx="2377440" cy="1051560"/>
          </a:xfrm>
          <a:prstGeom prst="rect">
            <a:avLst/>
          </a:prstGeom>
          <a:noFill/>
          <a:ln/>
        </p:spPr>
        <p:txBody>
          <a:bodyPr wrap="square" lIns="0" tIns="0" rIns="0" bIns="0" rtlCol="0" anchor="ctr"/>
          <a:lstStyle/>
          <a:p>
            <a:pPr indent="0" marL="0">
              <a:buNone/>
            </a:pPr>
            <a:r>
              <a:rPr lang="en-US" sz="1200" b="1" dirty="0">
                <a:solidFill>
                  <a:srgbClr val="9A6B00"/>
                </a:solidFill>
              </a:rPr>
              <a:t>Only these pins today.
</a:t>
            </a:r>
            <a:pPr indent="0" marL="0">
              <a:buNone/>
            </a:pPr>
            <a:r>
              <a:rPr lang="en-US" sz="1200" dirty="0">
                <a:solidFill>
                  <a:srgbClr val="1B1B1B"/>
                </a:solidFill>
              </a:rPr>
              <a:t>Leave the ultrasonic sensor, the buzzer and the servo in the box.</a:t>
            </a:r>
            <a:endParaRPr lang="en-US" sz="1200" dirty="0"/>
          </a:p>
        </p:txBody>
      </p:sp>
      <p:pic>
        <p:nvPicPr>
          <p:cNvPr id="127" name="Image 0" descr="img/ke3067_mic.png">    </p:cNvPr>
          <p:cNvPicPr>
            <a:picLocks noChangeAspect="1"/>
          </p:cNvPicPr>
          <p:nvPr/>
        </p:nvPicPr>
        <p:blipFill>
          <a:blip r:embed="rId1"/>
          <a:stretch>
            <a:fillRect/>
          </a:stretch>
        </p:blipFill>
        <p:spPr>
          <a:xfrm>
            <a:off x="6035040" y="3291840"/>
            <a:ext cx="941832" cy="1325880"/>
          </a:xfrm>
          <a:prstGeom prst="rect">
            <a:avLst/>
          </a:prstGeom>
        </p:spPr>
      </p:pic>
      <p:sp>
        <p:nvSpPr>
          <p:cNvPr id="128" name="Text 125"/>
          <p:cNvSpPr txBox="1"/>
          <p:nvPr/>
        </p:nvSpPr>
        <p:spPr>
          <a:xfrm>
            <a:off x="7086600" y="3383280"/>
            <a:ext cx="1645920" cy="1097280"/>
          </a:xfrm>
          <a:prstGeom prst="rect">
            <a:avLst/>
          </a:prstGeom>
          <a:noFill/>
          <a:ln/>
        </p:spPr>
        <p:txBody>
          <a:bodyPr wrap="square" lIns="0" tIns="0" rIns="0" bIns="0" rtlCol="0" anchor="t"/>
          <a:lstStyle/>
          <a:p>
            <a:pPr indent="0" marL="0">
              <a:buNone/>
            </a:pPr>
            <a:r>
              <a:rPr lang="en-US" sz="1200" b="1" dirty="0">
                <a:solidFill>
                  <a:srgbClr val="0B3D2E"/>
                </a:solidFill>
                <a:latin typeface="Courier New" pitchFamily="34" charset="0"/>
                <a:ea typeface="Courier New" pitchFamily="34" charset="-122"/>
                <a:cs typeface="Courier New" pitchFamily="34" charset="-120"/>
              </a:rPr>
              <a:t>S, V, G</a:t>
            </a:r>
            <a:pPr indent="0" marL="0">
              <a:buNone/>
            </a:pPr>
            <a:r>
              <a:rPr lang="en-US" sz="1200" dirty="0">
                <a:solidFill>
                  <a:srgbClr val="0B3D2E"/>
                </a:solidFill>
              </a:rPr>
              <a:t> in that order on the module.</a:t>
            </a:r>
            <a:endParaRPr lang="en-US" sz="1200" dirty="0"/>
          </a:p>
          <a:p>
            <a:pPr indent="0" marL="0">
              <a:buNone/>
            </a:pPr>
            <a:r>
              <a:rPr lang="en-US" sz="1200" dirty="0">
                <a:solidFill>
                  <a:srgbClr val="0B3D2E"/>
                </a:solidFill>
              </a:rPr>
              <a:t>SENSOR VP is the pin under EN.</a:t>
            </a:r>
            <a:endParaRPr lang="en-US" sz="12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Step 0: run it and listen</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0</a:t>
            </a:r>
            <a:endParaRPr lang="en-US" sz="2000" dirty="0"/>
          </a:p>
        </p:txBody>
      </p:sp>
      <p:sp>
        <p:nvSpPr>
          <p:cNvPr id="6" name="Shape 4"/>
          <p:cNvSpPr/>
          <p:nvPr/>
        </p:nvSpPr>
        <p:spPr>
          <a:xfrm>
            <a:off x="457200" y="1005840"/>
            <a:ext cx="4663440" cy="1920240"/>
          </a:xfrm>
          <a:prstGeom prst="roundRect">
            <a:avLst>
              <a:gd name="adj" fmla="val 3810"/>
            </a:avLst>
          </a:prstGeom>
          <a:solidFill>
            <a:srgbClr val="14261F"/>
          </a:solidFill>
          <a:ln w="12700">
            <a:solidFill>
              <a:srgbClr val="14261F"/>
            </a:solidFill>
            <a:prstDash val="solid"/>
          </a:ln>
        </p:spPr>
      </p:sp>
      <p:sp>
        <p:nvSpPr>
          <p:cNvPr id="7" name="Text 5"/>
          <p:cNvSpPr txBox="1"/>
          <p:nvPr/>
        </p:nvSpPr>
        <p:spPr>
          <a:xfrm>
            <a:off x="594360" y="1069848"/>
            <a:ext cx="4389120" cy="219456"/>
          </a:xfrm>
          <a:prstGeom prst="rect">
            <a:avLst/>
          </a:prstGeom>
          <a:noFill/>
          <a:ln/>
        </p:spPr>
        <p:txBody>
          <a:bodyPr wrap="square" lIns="0" tIns="0" rIns="0" bIns="0" rtlCol="0" anchor="ctr"/>
          <a:lstStyle/>
          <a:p>
            <a:pPr indent="0" marL="0">
              <a:buNone/>
            </a:pPr>
            <a:r>
              <a:rPr lang="en-US" sz="1100" b="1" dirty="0">
                <a:solidFill>
                  <a:srgbClr val="F2A900"/>
                </a:solidFill>
              </a:rPr>
              <a:t>step0_read_sound.py</a:t>
            </a:r>
            <a:pPr indent="0" marL="0">
              <a:buNone/>
            </a:pPr>
            <a:r>
              <a:rPr lang="en-US" sz="1100" dirty="0">
                <a:solidFill>
                  <a:srgbClr val="9FB8AD"/>
                </a:solidFill>
              </a:rPr>
              <a:t>  ·  lines 29–37</a:t>
            </a:r>
            <a:endParaRPr lang="en-US" sz="1100" dirty="0"/>
          </a:p>
        </p:txBody>
      </p:sp>
      <p:sp>
        <p:nvSpPr>
          <p:cNvPr id="8" name="Shape 6"/>
          <p:cNvSpPr/>
          <p:nvPr/>
        </p:nvSpPr>
        <p:spPr>
          <a:xfrm>
            <a:off x="566928" y="1325880"/>
            <a:ext cx="4443984" cy="0"/>
          </a:xfrm>
          <a:prstGeom prst="line">
            <a:avLst/>
          </a:prstGeom>
          <a:noFill/>
          <a:ln w="12700">
            <a:solidFill>
              <a:srgbClr val="2F4A3F"/>
            </a:solidFill>
            <a:prstDash val="solid"/>
          </a:ln>
        </p:spPr>
      </p:sp>
      <p:sp>
        <p:nvSpPr>
          <p:cNvPr id="9" name="Text 7"/>
          <p:cNvSpPr txBox="1"/>
          <p:nvPr/>
        </p:nvSpPr>
        <p:spPr>
          <a:xfrm>
            <a:off x="548640" y="1389888"/>
            <a:ext cx="4480560" cy="1463040"/>
          </a:xfrm>
          <a:prstGeom prst="rect">
            <a:avLst/>
          </a:prstGeom>
          <a:noFill/>
          <a:ln/>
        </p:spPr>
        <p:txBody>
          <a:bodyPr wrap="square" lIns="0" tIns="0" rIns="0" bIns="0" rtlCol="0" anchor="t"/>
          <a:lstStyle/>
          <a:p>
            <a:pPr indent="0" marL="0">
              <a:buNone/>
            </a:pPr>
            <a:r>
              <a:rPr lang="en-US" sz="1000" dirty="0">
                <a:solidFill>
                  <a:srgbClr val="6F8A7F"/>
                </a:solidFill>
                <a:latin typeface="Courier New" pitchFamily="34" charset="0"/>
                <a:ea typeface="Courier New" pitchFamily="34" charset="-122"/>
                <a:cs typeface="Courier New" pitchFamily="34" charset="-120"/>
              </a:rPr>
              <a:t> 29  </a:t>
            </a:r>
            <a:pPr indent="0" marL="0">
              <a:buNone/>
            </a:pPr>
            <a:r>
              <a:rPr lang="en-US" sz="1000" dirty="0">
                <a:solidFill>
                  <a:srgbClr val="E6F2EC"/>
                </a:solidFill>
                <a:latin typeface="Courier New" pitchFamily="34" charset="0"/>
                <a:ea typeface="Courier New" pitchFamily="34" charset="-122"/>
                <a:cs typeface="Courier New" pitchFamily="34" charset="-120"/>
              </a:rPr>
              <a:t>mic.width(ADC.WIDTH_12BIT)    # answer as 0 to 4095</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30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31  </a:t>
            </a:r>
            <a:pPr indent="0" marL="0">
              <a:buNone/>
            </a:pPr>
            <a:r>
              <a:rPr lang="en-US" sz="1000" dirty="0">
                <a:solidFill>
                  <a:srgbClr val="E6F2EC"/>
                </a:solidFill>
                <a:latin typeface="Courier New" pitchFamily="34" charset="0"/>
                <a:ea typeface="Courier New" pitchFamily="34" charset="-122"/>
                <a:cs typeface="Courier New" pitchFamily="34" charset="-120"/>
              </a:rPr>
              <a:t>try:</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34  </a:t>
            </a:r>
            <a:pPr indent="0" marL="0">
              <a:buNone/>
            </a:pPr>
            <a:r>
              <a:rPr lang="en-US" sz="1000" dirty="0">
                <a:solidFill>
                  <a:srgbClr val="E6F2EC"/>
                </a:solidFill>
                <a:latin typeface="Courier New" pitchFamily="34" charset="0"/>
                <a:ea typeface="Courier New" pitchFamily="34" charset="-122"/>
                <a:cs typeface="Courier New" pitchFamily="34" charset="-120"/>
              </a:rPr>
              <a:t>        print(value)</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35  </a:t>
            </a:r>
            <a:pPr indent="0" marL="0">
              <a:buNone/>
            </a:pPr>
            <a:r>
              <a:rPr lang="en-US" sz="1000" dirty="0">
                <a:solidFill>
                  <a:srgbClr val="E6F2EC"/>
                </a:solidFill>
                <a:latin typeface="Courier New" pitchFamily="34" charset="0"/>
                <a:ea typeface="Courier New" pitchFamily="34" charset="-122"/>
                <a:cs typeface="Courier New" pitchFamily="34" charset="-120"/>
              </a:rPr>
              <a:t>        time.sleep(0.2)</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36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37  </a:t>
            </a:r>
            <a:pPr indent="0" marL="0">
              <a:buNone/>
            </a:pPr>
            <a:r>
              <a:rPr lang="en-US" sz="1000" dirty="0">
                <a:solidFill>
                  <a:srgbClr val="E6F2EC"/>
                </a:solidFill>
                <a:latin typeface="Courier New" pitchFamily="34" charset="0"/>
                <a:ea typeface="Courier New" pitchFamily="34" charset="-122"/>
                <a:cs typeface="Courier New" pitchFamily="34" charset="-120"/>
              </a:rPr>
              <a:t>finally:</a:t>
            </a:r>
            <a:endParaRPr lang="en-US" sz="1000" dirty="0"/>
          </a:p>
        </p:txBody>
      </p:sp>
      <p:sp>
        <p:nvSpPr>
          <p:cNvPr id="10" name="Shape 8"/>
          <p:cNvSpPr/>
          <p:nvPr/>
        </p:nvSpPr>
        <p:spPr>
          <a:xfrm>
            <a:off x="457200" y="3063240"/>
            <a:ext cx="4663440" cy="457200"/>
          </a:xfrm>
          <a:prstGeom prst="roundRect">
            <a:avLst>
              <a:gd name="adj" fmla="val 16000"/>
            </a:avLst>
          </a:prstGeom>
          <a:solidFill>
            <a:srgbClr val="DDF3E9"/>
          </a:solidFill>
          <a:ln w="15875">
            <a:solidFill>
              <a:srgbClr val="1F8A70"/>
            </a:solidFill>
            <a:prstDash val="solid"/>
          </a:ln>
        </p:spPr>
      </p:sp>
      <p:sp>
        <p:nvSpPr>
          <p:cNvPr id="11" name="Text 9"/>
          <p:cNvSpPr txBox="1"/>
          <p:nvPr/>
        </p:nvSpPr>
        <p:spPr>
          <a:xfrm>
            <a:off x="594360" y="3063240"/>
            <a:ext cx="4389120" cy="45720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The number jumps when you clap.</a:t>
            </a:r>
            <a:endParaRPr lang="en-US" sz="1400" dirty="0"/>
          </a:p>
        </p:txBody>
      </p:sp>
      <p:sp>
        <p:nvSpPr>
          <p:cNvPr id="12" name="Shape 10"/>
          <p:cNvSpPr/>
          <p:nvPr/>
        </p:nvSpPr>
        <p:spPr>
          <a:xfrm>
            <a:off x="457200" y="3611880"/>
            <a:ext cx="4663440" cy="457200"/>
          </a:xfrm>
          <a:prstGeom prst="roundRect">
            <a:avLst>
              <a:gd name="adj" fmla="val 16000"/>
            </a:avLst>
          </a:prstGeom>
          <a:solidFill>
            <a:srgbClr val="FFF4D6"/>
          </a:solidFill>
          <a:ln w="12700">
            <a:solidFill>
              <a:srgbClr val="E0A800"/>
            </a:solidFill>
            <a:prstDash val="solid"/>
          </a:ln>
        </p:spPr>
      </p:sp>
      <p:sp>
        <p:nvSpPr>
          <p:cNvPr id="13" name="Text 11"/>
          <p:cNvSpPr txBox="1"/>
          <p:nvPr/>
        </p:nvSpPr>
        <p:spPr>
          <a:xfrm>
            <a:off x="594360" y="3611880"/>
            <a:ext cx="4389120" cy="45720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Always 0? S is on SENSOR VP, the pin under EN.</a:t>
            </a:r>
            <a:endParaRPr lang="en-US" sz="1400" dirty="0"/>
          </a:p>
        </p:txBody>
      </p:sp>
      <p:sp>
        <p:nvSpPr>
          <p:cNvPr id="14" name="Text 12"/>
          <p:cNvSpPr txBox="1"/>
          <p:nvPr/>
        </p:nvSpPr>
        <p:spPr>
          <a:xfrm>
            <a:off x="457200" y="4206240"/>
            <a:ext cx="4663440" cy="457200"/>
          </a:xfrm>
          <a:prstGeom prst="rect">
            <a:avLst/>
          </a:prstGeom>
          <a:noFill/>
          <a:ln/>
        </p:spPr>
        <p:txBody>
          <a:bodyPr wrap="square" lIns="0" tIns="0" rIns="0" bIns="0" rtlCol="0" anchor="ctr"/>
          <a:lstStyle/>
          <a:p>
            <a:pPr indent="0" marL="0">
              <a:buNone/>
            </a:pPr>
            <a:r>
              <a:rPr lang="en-US" sz="1200" i="1" dirty="0">
                <a:solidFill>
                  <a:srgbClr val="6B7280"/>
                </a:solidFill>
              </a:rPr>
              <a:t>ATTN_11DB means measure the whole 0 to 3.3 V. WIDTH_12BIT means answer as 0 to 4095.</a:t>
            </a:r>
            <a:endParaRPr lang="en-US" sz="1200" dirty="0"/>
          </a:p>
        </p:txBody>
      </p:sp>
      <p:sp>
        <p:nvSpPr>
          <p:cNvPr id="15" name="Shape 13"/>
          <p:cNvSpPr/>
          <p:nvPr/>
        </p:nvSpPr>
        <p:spPr>
          <a:xfrm>
            <a:off x="5394960" y="1188720"/>
            <a:ext cx="3291840" cy="2194560"/>
          </a:xfrm>
          <a:prstGeom prst="roundRect">
            <a:avLst>
              <a:gd name="adj" fmla="val 3333"/>
            </a:avLst>
          </a:prstGeom>
          <a:solidFill>
            <a:srgbClr val="1E1E1E"/>
          </a:solidFill>
          <a:ln w="12700">
            <a:solidFill>
              <a:srgbClr val="3A3A3A"/>
            </a:solidFill>
            <a:prstDash val="solid"/>
          </a:ln>
        </p:spPr>
      </p:sp>
      <p:sp>
        <p:nvSpPr>
          <p:cNvPr id="16" name="Shape 14"/>
          <p:cNvSpPr/>
          <p:nvPr/>
        </p:nvSpPr>
        <p:spPr>
          <a:xfrm>
            <a:off x="5532120" y="1280160"/>
            <a:ext cx="118872" cy="118872"/>
          </a:xfrm>
          <a:prstGeom prst="ellipse">
            <a:avLst/>
          </a:prstGeom>
          <a:solidFill>
            <a:srgbClr val="FF5F57"/>
          </a:solidFill>
          <a:ln w="12700">
            <a:solidFill>
              <a:srgbClr val="FF5F57"/>
            </a:solidFill>
            <a:prstDash val="solid"/>
          </a:ln>
        </p:spPr>
      </p:sp>
      <p:sp>
        <p:nvSpPr>
          <p:cNvPr id="17" name="Shape 15"/>
          <p:cNvSpPr/>
          <p:nvPr/>
        </p:nvSpPr>
        <p:spPr>
          <a:xfrm>
            <a:off x="5715000" y="1280160"/>
            <a:ext cx="118872" cy="118872"/>
          </a:xfrm>
          <a:prstGeom prst="ellipse">
            <a:avLst/>
          </a:prstGeom>
          <a:solidFill>
            <a:srgbClr val="FEBC2E"/>
          </a:solidFill>
          <a:ln w="12700">
            <a:solidFill>
              <a:srgbClr val="FEBC2E"/>
            </a:solidFill>
            <a:prstDash val="solid"/>
          </a:ln>
        </p:spPr>
      </p:sp>
      <p:sp>
        <p:nvSpPr>
          <p:cNvPr id="18" name="Shape 16"/>
          <p:cNvSpPr/>
          <p:nvPr/>
        </p:nvSpPr>
        <p:spPr>
          <a:xfrm>
            <a:off x="5897880" y="1280160"/>
            <a:ext cx="118872" cy="118872"/>
          </a:xfrm>
          <a:prstGeom prst="ellipse">
            <a:avLst/>
          </a:prstGeom>
          <a:solidFill>
            <a:srgbClr val="28C840"/>
          </a:solidFill>
          <a:ln w="12700">
            <a:solidFill>
              <a:srgbClr val="28C840"/>
            </a:solidFill>
            <a:prstDash val="solid"/>
          </a:ln>
        </p:spPr>
      </p:sp>
      <p:sp>
        <p:nvSpPr>
          <p:cNvPr id="19" name="Text 17"/>
          <p:cNvSpPr txBox="1"/>
          <p:nvPr/>
        </p:nvSpPr>
        <p:spPr>
          <a:xfrm>
            <a:off x="5394960" y="1243584"/>
            <a:ext cx="3291840" cy="201168"/>
          </a:xfrm>
          <a:prstGeom prst="rect">
            <a:avLst/>
          </a:prstGeom>
          <a:noFill/>
          <a:ln/>
        </p:spPr>
        <p:txBody>
          <a:bodyPr wrap="square" lIns="0" tIns="0" rIns="0" bIns="0" rtlCol="0" anchor="ctr"/>
          <a:lstStyle/>
          <a:p>
            <a:pPr algn="ctr" indent="0" marL="0">
              <a:buNone/>
            </a:pPr>
            <a:r>
              <a:rPr lang="en-US" sz="1000" dirty="0">
                <a:solidFill>
                  <a:srgbClr val="9E9E9E"/>
                </a:solidFill>
              </a:rPr>
              <a:t>Terminal</a:t>
            </a:r>
            <a:endParaRPr lang="en-US" sz="1000" dirty="0"/>
          </a:p>
        </p:txBody>
      </p:sp>
      <p:sp>
        <p:nvSpPr>
          <p:cNvPr id="20" name="Text 18"/>
          <p:cNvSpPr txBox="1"/>
          <p:nvPr/>
        </p:nvSpPr>
        <p:spPr>
          <a:xfrm>
            <a:off x="5559552" y="1536192"/>
            <a:ext cx="2962656" cy="1737360"/>
          </a:xfrm>
          <a:prstGeom prst="rect">
            <a:avLst/>
          </a:prstGeom>
          <a:noFill/>
          <a:ln/>
        </p:spPr>
        <p:txBody>
          <a:bodyPr wrap="square" lIns="0" tIns="0" rIns="0" bIns="0" rtlCol="0" anchor="t"/>
          <a:lstStyle/>
          <a:p>
            <a:pPr indent="0" marL="0">
              <a:spcAft>
                <a:spcPts val="200"/>
              </a:spcAft>
              <a:buNone/>
            </a:pPr>
            <a:r>
              <a:rPr lang="en-US" sz="1200" dirty="0">
                <a:solidFill>
                  <a:srgbClr val="B9C7BF"/>
                </a:solidFill>
                <a:latin typeface="Courier New" pitchFamily="34" charset="0"/>
                <a:ea typeface="Courier New" pitchFamily="34" charset="-122"/>
                <a:cs typeface="Courier New" pitchFamily="34" charset="-120"/>
              </a:rPr>
              <a:t>quiet room</a:t>
            </a:r>
            <a:endParaRPr lang="en-US" sz="1200" dirty="0"/>
          </a:p>
          <a:p>
            <a:pPr indent="0" marL="0">
              <a:spcAft>
                <a:spcPts val="200"/>
              </a:spcAft>
              <a:buNone/>
            </a:pPr>
            <a:r>
              <a:rPr lang="en-US" sz="1200" dirty="0">
                <a:solidFill>
                  <a:srgbClr val="B9C7BF"/>
                </a:solidFill>
                <a:latin typeface="Courier New" pitchFamily="34" charset="0"/>
                <a:ea typeface="Courier New" pitchFamily="34" charset="-122"/>
                <a:cs typeface="Courier New" pitchFamily="34" charset="-120"/>
              </a:rPr>
              <a:t>  6   11   4   9   7   5</a:t>
            </a:r>
            <a:endParaRPr lang="en-US" sz="1200" dirty="0"/>
          </a:p>
          <a:p>
            <a:pPr indent="0" marL="0">
              <a:spcAft>
                <a:spcPts val="200"/>
              </a:spcAft>
              <a:buNone/>
            </a:pPr>
            <a:r>
              <a:rPr lang="en-US" sz="1200" dirty="0">
                <a:solidFill>
                  <a:srgbClr val="B9C7BF"/>
                </a:solidFill>
                <a:latin typeface="Courier New" pitchFamily="34" charset="0"/>
                <a:ea typeface="Courier New" pitchFamily="34" charset="-122"/>
                <a:cs typeface="Courier New" pitchFamily="34" charset="-120"/>
              </a:rPr>
              <a:t>  8    6   12  5   9   6</a:t>
            </a:r>
            <a:endParaRPr lang="en-US" sz="1200" dirty="0"/>
          </a:p>
          <a:p>
            <a:pPr indent="0" marL="0">
              <a:spcAft>
                <a:spcPts val="200"/>
              </a:spcAft>
              <a:buNone/>
            </a:pPr>
            <a:endParaRPr lang="en-US" sz="1200" dirty="0"/>
          </a:p>
          <a:p>
            <a:pPr indent="0" marL="0">
              <a:spcAft>
                <a:spcPts val="200"/>
              </a:spcAft>
              <a:buNone/>
            </a:pPr>
            <a:r>
              <a:rPr lang="en-US" sz="1200" dirty="0">
                <a:solidFill>
                  <a:srgbClr val="B9C7BF"/>
                </a:solidFill>
                <a:latin typeface="Courier New" pitchFamily="34" charset="0"/>
                <a:ea typeface="Courier New" pitchFamily="34" charset="-122"/>
                <a:cs typeface="Courier New" pitchFamily="34" charset="-120"/>
              </a:rPr>
              <a:t>one clap</a:t>
            </a:r>
            <a:endParaRPr lang="en-US" sz="1200" dirty="0"/>
          </a:p>
          <a:p>
            <a:pPr indent="0" marL="0">
              <a:spcAft>
                <a:spcPts val="200"/>
              </a:spcAft>
              <a:buNone/>
            </a:pPr>
            <a:r>
              <a:rPr lang="en-US" sz="1200" b="1" dirty="0">
                <a:solidFill>
                  <a:srgbClr val="F2A900"/>
                </a:solidFill>
                <a:latin typeface="Courier New" pitchFamily="34" charset="0"/>
                <a:ea typeface="Courier New" pitchFamily="34" charset="-122"/>
                <a:cs typeface="Courier New" pitchFamily="34" charset="-120"/>
              </a:rPr>
              <a:t>  7   1240   843   96</a:t>
            </a:r>
            <a:endParaRPr lang="en-US" sz="1200" dirty="0"/>
          </a:p>
          <a:p>
            <a:pPr indent="0" marL="0">
              <a:spcAft>
                <a:spcPts val="200"/>
              </a:spcAft>
              <a:buNone/>
            </a:pPr>
            <a:r>
              <a:rPr lang="en-US" sz="1200" dirty="0">
                <a:solidFill>
                  <a:srgbClr val="B9C7BF"/>
                </a:solidFill>
                <a:latin typeface="Courier New" pitchFamily="34" charset="0"/>
                <a:ea typeface="Courier New" pitchFamily="34" charset="-122"/>
                <a:cs typeface="Courier New" pitchFamily="34" charset="-120"/>
              </a:rPr>
              <a:t>  310   44    9     7</a:t>
            </a:r>
            <a:endParaRPr lang="en-US" sz="1200" dirty="0"/>
          </a:p>
        </p:txBody>
      </p:sp>
      <p:sp>
        <p:nvSpPr>
          <p:cNvPr id="21" name="Text 19"/>
          <p:cNvSpPr txBox="1"/>
          <p:nvPr/>
        </p:nvSpPr>
        <p:spPr>
          <a:xfrm>
            <a:off x="5394960" y="3520440"/>
            <a:ext cx="3291840" cy="822960"/>
          </a:xfrm>
          <a:prstGeom prst="rect">
            <a:avLst/>
          </a:prstGeom>
          <a:noFill/>
          <a:ln/>
        </p:spPr>
        <p:txBody>
          <a:bodyPr wrap="square" lIns="0" tIns="0" rIns="0" bIns="0" rtlCol="0" anchor="ctr"/>
          <a:lstStyle/>
          <a:p>
            <a:pPr indent="0" marL="0">
              <a:buNone/>
            </a:pPr>
            <a:r>
              <a:rPr lang="en-US" sz="1400" b="1" dirty="0">
                <a:solidFill>
                  <a:srgbClr val="0B3D2E"/>
                </a:solidFill>
              </a:rPr>
              <a:t>Your numbers will not match these. They depend on the gain screw. That is the point of Step 0b.</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One reading lies</a:t>
            </a:r>
            <a:endParaRPr lang="en-US" sz="3000" dirty="0"/>
          </a:p>
        </p:txBody>
      </p:sp>
      <p:sp>
        <p:nvSpPr>
          <p:cNvPr id="3" name="Shape 1"/>
          <p:cNvSpPr/>
          <p:nvPr/>
        </p:nvSpPr>
        <p:spPr>
          <a:xfrm>
            <a:off x="548640" y="1188720"/>
            <a:ext cx="4572000" cy="1828800"/>
          </a:xfrm>
          <a:prstGeom prst="roundRect">
            <a:avLst>
              <a:gd name="adj" fmla="val 4000"/>
            </a:avLst>
          </a:prstGeom>
          <a:solidFill>
            <a:srgbClr val="FFFFFF"/>
          </a:solidFill>
          <a:ln w="12700">
            <a:solidFill>
              <a:srgbClr val="D3E4DB"/>
            </a:solidFill>
            <a:prstDash val="solid"/>
          </a:ln>
        </p:spPr>
      </p:sp>
      <p:sp>
        <p:nvSpPr>
          <p:cNvPr id="4" name="Shape 2"/>
          <p:cNvSpPr/>
          <p:nvPr/>
        </p:nvSpPr>
        <p:spPr>
          <a:xfrm>
            <a:off x="548640" y="2103120"/>
            <a:ext cx="4572000" cy="0"/>
          </a:xfrm>
          <a:prstGeom prst="line">
            <a:avLst/>
          </a:prstGeom>
          <a:noFill/>
          <a:ln w="12700">
            <a:solidFill>
              <a:srgbClr val="CFD8DC"/>
            </a:solidFill>
            <a:prstDash val="solid"/>
          </a:ln>
        </p:spPr>
      </p:sp>
      <p:sp>
        <p:nvSpPr>
          <p:cNvPr id="5" name="Shape 3"/>
          <p:cNvSpPr/>
          <p:nvPr/>
        </p:nvSpPr>
        <p:spPr>
          <a:xfrm>
            <a:off x="640080" y="2103120"/>
            <a:ext cx="109728" cy="89039"/>
          </a:xfrm>
          <a:prstGeom prst="line">
            <a:avLst/>
          </a:prstGeom>
          <a:noFill/>
          <a:ln w="19050">
            <a:solidFill>
              <a:srgbClr val="2B6CB0"/>
            </a:solidFill>
            <a:prstDash val="solid"/>
          </a:ln>
        </p:spPr>
      </p:sp>
      <p:sp>
        <p:nvSpPr>
          <p:cNvPr id="6" name="Shape 4"/>
          <p:cNvSpPr/>
          <p:nvPr/>
        </p:nvSpPr>
        <p:spPr>
          <a:xfrm flipV="1">
            <a:off x="749808" y="2045046"/>
            <a:ext cx="109728" cy="147113"/>
          </a:xfrm>
          <a:prstGeom prst="line">
            <a:avLst/>
          </a:prstGeom>
          <a:noFill/>
          <a:ln w="19050">
            <a:solidFill>
              <a:srgbClr val="2B6CB0"/>
            </a:solidFill>
            <a:prstDash val="solid"/>
          </a:ln>
        </p:spPr>
      </p:sp>
      <p:sp>
        <p:nvSpPr>
          <p:cNvPr id="7" name="Shape 5"/>
          <p:cNvSpPr/>
          <p:nvPr/>
        </p:nvSpPr>
        <p:spPr>
          <a:xfrm>
            <a:off x="859536" y="2045046"/>
            <a:ext cx="109728" cy="5353"/>
          </a:xfrm>
          <a:prstGeom prst="line">
            <a:avLst/>
          </a:prstGeom>
          <a:noFill/>
          <a:ln w="19050">
            <a:solidFill>
              <a:srgbClr val="2B6CB0"/>
            </a:solidFill>
            <a:prstDash val="solid"/>
          </a:ln>
        </p:spPr>
      </p:sp>
      <p:sp>
        <p:nvSpPr>
          <p:cNvPr id="8" name="Shape 6"/>
          <p:cNvSpPr/>
          <p:nvPr/>
        </p:nvSpPr>
        <p:spPr>
          <a:xfrm>
            <a:off x="969264" y="2050399"/>
            <a:ext cx="109728" cy="146184"/>
          </a:xfrm>
          <a:prstGeom prst="line">
            <a:avLst/>
          </a:prstGeom>
          <a:noFill/>
          <a:ln w="19050">
            <a:solidFill>
              <a:srgbClr val="2B6CB0"/>
            </a:solidFill>
            <a:prstDash val="solid"/>
          </a:ln>
        </p:spPr>
      </p:sp>
      <p:sp>
        <p:nvSpPr>
          <p:cNvPr id="9" name="Shape 7"/>
          <p:cNvSpPr/>
          <p:nvPr/>
        </p:nvSpPr>
        <p:spPr>
          <a:xfrm flipV="1">
            <a:off x="1078992" y="2095802"/>
            <a:ext cx="109728" cy="100781"/>
          </a:xfrm>
          <a:prstGeom prst="line">
            <a:avLst/>
          </a:prstGeom>
          <a:noFill/>
          <a:ln w="19050">
            <a:solidFill>
              <a:srgbClr val="2B6CB0"/>
            </a:solidFill>
            <a:prstDash val="solid"/>
          </a:ln>
        </p:spPr>
      </p:sp>
      <p:sp>
        <p:nvSpPr>
          <p:cNvPr id="10" name="Shape 8"/>
          <p:cNvSpPr/>
          <p:nvPr/>
        </p:nvSpPr>
        <p:spPr>
          <a:xfrm flipV="1">
            <a:off x="1188720" y="2012836"/>
            <a:ext cx="109728" cy="82966"/>
          </a:xfrm>
          <a:prstGeom prst="line">
            <a:avLst/>
          </a:prstGeom>
          <a:noFill/>
          <a:ln w="19050">
            <a:solidFill>
              <a:srgbClr val="2B6CB0"/>
            </a:solidFill>
            <a:prstDash val="solid"/>
          </a:ln>
        </p:spPr>
      </p:sp>
      <p:sp>
        <p:nvSpPr>
          <p:cNvPr id="11" name="Shape 9"/>
          <p:cNvSpPr/>
          <p:nvPr/>
        </p:nvSpPr>
        <p:spPr>
          <a:xfrm>
            <a:off x="1298448" y="2012836"/>
            <a:ext cx="109728" cy="156591"/>
          </a:xfrm>
          <a:prstGeom prst="line">
            <a:avLst/>
          </a:prstGeom>
          <a:noFill/>
          <a:ln w="19050">
            <a:solidFill>
              <a:srgbClr val="2B6CB0"/>
            </a:solidFill>
            <a:prstDash val="solid"/>
          </a:ln>
        </p:spPr>
      </p:sp>
      <p:sp>
        <p:nvSpPr>
          <p:cNvPr id="12" name="Shape 10"/>
          <p:cNvSpPr/>
          <p:nvPr/>
        </p:nvSpPr>
        <p:spPr>
          <a:xfrm flipV="1">
            <a:off x="1408176" y="2151688"/>
            <a:ext cx="109728" cy="17739"/>
          </a:xfrm>
          <a:prstGeom prst="line">
            <a:avLst/>
          </a:prstGeom>
          <a:noFill/>
          <a:ln w="19050">
            <a:solidFill>
              <a:srgbClr val="2B6CB0"/>
            </a:solidFill>
            <a:prstDash val="solid"/>
          </a:ln>
        </p:spPr>
      </p:sp>
      <p:sp>
        <p:nvSpPr>
          <p:cNvPr id="13" name="Shape 11"/>
          <p:cNvSpPr/>
          <p:nvPr/>
        </p:nvSpPr>
        <p:spPr>
          <a:xfrm flipV="1">
            <a:off x="1517904" y="2004049"/>
            <a:ext cx="109728" cy="147639"/>
          </a:xfrm>
          <a:prstGeom prst="line">
            <a:avLst/>
          </a:prstGeom>
          <a:noFill/>
          <a:ln w="19050">
            <a:solidFill>
              <a:srgbClr val="2B6CB0"/>
            </a:solidFill>
            <a:prstDash val="solid"/>
          </a:ln>
        </p:spPr>
      </p:sp>
      <p:sp>
        <p:nvSpPr>
          <p:cNvPr id="14" name="Shape 12"/>
          <p:cNvSpPr/>
          <p:nvPr/>
        </p:nvSpPr>
        <p:spPr>
          <a:xfrm>
            <a:off x="1627632" y="2004049"/>
            <a:ext cx="109728" cy="114283"/>
          </a:xfrm>
          <a:prstGeom prst="line">
            <a:avLst/>
          </a:prstGeom>
          <a:noFill/>
          <a:ln w="19050">
            <a:solidFill>
              <a:srgbClr val="2B6CB0"/>
            </a:solidFill>
            <a:prstDash val="solid"/>
          </a:ln>
        </p:spPr>
      </p:sp>
      <p:sp>
        <p:nvSpPr>
          <p:cNvPr id="15" name="Shape 13"/>
          <p:cNvSpPr/>
          <p:nvPr/>
        </p:nvSpPr>
        <p:spPr>
          <a:xfrm>
            <a:off x="1737360" y="2118332"/>
            <a:ext cx="109728" cy="75563"/>
          </a:xfrm>
          <a:prstGeom prst="line">
            <a:avLst/>
          </a:prstGeom>
          <a:noFill/>
          <a:ln w="19050">
            <a:solidFill>
              <a:srgbClr val="2B6CB0"/>
            </a:solidFill>
            <a:prstDash val="solid"/>
          </a:ln>
        </p:spPr>
      </p:sp>
      <p:sp>
        <p:nvSpPr>
          <p:cNvPr id="16" name="Shape 14"/>
          <p:cNvSpPr/>
          <p:nvPr/>
        </p:nvSpPr>
        <p:spPr>
          <a:xfrm flipV="1">
            <a:off x="1847088" y="2028496"/>
            <a:ext cx="109728" cy="165400"/>
          </a:xfrm>
          <a:prstGeom prst="line">
            <a:avLst/>
          </a:prstGeom>
          <a:noFill/>
          <a:ln w="19050">
            <a:solidFill>
              <a:srgbClr val="2B6CB0"/>
            </a:solidFill>
            <a:prstDash val="solid"/>
          </a:ln>
        </p:spPr>
      </p:sp>
      <p:sp>
        <p:nvSpPr>
          <p:cNvPr id="17" name="Shape 15"/>
          <p:cNvSpPr/>
          <p:nvPr/>
        </p:nvSpPr>
        <p:spPr>
          <a:xfrm>
            <a:off x="1956816" y="2028496"/>
            <a:ext cx="109728" cy="31025"/>
          </a:xfrm>
          <a:prstGeom prst="line">
            <a:avLst/>
          </a:prstGeom>
          <a:noFill/>
          <a:ln w="19050">
            <a:solidFill>
              <a:srgbClr val="2B6CB0"/>
            </a:solidFill>
            <a:prstDash val="solid"/>
          </a:ln>
        </p:spPr>
      </p:sp>
      <p:sp>
        <p:nvSpPr>
          <p:cNvPr id="18" name="Shape 16"/>
          <p:cNvSpPr/>
          <p:nvPr/>
        </p:nvSpPr>
        <p:spPr>
          <a:xfrm>
            <a:off x="2066544" y="2059520"/>
            <a:ext cx="109728" cy="582117"/>
          </a:xfrm>
          <a:prstGeom prst="line">
            <a:avLst/>
          </a:prstGeom>
          <a:noFill/>
          <a:ln w="19050">
            <a:solidFill>
              <a:srgbClr val="2B6CB0"/>
            </a:solidFill>
            <a:prstDash val="solid"/>
          </a:ln>
        </p:spPr>
      </p:sp>
      <p:sp>
        <p:nvSpPr>
          <p:cNvPr id="19" name="Shape 17"/>
          <p:cNvSpPr/>
          <p:nvPr/>
        </p:nvSpPr>
        <p:spPr>
          <a:xfrm flipV="1">
            <a:off x="2176272" y="1981024"/>
            <a:ext cx="109728" cy="660613"/>
          </a:xfrm>
          <a:prstGeom prst="line">
            <a:avLst/>
          </a:prstGeom>
          <a:noFill/>
          <a:ln w="19050">
            <a:solidFill>
              <a:srgbClr val="2B6CB0"/>
            </a:solidFill>
            <a:prstDash val="solid"/>
          </a:ln>
        </p:spPr>
      </p:sp>
      <p:sp>
        <p:nvSpPr>
          <p:cNvPr id="20" name="Shape 18"/>
          <p:cNvSpPr/>
          <p:nvPr/>
        </p:nvSpPr>
        <p:spPr>
          <a:xfrm flipV="1">
            <a:off x="2286000" y="1635705"/>
            <a:ext cx="109728" cy="345319"/>
          </a:xfrm>
          <a:prstGeom prst="line">
            <a:avLst/>
          </a:prstGeom>
          <a:noFill/>
          <a:ln w="19050">
            <a:solidFill>
              <a:srgbClr val="2B6CB0"/>
            </a:solidFill>
            <a:prstDash val="solid"/>
          </a:ln>
        </p:spPr>
      </p:sp>
      <p:sp>
        <p:nvSpPr>
          <p:cNvPr id="21" name="Shape 19"/>
          <p:cNvSpPr/>
          <p:nvPr/>
        </p:nvSpPr>
        <p:spPr>
          <a:xfrm>
            <a:off x="2395728" y="1635705"/>
            <a:ext cx="109728" cy="895972"/>
          </a:xfrm>
          <a:prstGeom prst="line">
            <a:avLst/>
          </a:prstGeom>
          <a:noFill/>
          <a:ln w="19050">
            <a:solidFill>
              <a:srgbClr val="2B6CB0"/>
            </a:solidFill>
            <a:prstDash val="solid"/>
          </a:ln>
        </p:spPr>
      </p:sp>
      <p:sp>
        <p:nvSpPr>
          <p:cNvPr id="22" name="Shape 20"/>
          <p:cNvSpPr/>
          <p:nvPr/>
        </p:nvSpPr>
        <p:spPr>
          <a:xfrm flipV="1">
            <a:off x="2505456" y="2298541"/>
            <a:ext cx="109728" cy="233135"/>
          </a:xfrm>
          <a:prstGeom prst="line">
            <a:avLst/>
          </a:prstGeom>
          <a:noFill/>
          <a:ln w="19050">
            <a:solidFill>
              <a:srgbClr val="2B6CB0"/>
            </a:solidFill>
            <a:prstDash val="solid"/>
          </a:ln>
        </p:spPr>
      </p:sp>
      <p:sp>
        <p:nvSpPr>
          <p:cNvPr id="23" name="Shape 21"/>
          <p:cNvSpPr/>
          <p:nvPr/>
        </p:nvSpPr>
        <p:spPr>
          <a:xfrm flipV="1">
            <a:off x="2615184" y="1540670"/>
            <a:ext cx="109728" cy="757872"/>
          </a:xfrm>
          <a:prstGeom prst="line">
            <a:avLst/>
          </a:prstGeom>
          <a:noFill/>
          <a:ln w="19050">
            <a:solidFill>
              <a:srgbClr val="2B6CB0"/>
            </a:solidFill>
            <a:prstDash val="solid"/>
          </a:ln>
        </p:spPr>
      </p:sp>
      <p:sp>
        <p:nvSpPr>
          <p:cNvPr id="24" name="Shape 22"/>
          <p:cNvSpPr/>
          <p:nvPr/>
        </p:nvSpPr>
        <p:spPr>
          <a:xfrm>
            <a:off x="2724912" y="1540670"/>
            <a:ext cx="109728" cy="730470"/>
          </a:xfrm>
          <a:prstGeom prst="line">
            <a:avLst/>
          </a:prstGeom>
          <a:noFill/>
          <a:ln w="19050">
            <a:solidFill>
              <a:srgbClr val="2B6CB0"/>
            </a:solidFill>
            <a:prstDash val="solid"/>
          </a:ln>
        </p:spPr>
      </p:sp>
      <p:sp>
        <p:nvSpPr>
          <p:cNvPr id="25" name="Shape 23"/>
          <p:cNvSpPr/>
          <p:nvPr/>
        </p:nvSpPr>
        <p:spPr>
          <a:xfrm>
            <a:off x="2834640" y="2271140"/>
            <a:ext cx="109728" cy="286608"/>
          </a:xfrm>
          <a:prstGeom prst="line">
            <a:avLst/>
          </a:prstGeom>
          <a:noFill/>
          <a:ln w="19050">
            <a:solidFill>
              <a:srgbClr val="2B6CB0"/>
            </a:solidFill>
            <a:prstDash val="solid"/>
          </a:ln>
        </p:spPr>
      </p:sp>
      <p:sp>
        <p:nvSpPr>
          <p:cNvPr id="26" name="Shape 24"/>
          <p:cNvSpPr/>
          <p:nvPr/>
        </p:nvSpPr>
        <p:spPr>
          <a:xfrm flipV="1">
            <a:off x="2944368" y="1645889"/>
            <a:ext cx="109728" cy="911858"/>
          </a:xfrm>
          <a:prstGeom prst="line">
            <a:avLst/>
          </a:prstGeom>
          <a:noFill/>
          <a:ln w="19050">
            <a:solidFill>
              <a:srgbClr val="2B6CB0"/>
            </a:solidFill>
            <a:prstDash val="solid"/>
          </a:ln>
        </p:spPr>
      </p:sp>
      <p:sp>
        <p:nvSpPr>
          <p:cNvPr id="27" name="Shape 25"/>
          <p:cNvSpPr/>
          <p:nvPr/>
        </p:nvSpPr>
        <p:spPr>
          <a:xfrm>
            <a:off x="3054096" y="1645889"/>
            <a:ext cx="109728" cy="302859"/>
          </a:xfrm>
          <a:prstGeom prst="line">
            <a:avLst/>
          </a:prstGeom>
          <a:noFill/>
          <a:ln w="19050">
            <a:solidFill>
              <a:srgbClr val="2B6CB0"/>
            </a:solidFill>
            <a:prstDash val="solid"/>
          </a:ln>
        </p:spPr>
      </p:sp>
      <p:sp>
        <p:nvSpPr>
          <p:cNvPr id="28" name="Shape 26"/>
          <p:cNvSpPr/>
          <p:nvPr/>
        </p:nvSpPr>
        <p:spPr>
          <a:xfrm>
            <a:off x="3163824" y="1948748"/>
            <a:ext cx="109728" cy="703687"/>
          </a:xfrm>
          <a:prstGeom prst="line">
            <a:avLst/>
          </a:prstGeom>
          <a:noFill/>
          <a:ln w="19050">
            <a:solidFill>
              <a:srgbClr val="2B6CB0"/>
            </a:solidFill>
            <a:prstDash val="solid"/>
          </a:ln>
        </p:spPr>
      </p:sp>
      <p:sp>
        <p:nvSpPr>
          <p:cNvPr id="29" name="Shape 27"/>
          <p:cNvSpPr/>
          <p:nvPr/>
        </p:nvSpPr>
        <p:spPr>
          <a:xfrm flipV="1">
            <a:off x="3273552" y="1902693"/>
            <a:ext cx="109728" cy="749742"/>
          </a:xfrm>
          <a:prstGeom prst="line">
            <a:avLst/>
          </a:prstGeom>
          <a:noFill/>
          <a:ln w="19050">
            <a:solidFill>
              <a:srgbClr val="2B6CB0"/>
            </a:solidFill>
            <a:prstDash val="solid"/>
          </a:ln>
        </p:spPr>
      </p:sp>
      <p:sp>
        <p:nvSpPr>
          <p:cNvPr id="30" name="Shape 28"/>
          <p:cNvSpPr/>
          <p:nvPr/>
        </p:nvSpPr>
        <p:spPr>
          <a:xfrm flipV="1">
            <a:off x="3383280" y="1690881"/>
            <a:ext cx="109728" cy="211812"/>
          </a:xfrm>
          <a:prstGeom prst="line">
            <a:avLst/>
          </a:prstGeom>
          <a:noFill/>
          <a:ln w="19050">
            <a:solidFill>
              <a:srgbClr val="2B6CB0"/>
            </a:solidFill>
            <a:prstDash val="solid"/>
          </a:ln>
        </p:spPr>
      </p:sp>
      <p:sp>
        <p:nvSpPr>
          <p:cNvPr id="31" name="Shape 29"/>
          <p:cNvSpPr/>
          <p:nvPr/>
        </p:nvSpPr>
        <p:spPr>
          <a:xfrm>
            <a:off x="3493008" y="1690881"/>
            <a:ext cx="109728" cy="873994"/>
          </a:xfrm>
          <a:prstGeom prst="line">
            <a:avLst/>
          </a:prstGeom>
          <a:noFill/>
          <a:ln w="19050">
            <a:solidFill>
              <a:srgbClr val="2B6CB0"/>
            </a:solidFill>
            <a:prstDash val="solid"/>
          </a:ln>
        </p:spPr>
      </p:sp>
      <p:sp>
        <p:nvSpPr>
          <p:cNvPr id="32" name="Shape 30"/>
          <p:cNvSpPr/>
          <p:nvPr/>
        </p:nvSpPr>
        <p:spPr>
          <a:xfrm flipV="1">
            <a:off x="3602736" y="2212686"/>
            <a:ext cx="109728" cy="352189"/>
          </a:xfrm>
          <a:prstGeom prst="line">
            <a:avLst/>
          </a:prstGeom>
          <a:noFill/>
          <a:ln w="19050">
            <a:solidFill>
              <a:srgbClr val="2B6CB0"/>
            </a:solidFill>
            <a:prstDash val="solid"/>
          </a:ln>
        </p:spPr>
      </p:sp>
      <p:sp>
        <p:nvSpPr>
          <p:cNvPr id="33" name="Shape 31"/>
          <p:cNvSpPr/>
          <p:nvPr/>
        </p:nvSpPr>
        <p:spPr>
          <a:xfrm flipV="1">
            <a:off x="3712464" y="1578397"/>
            <a:ext cx="109728" cy="634289"/>
          </a:xfrm>
          <a:prstGeom prst="line">
            <a:avLst/>
          </a:prstGeom>
          <a:noFill/>
          <a:ln w="19050">
            <a:solidFill>
              <a:srgbClr val="2B6CB0"/>
            </a:solidFill>
            <a:prstDash val="solid"/>
          </a:ln>
        </p:spPr>
      </p:sp>
      <p:sp>
        <p:nvSpPr>
          <p:cNvPr id="34" name="Shape 32"/>
          <p:cNvSpPr/>
          <p:nvPr/>
        </p:nvSpPr>
        <p:spPr>
          <a:xfrm>
            <a:off x="3822192" y="1578397"/>
            <a:ext cx="109728" cy="753451"/>
          </a:xfrm>
          <a:prstGeom prst="line">
            <a:avLst/>
          </a:prstGeom>
          <a:noFill/>
          <a:ln w="19050">
            <a:solidFill>
              <a:srgbClr val="2B6CB0"/>
            </a:solidFill>
            <a:prstDash val="solid"/>
          </a:ln>
        </p:spPr>
      </p:sp>
      <p:sp>
        <p:nvSpPr>
          <p:cNvPr id="35" name="Shape 33"/>
          <p:cNvSpPr/>
          <p:nvPr/>
        </p:nvSpPr>
        <p:spPr>
          <a:xfrm>
            <a:off x="3931920" y="2331848"/>
            <a:ext cx="109728" cy="140862"/>
          </a:xfrm>
          <a:prstGeom prst="line">
            <a:avLst/>
          </a:prstGeom>
          <a:noFill/>
          <a:ln w="19050">
            <a:solidFill>
              <a:srgbClr val="2B6CB0"/>
            </a:solidFill>
            <a:prstDash val="solid"/>
          </a:ln>
        </p:spPr>
      </p:sp>
      <p:sp>
        <p:nvSpPr>
          <p:cNvPr id="36" name="Shape 34"/>
          <p:cNvSpPr/>
          <p:nvPr/>
        </p:nvSpPr>
        <p:spPr>
          <a:xfrm flipV="1">
            <a:off x="4041648" y="1641085"/>
            <a:ext cx="109728" cy="831625"/>
          </a:xfrm>
          <a:prstGeom prst="line">
            <a:avLst/>
          </a:prstGeom>
          <a:noFill/>
          <a:ln w="19050">
            <a:solidFill>
              <a:srgbClr val="2B6CB0"/>
            </a:solidFill>
            <a:prstDash val="solid"/>
          </a:ln>
        </p:spPr>
      </p:sp>
      <p:sp>
        <p:nvSpPr>
          <p:cNvPr id="37" name="Shape 35"/>
          <p:cNvSpPr/>
          <p:nvPr/>
        </p:nvSpPr>
        <p:spPr>
          <a:xfrm>
            <a:off x="4151376" y="1641085"/>
            <a:ext cx="109728" cy="394768"/>
          </a:xfrm>
          <a:prstGeom prst="line">
            <a:avLst/>
          </a:prstGeom>
          <a:noFill/>
          <a:ln w="19050">
            <a:solidFill>
              <a:srgbClr val="2B6CB0"/>
            </a:solidFill>
            <a:prstDash val="solid"/>
          </a:ln>
        </p:spPr>
      </p:sp>
      <p:sp>
        <p:nvSpPr>
          <p:cNvPr id="38" name="Shape 36"/>
          <p:cNvSpPr/>
          <p:nvPr/>
        </p:nvSpPr>
        <p:spPr>
          <a:xfrm>
            <a:off x="4261104" y="2035852"/>
            <a:ext cx="109728" cy="564819"/>
          </a:xfrm>
          <a:prstGeom prst="line">
            <a:avLst/>
          </a:prstGeom>
          <a:noFill/>
          <a:ln w="19050">
            <a:solidFill>
              <a:srgbClr val="2B6CB0"/>
            </a:solidFill>
            <a:prstDash val="solid"/>
          </a:ln>
        </p:spPr>
      </p:sp>
      <p:sp>
        <p:nvSpPr>
          <p:cNvPr id="39" name="Shape 37"/>
          <p:cNvSpPr/>
          <p:nvPr/>
        </p:nvSpPr>
        <p:spPr>
          <a:xfrm flipV="1">
            <a:off x="4370832" y="1850259"/>
            <a:ext cx="109728" cy="750413"/>
          </a:xfrm>
          <a:prstGeom prst="line">
            <a:avLst/>
          </a:prstGeom>
          <a:noFill/>
          <a:ln w="19050">
            <a:solidFill>
              <a:srgbClr val="2B6CB0"/>
            </a:solidFill>
            <a:prstDash val="solid"/>
          </a:ln>
        </p:spPr>
      </p:sp>
      <p:sp>
        <p:nvSpPr>
          <p:cNvPr id="40" name="Shape 38"/>
          <p:cNvSpPr/>
          <p:nvPr/>
        </p:nvSpPr>
        <p:spPr>
          <a:xfrm flipV="1">
            <a:off x="4480560" y="1776020"/>
            <a:ext cx="109728" cy="74239"/>
          </a:xfrm>
          <a:prstGeom prst="line">
            <a:avLst/>
          </a:prstGeom>
          <a:noFill/>
          <a:ln w="19050">
            <a:solidFill>
              <a:srgbClr val="2B6CB0"/>
            </a:solidFill>
            <a:prstDash val="solid"/>
          </a:ln>
        </p:spPr>
      </p:sp>
      <p:sp>
        <p:nvSpPr>
          <p:cNvPr id="41" name="Shape 39"/>
          <p:cNvSpPr/>
          <p:nvPr/>
        </p:nvSpPr>
        <p:spPr>
          <a:xfrm>
            <a:off x="4590288" y="1776020"/>
            <a:ext cx="109728" cy="785380"/>
          </a:xfrm>
          <a:prstGeom prst="line">
            <a:avLst/>
          </a:prstGeom>
          <a:noFill/>
          <a:ln w="19050">
            <a:solidFill>
              <a:srgbClr val="2B6CB0"/>
            </a:solidFill>
            <a:prstDash val="solid"/>
          </a:ln>
        </p:spPr>
      </p:sp>
      <p:sp>
        <p:nvSpPr>
          <p:cNvPr id="42" name="Shape 40"/>
          <p:cNvSpPr/>
          <p:nvPr/>
        </p:nvSpPr>
        <p:spPr>
          <a:xfrm flipV="1">
            <a:off x="4700016" y="2130877"/>
            <a:ext cx="109728" cy="430524"/>
          </a:xfrm>
          <a:prstGeom prst="line">
            <a:avLst/>
          </a:prstGeom>
          <a:noFill/>
          <a:ln w="19050">
            <a:solidFill>
              <a:srgbClr val="2B6CB0"/>
            </a:solidFill>
            <a:prstDash val="solid"/>
          </a:ln>
        </p:spPr>
      </p:sp>
      <p:sp>
        <p:nvSpPr>
          <p:cNvPr id="43" name="Shape 41"/>
          <p:cNvSpPr/>
          <p:nvPr/>
        </p:nvSpPr>
        <p:spPr>
          <a:xfrm flipV="1">
            <a:off x="4809744" y="1634927"/>
            <a:ext cx="109728" cy="495950"/>
          </a:xfrm>
          <a:prstGeom prst="line">
            <a:avLst/>
          </a:prstGeom>
          <a:noFill/>
          <a:ln w="19050">
            <a:solidFill>
              <a:srgbClr val="2B6CB0"/>
            </a:solidFill>
            <a:prstDash val="solid"/>
          </a:ln>
        </p:spPr>
      </p:sp>
      <p:sp>
        <p:nvSpPr>
          <p:cNvPr id="44" name="Shape 42"/>
          <p:cNvSpPr/>
          <p:nvPr/>
        </p:nvSpPr>
        <p:spPr>
          <a:xfrm>
            <a:off x="4919472" y="1634927"/>
            <a:ext cx="109728" cy="740994"/>
          </a:xfrm>
          <a:prstGeom prst="line">
            <a:avLst/>
          </a:prstGeom>
          <a:noFill/>
          <a:ln w="19050">
            <a:solidFill>
              <a:srgbClr val="2B6CB0"/>
            </a:solidFill>
            <a:prstDash val="solid"/>
          </a:ln>
        </p:spPr>
      </p:sp>
      <p:sp>
        <p:nvSpPr>
          <p:cNvPr id="45" name="Shape 43"/>
          <p:cNvSpPr/>
          <p:nvPr/>
        </p:nvSpPr>
        <p:spPr>
          <a:xfrm>
            <a:off x="2377440" y="1536192"/>
            <a:ext cx="2651760" cy="0"/>
          </a:xfrm>
          <a:prstGeom prst="line">
            <a:avLst/>
          </a:prstGeom>
          <a:noFill/>
          <a:ln w="12700">
            <a:solidFill>
              <a:srgbClr val="D64545"/>
            </a:solidFill>
            <a:prstDash val="dash"/>
          </a:ln>
        </p:spPr>
      </p:sp>
      <p:sp>
        <p:nvSpPr>
          <p:cNvPr id="46" name="Shape 44"/>
          <p:cNvSpPr/>
          <p:nvPr/>
        </p:nvSpPr>
        <p:spPr>
          <a:xfrm>
            <a:off x="2377440" y="2670048"/>
            <a:ext cx="2651760" cy="0"/>
          </a:xfrm>
          <a:prstGeom prst="line">
            <a:avLst/>
          </a:prstGeom>
          <a:noFill/>
          <a:ln w="12700">
            <a:solidFill>
              <a:srgbClr val="D64545"/>
            </a:solidFill>
            <a:prstDash val="dash"/>
          </a:ln>
        </p:spPr>
      </p:sp>
      <p:sp>
        <p:nvSpPr>
          <p:cNvPr id="47" name="Shape 45"/>
          <p:cNvSpPr/>
          <p:nvPr/>
        </p:nvSpPr>
        <p:spPr>
          <a:xfrm>
            <a:off x="4709160" y="1536192"/>
            <a:ext cx="0" cy="1133856"/>
          </a:xfrm>
          <a:prstGeom prst="line">
            <a:avLst/>
          </a:prstGeom>
          <a:noFill/>
          <a:ln w="25400">
            <a:solidFill>
              <a:srgbClr val="D64545"/>
            </a:solidFill>
            <a:prstDash val="solid"/>
            <a:headEnd type="triangle"/>
            <a:tailEnd type="triangle"/>
          </a:ln>
        </p:spPr>
      </p:sp>
      <p:sp>
        <p:nvSpPr>
          <p:cNvPr id="48" name="Text 46"/>
          <p:cNvSpPr txBox="1"/>
          <p:nvPr/>
        </p:nvSpPr>
        <p:spPr>
          <a:xfrm>
            <a:off x="4160520" y="3035808"/>
            <a:ext cx="868680" cy="256032"/>
          </a:xfrm>
          <a:prstGeom prst="rect">
            <a:avLst/>
          </a:prstGeom>
          <a:noFill/>
          <a:ln/>
        </p:spPr>
        <p:txBody>
          <a:bodyPr wrap="square" lIns="0" tIns="0" rIns="0" bIns="0" rtlCol="0" anchor="ctr"/>
          <a:lstStyle/>
          <a:p>
            <a:pPr algn="ctr" indent="0" marL="0">
              <a:buNone/>
            </a:pPr>
            <a:r>
              <a:rPr lang="en-US" sz="1200" b="1" dirty="0">
                <a:solidFill>
                  <a:srgbClr val="D64545"/>
                </a:solidFill>
              </a:rPr>
              <a:t>the gap</a:t>
            </a:r>
            <a:endParaRPr lang="en-US" sz="1200" dirty="0"/>
          </a:p>
        </p:txBody>
      </p:sp>
      <p:sp>
        <p:nvSpPr>
          <p:cNvPr id="49" name="Text 47"/>
          <p:cNvSpPr txBox="1"/>
          <p:nvPr/>
        </p:nvSpPr>
        <p:spPr>
          <a:xfrm>
            <a:off x="685800" y="2706624"/>
            <a:ext cx="822960" cy="228600"/>
          </a:xfrm>
          <a:prstGeom prst="rect">
            <a:avLst/>
          </a:prstGeom>
          <a:noFill/>
          <a:ln/>
        </p:spPr>
        <p:txBody>
          <a:bodyPr wrap="square" lIns="0" tIns="0" rIns="0" bIns="0" rtlCol="0" anchor="ctr"/>
          <a:lstStyle/>
          <a:p>
            <a:pPr indent="0" marL="0">
              <a:buNone/>
            </a:pPr>
            <a:r>
              <a:rPr lang="en-US" sz="1100" i="1" dirty="0">
                <a:solidFill>
                  <a:srgbClr val="6B7280"/>
                </a:solidFill>
              </a:rPr>
              <a:t>quiet</a:t>
            </a:r>
            <a:endParaRPr lang="en-US" sz="1100" dirty="0"/>
          </a:p>
        </p:txBody>
      </p:sp>
      <p:sp>
        <p:nvSpPr>
          <p:cNvPr id="50" name="Text 48"/>
          <p:cNvSpPr txBox="1"/>
          <p:nvPr/>
        </p:nvSpPr>
        <p:spPr>
          <a:xfrm>
            <a:off x="2926080" y="2706624"/>
            <a:ext cx="1097280" cy="228600"/>
          </a:xfrm>
          <a:prstGeom prst="rect">
            <a:avLst/>
          </a:prstGeom>
          <a:noFill/>
          <a:ln/>
        </p:spPr>
        <p:txBody>
          <a:bodyPr wrap="square" lIns="0" tIns="0" rIns="0" bIns="0" rtlCol="0" anchor="ctr"/>
          <a:lstStyle/>
          <a:p>
            <a:pPr indent="0" marL="0">
              <a:buNone/>
            </a:pPr>
            <a:r>
              <a:rPr lang="en-US" sz="1100" i="1" dirty="0">
                <a:solidFill>
                  <a:srgbClr val="6B7280"/>
                </a:solidFill>
              </a:rPr>
              <a:t>talking</a:t>
            </a:r>
            <a:endParaRPr lang="en-US" sz="1100" dirty="0"/>
          </a:p>
        </p:txBody>
      </p:sp>
      <p:sp>
        <p:nvSpPr>
          <p:cNvPr id="51" name="Shape 49"/>
          <p:cNvSpPr/>
          <p:nvPr/>
        </p:nvSpPr>
        <p:spPr>
          <a:xfrm>
            <a:off x="5486400" y="1143000"/>
            <a:ext cx="868680" cy="292608"/>
          </a:xfrm>
          <a:prstGeom prst="roundRect">
            <a:avLst>
              <a:gd name="adj" fmla="val 18750"/>
            </a:avLst>
          </a:prstGeom>
          <a:solidFill>
            <a:srgbClr val="FFF1C2"/>
          </a:solidFill>
          <a:ln w="9525">
            <a:solidFill>
              <a:srgbClr val="E0A800"/>
            </a:solidFill>
            <a:prstDash val="solid"/>
          </a:ln>
        </p:spPr>
      </p:sp>
      <p:sp>
        <p:nvSpPr>
          <p:cNvPr id="52" name="Text 50"/>
          <p:cNvSpPr txBox="1"/>
          <p:nvPr/>
        </p:nvSpPr>
        <p:spPr>
          <a:xfrm>
            <a:off x="5486400" y="114300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what</a:t>
            </a:r>
            <a:endParaRPr lang="en-US" sz="1100" dirty="0"/>
          </a:p>
        </p:txBody>
      </p:sp>
      <p:sp>
        <p:nvSpPr>
          <p:cNvPr id="53" name="Text 51"/>
          <p:cNvSpPr txBox="1"/>
          <p:nvPr/>
        </p:nvSpPr>
        <p:spPr>
          <a:xfrm>
            <a:off x="6492240" y="1106424"/>
            <a:ext cx="2194560" cy="923544"/>
          </a:xfrm>
          <a:prstGeom prst="rect">
            <a:avLst/>
          </a:prstGeom>
          <a:noFill/>
          <a:ln/>
        </p:spPr>
        <p:txBody>
          <a:bodyPr wrap="square" lIns="0" tIns="0" rIns="0" bIns="0" rtlCol="0" anchor="t"/>
          <a:lstStyle/>
          <a:p>
            <a:pPr indent="0" marL="0">
              <a:buNone/>
            </a:pPr>
            <a:r>
              <a:rPr lang="en-US" sz="1400" dirty="0">
                <a:solidFill>
                  <a:srgbClr val="1B1B1B"/>
                </a:solidFill>
              </a:rPr>
              <a:t>A microphone reports where its diaphragm is, right now</a:t>
            </a:r>
            <a:endParaRPr lang="en-US" sz="1400" dirty="0"/>
          </a:p>
        </p:txBody>
      </p:sp>
      <p:sp>
        <p:nvSpPr>
          <p:cNvPr id="54" name="Shape 52"/>
          <p:cNvSpPr/>
          <p:nvPr/>
        </p:nvSpPr>
        <p:spPr>
          <a:xfrm>
            <a:off x="5486400" y="2103120"/>
            <a:ext cx="868680" cy="292608"/>
          </a:xfrm>
          <a:prstGeom prst="roundRect">
            <a:avLst>
              <a:gd name="adj" fmla="val 18750"/>
            </a:avLst>
          </a:prstGeom>
          <a:solidFill>
            <a:srgbClr val="FFF1C2"/>
          </a:solidFill>
          <a:ln w="9525">
            <a:solidFill>
              <a:srgbClr val="E0A800"/>
            </a:solidFill>
            <a:prstDash val="solid"/>
          </a:ln>
        </p:spPr>
      </p:sp>
      <p:sp>
        <p:nvSpPr>
          <p:cNvPr id="55" name="Text 53"/>
          <p:cNvSpPr txBox="1"/>
          <p:nvPr/>
        </p:nvSpPr>
        <p:spPr>
          <a:xfrm>
            <a:off x="5486400" y="210312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loud</a:t>
            </a:r>
            <a:endParaRPr lang="en-US" sz="1100" dirty="0"/>
          </a:p>
        </p:txBody>
      </p:sp>
      <p:sp>
        <p:nvSpPr>
          <p:cNvPr id="56" name="Text 54"/>
          <p:cNvSpPr txBox="1"/>
          <p:nvPr/>
        </p:nvSpPr>
        <p:spPr>
          <a:xfrm>
            <a:off x="6492240" y="2066544"/>
            <a:ext cx="2194560" cy="923544"/>
          </a:xfrm>
          <a:prstGeom prst="rect">
            <a:avLst/>
          </a:prstGeom>
          <a:noFill/>
          <a:ln/>
        </p:spPr>
        <p:txBody>
          <a:bodyPr wrap="square" lIns="0" tIns="0" rIns="0" bIns="0" rtlCol="0" anchor="t"/>
          <a:lstStyle/>
          <a:p>
            <a:pPr indent="0" marL="0">
              <a:buNone/>
            </a:pPr>
            <a:r>
              <a:rPr lang="en-US" sz="1400" dirty="0">
                <a:solidFill>
                  <a:srgbClr val="1B1B1B"/>
                </a:solidFill>
              </a:rPr>
              <a:t>means it swings further, not that the number gets bigger</a:t>
            </a:r>
            <a:endParaRPr lang="en-US" sz="1400" dirty="0"/>
          </a:p>
        </p:txBody>
      </p:sp>
      <p:sp>
        <p:nvSpPr>
          <p:cNvPr id="57" name="Shape 55"/>
          <p:cNvSpPr/>
          <p:nvPr/>
        </p:nvSpPr>
        <p:spPr>
          <a:xfrm>
            <a:off x="5486400" y="3063240"/>
            <a:ext cx="868680" cy="292608"/>
          </a:xfrm>
          <a:prstGeom prst="roundRect">
            <a:avLst>
              <a:gd name="adj" fmla="val 18750"/>
            </a:avLst>
          </a:prstGeom>
          <a:solidFill>
            <a:srgbClr val="FFF1C2"/>
          </a:solidFill>
          <a:ln w="9525">
            <a:solidFill>
              <a:srgbClr val="E0A800"/>
            </a:solidFill>
            <a:prstDash val="solid"/>
          </a:ln>
        </p:spPr>
      </p:sp>
      <p:sp>
        <p:nvSpPr>
          <p:cNvPr id="58" name="Text 56"/>
          <p:cNvSpPr txBox="1"/>
          <p:nvPr/>
        </p:nvSpPr>
        <p:spPr>
          <a:xfrm>
            <a:off x="5486400" y="306324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so</a:t>
            </a:r>
            <a:endParaRPr lang="en-US" sz="1100" dirty="0"/>
          </a:p>
        </p:txBody>
      </p:sp>
      <p:sp>
        <p:nvSpPr>
          <p:cNvPr id="59" name="Text 57"/>
          <p:cNvSpPr txBox="1"/>
          <p:nvPr/>
        </p:nvSpPr>
        <p:spPr>
          <a:xfrm>
            <a:off x="6492240" y="3026664"/>
            <a:ext cx="2194560" cy="923544"/>
          </a:xfrm>
          <a:prstGeom prst="rect">
            <a:avLst/>
          </a:prstGeom>
          <a:noFill/>
          <a:ln/>
        </p:spPr>
        <p:txBody>
          <a:bodyPr wrap="square" lIns="0" tIns="0" rIns="0" bIns="0" rtlCol="0" anchor="t"/>
          <a:lstStyle/>
          <a:p>
            <a:pPr indent="0" marL="0">
              <a:buNone/>
            </a:pPr>
            <a:r>
              <a:rPr lang="en-US" sz="1400" dirty="0">
                <a:solidFill>
                  <a:srgbClr val="1B1B1B"/>
                </a:solidFill>
              </a:rPr>
              <a:t>take 50 readings fast. Loudest minus quietest is the loudness</a:t>
            </a:r>
            <a:endParaRPr lang="en-US" sz="1400" dirty="0"/>
          </a:p>
        </p:txBody>
      </p:sp>
      <p:sp>
        <p:nvSpPr>
          <p:cNvPr id="60" name="Shape 58"/>
          <p:cNvSpPr/>
          <p:nvPr/>
        </p:nvSpPr>
        <p:spPr>
          <a:xfrm>
            <a:off x="548640" y="3246120"/>
            <a:ext cx="4572000" cy="868680"/>
          </a:xfrm>
          <a:prstGeom prst="roundRect">
            <a:avLst>
              <a:gd name="adj" fmla="val 8421"/>
            </a:avLst>
          </a:prstGeom>
          <a:solidFill>
            <a:srgbClr val="0B3D2E"/>
          </a:solidFill>
          <a:ln w="12700">
            <a:solidFill>
              <a:srgbClr val="0B3D2E"/>
            </a:solidFill>
            <a:prstDash val="solid"/>
          </a:ln>
        </p:spPr>
      </p:sp>
      <p:sp>
        <p:nvSpPr>
          <p:cNvPr id="61" name="Text 59"/>
          <p:cNvSpPr txBox="1"/>
          <p:nvPr/>
        </p:nvSpPr>
        <p:spPr>
          <a:xfrm>
            <a:off x="777240" y="3246120"/>
            <a:ext cx="4114800" cy="868680"/>
          </a:xfrm>
          <a:prstGeom prst="rect">
            <a:avLst/>
          </a:prstGeom>
          <a:noFill/>
          <a:ln/>
        </p:spPr>
        <p:txBody>
          <a:bodyPr wrap="square" lIns="0" tIns="0" rIns="0" bIns="0" rtlCol="0" anchor="ctr"/>
          <a:lstStyle/>
          <a:p>
            <a:pPr indent="0" marL="0">
              <a:buNone/>
            </a:pPr>
            <a:r>
              <a:rPr lang="en-US" sz="1500" b="1" dirty="0">
                <a:solidFill>
                  <a:srgbClr val="FFFFFF"/>
                </a:solidFill>
              </a:rPr>
              <a:t>A single reading is a photograph of a moving thing. You need the whole swing.</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Step 0b: run the three part tests</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0b</a:t>
            </a:r>
            <a:endParaRPr lang="en-US" sz="2000" dirty="0"/>
          </a:p>
        </p:txBody>
      </p:sp>
      <p:sp>
        <p:nvSpPr>
          <p:cNvPr id="6" name="Shape 4"/>
          <p:cNvSpPr/>
          <p:nvPr/>
        </p:nvSpPr>
        <p:spPr>
          <a:xfrm>
            <a:off x="457200" y="1005840"/>
            <a:ext cx="4846320" cy="3017520"/>
          </a:xfrm>
          <a:prstGeom prst="roundRect">
            <a:avLst>
              <a:gd name="adj" fmla="val 2424"/>
            </a:avLst>
          </a:prstGeom>
          <a:solidFill>
            <a:srgbClr val="1E1E1E"/>
          </a:solidFill>
          <a:ln w="12700">
            <a:solidFill>
              <a:srgbClr val="3A3A3A"/>
            </a:solidFill>
            <a:prstDash val="solid"/>
          </a:ln>
        </p:spPr>
      </p:sp>
      <p:sp>
        <p:nvSpPr>
          <p:cNvPr id="7" name="Shape 5"/>
          <p:cNvSpPr/>
          <p:nvPr/>
        </p:nvSpPr>
        <p:spPr>
          <a:xfrm>
            <a:off x="594360" y="1097280"/>
            <a:ext cx="118872" cy="118872"/>
          </a:xfrm>
          <a:prstGeom prst="ellipse">
            <a:avLst/>
          </a:prstGeom>
          <a:solidFill>
            <a:srgbClr val="FF5F57"/>
          </a:solidFill>
          <a:ln w="12700">
            <a:solidFill>
              <a:srgbClr val="FF5F57"/>
            </a:solidFill>
            <a:prstDash val="solid"/>
          </a:ln>
        </p:spPr>
      </p:sp>
      <p:sp>
        <p:nvSpPr>
          <p:cNvPr id="8" name="Shape 6"/>
          <p:cNvSpPr/>
          <p:nvPr/>
        </p:nvSpPr>
        <p:spPr>
          <a:xfrm>
            <a:off x="777240" y="1097280"/>
            <a:ext cx="118872" cy="118872"/>
          </a:xfrm>
          <a:prstGeom prst="ellipse">
            <a:avLst/>
          </a:prstGeom>
          <a:solidFill>
            <a:srgbClr val="FEBC2E"/>
          </a:solidFill>
          <a:ln w="12700">
            <a:solidFill>
              <a:srgbClr val="FEBC2E"/>
            </a:solidFill>
            <a:prstDash val="solid"/>
          </a:ln>
        </p:spPr>
      </p:sp>
      <p:sp>
        <p:nvSpPr>
          <p:cNvPr id="9" name="Shape 7"/>
          <p:cNvSpPr/>
          <p:nvPr/>
        </p:nvSpPr>
        <p:spPr>
          <a:xfrm>
            <a:off x="960120" y="1097280"/>
            <a:ext cx="118872" cy="118872"/>
          </a:xfrm>
          <a:prstGeom prst="ellipse">
            <a:avLst/>
          </a:prstGeom>
          <a:solidFill>
            <a:srgbClr val="28C840"/>
          </a:solidFill>
          <a:ln w="12700">
            <a:solidFill>
              <a:srgbClr val="28C840"/>
            </a:solidFill>
            <a:prstDash val="solid"/>
          </a:ln>
        </p:spPr>
      </p:sp>
      <p:sp>
        <p:nvSpPr>
          <p:cNvPr id="10" name="Text 8"/>
          <p:cNvSpPr txBox="1"/>
          <p:nvPr/>
        </p:nvSpPr>
        <p:spPr>
          <a:xfrm>
            <a:off x="457200" y="1060704"/>
            <a:ext cx="4846320" cy="201168"/>
          </a:xfrm>
          <a:prstGeom prst="rect">
            <a:avLst/>
          </a:prstGeom>
          <a:noFill/>
          <a:ln/>
        </p:spPr>
        <p:txBody>
          <a:bodyPr wrap="square" lIns="0" tIns="0" rIns="0" bIns="0" rtlCol="0" anchor="ctr"/>
          <a:lstStyle/>
          <a:p>
            <a:pPr algn="ctr" indent="0" marL="0">
              <a:buNone/>
            </a:pPr>
            <a:r>
              <a:rPr lang="en-US" sz="1000" dirty="0">
                <a:solidFill>
                  <a:srgbClr val="9E9E9E"/>
                </a:solidFill>
              </a:rPr>
              <a:t>Terminal</a:t>
            </a:r>
            <a:endParaRPr lang="en-US" sz="1000" dirty="0"/>
          </a:p>
        </p:txBody>
      </p:sp>
      <p:sp>
        <p:nvSpPr>
          <p:cNvPr id="11" name="Text 9"/>
          <p:cNvSpPr txBox="1"/>
          <p:nvPr/>
        </p:nvSpPr>
        <p:spPr>
          <a:xfrm>
            <a:off x="621792" y="1353312"/>
            <a:ext cx="4517136" cy="2560320"/>
          </a:xfrm>
          <a:prstGeom prst="rect">
            <a:avLst/>
          </a:prstGeom>
          <a:noFill/>
          <a:ln/>
        </p:spPr>
        <p:txBody>
          <a:bodyPr wrap="square" lIns="0" tIns="0" rIns="0" bIns="0" rtlCol="0" anchor="t"/>
          <a:lstStyle/>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TEST 1 of 3: the LEDs, one at a time.</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LED on GPIO 16</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LED on GPIO 17</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a:t>
            </a:r>
            <a:endParaRPr lang="en-US" sz="1100" dirty="0"/>
          </a:p>
          <a:p>
            <a:pPr indent="0" marL="0">
              <a:spcAft>
                <a:spcPts val="200"/>
              </a:spcAft>
              <a:buNone/>
            </a:pP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TEST 2 of 3: the sensor, in silence.</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lowest: 4  highest: 37  gap: </a:t>
            </a:r>
            <a:pPr indent="0" marL="0">
              <a:spcAft>
                <a:spcPts val="200"/>
              </a:spcAft>
              <a:buNone/>
            </a:pPr>
            <a:r>
              <a:rPr lang="en-US" sz="1100" b="1" dirty="0">
                <a:solidFill>
                  <a:srgbClr val="F2A900"/>
                </a:solidFill>
                <a:latin typeface="Courier New" pitchFamily="34" charset="0"/>
                <a:ea typeface="Courier New" pitchFamily="34" charset="-122"/>
                <a:cs typeface="Courier New" pitchFamily="34" charset="-120"/>
              </a:rPr>
              <a:t>33</a:t>
            </a:r>
            <a:endParaRPr lang="en-US" sz="1100" dirty="0"/>
          </a:p>
          <a:p>
            <a:pPr indent="0" marL="0">
              <a:spcAft>
                <a:spcPts val="200"/>
              </a:spcAft>
              <a:buNone/>
            </a:pP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TEST 3 of 3: the sensor, with noise.</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lowest: 5  highest: 1690  gap: </a:t>
            </a:r>
            <a:pPr indent="0" marL="0">
              <a:spcAft>
                <a:spcPts val="200"/>
              </a:spcAft>
              <a:buNone/>
            </a:pPr>
            <a:r>
              <a:rPr lang="en-US" sz="1100" b="1" dirty="0">
                <a:solidFill>
                  <a:srgbClr val="F2A900"/>
                </a:solidFill>
                <a:latin typeface="Courier New" pitchFamily="34" charset="0"/>
                <a:ea typeface="Courier New" pitchFamily="34" charset="-122"/>
                <a:cs typeface="Courier New" pitchFamily="34" charset="-120"/>
              </a:rPr>
              <a:t>1685</a:t>
            </a:r>
            <a:endParaRPr lang="en-US" sz="1100" dirty="0"/>
          </a:p>
        </p:txBody>
      </p:sp>
      <p:sp>
        <p:nvSpPr>
          <p:cNvPr id="12" name="Shape 10"/>
          <p:cNvSpPr/>
          <p:nvPr/>
        </p:nvSpPr>
        <p:spPr>
          <a:xfrm>
            <a:off x="5577840" y="1069848"/>
            <a:ext cx="329184" cy="329184"/>
          </a:xfrm>
          <a:prstGeom prst="ellipse">
            <a:avLst/>
          </a:prstGeom>
          <a:solidFill>
            <a:srgbClr val="F2A900"/>
          </a:solidFill>
          <a:ln w="12700">
            <a:solidFill>
              <a:srgbClr val="C98C00"/>
            </a:solidFill>
            <a:prstDash val="solid"/>
          </a:ln>
        </p:spPr>
      </p:sp>
      <p:sp>
        <p:nvSpPr>
          <p:cNvPr id="13" name="Text 11"/>
          <p:cNvSpPr txBox="1"/>
          <p:nvPr/>
        </p:nvSpPr>
        <p:spPr>
          <a:xfrm>
            <a:off x="5577840" y="106984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1</a:t>
            </a:r>
            <a:endParaRPr lang="en-US" sz="1300" dirty="0"/>
          </a:p>
        </p:txBody>
      </p:sp>
      <p:sp>
        <p:nvSpPr>
          <p:cNvPr id="14" name="Text 12"/>
          <p:cNvSpPr txBox="1"/>
          <p:nvPr/>
        </p:nvSpPr>
        <p:spPr>
          <a:xfrm>
            <a:off x="6035040" y="1051560"/>
            <a:ext cx="2651760" cy="384048"/>
          </a:xfrm>
          <a:prstGeom prst="rect">
            <a:avLst/>
          </a:prstGeom>
          <a:noFill/>
          <a:ln/>
        </p:spPr>
        <p:txBody>
          <a:bodyPr wrap="square" lIns="0" tIns="0" rIns="0" bIns="0" rtlCol="0" anchor="ctr"/>
          <a:lstStyle/>
          <a:p>
            <a:pPr indent="0" marL="0">
              <a:buNone/>
            </a:pPr>
            <a:r>
              <a:rPr lang="en-US" sz="1500" dirty="0">
                <a:solidFill>
                  <a:srgbClr val="1B1B1B"/>
                </a:solidFill>
              </a:rPr>
              <a:t>All 5 LEDs lit? If not, that LED or its resistor</a:t>
            </a:r>
            <a:endParaRPr lang="en-US" sz="1500" dirty="0"/>
          </a:p>
        </p:txBody>
      </p:sp>
      <p:sp>
        <p:nvSpPr>
          <p:cNvPr id="15" name="Shape 13"/>
          <p:cNvSpPr/>
          <p:nvPr/>
        </p:nvSpPr>
        <p:spPr>
          <a:xfrm>
            <a:off x="5577840" y="1801368"/>
            <a:ext cx="329184" cy="329184"/>
          </a:xfrm>
          <a:prstGeom prst="ellipse">
            <a:avLst/>
          </a:prstGeom>
          <a:solidFill>
            <a:srgbClr val="F2A900"/>
          </a:solidFill>
          <a:ln w="12700">
            <a:solidFill>
              <a:srgbClr val="C98C00"/>
            </a:solidFill>
            <a:prstDash val="solid"/>
          </a:ln>
        </p:spPr>
      </p:sp>
      <p:sp>
        <p:nvSpPr>
          <p:cNvPr id="16" name="Text 14"/>
          <p:cNvSpPr txBox="1"/>
          <p:nvPr/>
        </p:nvSpPr>
        <p:spPr>
          <a:xfrm>
            <a:off x="5577840" y="18013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2</a:t>
            </a:r>
            <a:endParaRPr lang="en-US" sz="1300" dirty="0"/>
          </a:p>
        </p:txBody>
      </p:sp>
      <p:sp>
        <p:nvSpPr>
          <p:cNvPr id="17" name="Text 15"/>
          <p:cNvSpPr txBox="1"/>
          <p:nvPr/>
        </p:nvSpPr>
        <p:spPr>
          <a:xfrm>
            <a:off x="6035040" y="1783080"/>
            <a:ext cx="2651760" cy="384048"/>
          </a:xfrm>
          <a:prstGeom prst="rect">
            <a:avLst/>
          </a:prstGeom>
          <a:noFill/>
          <a:ln/>
        </p:spPr>
        <p:txBody>
          <a:bodyPr wrap="square" lIns="0" tIns="0" rIns="0" bIns="0" rtlCol="0" anchor="ctr"/>
          <a:lstStyle/>
          <a:p>
            <a:pPr indent="0" marL="0">
              <a:buNone/>
            </a:pPr>
            <a:r>
              <a:rPr lang="en-US" sz="1500" dirty="0">
                <a:solidFill>
                  <a:srgbClr val="1B1B1B"/>
                </a:solidFill>
              </a:rPr>
              <a:t>Quiet gap under about 60? If not, turn the screw back</a:t>
            </a:r>
            <a:endParaRPr lang="en-US" sz="1500" dirty="0"/>
          </a:p>
        </p:txBody>
      </p:sp>
      <p:sp>
        <p:nvSpPr>
          <p:cNvPr id="18" name="Shape 16"/>
          <p:cNvSpPr/>
          <p:nvPr/>
        </p:nvSpPr>
        <p:spPr>
          <a:xfrm>
            <a:off x="5577840" y="2532888"/>
            <a:ext cx="329184" cy="329184"/>
          </a:xfrm>
          <a:prstGeom prst="ellipse">
            <a:avLst/>
          </a:prstGeom>
          <a:solidFill>
            <a:srgbClr val="F2A900"/>
          </a:solidFill>
          <a:ln w="12700">
            <a:solidFill>
              <a:srgbClr val="C98C00"/>
            </a:solidFill>
            <a:prstDash val="solid"/>
          </a:ln>
        </p:spPr>
      </p:sp>
      <p:sp>
        <p:nvSpPr>
          <p:cNvPr id="19" name="Text 17"/>
          <p:cNvSpPr txBox="1"/>
          <p:nvPr/>
        </p:nvSpPr>
        <p:spPr>
          <a:xfrm>
            <a:off x="5577840" y="253288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3</a:t>
            </a:r>
            <a:endParaRPr lang="en-US" sz="1300" dirty="0"/>
          </a:p>
        </p:txBody>
      </p:sp>
      <p:sp>
        <p:nvSpPr>
          <p:cNvPr id="20" name="Text 18"/>
          <p:cNvSpPr txBox="1"/>
          <p:nvPr/>
        </p:nvSpPr>
        <p:spPr>
          <a:xfrm>
            <a:off x="6035040" y="2514600"/>
            <a:ext cx="2651760" cy="384048"/>
          </a:xfrm>
          <a:prstGeom prst="rect">
            <a:avLst/>
          </a:prstGeom>
          <a:noFill/>
          <a:ln/>
        </p:spPr>
        <p:txBody>
          <a:bodyPr wrap="square" lIns="0" tIns="0" rIns="0" bIns="0" rtlCol="0" anchor="ctr"/>
          <a:lstStyle/>
          <a:p>
            <a:pPr indent="0" marL="0">
              <a:buNone/>
            </a:pPr>
            <a:r>
              <a:rPr lang="en-US" sz="1500" dirty="0">
                <a:solidFill>
                  <a:srgbClr val="1B1B1B"/>
                </a:solidFill>
              </a:rPr>
              <a:t>Clap gap in the hundreds? If not, check S, then the screw</a:t>
            </a:r>
            <a:endParaRPr lang="en-US" sz="1500" dirty="0"/>
          </a:p>
        </p:txBody>
      </p:sp>
      <p:sp>
        <p:nvSpPr>
          <p:cNvPr id="21" name="Shape 19"/>
          <p:cNvSpPr/>
          <p:nvPr/>
        </p:nvSpPr>
        <p:spPr>
          <a:xfrm>
            <a:off x="5577840" y="3337560"/>
            <a:ext cx="3108960" cy="457200"/>
          </a:xfrm>
          <a:prstGeom prst="roundRect">
            <a:avLst>
              <a:gd name="adj" fmla="val 16000"/>
            </a:avLst>
          </a:prstGeom>
          <a:solidFill>
            <a:srgbClr val="DDF3E9"/>
          </a:solidFill>
          <a:ln w="15875">
            <a:solidFill>
              <a:srgbClr val="1F8A70"/>
            </a:solidFill>
            <a:prstDash val="solid"/>
          </a:ln>
        </p:spPr>
      </p:sp>
      <p:sp>
        <p:nvSpPr>
          <p:cNvPr id="22" name="Text 20"/>
          <p:cNvSpPr txBox="1"/>
          <p:nvPr/>
        </p:nvSpPr>
        <p:spPr>
          <a:xfrm>
            <a:off x="5715000" y="3337560"/>
            <a:ext cx="2834640" cy="45720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All three tests pass.</a:t>
            </a:r>
            <a:endParaRPr lang="en-US" sz="1400" dirty="0"/>
          </a:p>
        </p:txBody>
      </p:sp>
      <p:sp>
        <p:nvSpPr>
          <p:cNvPr id="23" name="Text 21"/>
          <p:cNvSpPr txBox="1"/>
          <p:nvPr/>
        </p:nvSpPr>
        <p:spPr>
          <a:xfrm>
            <a:off x="5577840" y="3886200"/>
            <a:ext cx="3108960" cy="548640"/>
          </a:xfrm>
          <a:prstGeom prst="rect">
            <a:avLst/>
          </a:prstGeom>
          <a:noFill/>
          <a:ln/>
        </p:spPr>
        <p:txBody>
          <a:bodyPr wrap="square" lIns="0" tIns="0" rIns="0" bIns="0" rtlCol="0" anchor="ctr"/>
          <a:lstStyle/>
          <a:p>
            <a:pPr indent="0" marL="0">
              <a:buNone/>
            </a:pPr>
            <a:r>
              <a:rPr lang="en-US" sz="1300" b="1" i="1" dirty="0">
                <a:solidFill>
                  <a:srgbClr val="1F8A70"/>
                </a:solidFill>
              </a:rPr>
              <a:t>Pass all three, and any bug after this is in your code, not your wiring.</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Test the parts, not the whole</a:t>
            </a:r>
            <a:endParaRPr lang="en-US" sz="3000" dirty="0"/>
          </a:p>
        </p:txBody>
      </p:sp>
      <p:sp>
        <p:nvSpPr>
          <p:cNvPr id="3" name="Shape 1"/>
          <p:cNvSpPr/>
          <p:nvPr/>
        </p:nvSpPr>
        <p:spPr>
          <a:xfrm>
            <a:off x="548640" y="1143000"/>
            <a:ext cx="2377440" cy="1554480"/>
          </a:xfrm>
          <a:prstGeom prst="roundRect">
            <a:avLst>
              <a:gd name="adj" fmla="val 5882"/>
            </a:avLst>
          </a:prstGeom>
          <a:solidFill>
            <a:srgbClr val="FFFFFF"/>
          </a:solidFill>
          <a:ln w="22225">
            <a:solidFill>
              <a:srgbClr val="2B6CB0"/>
            </a:solidFill>
            <a:prstDash val="solid"/>
          </a:ln>
        </p:spPr>
      </p:sp>
      <p:sp>
        <p:nvSpPr>
          <p:cNvPr id="4" name="Text 2"/>
          <p:cNvSpPr txBox="1"/>
          <p:nvPr/>
        </p:nvSpPr>
        <p:spPr>
          <a:xfrm>
            <a:off x="685800" y="1261872"/>
            <a:ext cx="2103120" cy="320040"/>
          </a:xfrm>
          <a:prstGeom prst="rect">
            <a:avLst/>
          </a:prstGeom>
          <a:noFill/>
          <a:ln/>
        </p:spPr>
        <p:txBody>
          <a:bodyPr wrap="square" lIns="0" tIns="0" rIns="0" bIns="0" rtlCol="0" anchor="ctr"/>
          <a:lstStyle/>
          <a:p>
            <a:pPr indent="0" marL="0">
              <a:buNone/>
            </a:pPr>
            <a:r>
              <a:rPr lang="en-US" sz="1500" b="1" dirty="0">
                <a:solidFill>
                  <a:srgbClr val="2B6CB0"/>
                </a:solidFill>
              </a:rPr>
              <a:t>INPUT</a:t>
            </a:r>
            <a:endParaRPr lang="en-US" sz="1500" dirty="0"/>
          </a:p>
        </p:txBody>
      </p:sp>
      <p:sp>
        <p:nvSpPr>
          <p:cNvPr id="5" name="Text 3"/>
          <p:cNvSpPr txBox="1"/>
          <p:nvPr/>
        </p:nvSpPr>
        <p:spPr>
          <a:xfrm>
            <a:off x="685800" y="1600200"/>
            <a:ext cx="2103120" cy="320040"/>
          </a:xfrm>
          <a:prstGeom prst="rect">
            <a:avLst/>
          </a:prstGeom>
          <a:noFill/>
          <a:ln/>
        </p:spPr>
        <p:txBody>
          <a:bodyPr wrap="square" lIns="0" tIns="0" rIns="0" bIns="0" rtlCol="0" anchor="ctr"/>
          <a:lstStyle/>
          <a:p>
            <a:pPr indent="0" marL="0">
              <a:buNone/>
            </a:pPr>
            <a:r>
              <a:rPr lang="en-US" sz="1500" dirty="0">
                <a:solidFill>
                  <a:srgbClr val="1B1B1B"/>
                </a:solidFill>
              </a:rPr>
              <a:t>the sensor</a:t>
            </a:r>
            <a:endParaRPr lang="en-US" sz="1500" dirty="0"/>
          </a:p>
        </p:txBody>
      </p:sp>
      <p:sp>
        <p:nvSpPr>
          <p:cNvPr id="6" name="Text 4"/>
          <p:cNvSpPr txBox="1"/>
          <p:nvPr/>
        </p:nvSpPr>
        <p:spPr>
          <a:xfrm>
            <a:off x="685800" y="1956816"/>
            <a:ext cx="2103120" cy="228600"/>
          </a:xfrm>
          <a:prstGeom prst="rect">
            <a:avLst/>
          </a:prstGeom>
          <a:noFill/>
          <a:ln/>
        </p:spPr>
        <p:txBody>
          <a:bodyPr wrap="square" lIns="0" tIns="0" rIns="0" bIns="0" rtlCol="0" anchor="ctr"/>
          <a:lstStyle/>
          <a:p>
            <a:pPr indent="0" marL="0">
              <a:buNone/>
            </a:pPr>
            <a:r>
              <a:rPr lang="en-US" sz="1100" i="1" dirty="0">
                <a:solidFill>
                  <a:srgbClr val="6B7280"/>
                </a:solidFill>
              </a:rPr>
              <a:t>test it alone:</a:t>
            </a:r>
            <a:endParaRPr lang="en-US" sz="1100" dirty="0"/>
          </a:p>
        </p:txBody>
      </p:sp>
      <p:sp>
        <p:nvSpPr>
          <p:cNvPr id="7" name="Text 5"/>
          <p:cNvSpPr txBox="1"/>
          <p:nvPr/>
        </p:nvSpPr>
        <p:spPr>
          <a:xfrm>
            <a:off x="685800" y="2194560"/>
            <a:ext cx="2103120" cy="411480"/>
          </a:xfrm>
          <a:prstGeom prst="rect">
            <a:avLst/>
          </a:prstGeom>
          <a:noFill/>
          <a:ln/>
        </p:spPr>
        <p:txBody>
          <a:bodyPr wrap="square" lIns="0" tIns="0" rIns="0" bIns="0" rtlCol="0" anchor="t"/>
          <a:lstStyle/>
          <a:p>
            <a:pPr indent="0" marL="0">
              <a:buNone/>
            </a:pPr>
            <a:r>
              <a:rPr lang="en-US" sz="1100" b="1" dirty="0">
                <a:solidFill>
                  <a:srgbClr val="0B3D2E"/>
                </a:solidFill>
                <a:latin typeface="Courier New" pitchFamily="34" charset="0"/>
                <a:ea typeface="Courier New" pitchFamily="34" charset="-122"/>
                <a:cs typeface="Courier New" pitchFamily="34" charset="-120"/>
              </a:rPr>
              <a:t>Step 0b, tests 2 and 3</a:t>
            </a:r>
            <a:endParaRPr lang="en-US" sz="1100" dirty="0"/>
          </a:p>
        </p:txBody>
      </p:sp>
      <p:sp>
        <p:nvSpPr>
          <p:cNvPr id="8" name="Shape 6"/>
          <p:cNvSpPr/>
          <p:nvPr/>
        </p:nvSpPr>
        <p:spPr>
          <a:xfrm>
            <a:off x="2953512" y="1920240"/>
            <a:ext cx="301752" cy="0"/>
          </a:xfrm>
          <a:prstGeom prst="line">
            <a:avLst/>
          </a:prstGeom>
          <a:noFill/>
          <a:ln w="25400">
            <a:solidFill>
              <a:srgbClr val="6B7280"/>
            </a:solidFill>
            <a:prstDash val="solid"/>
            <a:tailEnd type="triangle"/>
          </a:ln>
        </p:spPr>
      </p:sp>
      <p:sp>
        <p:nvSpPr>
          <p:cNvPr id="9" name="Shape 7"/>
          <p:cNvSpPr/>
          <p:nvPr/>
        </p:nvSpPr>
        <p:spPr>
          <a:xfrm>
            <a:off x="3291840" y="1143000"/>
            <a:ext cx="2377440" cy="1554480"/>
          </a:xfrm>
          <a:prstGeom prst="roundRect">
            <a:avLst>
              <a:gd name="adj" fmla="val 5882"/>
            </a:avLst>
          </a:prstGeom>
          <a:solidFill>
            <a:srgbClr val="FFFFFF"/>
          </a:solidFill>
          <a:ln w="22225">
            <a:solidFill>
              <a:srgbClr val="C98C00"/>
            </a:solidFill>
            <a:prstDash val="solid"/>
          </a:ln>
        </p:spPr>
      </p:sp>
      <p:sp>
        <p:nvSpPr>
          <p:cNvPr id="10" name="Text 8"/>
          <p:cNvSpPr txBox="1"/>
          <p:nvPr/>
        </p:nvSpPr>
        <p:spPr>
          <a:xfrm>
            <a:off x="3429000" y="1261872"/>
            <a:ext cx="2103120" cy="320040"/>
          </a:xfrm>
          <a:prstGeom prst="rect">
            <a:avLst/>
          </a:prstGeom>
          <a:noFill/>
          <a:ln/>
        </p:spPr>
        <p:txBody>
          <a:bodyPr wrap="square" lIns="0" tIns="0" rIns="0" bIns="0" rtlCol="0" anchor="ctr"/>
          <a:lstStyle/>
          <a:p>
            <a:pPr indent="0" marL="0">
              <a:buNone/>
            </a:pPr>
            <a:r>
              <a:rPr lang="en-US" sz="1500" b="1" dirty="0">
                <a:solidFill>
                  <a:srgbClr val="C98C00"/>
                </a:solidFill>
              </a:rPr>
              <a:t>DECIDE</a:t>
            </a:r>
            <a:endParaRPr lang="en-US" sz="1500" dirty="0"/>
          </a:p>
        </p:txBody>
      </p:sp>
      <p:sp>
        <p:nvSpPr>
          <p:cNvPr id="11" name="Text 9"/>
          <p:cNvSpPr txBox="1"/>
          <p:nvPr/>
        </p:nvSpPr>
        <p:spPr>
          <a:xfrm>
            <a:off x="3429000" y="1600200"/>
            <a:ext cx="2103120" cy="320040"/>
          </a:xfrm>
          <a:prstGeom prst="rect">
            <a:avLst/>
          </a:prstGeom>
          <a:noFill/>
          <a:ln/>
        </p:spPr>
        <p:txBody>
          <a:bodyPr wrap="square" lIns="0" tIns="0" rIns="0" bIns="0" rtlCol="0" anchor="ctr"/>
          <a:lstStyle/>
          <a:p>
            <a:pPr indent="0" marL="0">
              <a:buNone/>
            </a:pPr>
            <a:r>
              <a:rPr lang="en-US" sz="1500" dirty="0">
                <a:solidFill>
                  <a:srgbClr val="1B1B1B"/>
                </a:solidFill>
              </a:rPr>
              <a:t>your function</a:t>
            </a:r>
            <a:endParaRPr lang="en-US" sz="1500" dirty="0"/>
          </a:p>
        </p:txBody>
      </p:sp>
      <p:sp>
        <p:nvSpPr>
          <p:cNvPr id="12" name="Text 10"/>
          <p:cNvSpPr txBox="1"/>
          <p:nvPr/>
        </p:nvSpPr>
        <p:spPr>
          <a:xfrm>
            <a:off x="3429000" y="1956816"/>
            <a:ext cx="2103120" cy="228600"/>
          </a:xfrm>
          <a:prstGeom prst="rect">
            <a:avLst/>
          </a:prstGeom>
          <a:noFill/>
          <a:ln/>
        </p:spPr>
        <p:txBody>
          <a:bodyPr wrap="square" lIns="0" tIns="0" rIns="0" bIns="0" rtlCol="0" anchor="ctr"/>
          <a:lstStyle/>
          <a:p>
            <a:pPr indent="0" marL="0">
              <a:buNone/>
            </a:pPr>
            <a:r>
              <a:rPr lang="en-US" sz="1100" i="1" dirty="0">
                <a:solidFill>
                  <a:srgbClr val="6B7280"/>
                </a:solidFill>
              </a:rPr>
              <a:t>test it alone:</a:t>
            </a:r>
            <a:endParaRPr lang="en-US" sz="1100" dirty="0"/>
          </a:p>
        </p:txBody>
      </p:sp>
      <p:sp>
        <p:nvSpPr>
          <p:cNvPr id="13" name="Text 11"/>
          <p:cNvSpPr txBox="1"/>
          <p:nvPr/>
        </p:nvSpPr>
        <p:spPr>
          <a:xfrm>
            <a:off x="3429000" y="2194560"/>
            <a:ext cx="2103120" cy="411480"/>
          </a:xfrm>
          <a:prstGeom prst="rect">
            <a:avLst/>
          </a:prstGeom>
          <a:noFill/>
          <a:ln/>
        </p:spPr>
        <p:txBody>
          <a:bodyPr wrap="square" lIns="0" tIns="0" rIns="0" bIns="0" rtlCol="0" anchor="t"/>
          <a:lstStyle/>
          <a:p>
            <a:pPr indent="0" marL="0">
              <a:buNone/>
            </a:pPr>
            <a:r>
              <a:rPr lang="en-US" sz="1100" b="1" dirty="0">
                <a:solidFill>
                  <a:srgbClr val="0B3D2E"/>
                </a:solidFill>
                <a:latin typeface="Courier New" pitchFamily="34" charset="0"/>
                <a:ea typeface="Courier New" pitchFamily="34" charset="-122"/>
                <a:cs typeface="Courier New" pitchFamily="34" charset="-120"/>
              </a:rPr>
              <a:t>print(level_for(500))</a:t>
            </a:r>
            <a:endParaRPr lang="en-US" sz="1100" dirty="0"/>
          </a:p>
        </p:txBody>
      </p:sp>
      <p:sp>
        <p:nvSpPr>
          <p:cNvPr id="14" name="Shape 12"/>
          <p:cNvSpPr/>
          <p:nvPr/>
        </p:nvSpPr>
        <p:spPr>
          <a:xfrm>
            <a:off x="5696712" y="1920240"/>
            <a:ext cx="301752" cy="0"/>
          </a:xfrm>
          <a:prstGeom prst="line">
            <a:avLst/>
          </a:prstGeom>
          <a:noFill/>
          <a:ln w="25400">
            <a:solidFill>
              <a:srgbClr val="6B7280"/>
            </a:solidFill>
            <a:prstDash val="solid"/>
            <a:tailEnd type="triangle"/>
          </a:ln>
        </p:spPr>
      </p:sp>
      <p:sp>
        <p:nvSpPr>
          <p:cNvPr id="15" name="Shape 13"/>
          <p:cNvSpPr/>
          <p:nvPr/>
        </p:nvSpPr>
        <p:spPr>
          <a:xfrm>
            <a:off x="6035040" y="1143000"/>
            <a:ext cx="2377440" cy="1554480"/>
          </a:xfrm>
          <a:prstGeom prst="roundRect">
            <a:avLst>
              <a:gd name="adj" fmla="val 5882"/>
            </a:avLst>
          </a:prstGeom>
          <a:solidFill>
            <a:srgbClr val="FFFFFF"/>
          </a:solidFill>
          <a:ln w="22225">
            <a:solidFill>
              <a:srgbClr val="1F8A70"/>
            </a:solidFill>
            <a:prstDash val="solid"/>
          </a:ln>
        </p:spPr>
      </p:sp>
      <p:sp>
        <p:nvSpPr>
          <p:cNvPr id="16" name="Text 14"/>
          <p:cNvSpPr txBox="1"/>
          <p:nvPr/>
        </p:nvSpPr>
        <p:spPr>
          <a:xfrm>
            <a:off x="6172200" y="1261872"/>
            <a:ext cx="2103120" cy="320040"/>
          </a:xfrm>
          <a:prstGeom prst="rect">
            <a:avLst/>
          </a:prstGeom>
          <a:noFill/>
          <a:ln/>
        </p:spPr>
        <p:txBody>
          <a:bodyPr wrap="square" lIns="0" tIns="0" rIns="0" bIns="0" rtlCol="0" anchor="ctr"/>
          <a:lstStyle/>
          <a:p>
            <a:pPr indent="0" marL="0">
              <a:buNone/>
            </a:pPr>
            <a:r>
              <a:rPr lang="en-US" sz="1500" b="1" dirty="0">
                <a:solidFill>
                  <a:srgbClr val="1F8A70"/>
                </a:solidFill>
              </a:rPr>
              <a:t>OUTPUT</a:t>
            </a:r>
            <a:endParaRPr lang="en-US" sz="1500" dirty="0"/>
          </a:p>
        </p:txBody>
      </p:sp>
      <p:sp>
        <p:nvSpPr>
          <p:cNvPr id="17" name="Text 15"/>
          <p:cNvSpPr txBox="1"/>
          <p:nvPr/>
        </p:nvSpPr>
        <p:spPr>
          <a:xfrm>
            <a:off x="6172200" y="1600200"/>
            <a:ext cx="2103120" cy="320040"/>
          </a:xfrm>
          <a:prstGeom prst="rect">
            <a:avLst/>
          </a:prstGeom>
          <a:noFill/>
          <a:ln/>
        </p:spPr>
        <p:txBody>
          <a:bodyPr wrap="square" lIns="0" tIns="0" rIns="0" bIns="0" rtlCol="0" anchor="ctr"/>
          <a:lstStyle/>
          <a:p>
            <a:pPr indent="0" marL="0">
              <a:buNone/>
            </a:pPr>
            <a:r>
              <a:rPr lang="en-US" sz="1500" dirty="0">
                <a:solidFill>
                  <a:srgbClr val="1B1B1B"/>
                </a:solidFill>
              </a:rPr>
              <a:t>the LEDs</a:t>
            </a:r>
            <a:endParaRPr lang="en-US" sz="1500" dirty="0"/>
          </a:p>
        </p:txBody>
      </p:sp>
      <p:sp>
        <p:nvSpPr>
          <p:cNvPr id="18" name="Text 16"/>
          <p:cNvSpPr txBox="1"/>
          <p:nvPr/>
        </p:nvSpPr>
        <p:spPr>
          <a:xfrm>
            <a:off x="6172200" y="1956816"/>
            <a:ext cx="2103120" cy="228600"/>
          </a:xfrm>
          <a:prstGeom prst="rect">
            <a:avLst/>
          </a:prstGeom>
          <a:noFill/>
          <a:ln/>
        </p:spPr>
        <p:txBody>
          <a:bodyPr wrap="square" lIns="0" tIns="0" rIns="0" bIns="0" rtlCol="0" anchor="ctr"/>
          <a:lstStyle/>
          <a:p>
            <a:pPr indent="0" marL="0">
              <a:buNone/>
            </a:pPr>
            <a:r>
              <a:rPr lang="en-US" sz="1100" i="1" dirty="0">
                <a:solidFill>
                  <a:srgbClr val="6B7280"/>
                </a:solidFill>
              </a:rPr>
              <a:t>test it alone:</a:t>
            </a:r>
            <a:endParaRPr lang="en-US" sz="1100" dirty="0"/>
          </a:p>
        </p:txBody>
      </p:sp>
      <p:sp>
        <p:nvSpPr>
          <p:cNvPr id="19" name="Text 17"/>
          <p:cNvSpPr txBox="1"/>
          <p:nvPr/>
        </p:nvSpPr>
        <p:spPr>
          <a:xfrm>
            <a:off x="6172200" y="2194560"/>
            <a:ext cx="2103120" cy="411480"/>
          </a:xfrm>
          <a:prstGeom prst="rect">
            <a:avLst/>
          </a:prstGeom>
          <a:noFill/>
          <a:ln/>
        </p:spPr>
        <p:txBody>
          <a:bodyPr wrap="square" lIns="0" tIns="0" rIns="0" bIns="0" rtlCol="0" anchor="t"/>
          <a:lstStyle/>
          <a:p>
            <a:pPr indent="0" marL="0">
              <a:buNone/>
            </a:pPr>
            <a:r>
              <a:rPr lang="en-US" sz="1100" b="1" dirty="0">
                <a:solidFill>
                  <a:srgbClr val="0B3D2E"/>
                </a:solidFill>
                <a:latin typeface="Courier New" pitchFamily="34" charset="0"/>
                <a:ea typeface="Courier New" pitchFamily="34" charset="-122"/>
                <a:cs typeface="Courier New" pitchFamily="34" charset="-120"/>
              </a:rPr>
              <a:t>Step 0b, test 1</a:t>
            </a:r>
            <a:endParaRPr lang="en-US" sz="1100" dirty="0"/>
          </a:p>
        </p:txBody>
      </p:sp>
      <p:sp>
        <p:nvSpPr>
          <p:cNvPr id="20" name="Shape 18"/>
          <p:cNvSpPr/>
          <p:nvPr/>
        </p:nvSpPr>
        <p:spPr>
          <a:xfrm>
            <a:off x="548640" y="2926080"/>
            <a:ext cx="8138160" cy="777240"/>
          </a:xfrm>
          <a:prstGeom prst="roundRect">
            <a:avLst>
              <a:gd name="adj" fmla="val 9412"/>
            </a:avLst>
          </a:prstGeom>
          <a:solidFill>
            <a:srgbClr val="EEF5F1"/>
          </a:solidFill>
          <a:ln w="12700">
            <a:solidFill>
              <a:srgbClr val="D3E4DB"/>
            </a:solidFill>
            <a:prstDash val="solid"/>
          </a:ln>
        </p:spPr>
      </p:sp>
      <p:sp>
        <p:nvSpPr>
          <p:cNvPr id="21" name="Text 19"/>
          <p:cNvSpPr txBox="1"/>
          <p:nvPr/>
        </p:nvSpPr>
        <p:spPr>
          <a:xfrm>
            <a:off x="777240" y="2926080"/>
            <a:ext cx="7680960" cy="777240"/>
          </a:xfrm>
          <a:prstGeom prst="rect">
            <a:avLst/>
          </a:prstGeom>
          <a:noFill/>
          <a:ln/>
        </p:spPr>
        <p:txBody>
          <a:bodyPr wrap="square" lIns="0" tIns="0" rIns="0" bIns="0" rtlCol="0" anchor="ctr"/>
          <a:lstStyle/>
          <a:p>
            <a:pPr indent="0" marL="0">
              <a:buNone/>
            </a:pPr>
            <a:r>
              <a:rPr lang="en-US" sz="1500" b="1" dirty="0">
                <a:solidFill>
                  <a:srgbClr val="0B3D2E"/>
                </a:solidFill>
              </a:rPr>
              <a:t>You can test the middle box with no sensor and no noise at all, because it is a function. That is what functions are for.</a:t>
            </a:r>
            <a:endParaRPr lang="en-US" sz="1500" dirty="0"/>
          </a:p>
        </p:txBody>
      </p:sp>
      <p:sp>
        <p:nvSpPr>
          <p:cNvPr id="22" name="Text 20"/>
          <p:cNvSpPr txBox="1"/>
          <p:nvPr/>
        </p:nvSpPr>
        <p:spPr>
          <a:xfrm>
            <a:off x="548640" y="3840480"/>
            <a:ext cx="8138160" cy="457200"/>
          </a:xfrm>
          <a:prstGeom prst="rect">
            <a:avLst/>
          </a:prstGeom>
          <a:noFill/>
          <a:ln/>
        </p:spPr>
        <p:txBody>
          <a:bodyPr wrap="square" lIns="0" tIns="0" rIns="0" bIns="0" rtlCol="0" anchor="ctr"/>
          <a:lstStyle/>
          <a:p>
            <a:pPr indent="0" marL="0">
              <a:buNone/>
            </a:pPr>
            <a:r>
              <a:rPr lang="en-US" sz="1400" i="1" dirty="0">
                <a:solidFill>
                  <a:srgbClr val="6B7280"/>
                </a:solidFill>
              </a:rPr>
              <a:t>Three parts, three tests. A broken whole becomes one broken part, and a broken part is a wire you can look at.</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Step 1: you write level_for()</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1</a:t>
            </a:r>
            <a:endParaRPr lang="en-US" sz="2000" dirty="0"/>
          </a:p>
        </p:txBody>
      </p:sp>
      <p:sp>
        <p:nvSpPr>
          <p:cNvPr id="6" name="Shape 4"/>
          <p:cNvSpPr/>
          <p:nvPr/>
        </p:nvSpPr>
        <p:spPr>
          <a:xfrm>
            <a:off x="457200" y="1005840"/>
            <a:ext cx="4846320" cy="1600200"/>
          </a:xfrm>
          <a:prstGeom prst="roundRect">
            <a:avLst>
              <a:gd name="adj" fmla="val 4571"/>
            </a:avLst>
          </a:prstGeom>
          <a:solidFill>
            <a:srgbClr val="14261F"/>
          </a:solidFill>
          <a:ln w="12700">
            <a:solidFill>
              <a:srgbClr val="14261F"/>
            </a:solidFill>
            <a:prstDash val="solid"/>
          </a:ln>
        </p:spPr>
      </p:sp>
      <p:sp>
        <p:nvSpPr>
          <p:cNvPr id="7" name="Text 5"/>
          <p:cNvSpPr txBox="1"/>
          <p:nvPr/>
        </p:nvSpPr>
        <p:spPr>
          <a:xfrm>
            <a:off x="594360" y="1069848"/>
            <a:ext cx="4572000" cy="219456"/>
          </a:xfrm>
          <a:prstGeom prst="rect">
            <a:avLst/>
          </a:prstGeom>
          <a:noFill/>
          <a:ln/>
        </p:spPr>
        <p:txBody>
          <a:bodyPr wrap="square" lIns="0" tIns="0" rIns="0" bIns="0" rtlCol="0" anchor="ctr"/>
          <a:lstStyle/>
          <a:p>
            <a:pPr indent="0" marL="0">
              <a:buNone/>
            </a:pPr>
            <a:r>
              <a:rPr lang="en-US" sz="1100" b="1" dirty="0">
                <a:solidFill>
                  <a:srgbClr val="F2A900"/>
                </a:solidFill>
              </a:rPr>
              <a:t>step1_peak_level.py</a:t>
            </a:r>
            <a:pPr indent="0" marL="0">
              <a:buNone/>
            </a:pPr>
            <a:r>
              <a:rPr lang="en-US" sz="1100" dirty="0">
                <a:solidFill>
                  <a:srgbClr val="9FB8AD"/>
                </a:solidFill>
              </a:rPr>
              <a:t>  ·  lines 53–60</a:t>
            </a:r>
            <a:endParaRPr lang="en-US" sz="1100" dirty="0"/>
          </a:p>
        </p:txBody>
      </p:sp>
      <p:sp>
        <p:nvSpPr>
          <p:cNvPr id="8" name="Shape 6"/>
          <p:cNvSpPr/>
          <p:nvPr/>
        </p:nvSpPr>
        <p:spPr>
          <a:xfrm>
            <a:off x="566928" y="1325880"/>
            <a:ext cx="4626864" cy="0"/>
          </a:xfrm>
          <a:prstGeom prst="line">
            <a:avLst/>
          </a:prstGeom>
          <a:noFill/>
          <a:ln w="12700">
            <a:solidFill>
              <a:srgbClr val="2F4A3F"/>
            </a:solidFill>
            <a:prstDash val="solid"/>
          </a:ln>
        </p:spPr>
      </p:sp>
      <p:sp>
        <p:nvSpPr>
          <p:cNvPr id="9" name="Text 7"/>
          <p:cNvSpPr txBox="1"/>
          <p:nvPr/>
        </p:nvSpPr>
        <p:spPr>
          <a:xfrm>
            <a:off x="548640" y="1389888"/>
            <a:ext cx="4663440" cy="1143000"/>
          </a:xfrm>
          <a:prstGeom prst="rect">
            <a:avLst/>
          </a:prstGeom>
          <a:noFill/>
          <a:ln/>
        </p:spPr>
        <p:txBody>
          <a:bodyPr wrap="square" lIns="0" tIns="0" rIns="0" bIns="0" rtlCol="0" anchor="t"/>
          <a:lstStyle/>
          <a:p>
            <a:pPr indent="0" marL="0">
              <a:buNone/>
            </a:pPr>
            <a:r>
              <a:rPr lang="en-US" sz="900" dirty="0">
                <a:solidFill>
                  <a:srgbClr val="6F8A7F"/>
                </a:solidFill>
                <a:latin typeface="Courier New" pitchFamily="34" charset="0"/>
                <a:ea typeface="Courier New" pitchFamily="34" charset="-122"/>
                <a:cs typeface="Courier New" pitchFamily="34" charset="-120"/>
              </a:rPr>
              <a:t> 53  </a:t>
            </a:r>
            <a:pPr indent="0" marL="0">
              <a:buNone/>
            </a:pPr>
            <a:r>
              <a:rPr lang="en-US" sz="900" dirty="0">
                <a:solidFill>
                  <a:srgbClr val="E6F2EC"/>
                </a:solidFill>
                <a:latin typeface="Courier New" pitchFamily="34" charset="0"/>
                <a:ea typeface="Courier New" pitchFamily="34" charset="-122"/>
                <a:cs typeface="Courier New" pitchFamily="34" charset="-120"/>
              </a:rPr>
              <a:t>def level_for(gap):</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54  </a:t>
            </a:r>
            <a:pPr indent="0" marL="0">
              <a:buNone/>
            </a:pPr>
            <a:r>
              <a:rPr lang="en-US" sz="900" dirty="0">
                <a:solidFill>
                  <a:srgbClr val="E6F2EC"/>
                </a:solidFill>
                <a:latin typeface="Courier New" pitchFamily="34" charset="0"/>
                <a:ea typeface="Courier New" pitchFamily="34" charset="-122"/>
                <a:cs typeface="Courier New" pitchFamily="34" charset="-120"/>
              </a:rPr>
              <a:t>    """Turn a loudness gap into how many LEDs: 0 to 5."""</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55  </a:t>
            </a:r>
            <a:pPr indent="0" marL="0">
              <a:buNone/>
            </a:pPr>
            <a:r>
              <a:rPr lang="en-US" sz="900" dirty="0">
                <a:solidFill>
                  <a:srgbClr val="9FB8AD"/>
                </a:solidFill>
                <a:latin typeface="Courier New" pitchFamily="34" charset="0"/>
                <a:ea typeface="Courier New" pitchFamily="34" charset="-122"/>
                <a:cs typeface="Courier New" pitchFamily="34" charset="-120"/>
              </a:rPr>
              <a:t>    # &gt;&gt;&gt;&gt;&gt; YOUR CODE STARTS HERE &gt;&gt;&gt;&gt;&gt;</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56  </a:t>
            </a:r>
            <a:pPr indent="0" marL="0">
              <a:buNone/>
            </a:pPr>
            <a:r>
              <a:rPr lang="en-US" sz="900" dirty="0">
                <a:solidFill>
                  <a:srgbClr val="9FB8AD"/>
                </a:solidFill>
                <a:latin typeface="Courier New" pitchFamily="34" charset="0"/>
                <a:ea typeface="Courier New" pitchFamily="34" charset="-122"/>
                <a:cs typeface="Courier New" pitchFamily="34" charset="-120"/>
              </a:rPr>
              <a:t>    # One line. Under QUIET -&gt; 0 LEDs. Over LOUD -&gt; 5 LEDs.</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57  </a:t>
            </a:r>
            <a:pPr indent="0" marL="0">
              <a:buNone/>
            </a:pPr>
            <a:r>
              <a:rPr lang="en-US" sz="900" dirty="0">
                <a:solidFill>
                  <a:srgbClr val="9FB8AD"/>
                </a:solidFill>
                <a:latin typeface="Courier New" pitchFamily="34" charset="0"/>
                <a:ea typeface="Courier New" pitchFamily="34" charset="-122"/>
                <a:cs typeface="Courier New" pitchFamily="34" charset="-120"/>
              </a:rPr>
              <a:t>    # In between, spread it out. Same shape as leds_for()</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58  </a:t>
            </a:r>
            <a:pPr indent="0" marL="0">
              <a:buNone/>
            </a:pPr>
            <a:r>
              <a:rPr lang="en-US" sz="900" dirty="0">
                <a:solidFill>
                  <a:srgbClr val="9FB8AD"/>
                </a:solidFill>
                <a:latin typeface="Courier New" pitchFamily="34" charset="0"/>
                <a:ea typeface="Courier New" pitchFamily="34" charset="-122"/>
                <a:cs typeface="Courier New" pitchFamily="34" charset="-120"/>
              </a:rPr>
              <a:t>    # in Lesson 3 and angle_for() in Lesson 5.</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59  </a:t>
            </a:r>
            <a:pPr indent="0" marL="0">
              <a:buNone/>
            </a:pPr>
            <a:r>
              <a:rPr lang="en-US" sz="900" dirty="0">
                <a:solidFill>
                  <a:srgbClr val="E6F2EC"/>
                </a:solidFill>
                <a:latin typeface="Courier New" pitchFamily="34" charset="0"/>
                <a:ea typeface="Courier New" pitchFamily="34" charset="-122"/>
                <a:cs typeface="Courier New" pitchFamily="34" charset="-120"/>
              </a:rPr>
              <a:t>    return 0</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60  </a:t>
            </a:r>
            <a:pPr indent="0" marL="0">
              <a:buNone/>
            </a:pPr>
            <a:r>
              <a:rPr lang="en-US" sz="900" dirty="0">
                <a:solidFill>
                  <a:srgbClr val="9FB8AD"/>
                </a:solidFill>
                <a:latin typeface="Courier New" pitchFamily="34" charset="0"/>
                <a:ea typeface="Courier New" pitchFamily="34" charset="-122"/>
                <a:cs typeface="Courier New" pitchFamily="34" charset="-120"/>
              </a:rPr>
              <a:t>    # &lt;&lt;&lt;&lt;&lt; YOUR CODE ENDS HERE &lt;&lt;&lt;&lt;&lt;</a:t>
            </a:r>
            <a:endParaRPr lang="en-US" sz="900" dirty="0"/>
          </a:p>
        </p:txBody>
      </p:sp>
      <p:sp>
        <p:nvSpPr>
          <p:cNvPr id="10" name="Text 8"/>
          <p:cNvSpPr txBox="1"/>
          <p:nvPr/>
        </p:nvSpPr>
        <p:spPr>
          <a:xfrm>
            <a:off x="457200" y="2697480"/>
            <a:ext cx="4846320" cy="365760"/>
          </a:xfrm>
          <a:prstGeom prst="rect">
            <a:avLst/>
          </a:prstGeom>
          <a:noFill/>
          <a:ln/>
        </p:spPr>
        <p:txBody>
          <a:bodyPr wrap="square" lIns="0" tIns="0" rIns="0" bIns="0" rtlCol="0" anchor="ctr"/>
          <a:lstStyle/>
          <a:p>
            <a:pPr indent="0" marL="0">
              <a:buNone/>
            </a:pPr>
            <a:r>
              <a:rPr lang="en-US" sz="1300" i="1" dirty="0">
                <a:solidFill>
                  <a:srgbClr val="6B7280"/>
                </a:solidFill>
              </a:rPr>
              <a:t>loudness() is given. It hands level_for() one number.</a:t>
            </a:r>
            <a:endParaRPr lang="en-US" sz="1300" dirty="0"/>
          </a:p>
        </p:txBody>
      </p:sp>
      <p:sp>
        <p:nvSpPr>
          <p:cNvPr id="11" name="Shape 9"/>
          <p:cNvSpPr/>
          <p:nvPr/>
        </p:nvSpPr>
        <p:spPr>
          <a:xfrm>
            <a:off x="457200" y="3154680"/>
            <a:ext cx="4846320" cy="1325880"/>
          </a:xfrm>
          <a:prstGeom prst="roundRect">
            <a:avLst>
              <a:gd name="adj" fmla="val 5517"/>
            </a:avLst>
          </a:prstGeom>
          <a:solidFill>
            <a:srgbClr val="14261F"/>
          </a:solidFill>
          <a:ln w="12700">
            <a:solidFill>
              <a:srgbClr val="14261F"/>
            </a:solidFill>
            <a:prstDash val="solid"/>
          </a:ln>
        </p:spPr>
      </p:sp>
      <p:sp>
        <p:nvSpPr>
          <p:cNvPr id="12" name="Text 10"/>
          <p:cNvSpPr txBox="1"/>
          <p:nvPr/>
        </p:nvSpPr>
        <p:spPr>
          <a:xfrm>
            <a:off x="594360" y="3218688"/>
            <a:ext cx="4572000" cy="219456"/>
          </a:xfrm>
          <a:prstGeom prst="rect">
            <a:avLst/>
          </a:prstGeom>
          <a:noFill/>
          <a:ln/>
        </p:spPr>
        <p:txBody>
          <a:bodyPr wrap="square" lIns="0" tIns="0" rIns="0" bIns="0" rtlCol="0" anchor="ctr"/>
          <a:lstStyle/>
          <a:p>
            <a:pPr indent="0" marL="0">
              <a:buNone/>
            </a:pPr>
            <a:r>
              <a:rPr lang="en-US" sz="1100" b="1" dirty="0">
                <a:solidFill>
                  <a:srgbClr val="F2A900"/>
                </a:solidFill>
              </a:rPr>
              <a:t>step1_peak_level.py</a:t>
            </a:r>
            <a:pPr indent="0" marL="0">
              <a:buNone/>
            </a:pPr>
            <a:r>
              <a:rPr lang="en-US" sz="1100" dirty="0">
                <a:solidFill>
                  <a:srgbClr val="9FB8AD"/>
                </a:solidFill>
              </a:rPr>
              <a:t>  ·  lines 40–50</a:t>
            </a:r>
            <a:endParaRPr lang="en-US" sz="1100" dirty="0"/>
          </a:p>
        </p:txBody>
      </p:sp>
      <p:sp>
        <p:nvSpPr>
          <p:cNvPr id="13" name="Shape 11"/>
          <p:cNvSpPr/>
          <p:nvPr/>
        </p:nvSpPr>
        <p:spPr>
          <a:xfrm>
            <a:off x="566928" y="3474720"/>
            <a:ext cx="4626864" cy="0"/>
          </a:xfrm>
          <a:prstGeom prst="line">
            <a:avLst/>
          </a:prstGeom>
          <a:noFill/>
          <a:ln w="12700">
            <a:solidFill>
              <a:srgbClr val="2F4A3F"/>
            </a:solidFill>
            <a:prstDash val="solid"/>
          </a:ln>
        </p:spPr>
      </p:sp>
      <p:sp>
        <p:nvSpPr>
          <p:cNvPr id="14" name="Text 12"/>
          <p:cNvSpPr txBox="1"/>
          <p:nvPr/>
        </p:nvSpPr>
        <p:spPr>
          <a:xfrm>
            <a:off x="548640" y="3538728"/>
            <a:ext cx="4663440" cy="868680"/>
          </a:xfrm>
          <a:prstGeom prst="rect">
            <a:avLst/>
          </a:prstGeom>
          <a:noFill/>
          <a:ln/>
        </p:spPr>
        <p:txBody>
          <a:bodyPr wrap="square" lIns="0" tIns="0" rIns="0" bIns="0" rtlCol="0" anchor="t"/>
          <a:lstStyle/>
          <a:p>
            <a:pPr indent="0" marL="0">
              <a:buNone/>
            </a:pPr>
            <a:r>
              <a:rPr lang="en-US" sz="950" dirty="0">
                <a:solidFill>
                  <a:srgbClr val="6F8A7F"/>
                </a:solidFill>
                <a:latin typeface="Courier New" pitchFamily="34" charset="0"/>
                <a:ea typeface="Courier New" pitchFamily="34" charset="-122"/>
                <a:cs typeface="Courier New" pitchFamily="34" charset="-120"/>
              </a:rPr>
              <a:t> 40  </a:t>
            </a:r>
            <a:pPr indent="0" marL="0">
              <a:buNone/>
            </a:pPr>
            <a:r>
              <a:rPr lang="en-US" sz="950" dirty="0">
                <a:solidFill>
                  <a:srgbClr val="E6F2EC"/>
                </a:solidFill>
                <a:latin typeface="Courier New" pitchFamily="34" charset="0"/>
                <a:ea typeface="Courier New" pitchFamily="34" charset="-122"/>
                <a:cs typeface="Courier New" pitchFamily="34" charset="-120"/>
              </a:rPr>
              <a:t>def loudness():</a:t>
            </a:r>
            <a:endParaRPr lang="en-US" sz="950" dirty="0"/>
          </a:p>
          <a:p>
            <a:pPr indent="0" marL="0">
              <a:buNone/>
            </a:pPr>
            <a:r>
              <a:rPr lang="en-US" sz="950" dirty="0">
                <a:solidFill>
                  <a:srgbClr val="6F8A7F"/>
                </a:solidFill>
                <a:latin typeface="Courier New" pitchFamily="34" charset="0"/>
                <a:ea typeface="Courier New" pitchFamily="34" charset="-122"/>
                <a:cs typeface="Courier New" pitchFamily="34" charset="-120"/>
              </a:rPr>
              <a:t> 41  </a:t>
            </a:r>
            <a:pPr indent="0" marL="0">
              <a:buNone/>
            </a:pPr>
            <a:r>
              <a:rPr lang="en-US" sz="950" dirty="0">
                <a:solidFill>
                  <a:srgbClr val="E6F2EC"/>
                </a:solidFill>
                <a:latin typeface="Courier New" pitchFamily="34" charset="0"/>
                <a:ea typeface="Courier New" pitchFamily="34" charset="-122"/>
                <a:cs typeface="Courier New" pitchFamily="34" charset="-120"/>
              </a:rPr>
              <a:t>    """SAMPLES readings fast. Loudest minus quietest."""</a:t>
            </a:r>
            <a:endParaRPr lang="en-US" sz="950" dirty="0"/>
          </a:p>
          <a:p>
            <a:pPr indent="0" marL="0">
              <a:buNone/>
            </a:pPr>
            <a:r>
              <a:rPr lang="en-US" sz="950" dirty="0">
                <a:solidFill>
                  <a:srgbClr val="6F8A7F"/>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6F8A7F"/>
                </a:solidFill>
                <a:latin typeface="Courier New" pitchFamily="34" charset="0"/>
                <a:ea typeface="Courier New" pitchFamily="34" charset="-122"/>
                <a:cs typeface="Courier New" pitchFamily="34" charset="-120"/>
              </a:rPr>
              <a:t> 49  </a:t>
            </a:r>
            <a:pPr indent="0" marL="0">
              <a:buNone/>
            </a:pPr>
            <a:r>
              <a:rPr lang="en-US" sz="950" dirty="0">
                <a:solidFill>
                  <a:srgbClr val="E6F2EC"/>
                </a:solidFill>
                <a:latin typeface="Courier New" pitchFamily="34" charset="0"/>
                <a:ea typeface="Courier New" pitchFamily="34" charset="-122"/>
                <a:cs typeface="Courier New" pitchFamily="34" charset="-120"/>
              </a:rPr>
              <a:t>            highest = value</a:t>
            </a:r>
            <a:endParaRPr lang="en-US" sz="950" dirty="0"/>
          </a:p>
          <a:p>
            <a:pPr indent="0" marL="0">
              <a:buNone/>
            </a:pPr>
            <a:r>
              <a:rPr lang="en-US" sz="950" dirty="0">
                <a:solidFill>
                  <a:srgbClr val="6F8A7F"/>
                </a:solidFill>
                <a:latin typeface="Courier New" pitchFamily="34" charset="0"/>
                <a:ea typeface="Courier New" pitchFamily="34" charset="-122"/>
                <a:cs typeface="Courier New" pitchFamily="34" charset="-120"/>
              </a:rPr>
              <a:t> 50  </a:t>
            </a:r>
            <a:pPr indent="0" marL="0">
              <a:buNone/>
            </a:pPr>
            <a:r>
              <a:rPr lang="en-US" sz="950" dirty="0">
                <a:solidFill>
                  <a:srgbClr val="E6F2EC"/>
                </a:solidFill>
                <a:latin typeface="Courier New" pitchFamily="34" charset="0"/>
                <a:ea typeface="Courier New" pitchFamily="34" charset="-122"/>
                <a:cs typeface="Courier New" pitchFamily="34" charset="-120"/>
              </a:rPr>
              <a:t>    return highest - lowest</a:t>
            </a:r>
            <a:endParaRPr lang="en-US" sz="950" dirty="0"/>
          </a:p>
        </p:txBody>
      </p:sp>
      <p:sp>
        <p:nvSpPr>
          <p:cNvPr id="15" name="Shape 13"/>
          <p:cNvSpPr/>
          <p:nvPr/>
        </p:nvSpPr>
        <p:spPr>
          <a:xfrm>
            <a:off x="5577840" y="1051560"/>
            <a:ext cx="868680" cy="292608"/>
          </a:xfrm>
          <a:prstGeom prst="roundRect">
            <a:avLst>
              <a:gd name="adj" fmla="val 18750"/>
            </a:avLst>
          </a:prstGeom>
          <a:solidFill>
            <a:srgbClr val="FFF1C2"/>
          </a:solidFill>
          <a:ln w="9525">
            <a:solidFill>
              <a:srgbClr val="E0A800"/>
            </a:solidFill>
            <a:prstDash val="solid"/>
          </a:ln>
        </p:spPr>
      </p:sp>
      <p:sp>
        <p:nvSpPr>
          <p:cNvPr id="16" name="Text 14"/>
          <p:cNvSpPr txBox="1"/>
          <p:nvPr/>
        </p:nvSpPr>
        <p:spPr>
          <a:xfrm>
            <a:off x="5577840" y="105156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quiet</a:t>
            </a:r>
            <a:endParaRPr lang="en-US" sz="1100" dirty="0"/>
          </a:p>
        </p:txBody>
      </p:sp>
      <p:sp>
        <p:nvSpPr>
          <p:cNvPr id="17" name="Text 15"/>
          <p:cNvSpPr txBox="1"/>
          <p:nvPr/>
        </p:nvSpPr>
        <p:spPr>
          <a:xfrm>
            <a:off x="6583680" y="1014984"/>
            <a:ext cx="2103120" cy="621792"/>
          </a:xfrm>
          <a:prstGeom prst="rect">
            <a:avLst/>
          </a:prstGeom>
          <a:noFill/>
          <a:ln/>
        </p:spPr>
        <p:txBody>
          <a:bodyPr wrap="square" lIns="0" tIns="0" rIns="0" bIns="0" rtlCol="0" anchor="t"/>
          <a:lstStyle/>
          <a:p>
            <a:pPr indent="0" marL="0">
              <a:buNone/>
            </a:pPr>
            <a:r>
              <a:rPr lang="en-US" sz="1400" dirty="0">
                <a:solidFill>
                  <a:srgbClr val="1B1B1B"/>
                </a:solidFill>
              </a:rPr>
              <a:t>gap under QUIET: 0 LEDs</a:t>
            </a:r>
            <a:endParaRPr lang="en-US" sz="1400" dirty="0"/>
          </a:p>
        </p:txBody>
      </p:sp>
      <p:sp>
        <p:nvSpPr>
          <p:cNvPr id="18" name="Shape 16"/>
          <p:cNvSpPr/>
          <p:nvPr/>
        </p:nvSpPr>
        <p:spPr>
          <a:xfrm>
            <a:off x="5577840" y="1709928"/>
            <a:ext cx="868680" cy="292608"/>
          </a:xfrm>
          <a:prstGeom prst="roundRect">
            <a:avLst>
              <a:gd name="adj" fmla="val 18750"/>
            </a:avLst>
          </a:prstGeom>
          <a:solidFill>
            <a:srgbClr val="FFF1C2"/>
          </a:solidFill>
          <a:ln w="9525">
            <a:solidFill>
              <a:srgbClr val="E0A800"/>
            </a:solidFill>
            <a:prstDash val="solid"/>
          </a:ln>
        </p:spPr>
      </p:sp>
      <p:sp>
        <p:nvSpPr>
          <p:cNvPr id="19" name="Text 17"/>
          <p:cNvSpPr txBox="1"/>
          <p:nvPr/>
        </p:nvSpPr>
        <p:spPr>
          <a:xfrm>
            <a:off x="5577840" y="1709928"/>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loud</a:t>
            </a:r>
            <a:endParaRPr lang="en-US" sz="1100" dirty="0"/>
          </a:p>
        </p:txBody>
      </p:sp>
      <p:sp>
        <p:nvSpPr>
          <p:cNvPr id="20" name="Text 18"/>
          <p:cNvSpPr txBox="1"/>
          <p:nvPr/>
        </p:nvSpPr>
        <p:spPr>
          <a:xfrm>
            <a:off x="6583680" y="1673352"/>
            <a:ext cx="2103120" cy="621792"/>
          </a:xfrm>
          <a:prstGeom prst="rect">
            <a:avLst/>
          </a:prstGeom>
          <a:noFill/>
          <a:ln/>
        </p:spPr>
        <p:txBody>
          <a:bodyPr wrap="square" lIns="0" tIns="0" rIns="0" bIns="0" rtlCol="0" anchor="t"/>
          <a:lstStyle/>
          <a:p>
            <a:pPr indent="0" marL="0">
              <a:buNone/>
            </a:pPr>
            <a:r>
              <a:rPr lang="en-US" sz="1400" dirty="0">
                <a:solidFill>
                  <a:srgbClr val="1B1B1B"/>
                </a:solidFill>
              </a:rPr>
              <a:t>gap over LOUD: 5 LEDs</a:t>
            </a:r>
            <a:endParaRPr lang="en-US" sz="1400" dirty="0"/>
          </a:p>
        </p:txBody>
      </p:sp>
      <p:sp>
        <p:nvSpPr>
          <p:cNvPr id="21" name="Shape 19"/>
          <p:cNvSpPr/>
          <p:nvPr/>
        </p:nvSpPr>
        <p:spPr>
          <a:xfrm>
            <a:off x="5577840" y="2368296"/>
            <a:ext cx="868680" cy="292608"/>
          </a:xfrm>
          <a:prstGeom prst="roundRect">
            <a:avLst>
              <a:gd name="adj" fmla="val 18750"/>
            </a:avLst>
          </a:prstGeom>
          <a:solidFill>
            <a:srgbClr val="FFF1C2"/>
          </a:solidFill>
          <a:ln w="9525">
            <a:solidFill>
              <a:srgbClr val="E0A800"/>
            </a:solidFill>
            <a:prstDash val="solid"/>
          </a:ln>
        </p:spPr>
      </p:sp>
      <p:sp>
        <p:nvSpPr>
          <p:cNvPr id="22" name="Text 20"/>
          <p:cNvSpPr txBox="1"/>
          <p:nvPr/>
        </p:nvSpPr>
        <p:spPr>
          <a:xfrm>
            <a:off x="5577840" y="2368296"/>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between</a:t>
            </a:r>
            <a:endParaRPr lang="en-US" sz="1100" dirty="0"/>
          </a:p>
        </p:txBody>
      </p:sp>
      <p:sp>
        <p:nvSpPr>
          <p:cNvPr id="23" name="Text 21"/>
          <p:cNvSpPr txBox="1"/>
          <p:nvPr/>
        </p:nvSpPr>
        <p:spPr>
          <a:xfrm>
            <a:off x="6583680" y="2331720"/>
            <a:ext cx="2103120" cy="621792"/>
          </a:xfrm>
          <a:prstGeom prst="rect">
            <a:avLst/>
          </a:prstGeom>
          <a:noFill/>
          <a:ln/>
        </p:spPr>
        <p:txBody>
          <a:bodyPr wrap="square" lIns="0" tIns="0" rIns="0" bIns="0" rtlCol="0" anchor="t"/>
          <a:lstStyle/>
          <a:p>
            <a:pPr indent="0" marL="0">
              <a:buNone/>
            </a:pPr>
            <a:r>
              <a:rPr lang="en-US" sz="1400" dirty="0">
                <a:solidFill>
                  <a:srgbClr val="1B1B1B"/>
                </a:solidFill>
              </a:rPr>
              <a:t>spread it across 1 to 4</a:t>
            </a:r>
            <a:endParaRPr lang="en-US" sz="1400" dirty="0"/>
          </a:p>
        </p:txBody>
      </p:sp>
      <p:sp>
        <p:nvSpPr>
          <p:cNvPr id="24" name="Shape 22"/>
          <p:cNvSpPr/>
          <p:nvPr/>
        </p:nvSpPr>
        <p:spPr>
          <a:xfrm>
            <a:off x="5577840" y="3108960"/>
            <a:ext cx="3108960" cy="457200"/>
          </a:xfrm>
          <a:prstGeom prst="roundRect">
            <a:avLst>
              <a:gd name="adj" fmla="val 16000"/>
            </a:avLst>
          </a:prstGeom>
          <a:solidFill>
            <a:srgbClr val="DDF3E9"/>
          </a:solidFill>
          <a:ln w="15875">
            <a:solidFill>
              <a:srgbClr val="1F8A70"/>
            </a:solidFill>
            <a:prstDash val="solid"/>
          </a:ln>
        </p:spPr>
      </p:sp>
      <p:sp>
        <p:nvSpPr>
          <p:cNvPr id="25" name="Text 23"/>
          <p:cNvSpPr txBox="1"/>
          <p:nvPr/>
        </p:nvSpPr>
        <p:spPr>
          <a:xfrm>
            <a:off x="5715000" y="3108960"/>
            <a:ext cx="2834640" cy="45720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The bar follows your voice.</a:t>
            </a:r>
            <a:endParaRPr lang="en-US" sz="1400" dirty="0"/>
          </a:p>
        </p:txBody>
      </p:sp>
      <p:sp>
        <p:nvSpPr>
          <p:cNvPr id="26" name="Shape 24"/>
          <p:cNvSpPr/>
          <p:nvPr/>
        </p:nvSpPr>
        <p:spPr>
          <a:xfrm>
            <a:off x="5577840" y="3657600"/>
            <a:ext cx="3108960" cy="548640"/>
          </a:xfrm>
          <a:prstGeom prst="roundRect">
            <a:avLst>
              <a:gd name="adj" fmla="val 13333"/>
            </a:avLst>
          </a:prstGeom>
          <a:solidFill>
            <a:srgbClr val="FFF4D6"/>
          </a:solidFill>
          <a:ln w="12700">
            <a:solidFill>
              <a:srgbClr val="E0A800"/>
            </a:solidFill>
            <a:prstDash val="solid"/>
          </a:ln>
        </p:spPr>
      </p:sp>
      <p:sp>
        <p:nvSpPr>
          <p:cNvPr id="27" name="Text 25"/>
          <p:cNvSpPr txBox="1"/>
          <p:nvPr/>
        </p:nvSpPr>
        <p:spPr>
          <a:xfrm>
            <a:off x="5715000" y="3657600"/>
            <a:ext cx="2834640" cy="54864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All 5 lit in silence? QUIET is too low for this room.</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A loop forgets</a:t>
            </a:r>
            <a:endParaRPr lang="en-US" sz="3000" dirty="0"/>
          </a:p>
        </p:txBody>
      </p:sp>
      <p:sp>
        <p:nvSpPr>
          <p:cNvPr id="3" name="Shape 1"/>
          <p:cNvSpPr/>
          <p:nvPr/>
        </p:nvSpPr>
        <p:spPr>
          <a:xfrm>
            <a:off x="548640" y="1188720"/>
            <a:ext cx="3931920" cy="2377440"/>
          </a:xfrm>
          <a:prstGeom prst="roundRect">
            <a:avLst>
              <a:gd name="adj" fmla="val 3846"/>
            </a:avLst>
          </a:prstGeom>
          <a:solidFill>
            <a:srgbClr val="FFFFFF"/>
          </a:solidFill>
          <a:ln w="22225">
            <a:solidFill>
              <a:srgbClr val="1F8A70"/>
            </a:solidFill>
            <a:prstDash val="dash"/>
          </a:ln>
        </p:spPr>
      </p:sp>
      <p:sp>
        <p:nvSpPr>
          <p:cNvPr id="4" name="Text 2"/>
          <p:cNvSpPr txBox="1"/>
          <p:nvPr/>
        </p:nvSpPr>
        <p:spPr>
          <a:xfrm>
            <a:off x="731520" y="1298448"/>
            <a:ext cx="1463040" cy="274320"/>
          </a:xfrm>
          <a:prstGeom prst="rect">
            <a:avLst/>
          </a:prstGeom>
          <a:noFill/>
          <a:ln/>
        </p:spPr>
        <p:txBody>
          <a:bodyPr wrap="square" lIns="0" tIns="0" rIns="0" bIns="0" rtlCol="0" anchor="ctr"/>
          <a:lstStyle/>
          <a:p>
            <a:pPr indent="0" marL="0">
              <a:buNone/>
            </a:pPr>
            <a:r>
              <a:rPr lang="en-US" sz="1200" dirty="0">
                <a:solidFill>
                  <a:srgbClr val="1F8A70"/>
                </a:solidFill>
                <a:latin typeface="Courier New" pitchFamily="34" charset="0"/>
                <a:ea typeface="Courier New" pitchFamily="34" charset="-122"/>
                <a:cs typeface="Courier New" pitchFamily="34" charset="-120"/>
              </a:rPr>
              <a:t>while True:</a:t>
            </a:r>
            <a:endParaRPr lang="en-US" sz="1200" dirty="0"/>
          </a:p>
        </p:txBody>
      </p:sp>
      <p:sp>
        <p:nvSpPr>
          <p:cNvPr id="5" name="Shape 3"/>
          <p:cNvSpPr/>
          <p:nvPr/>
        </p:nvSpPr>
        <p:spPr>
          <a:xfrm>
            <a:off x="1234440" y="1691640"/>
            <a:ext cx="2468880" cy="411480"/>
          </a:xfrm>
          <a:prstGeom prst="roundRect">
            <a:avLst>
              <a:gd name="adj" fmla="val 13333"/>
            </a:avLst>
          </a:prstGeom>
          <a:solidFill>
            <a:srgbClr val="EEF5F1"/>
          </a:solidFill>
          <a:ln w="12700">
            <a:solidFill>
              <a:srgbClr val="B7D3C6"/>
            </a:solidFill>
            <a:prstDash val="solid"/>
          </a:ln>
        </p:spPr>
      </p:sp>
      <p:sp>
        <p:nvSpPr>
          <p:cNvPr id="6" name="Text 4"/>
          <p:cNvSpPr txBox="1"/>
          <p:nvPr/>
        </p:nvSpPr>
        <p:spPr>
          <a:xfrm>
            <a:off x="1234440" y="1691640"/>
            <a:ext cx="2468880" cy="411480"/>
          </a:xfrm>
          <a:prstGeom prst="rect">
            <a:avLst/>
          </a:prstGeom>
          <a:noFill/>
          <a:ln/>
        </p:spPr>
        <p:txBody>
          <a:bodyPr wrap="square" lIns="0" tIns="0" rIns="0" bIns="0" rtlCol="0" anchor="ctr"/>
          <a:lstStyle/>
          <a:p>
            <a:pPr algn="ctr" indent="0" marL="0">
              <a:buNone/>
            </a:pPr>
            <a:r>
              <a:rPr lang="en-US" sz="1300" b="1" dirty="0">
                <a:solidFill>
                  <a:srgbClr val="1B1B1B"/>
                </a:solidFill>
              </a:rPr>
              <a:t>read the microphone</a:t>
            </a:r>
            <a:endParaRPr lang="en-US" sz="1300" dirty="0"/>
          </a:p>
        </p:txBody>
      </p:sp>
      <p:sp>
        <p:nvSpPr>
          <p:cNvPr id="7" name="Shape 5"/>
          <p:cNvSpPr/>
          <p:nvPr/>
        </p:nvSpPr>
        <p:spPr>
          <a:xfrm>
            <a:off x="1234440" y="2240280"/>
            <a:ext cx="2468880" cy="411480"/>
          </a:xfrm>
          <a:prstGeom prst="roundRect">
            <a:avLst>
              <a:gd name="adj" fmla="val 13333"/>
            </a:avLst>
          </a:prstGeom>
          <a:solidFill>
            <a:srgbClr val="EEF5F1"/>
          </a:solidFill>
          <a:ln w="12700">
            <a:solidFill>
              <a:srgbClr val="B7D3C6"/>
            </a:solidFill>
            <a:prstDash val="solid"/>
          </a:ln>
        </p:spPr>
      </p:sp>
      <p:sp>
        <p:nvSpPr>
          <p:cNvPr id="8" name="Text 6"/>
          <p:cNvSpPr txBox="1"/>
          <p:nvPr/>
        </p:nvSpPr>
        <p:spPr>
          <a:xfrm>
            <a:off x="1234440" y="2240280"/>
            <a:ext cx="2468880" cy="411480"/>
          </a:xfrm>
          <a:prstGeom prst="rect">
            <a:avLst/>
          </a:prstGeom>
          <a:noFill/>
          <a:ln/>
        </p:spPr>
        <p:txBody>
          <a:bodyPr wrap="square" lIns="0" tIns="0" rIns="0" bIns="0" rtlCol="0" anchor="ctr"/>
          <a:lstStyle/>
          <a:p>
            <a:pPr algn="ctr" indent="0" marL="0">
              <a:buNone/>
            </a:pPr>
            <a:r>
              <a:rPr lang="en-US" sz="1300" b="1" dirty="0">
                <a:solidFill>
                  <a:srgbClr val="1B1B1B"/>
                </a:solidFill>
              </a:rPr>
              <a:t>work out the level</a:t>
            </a:r>
            <a:endParaRPr lang="en-US" sz="1300" dirty="0"/>
          </a:p>
        </p:txBody>
      </p:sp>
      <p:sp>
        <p:nvSpPr>
          <p:cNvPr id="9" name="Shape 7"/>
          <p:cNvSpPr/>
          <p:nvPr/>
        </p:nvSpPr>
        <p:spPr>
          <a:xfrm>
            <a:off x="1234440" y="2788920"/>
            <a:ext cx="2468880" cy="411480"/>
          </a:xfrm>
          <a:prstGeom prst="roundRect">
            <a:avLst>
              <a:gd name="adj" fmla="val 13333"/>
            </a:avLst>
          </a:prstGeom>
          <a:solidFill>
            <a:srgbClr val="EEF5F1"/>
          </a:solidFill>
          <a:ln w="12700">
            <a:solidFill>
              <a:srgbClr val="B7D3C6"/>
            </a:solidFill>
            <a:prstDash val="solid"/>
          </a:ln>
        </p:spPr>
      </p:sp>
      <p:sp>
        <p:nvSpPr>
          <p:cNvPr id="10" name="Text 8"/>
          <p:cNvSpPr txBox="1"/>
          <p:nvPr/>
        </p:nvSpPr>
        <p:spPr>
          <a:xfrm>
            <a:off x="1234440" y="2788920"/>
            <a:ext cx="2468880" cy="411480"/>
          </a:xfrm>
          <a:prstGeom prst="rect">
            <a:avLst/>
          </a:prstGeom>
          <a:noFill/>
          <a:ln/>
        </p:spPr>
        <p:txBody>
          <a:bodyPr wrap="square" lIns="0" tIns="0" rIns="0" bIns="0" rtlCol="0" anchor="ctr"/>
          <a:lstStyle/>
          <a:p>
            <a:pPr algn="ctr" indent="0" marL="0">
              <a:buNone/>
            </a:pPr>
            <a:r>
              <a:rPr lang="en-US" sz="1300" b="1" dirty="0">
                <a:solidFill>
                  <a:srgbClr val="1B1B1B"/>
                </a:solidFill>
              </a:rPr>
              <a:t>light the LEDs</a:t>
            </a:r>
            <a:endParaRPr lang="en-US" sz="1300" dirty="0"/>
          </a:p>
        </p:txBody>
      </p:sp>
      <p:sp>
        <p:nvSpPr>
          <p:cNvPr id="11" name="Shape 9"/>
          <p:cNvSpPr/>
          <p:nvPr/>
        </p:nvSpPr>
        <p:spPr>
          <a:xfrm>
            <a:off x="3749040" y="1901952"/>
            <a:ext cx="411480" cy="0"/>
          </a:xfrm>
          <a:prstGeom prst="line">
            <a:avLst/>
          </a:prstGeom>
          <a:noFill/>
          <a:ln w="25400">
            <a:solidFill>
              <a:srgbClr val="1F8A70"/>
            </a:solidFill>
            <a:prstDash val="solid"/>
          </a:ln>
        </p:spPr>
      </p:sp>
      <p:sp>
        <p:nvSpPr>
          <p:cNvPr id="12" name="Shape 10"/>
          <p:cNvSpPr/>
          <p:nvPr/>
        </p:nvSpPr>
        <p:spPr>
          <a:xfrm>
            <a:off x="4160520" y="1901952"/>
            <a:ext cx="0" cy="1097280"/>
          </a:xfrm>
          <a:prstGeom prst="line">
            <a:avLst/>
          </a:prstGeom>
          <a:noFill/>
          <a:ln w="25400">
            <a:solidFill>
              <a:srgbClr val="1F8A70"/>
            </a:solidFill>
            <a:prstDash val="solid"/>
          </a:ln>
        </p:spPr>
      </p:sp>
      <p:sp>
        <p:nvSpPr>
          <p:cNvPr id="13" name="Shape 11"/>
          <p:cNvSpPr/>
          <p:nvPr/>
        </p:nvSpPr>
        <p:spPr>
          <a:xfrm>
            <a:off x="3749040" y="2999232"/>
            <a:ext cx="411480" cy="0"/>
          </a:xfrm>
          <a:prstGeom prst="line">
            <a:avLst/>
          </a:prstGeom>
          <a:noFill/>
          <a:ln w="25400">
            <a:solidFill>
              <a:srgbClr val="1F8A70"/>
            </a:solidFill>
            <a:prstDash val="solid"/>
          </a:ln>
        </p:spPr>
      </p:sp>
      <p:sp>
        <p:nvSpPr>
          <p:cNvPr id="14" name="Shape 12"/>
          <p:cNvSpPr/>
          <p:nvPr/>
        </p:nvSpPr>
        <p:spPr>
          <a:xfrm>
            <a:off x="3749040" y="1901952"/>
            <a:ext cx="256032" cy="0"/>
          </a:xfrm>
          <a:prstGeom prst="line">
            <a:avLst/>
          </a:prstGeom>
          <a:noFill/>
          <a:ln w="25400">
            <a:solidFill>
              <a:srgbClr val="1F8A70"/>
            </a:solidFill>
            <a:prstDash val="solid"/>
            <a:headEnd type="triangle"/>
          </a:ln>
        </p:spPr>
      </p:sp>
      <p:sp>
        <p:nvSpPr>
          <p:cNvPr id="15" name="Text 13"/>
          <p:cNvSpPr txBox="1"/>
          <p:nvPr/>
        </p:nvSpPr>
        <p:spPr>
          <a:xfrm>
            <a:off x="548640" y="3657600"/>
            <a:ext cx="3931920" cy="274320"/>
          </a:xfrm>
          <a:prstGeom prst="rect">
            <a:avLst/>
          </a:prstGeom>
          <a:noFill/>
          <a:ln/>
        </p:spPr>
        <p:txBody>
          <a:bodyPr wrap="square" lIns="0" tIns="0" rIns="0" bIns="0" rtlCol="0" anchor="ctr"/>
          <a:lstStyle/>
          <a:p>
            <a:pPr algn="ctr" indent="0" marL="0">
              <a:buNone/>
            </a:pPr>
            <a:r>
              <a:rPr lang="en-US" sz="1300" i="1" dirty="0">
                <a:solidFill>
                  <a:srgbClr val="6B7280"/>
                </a:solidFill>
              </a:rPr>
              <a:t>round and round, ten times a second</a:t>
            </a:r>
            <a:endParaRPr lang="en-US" sz="1300" dirty="0"/>
          </a:p>
        </p:txBody>
      </p:sp>
      <p:sp>
        <p:nvSpPr>
          <p:cNvPr id="16" name="Shape 14"/>
          <p:cNvSpPr/>
          <p:nvPr/>
        </p:nvSpPr>
        <p:spPr>
          <a:xfrm>
            <a:off x="4937760" y="1188720"/>
            <a:ext cx="3749040" cy="1417320"/>
          </a:xfrm>
          <a:prstGeom prst="roundRect">
            <a:avLst>
              <a:gd name="adj" fmla="val 6452"/>
            </a:avLst>
          </a:prstGeom>
          <a:solidFill>
            <a:srgbClr val="FDECEC"/>
          </a:solidFill>
          <a:ln w="19050">
            <a:solidFill>
              <a:srgbClr val="D64545"/>
            </a:solidFill>
            <a:prstDash val="solid"/>
          </a:ln>
        </p:spPr>
      </p:sp>
      <p:sp>
        <p:nvSpPr>
          <p:cNvPr id="17" name="Text 15"/>
          <p:cNvSpPr txBox="1"/>
          <p:nvPr/>
        </p:nvSpPr>
        <p:spPr>
          <a:xfrm>
            <a:off x="5120640" y="1280160"/>
            <a:ext cx="3383280" cy="320040"/>
          </a:xfrm>
          <a:prstGeom prst="rect">
            <a:avLst/>
          </a:prstGeom>
          <a:noFill/>
          <a:ln/>
        </p:spPr>
        <p:txBody>
          <a:bodyPr wrap="square" lIns="0" tIns="0" rIns="0" bIns="0" rtlCol="0" anchor="ctr"/>
          <a:lstStyle/>
          <a:p>
            <a:pPr indent="0" marL="0">
              <a:buNone/>
            </a:pPr>
            <a:r>
              <a:rPr lang="en-US" sz="1600" b="1" dirty="0">
                <a:solidFill>
                  <a:srgbClr val="D64545"/>
                </a:solidFill>
              </a:rPr>
              <a:t>Every round starts the same way</a:t>
            </a:r>
            <a:endParaRPr lang="en-US" sz="1600" dirty="0"/>
          </a:p>
        </p:txBody>
      </p:sp>
      <p:sp>
        <p:nvSpPr>
          <p:cNvPr id="18" name="Text 16"/>
          <p:cNvSpPr txBox="1"/>
          <p:nvPr/>
        </p:nvSpPr>
        <p:spPr>
          <a:xfrm>
            <a:off x="5120640" y="1627632"/>
            <a:ext cx="3383280" cy="914400"/>
          </a:xfrm>
          <a:prstGeom prst="rect">
            <a:avLst/>
          </a:prstGeom>
          <a:noFill/>
          <a:ln/>
        </p:spPr>
        <p:txBody>
          <a:bodyPr wrap="square" lIns="0" tIns="0" rIns="0" bIns="0" rtlCol="0" anchor="t"/>
          <a:lstStyle/>
          <a:p>
            <a:pPr indent="0" marL="0">
              <a:buNone/>
            </a:pPr>
            <a:r>
              <a:rPr lang="en-US" sz="1400" dirty="0">
                <a:solidFill>
                  <a:srgbClr val="1B1B1B"/>
                </a:solidFill>
              </a:rPr>
              <a:t>The loop does not know this is round 400. It does not know the room was loud a second ago. It knows nothing except what you stored.</a:t>
            </a:r>
            <a:endParaRPr lang="en-US" sz="1400" dirty="0"/>
          </a:p>
        </p:txBody>
      </p:sp>
      <p:sp>
        <p:nvSpPr>
          <p:cNvPr id="19" name="Shape 17"/>
          <p:cNvSpPr/>
          <p:nvPr/>
        </p:nvSpPr>
        <p:spPr>
          <a:xfrm>
            <a:off x="4937760" y="2743200"/>
            <a:ext cx="3749040" cy="1417320"/>
          </a:xfrm>
          <a:prstGeom prst="roundRect">
            <a:avLst>
              <a:gd name="adj" fmla="val 6452"/>
            </a:avLst>
          </a:prstGeom>
          <a:solidFill>
            <a:srgbClr val="EDE4F5"/>
          </a:solidFill>
          <a:ln w="19050">
            <a:solidFill>
              <a:srgbClr val="8E44AD"/>
            </a:solidFill>
            <a:prstDash val="solid"/>
          </a:ln>
        </p:spPr>
      </p:sp>
      <p:sp>
        <p:nvSpPr>
          <p:cNvPr id="20" name="Text 18"/>
          <p:cNvSpPr txBox="1"/>
          <p:nvPr/>
        </p:nvSpPr>
        <p:spPr>
          <a:xfrm>
            <a:off x="5120640" y="2834640"/>
            <a:ext cx="3383280" cy="320040"/>
          </a:xfrm>
          <a:prstGeom prst="rect">
            <a:avLst/>
          </a:prstGeom>
          <a:noFill/>
          <a:ln/>
        </p:spPr>
        <p:txBody>
          <a:bodyPr wrap="square" lIns="0" tIns="0" rIns="0" bIns="0" rtlCol="0" anchor="ctr"/>
          <a:lstStyle/>
          <a:p>
            <a:pPr indent="0" marL="0">
              <a:buNone/>
            </a:pPr>
            <a:r>
              <a:rPr lang="en-US" sz="1600" b="1" dirty="0">
                <a:solidFill>
                  <a:srgbClr val="8E44AD"/>
                </a:solidFill>
              </a:rPr>
              <a:t>State</a:t>
            </a:r>
            <a:endParaRPr lang="en-US" sz="1600" dirty="0"/>
          </a:p>
        </p:txBody>
      </p:sp>
      <p:sp>
        <p:nvSpPr>
          <p:cNvPr id="21" name="Text 19"/>
          <p:cNvSpPr txBox="1"/>
          <p:nvPr/>
        </p:nvSpPr>
        <p:spPr>
          <a:xfrm>
            <a:off x="5120640" y="3182112"/>
            <a:ext cx="3383280" cy="914400"/>
          </a:xfrm>
          <a:prstGeom prst="rect">
            <a:avLst/>
          </a:prstGeom>
          <a:noFill/>
          <a:ln/>
        </p:spPr>
        <p:txBody>
          <a:bodyPr wrap="square" lIns="0" tIns="0" rIns="0" bIns="0" rtlCol="0" anchor="t"/>
          <a:lstStyle/>
          <a:p>
            <a:pPr indent="0" marL="0">
              <a:buNone/>
            </a:pPr>
            <a:r>
              <a:rPr lang="en-US" sz="1400" dirty="0">
                <a:solidFill>
                  <a:srgbClr val="1B1B1B"/>
                </a:solidFill>
              </a:rPr>
              <a:t>What the program knows right now, because of what happened before. A loop has no memory of its own. You give it one.</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Inside or outside the loop?</a:t>
            </a:r>
            <a:endParaRPr lang="en-US" sz="3000" dirty="0"/>
          </a:p>
        </p:txBody>
      </p:sp>
      <p:sp>
        <p:nvSpPr>
          <p:cNvPr id="3" name="Shape 1"/>
          <p:cNvSpPr/>
          <p:nvPr/>
        </p:nvSpPr>
        <p:spPr>
          <a:xfrm>
            <a:off x="457200" y="1051560"/>
            <a:ext cx="4023360" cy="1371600"/>
          </a:xfrm>
          <a:prstGeom prst="roundRect">
            <a:avLst>
              <a:gd name="adj" fmla="val 5333"/>
            </a:avLst>
          </a:prstGeom>
          <a:solidFill>
            <a:srgbClr val="2B2F33"/>
          </a:solidFill>
          <a:ln w="12700">
            <a:solidFill>
              <a:srgbClr val="2B2F33"/>
            </a:solidFill>
            <a:prstDash val="solid"/>
          </a:ln>
        </p:spPr>
      </p:sp>
      <p:sp>
        <p:nvSpPr>
          <p:cNvPr id="4" name="Text 2"/>
          <p:cNvSpPr txBox="1"/>
          <p:nvPr/>
        </p:nvSpPr>
        <p:spPr>
          <a:xfrm>
            <a:off x="594360" y="1115568"/>
            <a:ext cx="3749040" cy="219456"/>
          </a:xfrm>
          <a:prstGeom prst="rect">
            <a:avLst/>
          </a:prstGeom>
          <a:noFill/>
          <a:ln/>
        </p:spPr>
        <p:txBody>
          <a:bodyPr wrap="square" lIns="0" tIns="0" rIns="0" bIns="0" rtlCol="0" anchor="ctr"/>
          <a:lstStyle/>
          <a:p>
            <a:pPr indent="0" marL="0">
              <a:buNone/>
            </a:pPr>
            <a:r>
              <a:rPr lang="en-US" sz="1100" i="1" dirty="0">
                <a:solidFill>
                  <a:srgbClr val="C9CED3"/>
                </a:solidFill>
              </a:rPr>
              <a:t>WRONG</a:t>
            </a:r>
            <a:endParaRPr lang="en-US" sz="1100" dirty="0"/>
          </a:p>
        </p:txBody>
      </p:sp>
      <p:sp>
        <p:nvSpPr>
          <p:cNvPr id="5" name="Shape 3"/>
          <p:cNvSpPr/>
          <p:nvPr/>
        </p:nvSpPr>
        <p:spPr>
          <a:xfrm>
            <a:off x="566928" y="1371600"/>
            <a:ext cx="3803904" cy="0"/>
          </a:xfrm>
          <a:prstGeom prst="line">
            <a:avLst/>
          </a:prstGeom>
          <a:noFill/>
          <a:ln w="12700">
            <a:solidFill>
              <a:srgbClr val="454B51"/>
            </a:solidFill>
            <a:prstDash val="solid"/>
          </a:ln>
        </p:spPr>
      </p:sp>
      <p:sp>
        <p:nvSpPr>
          <p:cNvPr id="6" name="Text 4"/>
          <p:cNvSpPr txBox="1"/>
          <p:nvPr/>
        </p:nvSpPr>
        <p:spPr>
          <a:xfrm>
            <a:off x="621792" y="1435608"/>
            <a:ext cx="3694176" cy="914400"/>
          </a:xfrm>
          <a:prstGeom prst="rect">
            <a:avLst/>
          </a:prstGeom>
          <a:noFill/>
          <a:ln/>
        </p:spPr>
        <p:txBody>
          <a:bodyPr wrap="square" lIns="0" tIns="0" rIns="0" bIns="0" rtlCol="0" anchor="t"/>
          <a:lstStyle/>
          <a:p>
            <a:pPr indent="0" marL="0">
              <a:buNone/>
            </a:pPr>
            <a:r>
              <a:rPr lang="en-US" sz="1300" dirty="0">
                <a:solidFill>
                  <a:srgbClr val="E8EAED"/>
                </a:solidFill>
                <a:latin typeface="Courier New" pitchFamily="34" charset="0"/>
                <a:ea typeface="Courier New" pitchFamily="34" charset="-122"/>
                <a:cs typeface="Courier New" pitchFamily="34" charset="-120"/>
              </a:rPr>
              <a:t>while True:</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count = 0</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count = count + 1</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print(count)</a:t>
            </a:r>
            <a:endParaRPr lang="en-US" sz="1300" dirty="0"/>
          </a:p>
        </p:txBody>
      </p:sp>
      <p:sp>
        <p:nvSpPr>
          <p:cNvPr id="7" name="Shape 5"/>
          <p:cNvSpPr/>
          <p:nvPr/>
        </p:nvSpPr>
        <p:spPr>
          <a:xfrm>
            <a:off x="457200" y="2560320"/>
            <a:ext cx="4023360" cy="1691640"/>
          </a:xfrm>
          <a:prstGeom prst="roundRect">
            <a:avLst>
              <a:gd name="adj" fmla="val 4324"/>
            </a:avLst>
          </a:prstGeom>
          <a:solidFill>
            <a:srgbClr val="1E1E1E"/>
          </a:solidFill>
          <a:ln w="12700">
            <a:solidFill>
              <a:srgbClr val="3A3A3A"/>
            </a:solidFill>
            <a:prstDash val="solid"/>
          </a:ln>
        </p:spPr>
      </p:sp>
      <p:sp>
        <p:nvSpPr>
          <p:cNvPr id="8" name="Shape 6"/>
          <p:cNvSpPr/>
          <p:nvPr/>
        </p:nvSpPr>
        <p:spPr>
          <a:xfrm>
            <a:off x="594360" y="2651760"/>
            <a:ext cx="118872" cy="118872"/>
          </a:xfrm>
          <a:prstGeom prst="ellipse">
            <a:avLst/>
          </a:prstGeom>
          <a:solidFill>
            <a:srgbClr val="FF5F57"/>
          </a:solidFill>
          <a:ln w="12700">
            <a:solidFill>
              <a:srgbClr val="FF5F57"/>
            </a:solidFill>
            <a:prstDash val="solid"/>
          </a:ln>
        </p:spPr>
      </p:sp>
      <p:sp>
        <p:nvSpPr>
          <p:cNvPr id="9" name="Shape 7"/>
          <p:cNvSpPr/>
          <p:nvPr/>
        </p:nvSpPr>
        <p:spPr>
          <a:xfrm>
            <a:off x="777240" y="2651760"/>
            <a:ext cx="118872" cy="118872"/>
          </a:xfrm>
          <a:prstGeom prst="ellipse">
            <a:avLst/>
          </a:prstGeom>
          <a:solidFill>
            <a:srgbClr val="FEBC2E"/>
          </a:solidFill>
          <a:ln w="12700">
            <a:solidFill>
              <a:srgbClr val="FEBC2E"/>
            </a:solidFill>
            <a:prstDash val="solid"/>
          </a:ln>
        </p:spPr>
      </p:sp>
      <p:sp>
        <p:nvSpPr>
          <p:cNvPr id="10" name="Shape 8"/>
          <p:cNvSpPr/>
          <p:nvPr/>
        </p:nvSpPr>
        <p:spPr>
          <a:xfrm>
            <a:off x="960120" y="2651760"/>
            <a:ext cx="118872" cy="118872"/>
          </a:xfrm>
          <a:prstGeom prst="ellipse">
            <a:avLst/>
          </a:prstGeom>
          <a:solidFill>
            <a:srgbClr val="28C840"/>
          </a:solidFill>
          <a:ln w="12700">
            <a:solidFill>
              <a:srgbClr val="28C840"/>
            </a:solidFill>
            <a:prstDash val="solid"/>
          </a:ln>
        </p:spPr>
      </p:sp>
      <p:sp>
        <p:nvSpPr>
          <p:cNvPr id="11" name="Text 9"/>
          <p:cNvSpPr txBox="1"/>
          <p:nvPr/>
        </p:nvSpPr>
        <p:spPr>
          <a:xfrm>
            <a:off x="457200" y="2615184"/>
            <a:ext cx="4023360" cy="201168"/>
          </a:xfrm>
          <a:prstGeom prst="rect">
            <a:avLst/>
          </a:prstGeom>
          <a:noFill/>
          <a:ln/>
        </p:spPr>
        <p:txBody>
          <a:bodyPr wrap="square" lIns="0" tIns="0" rIns="0" bIns="0" rtlCol="0" anchor="ctr"/>
          <a:lstStyle/>
          <a:p>
            <a:pPr algn="ctr" indent="0" marL="0">
              <a:buNone/>
            </a:pPr>
            <a:r>
              <a:rPr lang="en-US" sz="1000" dirty="0">
                <a:solidFill>
                  <a:srgbClr val="9E9E9E"/>
                </a:solidFill>
              </a:rPr>
              <a:t>Terminal</a:t>
            </a:r>
            <a:endParaRPr lang="en-US" sz="1000" dirty="0"/>
          </a:p>
        </p:txBody>
      </p:sp>
      <p:sp>
        <p:nvSpPr>
          <p:cNvPr id="12" name="Text 10"/>
          <p:cNvSpPr txBox="1"/>
          <p:nvPr/>
        </p:nvSpPr>
        <p:spPr>
          <a:xfrm>
            <a:off x="621792" y="2907792"/>
            <a:ext cx="3694176" cy="1234440"/>
          </a:xfrm>
          <a:prstGeom prst="rect">
            <a:avLst/>
          </a:prstGeom>
          <a:noFill/>
          <a:ln/>
        </p:spPr>
        <p:txBody>
          <a:bodyPr wrap="square" lIns="0" tIns="0" rIns="0" bIns="0" rtlCol="0" anchor="t"/>
          <a:lstStyle/>
          <a:p>
            <a:pPr indent="0" marL="0">
              <a:spcAft>
                <a:spcPts val="200"/>
              </a:spcAft>
              <a:buNone/>
            </a:pPr>
            <a:r>
              <a:rPr lang="en-US" sz="1300" dirty="0">
                <a:solidFill>
                  <a:srgbClr val="B9C7BF"/>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B9C7BF"/>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B9C7BF"/>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B9C7BF"/>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b="1" dirty="0">
                <a:solidFill>
                  <a:srgbClr val="F2A900"/>
                </a:solidFill>
                <a:latin typeface="Courier New" pitchFamily="34" charset="0"/>
                <a:ea typeface="Courier New" pitchFamily="34" charset="-122"/>
                <a:cs typeface="Courier New" pitchFamily="34" charset="-120"/>
              </a:rPr>
              <a:t>1</a:t>
            </a:r>
            <a:endParaRPr lang="en-US" sz="1300" dirty="0"/>
          </a:p>
        </p:txBody>
      </p:sp>
      <p:sp>
        <p:nvSpPr>
          <p:cNvPr id="13" name="Shape 11"/>
          <p:cNvSpPr/>
          <p:nvPr/>
        </p:nvSpPr>
        <p:spPr>
          <a:xfrm>
            <a:off x="4663440" y="1051560"/>
            <a:ext cx="4023360" cy="1371600"/>
          </a:xfrm>
          <a:prstGeom prst="roundRect">
            <a:avLst>
              <a:gd name="adj" fmla="val 5333"/>
            </a:avLst>
          </a:prstGeom>
          <a:solidFill>
            <a:srgbClr val="2B2F33"/>
          </a:solidFill>
          <a:ln w="12700">
            <a:solidFill>
              <a:srgbClr val="2B2F33"/>
            </a:solidFill>
            <a:prstDash val="solid"/>
          </a:ln>
        </p:spPr>
      </p:sp>
      <p:sp>
        <p:nvSpPr>
          <p:cNvPr id="14" name="Text 12"/>
          <p:cNvSpPr txBox="1"/>
          <p:nvPr/>
        </p:nvSpPr>
        <p:spPr>
          <a:xfrm>
            <a:off x="4800600" y="1115568"/>
            <a:ext cx="3749040" cy="219456"/>
          </a:xfrm>
          <a:prstGeom prst="rect">
            <a:avLst/>
          </a:prstGeom>
          <a:noFill/>
          <a:ln/>
        </p:spPr>
        <p:txBody>
          <a:bodyPr wrap="square" lIns="0" tIns="0" rIns="0" bIns="0" rtlCol="0" anchor="ctr"/>
          <a:lstStyle/>
          <a:p>
            <a:pPr indent="0" marL="0">
              <a:buNone/>
            </a:pPr>
            <a:r>
              <a:rPr lang="en-US" sz="1100" i="1" dirty="0">
                <a:solidFill>
                  <a:srgbClr val="C9CED3"/>
                </a:solidFill>
              </a:rPr>
              <a:t>RIGHT</a:t>
            </a:r>
            <a:endParaRPr lang="en-US" sz="1100" dirty="0"/>
          </a:p>
        </p:txBody>
      </p:sp>
      <p:sp>
        <p:nvSpPr>
          <p:cNvPr id="15" name="Shape 13"/>
          <p:cNvSpPr/>
          <p:nvPr/>
        </p:nvSpPr>
        <p:spPr>
          <a:xfrm>
            <a:off x="4773168" y="1371600"/>
            <a:ext cx="3803904" cy="0"/>
          </a:xfrm>
          <a:prstGeom prst="line">
            <a:avLst/>
          </a:prstGeom>
          <a:noFill/>
          <a:ln w="12700">
            <a:solidFill>
              <a:srgbClr val="454B51"/>
            </a:solidFill>
            <a:prstDash val="solid"/>
          </a:ln>
        </p:spPr>
      </p:sp>
      <p:sp>
        <p:nvSpPr>
          <p:cNvPr id="16" name="Text 14"/>
          <p:cNvSpPr txBox="1"/>
          <p:nvPr/>
        </p:nvSpPr>
        <p:spPr>
          <a:xfrm>
            <a:off x="4828032" y="1435608"/>
            <a:ext cx="3694176" cy="914400"/>
          </a:xfrm>
          <a:prstGeom prst="rect">
            <a:avLst/>
          </a:prstGeom>
          <a:noFill/>
          <a:ln/>
        </p:spPr>
        <p:txBody>
          <a:bodyPr wrap="square" lIns="0" tIns="0" rIns="0" bIns="0" rtlCol="0" anchor="t"/>
          <a:lstStyle/>
          <a:p>
            <a:pPr indent="0" marL="0">
              <a:buNone/>
            </a:pPr>
            <a:r>
              <a:rPr lang="en-US" sz="1300" dirty="0">
                <a:solidFill>
                  <a:srgbClr val="E8EAED"/>
                </a:solidFill>
                <a:latin typeface="Courier New" pitchFamily="34" charset="0"/>
                <a:ea typeface="Courier New" pitchFamily="34" charset="-122"/>
                <a:cs typeface="Courier New" pitchFamily="34" charset="-120"/>
              </a:rPr>
              <a:t>count = 0</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while True:</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count = count + 1</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print(count)</a:t>
            </a:r>
            <a:endParaRPr lang="en-US" sz="1300" dirty="0"/>
          </a:p>
        </p:txBody>
      </p:sp>
      <p:sp>
        <p:nvSpPr>
          <p:cNvPr id="17" name="Shape 15"/>
          <p:cNvSpPr/>
          <p:nvPr/>
        </p:nvSpPr>
        <p:spPr>
          <a:xfrm>
            <a:off x="4663440" y="2560320"/>
            <a:ext cx="4023360" cy="1691640"/>
          </a:xfrm>
          <a:prstGeom prst="roundRect">
            <a:avLst>
              <a:gd name="adj" fmla="val 4324"/>
            </a:avLst>
          </a:prstGeom>
          <a:solidFill>
            <a:srgbClr val="1E1E1E"/>
          </a:solidFill>
          <a:ln w="12700">
            <a:solidFill>
              <a:srgbClr val="3A3A3A"/>
            </a:solidFill>
            <a:prstDash val="solid"/>
          </a:ln>
        </p:spPr>
      </p:sp>
      <p:sp>
        <p:nvSpPr>
          <p:cNvPr id="18" name="Shape 16"/>
          <p:cNvSpPr/>
          <p:nvPr/>
        </p:nvSpPr>
        <p:spPr>
          <a:xfrm>
            <a:off x="4800600" y="2651760"/>
            <a:ext cx="118872" cy="118872"/>
          </a:xfrm>
          <a:prstGeom prst="ellipse">
            <a:avLst/>
          </a:prstGeom>
          <a:solidFill>
            <a:srgbClr val="FF5F57"/>
          </a:solidFill>
          <a:ln w="12700">
            <a:solidFill>
              <a:srgbClr val="FF5F57"/>
            </a:solidFill>
            <a:prstDash val="solid"/>
          </a:ln>
        </p:spPr>
      </p:sp>
      <p:sp>
        <p:nvSpPr>
          <p:cNvPr id="19" name="Shape 17"/>
          <p:cNvSpPr/>
          <p:nvPr/>
        </p:nvSpPr>
        <p:spPr>
          <a:xfrm>
            <a:off x="4983480" y="2651760"/>
            <a:ext cx="118872" cy="118872"/>
          </a:xfrm>
          <a:prstGeom prst="ellipse">
            <a:avLst/>
          </a:prstGeom>
          <a:solidFill>
            <a:srgbClr val="FEBC2E"/>
          </a:solidFill>
          <a:ln w="12700">
            <a:solidFill>
              <a:srgbClr val="FEBC2E"/>
            </a:solidFill>
            <a:prstDash val="solid"/>
          </a:ln>
        </p:spPr>
      </p:sp>
      <p:sp>
        <p:nvSpPr>
          <p:cNvPr id="20" name="Shape 18"/>
          <p:cNvSpPr/>
          <p:nvPr/>
        </p:nvSpPr>
        <p:spPr>
          <a:xfrm>
            <a:off x="5166360" y="2651760"/>
            <a:ext cx="118872" cy="118872"/>
          </a:xfrm>
          <a:prstGeom prst="ellipse">
            <a:avLst/>
          </a:prstGeom>
          <a:solidFill>
            <a:srgbClr val="28C840"/>
          </a:solidFill>
          <a:ln w="12700">
            <a:solidFill>
              <a:srgbClr val="28C840"/>
            </a:solidFill>
            <a:prstDash val="solid"/>
          </a:ln>
        </p:spPr>
      </p:sp>
      <p:sp>
        <p:nvSpPr>
          <p:cNvPr id="21" name="Text 19"/>
          <p:cNvSpPr txBox="1"/>
          <p:nvPr/>
        </p:nvSpPr>
        <p:spPr>
          <a:xfrm>
            <a:off x="4663440" y="2615184"/>
            <a:ext cx="4023360" cy="201168"/>
          </a:xfrm>
          <a:prstGeom prst="rect">
            <a:avLst/>
          </a:prstGeom>
          <a:noFill/>
          <a:ln/>
        </p:spPr>
        <p:txBody>
          <a:bodyPr wrap="square" lIns="0" tIns="0" rIns="0" bIns="0" rtlCol="0" anchor="ctr"/>
          <a:lstStyle/>
          <a:p>
            <a:pPr algn="ctr" indent="0" marL="0">
              <a:buNone/>
            </a:pPr>
            <a:r>
              <a:rPr lang="en-US" sz="1000" dirty="0">
                <a:solidFill>
                  <a:srgbClr val="9E9E9E"/>
                </a:solidFill>
              </a:rPr>
              <a:t>Terminal</a:t>
            </a:r>
            <a:endParaRPr lang="en-US" sz="1000" dirty="0"/>
          </a:p>
        </p:txBody>
      </p:sp>
      <p:sp>
        <p:nvSpPr>
          <p:cNvPr id="22" name="Text 20"/>
          <p:cNvSpPr txBox="1"/>
          <p:nvPr/>
        </p:nvSpPr>
        <p:spPr>
          <a:xfrm>
            <a:off x="4828032" y="2907792"/>
            <a:ext cx="3694176" cy="1234440"/>
          </a:xfrm>
          <a:prstGeom prst="rect">
            <a:avLst/>
          </a:prstGeom>
          <a:noFill/>
          <a:ln/>
        </p:spPr>
        <p:txBody>
          <a:bodyPr wrap="square" lIns="0" tIns="0" rIns="0" bIns="0" rtlCol="0" anchor="t"/>
          <a:lstStyle/>
          <a:p>
            <a:pPr indent="0" marL="0">
              <a:spcAft>
                <a:spcPts val="200"/>
              </a:spcAft>
              <a:buNone/>
            </a:pPr>
            <a:r>
              <a:rPr lang="en-US" sz="1300" dirty="0">
                <a:solidFill>
                  <a:srgbClr val="B9C7BF"/>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B9C7BF"/>
                </a:solidFill>
                <a:latin typeface="Courier New" pitchFamily="34" charset="0"/>
                <a:ea typeface="Courier New" pitchFamily="34" charset="-122"/>
                <a:cs typeface="Courier New" pitchFamily="34" charset="-120"/>
              </a:rPr>
              <a:t>2</a:t>
            </a:r>
            <a:endParaRPr lang="en-US" sz="1300" dirty="0"/>
          </a:p>
          <a:p>
            <a:pPr indent="0" marL="0">
              <a:spcAft>
                <a:spcPts val="200"/>
              </a:spcAft>
              <a:buNone/>
            </a:pPr>
            <a:r>
              <a:rPr lang="en-US" sz="1300" dirty="0">
                <a:solidFill>
                  <a:srgbClr val="B9C7BF"/>
                </a:solidFill>
                <a:latin typeface="Courier New" pitchFamily="34" charset="0"/>
                <a:ea typeface="Courier New" pitchFamily="34" charset="-122"/>
                <a:cs typeface="Courier New" pitchFamily="34" charset="-120"/>
              </a:rPr>
              <a:t>3</a:t>
            </a:r>
            <a:endParaRPr lang="en-US" sz="1300" dirty="0"/>
          </a:p>
          <a:p>
            <a:pPr indent="0" marL="0">
              <a:spcAft>
                <a:spcPts val="200"/>
              </a:spcAft>
              <a:buNone/>
            </a:pPr>
            <a:r>
              <a:rPr lang="en-US" sz="1300" dirty="0">
                <a:solidFill>
                  <a:srgbClr val="B9C7BF"/>
                </a:solidFill>
                <a:latin typeface="Courier New" pitchFamily="34" charset="0"/>
                <a:ea typeface="Courier New" pitchFamily="34" charset="-122"/>
                <a:cs typeface="Courier New" pitchFamily="34" charset="-120"/>
              </a:rPr>
              <a:t>4</a:t>
            </a:r>
            <a:endParaRPr lang="en-US" sz="1300" dirty="0"/>
          </a:p>
          <a:p>
            <a:pPr indent="0" marL="0">
              <a:spcAft>
                <a:spcPts val="200"/>
              </a:spcAft>
              <a:buNone/>
            </a:pPr>
            <a:r>
              <a:rPr lang="en-US" sz="1300" b="1" dirty="0">
                <a:solidFill>
                  <a:srgbClr val="F2A900"/>
                </a:solidFill>
                <a:latin typeface="Courier New" pitchFamily="34" charset="0"/>
                <a:ea typeface="Courier New" pitchFamily="34" charset="-122"/>
                <a:cs typeface="Courier New" pitchFamily="34" charset="-120"/>
              </a:rPr>
              <a:t>5</a:t>
            </a:r>
            <a:endParaRPr lang="en-US" sz="1300" dirty="0"/>
          </a:p>
        </p:txBody>
      </p:sp>
      <p:sp>
        <p:nvSpPr>
          <p:cNvPr id="23" name="Text 21"/>
          <p:cNvSpPr txBox="1"/>
          <p:nvPr/>
        </p:nvSpPr>
        <p:spPr>
          <a:xfrm>
            <a:off x="457200" y="4343400"/>
            <a:ext cx="8229600" cy="365760"/>
          </a:xfrm>
          <a:prstGeom prst="rect">
            <a:avLst/>
          </a:prstGeom>
          <a:noFill/>
          <a:ln/>
        </p:spPr>
        <p:txBody>
          <a:bodyPr wrap="square" lIns="0" tIns="0" rIns="0" bIns="0" rtlCol="0" anchor="ctr"/>
          <a:lstStyle/>
          <a:p>
            <a:pPr algn="ctr" indent="0" marL="0">
              <a:buNone/>
            </a:pPr>
            <a:r>
              <a:rPr lang="en-US" sz="1700" b="1" dirty="0">
                <a:solidFill>
                  <a:srgbClr val="0B3D2E"/>
                </a:solidFill>
              </a:rPr>
              <a:t>One line moved. Everything changed.</a:t>
            </a:r>
            <a:endParaRPr lang="en-US" sz="17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Step 2: run it and watch</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2</a:t>
            </a:r>
            <a:endParaRPr lang="en-US" sz="2000" dirty="0"/>
          </a:p>
        </p:txBody>
      </p:sp>
      <p:sp>
        <p:nvSpPr>
          <p:cNvPr id="6" name="Shape 4"/>
          <p:cNvSpPr/>
          <p:nvPr/>
        </p:nvSpPr>
        <p:spPr>
          <a:xfrm>
            <a:off x="457200" y="1005840"/>
            <a:ext cx="4754880" cy="2240280"/>
          </a:xfrm>
          <a:prstGeom prst="roundRect">
            <a:avLst>
              <a:gd name="adj" fmla="val 3265"/>
            </a:avLst>
          </a:prstGeom>
          <a:solidFill>
            <a:srgbClr val="14261F"/>
          </a:solidFill>
          <a:ln w="12700">
            <a:solidFill>
              <a:srgbClr val="14261F"/>
            </a:solidFill>
            <a:prstDash val="solid"/>
          </a:ln>
        </p:spPr>
      </p:sp>
      <p:sp>
        <p:nvSpPr>
          <p:cNvPr id="7" name="Text 5"/>
          <p:cNvSpPr txBox="1"/>
          <p:nvPr/>
        </p:nvSpPr>
        <p:spPr>
          <a:xfrm>
            <a:off x="594360" y="1069848"/>
            <a:ext cx="4480560" cy="219456"/>
          </a:xfrm>
          <a:prstGeom prst="rect">
            <a:avLst/>
          </a:prstGeom>
          <a:noFill/>
          <a:ln/>
        </p:spPr>
        <p:txBody>
          <a:bodyPr wrap="square" lIns="0" tIns="0" rIns="0" bIns="0" rtlCol="0" anchor="ctr"/>
          <a:lstStyle/>
          <a:p>
            <a:pPr indent="0" marL="0">
              <a:buNone/>
            </a:pPr>
            <a:r>
              <a:rPr lang="en-US" sz="1100" b="1" dirty="0">
                <a:solidFill>
                  <a:srgbClr val="F2A900"/>
                </a:solidFill>
              </a:rPr>
              <a:t>step2_counter_demo.py</a:t>
            </a:r>
            <a:pPr indent="0" marL="0">
              <a:buNone/>
            </a:pPr>
            <a:r>
              <a:rPr lang="en-US" sz="1100" dirty="0">
                <a:solidFill>
                  <a:srgbClr val="9FB8AD"/>
                </a:solidFill>
              </a:rPr>
              <a:t>  ·  lines 17–28</a:t>
            </a:r>
            <a:endParaRPr lang="en-US" sz="1100" dirty="0"/>
          </a:p>
        </p:txBody>
      </p:sp>
      <p:sp>
        <p:nvSpPr>
          <p:cNvPr id="8" name="Shape 6"/>
          <p:cNvSpPr/>
          <p:nvPr/>
        </p:nvSpPr>
        <p:spPr>
          <a:xfrm>
            <a:off x="566928" y="1325880"/>
            <a:ext cx="4535424" cy="0"/>
          </a:xfrm>
          <a:prstGeom prst="line">
            <a:avLst/>
          </a:prstGeom>
          <a:noFill/>
          <a:ln w="12700">
            <a:solidFill>
              <a:srgbClr val="2F4A3F"/>
            </a:solidFill>
            <a:prstDash val="solid"/>
          </a:ln>
        </p:spPr>
      </p:sp>
      <p:sp>
        <p:nvSpPr>
          <p:cNvPr id="9" name="Text 7"/>
          <p:cNvSpPr txBox="1"/>
          <p:nvPr/>
        </p:nvSpPr>
        <p:spPr>
          <a:xfrm>
            <a:off x="548640" y="1389888"/>
            <a:ext cx="4572000" cy="1783080"/>
          </a:xfrm>
          <a:prstGeom prst="rect">
            <a:avLst/>
          </a:prstGeom>
          <a:noFill/>
          <a:ln/>
        </p:spPr>
        <p:txBody>
          <a:bodyPr wrap="square" lIns="0" tIns="0" rIns="0" bIns="0" rtlCol="0" anchor="t"/>
          <a:lstStyle/>
          <a:p>
            <a:pPr indent="0" marL="0">
              <a:buNone/>
            </a:pPr>
            <a:r>
              <a:rPr lang="en-US" sz="900" dirty="0">
                <a:solidFill>
                  <a:srgbClr val="6F8A7F"/>
                </a:solidFill>
                <a:latin typeface="Courier New" pitchFamily="34" charset="0"/>
                <a:ea typeface="Courier New" pitchFamily="34" charset="-122"/>
                <a:cs typeface="Courier New" pitchFamily="34" charset="-120"/>
              </a:rPr>
              <a:t> 17  </a:t>
            </a:r>
            <a:pPr indent="0" marL="0">
              <a:buNone/>
            </a:pPr>
            <a:r>
              <a:rPr lang="en-US" sz="900" dirty="0">
                <a:solidFill>
                  <a:srgbClr val="E6F2EC"/>
                </a:solidFill>
                <a:latin typeface="Courier New" pitchFamily="34" charset="0"/>
                <a:ea typeface="Courier New" pitchFamily="34" charset="-122"/>
                <a:cs typeface="Courier New" pitchFamily="34" charset="-120"/>
              </a:rPr>
              <a:t>print("WRONG: count is made again every time round the loop")</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18  </a:t>
            </a:r>
            <a:pPr indent="0" marL="0">
              <a:buNone/>
            </a:pPr>
            <a:r>
              <a:rPr lang="en-US" sz="900" dirty="0">
                <a:solidFill>
                  <a:srgbClr val="E6F2EC"/>
                </a:solidFill>
                <a:latin typeface="Courier New" pitchFamily="34" charset="0"/>
                <a:ea typeface="Courier New" pitchFamily="34" charset="-122"/>
                <a:cs typeface="Courier New" pitchFamily="34" charset="-120"/>
              </a:rPr>
              <a:t>for round_number in range(1, 6):</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19  </a:t>
            </a:r>
            <a:pPr indent="0" marL="0">
              <a:buNone/>
            </a:pPr>
            <a:r>
              <a:rPr lang="en-US" sz="900" dirty="0">
                <a:solidFill>
                  <a:srgbClr val="E6F2EC"/>
                </a:solidFill>
                <a:latin typeface="Courier New" pitchFamily="34" charset="0"/>
                <a:ea typeface="Courier New" pitchFamily="34" charset="-122"/>
                <a:cs typeface="Courier New" pitchFamily="34" charset="-120"/>
              </a:rPr>
              <a:t>    count = 0            # made again, old value lost</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20  </a:t>
            </a:r>
            <a:pPr indent="0" marL="0">
              <a:buNone/>
            </a:pPr>
            <a:r>
              <a:rPr lang="en-US" sz="900" dirty="0">
                <a:solidFill>
                  <a:srgbClr val="E6F2EC"/>
                </a:solidFill>
                <a:latin typeface="Courier New" pitchFamily="34" charset="0"/>
                <a:ea typeface="Courier New" pitchFamily="34" charset="-122"/>
                <a:cs typeface="Courier New" pitchFamily="34" charset="-120"/>
              </a:rPr>
              <a:t>    count = count + 1</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21  </a:t>
            </a:r>
            <a:pPr indent="0" marL="0">
              <a:buNone/>
            </a:pPr>
            <a:r>
              <a:rPr lang="en-US" sz="900" dirty="0">
                <a:solidFill>
                  <a:srgbClr val="E6F2EC"/>
                </a:solidFill>
                <a:latin typeface="Courier New" pitchFamily="34" charset="0"/>
                <a:ea typeface="Courier New" pitchFamily="34" charset="-122"/>
                <a:cs typeface="Courier New" pitchFamily="34" charset="-120"/>
              </a:rPr>
              <a:t>    print("  round", round_number, "count is", count)</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24  </a:t>
            </a:r>
            <a:pPr indent="0" marL="0">
              <a:buNone/>
            </a:pPr>
            <a:r>
              <a:rPr lang="en-US" sz="900" dirty="0">
                <a:solidFill>
                  <a:srgbClr val="E6F2EC"/>
                </a:solidFill>
                <a:latin typeface="Courier New" pitchFamily="34" charset="0"/>
                <a:ea typeface="Courier New" pitchFamily="34" charset="-122"/>
                <a:cs typeface="Courier New" pitchFamily="34" charset="-120"/>
              </a:rPr>
              <a:t>print("RIGHT: count is made ONCE, before the loop")</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25  </a:t>
            </a:r>
            <a:pPr indent="0" marL="0">
              <a:buNone/>
            </a:pPr>
            <a:r>
              <a:rPr lang="en-US" sz="900" dirty="0">
                <a:solidFill>
                  <a:srgbClr val="E6F2EC"/>
                </a:solidFill>
                <a:latin typeface="Courier New" pitchFamily="34" charset="0"/>
                <a:ea typeface="Courier New" pitchFamily="34" charset="-122"/>
                <a:cs typeface="Courier New" pitchFamily="34" charset="-120"/>
              </a:rPr>
              <a:t>count = 0                # made once, the loop adds to it</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26  </a:t>
            </a:r>
            <a:pPr indent="0" marL="0">
              <a:buNone/>
            </a:pPr>
            <a:r>
              <a:rPr lang="en-US" sz="900" dirty="0">
                <a:solidFill>
                  <a:srgbClr val="E6F2EC"/>
                </a:solidFill>
                <a:latin typeface="Courier New" pitchFamily="34" charset="0"/>
                <a:ea typeface="Courier New" pitchFamily="34" charset="-122"/>
                <a:cs typeface="Courier New" pitchFamily="34" charset="-120"/>
              </a:rPr>
              <a:t>for round_number in range(1, 6):</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27  </a:t>
            </a:r>
            <a:pPr indent="0" marL="0">
              <a:buNone/>
            </a:pPr>
            <a:r>
              <a:rPr lang="en-US" sz="900" dirty="0">
                <a:solidFill>
                  <a:srgbClr val="E6F2EC"/>
                </a:solidFill>
                <a:latin typeface="Courier New" pitchFamily="34" charset="0"/>
                <a:ea typeface="Courier New" pitchFamily="34" charset="-122"/>
                <a:cs typeface="Courier New" pitchFamily="34" charset="-120"/>
              </a:rPr>
              <a:t>    count = count + 1</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28  </a:t>
            </a:r>
            <a:pPr indent="0" marL="0">
              <a:buNone/>
            </a:pPr>
            <a:r>
              <a:rPr lang="en-US" sz="900" dirty="0">
                <a:solidFill>
                  <a:srgbClr val="E6F2EC"/>
                </a:solidFill>
                <a:latin typeface="Courier New" pitchFamily="34" charset="0"/>
                <a:ea typeface="Courier New" pitchFamily="34" charset="-122"/>
                <a:cs typeface="Courier New" pitchFamily="34" charset="-120"/>
              </a:rPr>
              <a:t>    print("  round", round_number, "count is", count)</a:t>
            </a:r>
            <a:endParaRPr lang="en-US" sz="900" dirty="0"/>
          </a:p>
        </p:txBody>
      </p:sp>
      <p:sp>
        <p:nvSpPr>
          <p:cNvPr id="10" name="Shape 8"/>
          <p:cNvSpPr/>
          <p:nvPr/>
        </p:nvSpPr>
        <p:spPr>
          <a:xfrm>
            <a:off x="457200" y="3383280"/>
            <a:ext cx="4754880" cy="502920"/>
          </a:xfrm>
          <a:prstGeom prst="roundRect">
            <a:avLst>
              <a:gd name="adj" fmla="val 14545"/>
            </a:avLst>
          </a:prstGeom>
          <a:solidFill>
            <a:srgbClr val="DDF3E9"/>
          </a:solidFill>
          <a:ln w="15875">
            <a:solidFill>
              <a:srgbClr val="1F8A70"/>
            </a:solidFill>
            <a:prstDash val="solid"/>
          </a:ln>
        </p:spPr>
      </p:sp>
      <p:sp>
        <p:nvSpPr>
          <p:cNvPr id="11" name="Text 9"/>
          <p:cNvSpPr txBox="1"/>
          <p:nvPr/>
        </p:nvSpPr>
        <p:spPr>
          <a:xfrm>
            <a:off x="594360" y="3383280"/>
            <a:ext cx="4480560" cy="50292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The first count never passes 1. The second counts to 5.</a:t>
            </a:r>
            <a:endParaRPr lang="en-US" sz="1400" dirty="0"/>
          </a:p>
        </p:txBody>
      </p:sp>
      <p:sp>
        <p:nvSpPr>
          <p:cNvPr id="12" name="Text 10"/>
          <p:cNvSpPr txBox="1"/>
          <p:nvPr/>
        </p:nvSpPr>
        <p:spPr>
          <a:xfrm>
            <a:off x="457200" y="4023360"/>
            <a:ext cx="4754880" cy="457200"/>
          </a:xfrm>
          <a:prstGeom prst="rect">
            <a:avLst/>
          </a:prstGeom>
          <a:noFill/>
          <a:ln/>
        </p:spPr>
        <p:txBody>
          <a:bodyPr wrap="square" lIns="0" tIns="0" rIns="0" bIns="0" rtlCol="0" anchor="ctr"/>
          <a:lstStyle/>
          <a:p>
            <a:pPr indent="0" marL="0">
              <a:buNone/>
            </a:pPr>
            <a:r>
              <a:rPr lang="en-US" sz="1300" i="1" dirty="0">
                <a:solidFill>
                  <a:srgbClr val="6B7280"/>
                </a:solidFill>
              </a:rPr>
              <a:t>No wiring. This one runs even if your circuit is in pieces.</a:t>
            </a:r>
            <a:endParaRPr lang="en-US" sz="1300" dirty="0"/>
          </a:p>
        </p:txBody>
      </p:sp>
      <p:sp>
        <p:nvSpPr>
          <p:cNvPr id="13" name="Shape 11"/>
          <p:cNvSpPr/>
          <p:nvPr/>
        </p:nvSpPr>
        <p:spPr>
          <a:xfrm>
            <a:off x="5394960" y="1097280"/>
            <a:ext cx="3291840" cy="3017520"/>
          </a:xfrm>
          <a:prstGeom prst="roundRect">
            <a:avLst>
              <a:gd name="adj" fmla="val 2424"/>
            </a:avLst>
          </a:prstGeom>
          <a:solidFill>
            <a:srgbClr val="1E1E1E"/>
          </a:solidFill>
          <a:ln w="12700">
            <a:solidFill>
              <a:srgbClr val="3A3A3A"/>
            </a:solidFill>
            <a:prstDash val="solid"/>
          </a:ln>
        </p:spPr>
      </p:sp>
      <p:sp>
        <p:nvSpPr>
          <p:cNvPr id="14" name="Shape 12"/>
          <p:cNvSpPr/>
          <p:nvPr/>
        </p:nvSpPr>
        <p:spPr>
          <a:xfrm>
            <a:off x="5532120" y="1188720"/>
            <a:ext cx="118872" cy="118872"/>
          </a:xfrm>
          <a:prstGeom prst="ellipse">
            <a:avLst/>
          </a:prstGeom>
          <a:solidFill>
            <a:srgbClr val="FF5F57"/>
          </a:solidFill>
          <a:ln w="12700">
            <a:solidFill>
              <a:srgbClr val="FF5F57"/>
            </a:solidFill>
            <a:prstDash val="solid"/>
          </a:ln>
        </p:spPr>
      </p:sp>
      <p:sp>
        <p:nvSpPr>
          <p:cNvPr id="15" name="Shape 13"/>
          <p:cNvSpPr/>
          <p:nvPr/>
        </p:nvSpPr>
        <p:spPr>
          <a:xfrm>
            <a:off x="5715000" y="1188720"/>
            <a:ext cx="118872" cy="118872"/>
          </a:xfrm>
          <a:prstGeom prst="ellipse">
            <a:avLst/>
          </a:prstGeom>
          <a:solidFill>
            <a:srgbClr val="FEBC2E"/>
          </a:solidFill>
          <a:ln w="12700">
            <a:solidFill>
              <a:srgbClr val="FEBC2E"/>
            </a:solidFill>
            <a:prstDash val="solid"/>
          </a:ln>
        </p:spPr>
      </p:sp>
      <p:sp>
        <p:nvSpPr>
          <p:cNvPr id="16" name="Shape 14"/>
          <p:cNvSpPr/>
          <p:nvPr/>
        </p:nvSpPr>
        <p:spPr>
          <a:xfrm>
            <a:off x="5897880" y="1188720"/>
            <a:ext cx="118872" cy="118872"/>
          </a:xfrm>
          <a:prstGeom prst="ellipse">
            <a:avLst/>
          </a:prstGeom>
          <a:solidFill>
            <a:srgbClr val="28C840"/>
          </a:solidFill>
          <a:ln w="12700">
            <a:solidFill>
              <a:srgbClr val="28C840"/>
            </a:solidFill>
            <a:prstDash val="solid"/>
          </a:ln>
        </p:spPr>
      </p:sp>
      <p:sp>
        <p:nvSpPr>
          <p:cNvPr id="17" name="Text 15"/>
          <p:cNvSpPr txBox="1"/>
          <p:nvPr/>
        </p:nvSpPr>
        <p:spPr>
          <a:xfrm>
            <a:off x="5394960" y="1152144"/>
            <a:ext cx="3291840" cy="201168"/>
          </a:xfrm>
          <a:prstGeom prst="rect">
            <a:avLst/>
          </a:prstGeom>
          <a:noFill/>
          <a:ln/>
        </p:spPr>
        <p:txBody>
          <a:bodyPr wrap="square" lIns="0" tIns="0" rIns="0" bIns="0" rtlCol="0" anchor="ctr"/>
          <a:lstStyle/>
          <a:p>
            <a:pPr algn="ctr" indent="0" marL="0">
              <a:buNone/>
            </a:pPr>
            <a:r>
              <a:rPr lang="en-US" sz="1000" dirty="0">
                <a:solidFill>
                  <a:srgbClr val="9E9E9E"/>
                </a:solidFill>
              </a:rPr>
              <a:t>Terminal</a:t>
            </a:r>
            <a:endParaRPr lang="en-US" sz="1000" dirty="0"/>
          </a:p>
        </p:txBody>
      </p:sp>
      <p:sp>
        <p:nvSpPr>
          <p:cNvPr id="18" name="Text 16"/>
          <p:cNvSpPr txBox="1"/>
          <p:nvPr/>
        </p:nvSpPr>
        <p:spPr>
          <a:xfrm>
            <a:off x="5559552" y="1444752"/>
            <a:ext cx="2962656" cy="2560320"/>
          </a:xfrm>
          <a:prstGeom prst="rect">
            <a:avLst/>
          </a:prstGeom>
          <a:noFill/>
          <a:ln/>
        </p:spPr>
        <p:txBody>
          <a:bodyPr wrap="square" lIns="0" tIns="0" rIns="0" bIns="0" rtlCol="0" anchor="t"/>
          <a:lstStyle/>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WRONG: count made every round</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round 1 count is 1</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round 2 count is 1</a:t>
            </a:r>
            <a:endParaRPr lang="en-US" sz="1100" dirty="0"/>
          </a:p>
          <a:p>
            <a:pPr indent="0" marL="0">
              <a:spcAft>
                <a:spcPts val="200"/>
              </a:spcAft>
              <a:buNone/>
            </a:pPr>
            <a:r>
              <a:rPr lang="en-US" sz="1100" b="1" dirty="0">
                <a:solidFill>
                  <a:srgbClr val="F2A900"/>
                </a:solidFill>
                <a:latin typeface="Courier New" pitchFamily="34" charset="0"/>
                <a:ea typeface="Courier New" pitchFamily="34" charset="-122"/>
                <a:cs typeface="Courier New" pitchFamily="34" charset="-120"/>
              </a:rPr>
              <a:t>  round 3 count is 1</a:t>
            </a:r>
            <a:endParaRPr lang="en-US" sz="1100" dirty="0"/>
          </a:p>
          <a:p>
            <a:pPr indent="0" marL="0">
              <a:spcAft>
                <a:spcPts val="200"/>
              </a:spcAft>
              <a:buNone/>
            </a:pP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RIGHT: count made once</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round 1 count is 1</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round 2 count is 2</a:t>
            </a:r>
            <a:endParaRPr lang="en-US" sz="1100" dirty="0"/>
          </a:p>
          <a:p>
            <a:pPr indent="0" marL="0">
              <a:spcAft>
                <a:spcPts val="200"/>
              </a:spcAft>
              <a:buNone/>
            </a:pPr>
            <a:r>
              <a:rPr lang="en-US" sz="1100" b="1" dirty="0">
                <a:solidFill>
                  <a:srgbClr val="F2A900"/>
                </a:solidFill>
                <a:latin typeface="Courier New" pitchFamily="34" charset="0"/>
                <a:ea typeface="Courier New" pitchFamily="34" charset="-122"/>
                <a:cs typeface="Courier New" pitchFamily="34" charset="-120"/>
              </a:rPr>
              <a:t>  round 3 count is 3</a:t>
            </a:r>
            <a:endParaRPr lang="en-US" sz="11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Remembering the LAST one</a:t>
            </a:r>
            <a:endParaRPr lang="en-US" sz="3000" dirty="0"/>
          </a:p>
        </p:txBody>
      </p:sp>
      <p:sp>
        <p:nvSpPr>
          <p:cNvPr id="3" name="Shape 1"/>
          <p:cNvSpPr/>
          <p:nvPr/>
        </p:nvSpPr>
        <p:spPr>
          <a:xfrm>
            <a:off x="548640" y="1234440"/>
            <a:ext cx="841248" cy="685800"/>
          </a:xfrm>
          <a:prstGeom prst="roundRect">
            <a:avLst>
              <a:gd name="adj" fmla="val 10667"/>
            </a:avLst>
          </a:prstGeom>
          <a:solidFill>
            <a:srgbClr val="EEF5F1"/>
          </a:solidFill>
          <a:ln w="12700">
            <a:solidFill>
              <a:srgbClr val="D3E4DB"/>
            </a:solidFill>
            <a:prstDash val="solid"/>
          </a:ln>
        </p:spPr>
      </p:sp>
      <p:sp>
        <p:nvSpPr>
          <p:cNvPr id="4" name="Text 2"/>
          <p:cNvSpPr txBox="1"/>
          <p:nvPr/>
        </p:nvSpPr>
        <p:spPr>
          <a:xfrm>
            <a:off x="548640" y="1234440"/>
            <a:ext cx="841248" cy="685800"/>
          </a:xfrm>
          <a:prstGeom prst="rect">
            <a:avLst/>
          </a:prstGeom>
          <a:noFill/>
          <a:ln/>
        </p:spPr>
        <p:txBody>
          <a:bodyPr wrap="square" lIns="0" tIns="0" rIns="0" bIns="0" rtlCol="0" anchor="ctr"/>
          <a:lstStyle/>
          <a:p>
            <a:pPr algn="ctr" indent="0" marL="0">
              <a:buNone/>
            </a:pPr>
            <a:r>
              <a:rPr lang="en-US" sz="2000" b="1" dirty="0">
                <a:solidFill>
                  <a:srgbClr val="6B7280"/>
                </a:solidFill>
              </a:rPr>
              <a:t>2</a:t>
            </a:r>
            <a:endParaRPr lang="en-US" sz="2000" dirty="0"/>
          </a:p>
        </p:txBody>
      </p:sp>
      <p:sp>
        <p:nvSpPr>
          <p:cNvPr id="5" name="Shape 3"/>
          <p:cNvSpPr/>
          <p:nvPr/>
        </p:nvSpPr>
        <p:spPr>
          <a:xfrm>
            <a:off x="1536192" y="1234440"/>
            <a:ext cx="841248" cy="685800"/>
          </a:xfrm>
          <a:prstGeom prst="roundRect">
            <a:avLst>
              <a:gd name="adj" fmla="val 10667"/>
            </a:avLst>
          </a:prstGeom>
          <a:solidFill>
            <a:srgbClr val="EEF5F1"/>
          </a:solidFill>
          <a:ln w="12700">
            <a:solidFill>
              <a:srgbClr val="D3E4DB"/>
            </a:solidFill>
            <a:prstDash val="solid"/>
          </a:ln>
        </p:spPr>
      </p:sp>
      <p:sp>
        <p:nvSpPr>
          <p:cNvPr id="6" name="Text 4"/>
          <p:cNvSpPr txBox="1"/>
          <p:nvPr/>
        </p:nvSpPr>
        <p:spPr>
          <a:xfrm>
            <a:off x="1536192" y="1234440"/>
            <a:ext cx="841248" cy="685800"/>
          </a:xfrm>
          <a:prstGeom prst="rect">
            <a:avLst/>
          </a:prstGeom>
          <a:noFill/>
          <a:ln/>
        </p:spPr>
        <p:txBody>
          <a:bodyPr wrap="square" lIns="0" tIns="0" rIns="0" bIns="0" rtlCol="0" anchor="ctr"/>
          <a:lstStyle/>
          <a:p>
            <a:pPr algn="ctr" indent="0" marL="0">
              <a:buNone/>
            </a:pPr>
            <a:r>
              <a:rPr lang="en-US" sz="2000" b="1" dirty="0">
                <a:solidFill>
                  <a:srgbClr val="6B7280"/>
                </a:solidFill>
              </a:rPr>
              <a:t>2</a:t>
            </a:r>
            <a:endParaRPr lang="en-US" sz="2000" dirty="0"/>
          </a:p>
        </p:txBody>
      </p:sp>
      <p:sp>
        <p:nvSpPr>
          <p:cNvPr id="7" name="Shape 5"/>
          <p:cNvSpPr/>
          <p:nvPr/>
        </p:nvSpPr>
        <p:spPr>
          <a:xfrm>
            <a:off x="2523744" y="1234440"/>
            <a:ext cx="841248" cy="685800"/>
          </a:xfrm>
          <a:prstGeom prst="roundRect">
            <a:avLst>
              <a:gd name="adj" fmla="val 10667"/>
            </a:avLst>
          </a:prstGeom>
          <a:solidFill>
            <a:srgbClr val="FFF1C2"/>
          </a:solidFill>
          <a:ln w="19050">
            <a:solidFill>
              <a:srgbClr val="E0A800"/>
            </a:solidFill>
            <a:prstDash val="solid"/>
          </a:ln>
        </p:spPr>
      </p:sp>
      <p:sp>
        <p:nvSpPr>
          <p:cNvPr id="8" name="Text 6"/>
          <p:cNvSpPr txBox="1"/>
          <p:nvPr/>
        </p:nvSpPr>
        <p:spPr>
          <a:xfrm>
            <a:off x="2523744" y="1234440"/>
            <a:ext cx="841248" cy="685800"/>
          </a:xfrm>
          <a:prstGeom prst="rect">
            <a:avLst/>
          </a:prstGeom>
          <a:noFill/>
          <a:ln/>
        </p:spPr>
        <p:txBody>
          <a:bodyPr wrap="square" lIns="0" tIns="0" rIns="0" bIns="0" rtlCol="0" anchor="ctr"/>
          <a:lstStyle/>
          <a:p>
            <a:pPr algn="ctr" indent="0" marL="0">
              <a:buNone/>
            </a:pPr>
            <a:r>
              <a:rPr lang="en-US" sz="2000" b="1" dirty="0">
                <a:solidFill>
                  <a:srgbClr val="9A6B00"/>
                </a:solidFill>
              </a:rPr>
              <a:t>7</a:t>
            </a:r>
            <a:endParaRPr lang="en-US" sz="2000" dirty="0"/>
          </a:p>
        </p:txBody>
      </p:sp>
      <p:sp>
        <p:nvSpPr>
          <p:cNvPr id="9" name="Shape 7"/>
          <p:cNvSpPr/>
          <p:nvPr/>
        </p:nvSpPr>
        <p:spPr>
          <a:xfrm>
            <a:off x="2779776" y="2011680"/>
            <a:ext cx="329184" cy="329184"/>
          </a:xfrm>
          <a:prstGeom prst="ellipse">
            <a:avLst/>
          </a:prstGeom>
          <a:solidFill>
            <a:srgbClr val="1F8A70"/>
          </a:solidFill>
          <a:ln w="12700">
            <a:solidFill>
              <a:srgbClr val="1F8A70"/>
            </a:solidFill>
            <a:prstDash val="solid"/>
          </a:ln>
        </p:spPr>
      </p:sp>
      <p:sp>
        <p:nvSpPr>
          <p:cNvPr id="10" name="Text 8"/>
          <p:cNvSpPr txBox="1"/>
          <p:nvPr/>
        </p:nvSpPr>
        <p:spPr>
          <a:xfrm>
            <a:off x="2779776" y="20116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9"/>
          <p:cNvSpPr/>
          <p:nvPr/>
        </p:nvSpPr>
        <p:spPr>
          <a:xfrm>
            <a:off x="3511296" y="1234440"/>
            <a:ext cx="841248" cy="685800"/>
          </a:xfrm>
          <a:prstGeom prst="roundRect">
            <a:avLst>
              <a:gd name="adj" fmla="val 10667"/>
            </a:avLst>
          </a:prstGeom>
          <a:solidFill>
            <a:srgbClr val="FFF1C2"/>
          </a:solidFill>
          <a:ln w="19050">
            <a:solidFill>
              <a:srgbClr val="E0A800"/>
            </a:solidFill>
            <a:prstDash val="solid"/>
          </a:ln>
        </p:spPr>
      </p:sp>
      <p:sp>
        <p:nvSpPr>
          <p:cNvPr id="12" name="Text 10"/>
          <p:cNvSpPr txBox="1"/>
          <p:nvPr/>
        </p:nvSpPr>
        <p:spPr>
          <a:xfrm>
            <a:off x="3511296" y="1234440"/>
            <a:ext cx="841248" cy="685800"/>
          </a:xfrm>
          <a:prstGeom prst="rect">
            <a:avLst/>
          </a:prstGeom>
          <a:noFill/>
          <a:ln/>
        </p:spPr>
        <p:txBody>
          <a:bodyPr wrap="square" lIns="0" tIns="0" rIns="0" bIns="0" rtlCol="0" anchor="ctr"/>
          <a:lstStyle/>
          <a:p>
            <a:pPr algn="ctr" indent="0" marL="0">
              <a:buNone/>
            </a:pPr>
            <a:r>
              <a:rPr lang="en-US" sz="2000" b="1" dirty="0">
                <a:solidFill>
                  <a:srgbClr val="9A6B00"/>
                </a:solidFill>
              </a:rPr>
              <a:t>8</a:t>
            </a:r>
            <a:endParaRPr lang="en-US" sz="2000" dirty="0"/>
          </a:p>
        </p:txBody>
      </p:sp>
      <p:sp>
        <p:nvSpPr>
          <p:cNvPr id="13" name="Shape 11"/>
          <p:cNvSpPr/>
          <p:nvPr/>
        </p:nvSpPr>
        <p:spPr>
          <a:xfrm>
            <a:off x="4498848" y="1234440"/>
            <a:ext cx="841248" cy="685800"/>
          </a:xfrm>
          <a:prstGeom prst="roundRect">
            <a:avLst>
              <a:gd name="adj" fmla="val 10667"/>
            </a:avLst>
          </a:prstGeom>
          <a:solidFill>
            <a:srgbClr val="EEF5F1"/>
          </a:solidFill>
          <a:ln w="12700">
            <a:solidFill>
              <a:srgbClr val="D3E4DB"/>
            </a:solidFill>
            <a:prstDash val="solid"/>
          </a:ln>
        </p:spPr>
      </p:sp>
      <p:sp>
        <p:nvSpPr>
          <p:cNvPr id="14" name="Text 12"/>
          <p:cNvSpPr txBox="1"/>
          <p:nvPr/>
        </p:nvSpPr>
        <p:spPr>
          <a:xfrm>
            <a:off x="4498848" y="1234440"/>
            <a:ext cx="841248" cy="685800"/>
          </a:xfrm>
          <a:prstGeom prst="rect">
            <a:avLst/>
          </a:prstGeom>
          <a:noFill/>
          <a:ln/>
        </p:spPr>
        <p:txBody>
          <a:bodyPr wrap="square" lIns="0" tIns="0" rIns="0" bIns="0" rtlCol="0" anchor="ctr"/>
          <a:lstStyle/>
          <a:p>
            <a:pPr algn="ctr" indent="0" marL="0">
              <a:buNone/>
            </a:pPr>
            <a:r>
              <a:rPr lang="en-US" sz="2000" b="1" dirty="0">
                <a:solidFill>
                  <a:srgbClr val="6B7280"/>
                </a:solidFill>
              </a:rPr>
              <a:t>2</a:t>
            </a:r>
            <a:endParaRPr lang="en-US" sz="2000" dirty="0"/>
          </a:p>
        </p:txBody>
      </p:sp>
      <p:sp>
        <p:nvSpPr>
          <p:cNvPr id="15" name="Shape 13"/>
          <p:cNvSpPr/>
          <p:nvPr/>
        </p:nvSpPr>
        <p:spPr>
          <a:xfrm>
            <a:off x="5486400" y="1234440"/>
            <a:ext cx="841248" cy="685800"/>
          </a:xfrm>
          <a:prstGeom prst="roundRect">
            <a:avLst>
              <a:gd name="adj" fmla="val 10667"/>
            </a:avLst>
          </a:prstGeom>
          <a:solidFill>
            <a:srgbClr val="FFF1C2"/>
          </a:solidFill>
          <a:ln w="19050">
            <a:solidFill>
              <a:srgbClr val="E0A800"/>
            </a:solidFill>
            <a:prstDash val="solid"/>
          </a:ln>
        </p:spPr>
      </p:sp>
      <p:sp>
        <p:nvSpPr>
          <p:cNvPr id="16" name="Text 14"/>
          <p:cNvSpPr txBox="1"/>
          <p:nvPr/>
        </p:nvSpPr>
        <p:spPr>
          <a:xfrm>
            <a:off x="5486400" y="1234440"/>
            <a:ext cx="841248" cy="685800"/>
          </a:xfrm>
          <a:prstGeom prst="rect">
            <a:avLst/>
          </a:prstGeom>
          <a:noFill/>
          <a:ln/>
        </p:spPr>
        <p:txBody>
          <a:bodyPr wrap="square" lIns="0" tIns="0" rIns="0" bIns="0" rtlCol="0" anchor="ctr"/>
          <a:lstStyle/>
          <a:p>
            <a:pPr algn="ctr" indent="0" marL="0">
              <a:buNone/>
            </a:pPr>
            <a:r>
              <a:rPr lang="en-US" sz="2000" b="1" dirty="0">
                <a:solidFill>
                  <a:srgbClr val="9A6B00"/>
                </a:solidFill>
              </a:rPr>
              <a:t>9</a:t>
            </a:r>
            <a:endParaRPr lang="en-US" sz="2000" dirty="0"/>
          </a:p>
        </p:txBody>
      </p:sp>
      <p:sp>
        <p:nvSpPr>
          <p:cNvPr id="17" name="Shape 15"/>
          <p:cNvSpPr/>
          <p:nvPr/>
        </p:nvSpPr>
        <p:spPr>
          <a:xfrm>
            <a:off x="5742432" y="2011680"/>
            <a:ext cx="329184" cy="329184"/>
          </a:xfrm>
          <a:prstGeom prst="ellipse">
            <a:avLst/>
          </a:prstGeom>
          <a:solidFill>
            <a:srgbClr val="1F8A70"/>
          </a:solidFill>
          <a:ln w="12700">
            <a:solidFill>
              <a:srgbClr val="1F8A70"/>
            </a:solidFill>
            <a:prstDash val="solid"/>
          </a:ln>
        </p:spPr>
      </p:sp>
      <p:sp>
        <p:nvSpPr>
          <p:cNvPr id="18" name="Text 16"/>
          <p:cNvSpPr txBox="1"/>
          <p:nvPr/>
        </p:nvSpPr>
        <p:spPr>
          <a:xfrm>
            <a:off x="5742432" y="20116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9" name="Shape 17"/>
          <p:cNvSpPr/>
          <p:nvPr/>
        </p:nvSpPr>
        <p:spPr>
          <a:xfrm>
            <a:off x="6473952" y="1234440"/>
            <a:ext cx="841248" cy="685800"/>
          </a:xfrm>
          <a:prstGeom prst="roundRect">
            <a:avLst>
              <a:gd name="adj" fmla="val 10667"/>
            </a:avLst>
          </a:prstGeom>
          <a:solidFill>
            <a:srgbClr val="FFF1C2"/>
          </a:solidFill>
          <a:ln w="19050">
            <a:solidFill>
              <a:srgbClr val="E0A800"/>
            </a:solidFill>
            <a:prstDash val="solid"/>
          </a:ln>
        </p:spPr>
      </p:sp>
      <p:sp>
        <p:nvSpPr>
          <p:cNvPr id="20" name="Text 18"/>
          <p:cNvSpPr txBox="1"/>
          <p:nvPr/>
        </p:nvSpPr>
        <p:spPr>
          <a:xfrm>
            <a:off x="6473952" y="1234440"/>
            <a:ext cx="841248" cy="685800"/>
          </a:xfrm>
          <a:prstGeom prst="rect">
            <a:avLst/>
          </a:prstGeom>
          <a:noFill/>
          <a:ln/>
        </p:spPr>
        <p:txBody>
          <a:bodyPr wrap="square" lIns="0" tIns="0" rIns="0" bIns="0" rtlCol="0" anchor="ctr"/>
          <a:lstStyle/>
          <a:p>
            <a:pPr algn="ctr" indent="0" marL="0">
              <a:buNone/>
            </a:pPr>
            <a:r>
              <a:rPr lang="en-US" sz="2000" b="1" dirty="0">
                <a:solidFill>
                  <a:srgbClr val="9A6B00"/>
                </a:solidFill>
              </a:rPr>
              <a:t>9</a:t>
            </a:r>
            <a:endParaRPr lang="en-US" sz="2000" dirty="0"/>
          </a:p>
        </p:txBody>
      </p:sp>
      <p:sp>
        <p:nvSpPr>
          <p:cNvPr id="21" name="Shape 19"/>
          <p:cNvSpPr/>
          <p:nvPr/>
        </p:nvSpPr>
        <p:spPr>
          <a:xfrm>
            <a:off x="7461504" y="1234440"/>
            <a:ext cx="841248" cy="685800"/>
          </a:xfrm>
          <a:prstGeom prst="roundRect">
            <a:avLst>
              <a:gd name="adj" fmla="val 10667"/>
            </a:avLst>
          </a:prstGeom>
          <a:solidFill>
            <a:srgbClr val="EEF5F1"/>
          </a:solidFill>
          <a:ln w="12700">
            <a:solidFill>
              <a:srgbClr val="D3E4DB"/>
            </a:solidFill>
            <a:prstDash val="solid"/>
          </a:ln>
        </p:spPr>
      </p:sp>
      <p:sp>
        <p:nvSpPr>
          <p:cNvPr id="22" name="Text 20"/>
          <p:cNvSpPr txBox="1"/>
          <p:nvPr/>
        </p:nvSpPr>
        <p:spPr>
          <a:xfrm>
            <a:off x="7461504" y="1234440"/>
            <a:ext cx="841248" cy="685800"/>
          </a:xfrm>
          <a:prstGeom prst="rect">
            <a:avLst/>
          </a:prstGeom>
          <a:noFill/>
          <a:ln/>
        </p:spPr>
        <p:txBody>
          <a:bodyPr wrap="square" lIns="0" tIns="0" rIns="0" bIns="0" rtlCol="0" anchor="ctr"/>
          <a:lstStyle/>
          <a:p>
            <a:pPr algn="ctr" indent="0" marL="0">
              <a:buNone/>
            </a:pPr>
            <a:r>
              <a:rPr lang="en-US" sz="2000" b="1" dirty="0">
                <a:solidFill>
                  <a:srgbClr val="6B7280"/>
                </a:solidFill>
              </a:rPr>
              <a:t>2</a:t>
            </a:r>
            <a:endParaRPr lang="en-US" sz="2000" dirty="0"/>
          </a:p>
        </p:txBody>
      </p:sp>
      <p:sp>
        <p:nvSpPr>
          <p:cNvPr id="23" name="Text 21"/>
          <p:cNvSpPr txBox="1"/>
          <p:nvPr/>
        </p:nvSpPr>
        <p:spPr>
          <a:xfrm>
            <a:off x="548640" y="2468880"/>
            <a:ext cx="2743200" cy="320040"/>
          </a:xfrm>
          <a:prstGeom prst="rect">
            <a:avLst/>
          </a:prstGeom>
          <a:noFill/>
          <a:ln/>
        </p:spPr>
        <p:txBody>
          <a:bodyPr wrap="square" lIns="0" tIns="0" rIns="0" bIns="0" rtlCol="0" anchor="ctr"/>
          <a:lstStyle/>
          <a:p>
            <a:pPr indent="0" marL="0">
              <a:buNone/>
            </a:pPr>
            <a:r>
              <a:rPr lang="en-US" sz="1600" b="1" dirty="0">
                <a:solidFill>
                  <a:srgbClr val="9A6B00"/>
                </a:solidFill>
              </a:rPr>
              <a:t>loud readings: 4</a:t>
            </a:r>
            <a:endParaRPr lang="en-US" sz="1600" dirty="0"/>
          </a:p>
        </p:txBody>
      </p:sp>
      <p:sp>
        <p:nvSpPr>
          <p:cNvPr id="24" name="Text 22"/>
          <p:cNvSpPr txBox="1"/>
          <p:nvPr/>
        </p:nvSpPr>
        <p:spPr>
          <a:xfrm>
            <a:off x="3474720" y="2468880"/>
            <a:ext cx="2743200" cy="320040"/>
          </a:xfrm>
          <a:prstGeom prst="rect">
            <a:avLst/>
          </a:prstGeom>
          <a:noFill/>
          <a:ln/>
        </p:spPr>
        <p:txBody>
          <a:bodyPr wrap="square" lIns="0" tIns="0" rIns="0" bIns="0" rtlCol="0" anchor="ctr"/>
          <a:lstStyle/>
          <a:p>
            <a:pPr indent="0" marL="0">
              <a:buNone/>
            </a:pPr>
            <a:r>
              <a:rPr lang="en-US" sz="1600" b="1" dirty="0">
                <a:solidFill>
                  <a:srgbClr val="1F8A70"/>
                </a:solidFill>
              </a:rPr>
              <a:t>loud moments: 2</a:t>
            </a:r>
            <a:endParaRPr lang="en-US" sz="1600" dirty="0"/>
          </a:p>
        </p:txBody>
      </p:sp>
      <p:sp>
        <p:nvSpPr>
          <p:cNvPr id="25" name="Shape 23"/>
          <p:cNvSpPr/>
          <p:nvPr/>
        </p:nvSpPr>
        <p:spPr>
          <a:xfrm>
            <a:off x="548640" y="2971800"/>
            <a:ext cx="4572000" cy="1188720"/>
          </a:xfrm>
          <a:prstGeom prst="roundRect">
            <a:avLst>
              <a:gd name="adj" fmla="val 6154"/>
            </a:avLst>
          </a:prstGeom>
          <a:solidFill>
            <a:srgbClr val="2B2F33"/>
          </a:solidFill>
          <a:ln w="12700">
            <a:solidFill>
              <a:srgbClr val="2B2F33"/>
            </a:solidFill>
            <a:prstDash val="solid"/>
          </a:ln>
        </p:spPr>
      </p:sp>
      <p:sp>
        <p:nvSpPr>
          <p:cNvPr id="26" name="Text 24"/>
          <p:cNvSpPr txBox="1"/>
          <p:nvPr/>
        </p:nvSpPr>
        <p:spPr>
          <a:xfrm>
            <a:off x="685800" y="3035808"/>
            <a:ext cx="4297680" cy="219456"/>
          </a:xfrm>
          <a:prstGeom prst="rect">
            <a:avLst/>
          </a:prstGeom>
          <a:noFill/>
          <a:ln/>
        </p:spPr>
        <p:txBody>
          <a:bodyPr wrap="square" lIns="0" tIns="0" rIns="0" bIns="0" rtlCol="0" anchor="ctr"/>
          <a:lstStyle/>
          <a:p>
            <a:pPr indent="0" marL="0">
              <a:buNone/>
            </a:pPr>
            <a:r>
              <a:rPr lang="en-US" sz="1100" i="1" dirty="0">
                <a:solidFill>
                  <a:srgbClr val="C9CED3"/>
                </a:solidFill>
              </a:rPr>
              <a:t>The memory, in four lines</a:t>
            </a:r>
            <a:endParaRPr lang="en-US" sz="1100" dirty="0"/>
          </a:p>
        </p:txBody>
      </p:sp>
      <p:sp>
        <p:nvSpPr>
          <p:cNvPr id="27" name="Shape 25"/>
          <p:cNvSpPr/>
          <p:nvPr/>
        </p:nvSpPr>
        <p:spPr>
          <a:xfrm>
            <a:off x="658368" y="3291840"/>
            <a:ext cx="4352544" cy="0"/>
          </a:xfrm>
          <a:prstGeom prst="line">
            <a:avLst/>
          </a:prstGeom>
          <a:noFill/>
          <a:ln w="12700">
            <a:solidFill>
              <a:srgbClr val="454B51"/>
            </a:solidFill>
            <a:prstDash val="solid"/>
          </a:ln>
        </p:spPr>
      </p:sp>
      <p:sp>
        <p:nvSpPr>
          <p:cNvPr id="28" name="Text 26"/>
          <p:cNvSpPr txBox="1"/>
          <p:nvPr/>
        </p:nvSpPr>
        <p:spPr>
          <a:xfrm>
            <a:off x="713232" y="3355848"/>
            <a:ext cx="4242816" cy="731520"/>
          </a:xfrm>
          <a:prstGeom prst="rect">
            <a:avLst/>
          </a:prstGeom>
          <a:noFill/>
          <a:ln/>
        </p:spPr>
        <p:txBody>
          <a:bodyPr wrap="square" lIns="0" tIns="0" rIns="0" bIns="0" rtlCol="0" anchor="t"/>
          <a:lstStyle/>
          <a:p>
            <a:pPr indent="0" marL="0">
              <a:buNone/>
            </a:pPr>
            <a:r>
              <a:rPr lang="en-US" sz="1200" dirty="0">
                <a:solidFill>
                  <a:srgbClr val="E8EAED"/>
                </a:solidFill>
                <a:latin typeface="Courier New" pitchFamily="34" charset="0"/>
                <a:ea typeface="Courier New" pitchFamily="34" charset="-122"/>
                <a:cs typeface="Courier New" pitchFamily="34" charset="-120"/>
              </a:rPr>
              <a:t>is_loud = value &gt; LOUD</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if is_loud and not was_loud:</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    shouts = shouts + 1</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was_loud = is_loud</a:t>
            </a:r>
            <a:endParaRPr lang="en-US" sz="1200" dirty="0"/>
          </a:p>
        </p:txBody>
      </p:sp>
      <p:sp>
        <p:nvSpPr>
          <p:cNvPr id="29" name="Shape 27"/>
          <p:cNvSpPr/>
          <p:nvPr/>
        </p:nvSpPr>
        <p:spPr>
          <a:xfrm>
            <a:off x="5394960" y="2971800"/>
            <a:ext cx="3291840" cy="1188720"/>
          </a:xfrm>
          <a:prstGeom prst="roundRect">
            <a:avLst>
              <a:gd name="adj" fmla="val 6154"/>
            </a:avLst>
          </a:prstGeom>
          <a:solidFill>
            <a:srgbClr val="EDE4F5"/>
          </a:solidFill>
          <a:ln w="15875">
            <a:solidFill>
              <a:srgbClr val="8E44AD"/>
            </a:solidFill>
            <a:prstDash val="solid"/>
          </a:ln>
        </p:spPr>
      </p:sp>
      <p:sp>
        <p:nvSpPr>
          <p:cNvPr id="30" name="Text 28"/>
          <p:cNvSpPr txBox="1"/>
          <p:nvPr/>
        </p:nvSpPr>
        <p:spPr>
          <a:xfrm>
            <a:off x="5577840" y="2971800"/>
            <a:ext cx="2926080" cy="1188720"/>
          </a:xfrm>
          <a:prstGeom prst="rect">
            <a:avLst/>
          </a:prstGeom>
          <a:noFill/>
          <a:ln/>
        </p:spPr>
        <p:txBody>
          <a:bodyPr wrap="square" lIns="0" tIns="0" rIns="0" bIns="0" rtlCol="0" anchor="ctr"/>
          <a:lstStyle/>
          <a:p>
            <a:pPr indent="0" marL="0">
              <a:buNone/>
            </a:pPr>
            <a:r>
              <a:rPr lang="en-US" sz="1400" b="1" dirty="0">
                <a:solidFill>
                  <a:srgbClr val="8E44AD"/>
                </a:solidFill>
                <a:latin typeface="Courier New" pitchFamily="34" charset="0"/>
                <a:ea typeface="Courier New" pitchFamily="34" charset="-122"/>
                <a:cs typeface="Courier New" pitchFamily="34" charset="-120"/>
              </a:rPr>
              <a:t>not was_loud
</a:t>
            </a:r>
            <a:pPr indent="0" marL="0">
              <a:buNone/>
            </a:pPr>
            <a:r>
              <a:rPr lang="en-US" sz="1400" dirty="0">
                <a:solidFill>
                  <a:srgbClr val="1B1B1B"/>
                </a:solidFill>
              </a:rPr>
              <a:t>is the whole trick. Count only where quiet turns into loud, not every round it stays loud.</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Step 2b: move one wrong line</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2b</a:t>
            </a:r>
            <a:endParaRPr lang="en-US" sz="2000" dirty="0"/>
          </a:p>
        </p:txBody>
      </p:sp>
      <p:sp>
        <p:nvSpPr>
          <p:cNvPr id="6" name="Shape 4"/>
          <p:cNvSpPr/>
          <p:nvPr/>
        </p:nvSpPr>
        <p:spPr>
          <a:xfrm>
            <a:off x="457200" y="1005840"/>
            <a:ext cx="4937760" cy="2514600"/>
          </a:xfrm>
          <a:prstGeom prst="roundRect">
            <a:avLst>
              <a:gd name="adj" fmla="val 2909"/>
            </a:avLst>
          </a:prstGeom>
          <a:solidFill>
            <a:srgbClr val="14261F"/>
          </a:solidFill>
          <a:ln w="12700">
            <a:solidFill>
              <a:srgbClr val="14261F"/>
            </a:solidFill>
            <a:prstDash val="solid"/>
          </a:ln>
        </p:spPr>
      </p:sp>
      <p:sp>
        <p:nvSpPr>
          <p:cNvPr id="7" name="Text 5"/>
          <p:cNvSpPr txBox="1"/>
          <p:nvPr/>
        </p:nvSpPr>
        <p:spPr>
          <a:xfrm>
            <a:off x="594360" y="1069848"/>
            <a:ext cx="4663440" cy="219456"/>
          </a:xfrm>
          <a:prstGeom prst="rect">
            <a:avLst/>
          </a:prstGeom>
          <a:noFill/>
          <a:ln/>
        </p:spPr>
        <p:txBody>
          <a:bodyPr wrap="square" lIns="0" tIns="0" rIns="0" bIns="0" rtlCol="0" anchor="ctr"/>
          <a:lstStyle/>
          <a:p>
            <a:pPr indent="0" marL="0">
              <a:buNone/>
            </a:pPr>
            <a:r>
              <a:rPr lang="en-US" sz="1100" b="1" dirty="0">
                <a:solidFill>
                  <a:srgbClr val="F2A900"/>
                </a:solidFill>
              </a:rPr>
              <a:t>step2b_find_the_bug.py</a:t>
            </a:r>
            <a:pPr indent="0" marL="0">
              <a:buNone/>
            </a:pPr>
            <a:r>
              <a:rPr lang="en-US" sz="1100" dirty="0">
                <a:solidFill>
                  <a:srgbClr val="9FB8AD"/>
                </a:solidFill>
              </a:rPr>
              <a:t>  ·  lines 14–26</a:t>
            </a:r>
            <a:endParaRPr lang="en-US" sz="1100" dirty="0"/>
          </a:p>
        </p:txBody>
      </p:sp>
      <p:sp>
        <p:nvSpPr>
          <p:cNvPr id="8" name="Shape 6"/>
          <p:cNvSpPr/>
          <p:nvPr/>
        </p:nvSpPr>
        <p:spPr>
          <a:xfrm>
            <a:off x="566928" y="1325880"/>
            <a:ext cx="4718304" cy="0"/>
          </a:xfrm>
          <a:prstGeom prst="line">
            <a:avLst/>
          </a:prstGeom>
          <a:noFill/>
          <a:ln w="12700">
            <a:solidFill>
              <a:srgbClr val="2F4A3F"/>
            </a:solidFill>
            <a:prstDash val="solid"/>
          </a:ln>
        </p:spPr>
      </p:sp>
      <p:sp>
        <p:nvSpPr>
          <p:cNvPr id="9" name="Text 7"/>
          <p:cNvSpPr txBox="1"/>
          <p:nvPr/>
        </p:nvSpPr>
        <p:spPr>
          <a:xfrm>
            <a:off x="548640" y="1389888"/>
            <a:ext cx="4754880" cy="2057400"/>
          </a:xfrm>
          <a:prstGeom prst="rect">
            <a:avLst/>
          </a:prstGeom>
          <a:noFill/>
          <a:ln/>
        </p:spPr>
        <p:txBody>
          <a:bodyPr wrap="square" lIns="0" tIns="0" rIns="0" bIns="0" rtlCol="0" anchor="t"/>
          <a:lstStyle/>
          <a:p>
            <a:pPr indent="0" marL="0">
              <a:buNone/>
            </a:pPr>
            <a:r>
              <a:rPr lang="en-US" sz="1000" dirty="0">
                <a:solidFill>
                  <a:srgbClr val="6F8A7F"/>
                </a:solidFill>
                <a:latin typeface="Courier New" pitchFamily="34" charset="0"/>
                <a:ea typeface="Courier New" pitchFamily="34" charset="-122"/>
                <a:cs typeface="Courier New" pitchFamily="34" charset="-120"/>
              </a:rPr>
              <a:t> 14  </a:t>
            </a:r>
            <a:pPr indent="0" marL="0">
              <a:buNone/>
            </a:pPr>
            <a:r>
              <a:rPr lang="en-US" sz="1000" dirty="0">
                <a:solidFill>
                  <a:srgbClr val="E6F2EC"/>
                </a:solidFill>
                <a:latin typeface="Courier New" pitchFamily="34" charset="0"/>
                <a:ea typeface="Courier New" pitchFamily="34" charset="-122"/>
                <a:cs typeface="Courier New" pitchFamily="34" charset="-120"/>
              </a:rPr>
              <a:t>readings = [1, 2, 8, 9, 1, 7, 1, 1, 6, 6, 2]</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15  </a:t>
            </a:r>
            <a:pPr indent="0" marL="0">
              <a:buNone/>
            </a:pPr>
            <a:r>
              <a:rPr lang="en-US" sz="1000" dirty="0">
                <a:solidFill>
                  <a:srgbClr val="E6F2EC"/>
                </a:solidFill>
                <a:latin typeface="Courier New" pitchFamily="34" charset="0"/>
                <a:ea typeface="Courier New" pitchFamily="34" charset="-122"/>
                <a:cs typeface="Courier New" pitchFamily="34" charset="-120"/>
              </a:rPr>
              <a:t>LOUD = 5</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16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17  </a:t>
            </a:r>
            <a:pPr indent="0" marL="0">
              <a:buNone/>
            </a:pPr>
            <a:r>
              <a:rPr lang="en-US" sz="1000" dirty="0">
                <a:solidFill>
                  <a:srgbClr val="E6F2EC"/>
                </a:solidFill>
                <a:latin typeface="Courier New" pitchFamily="34" charset="0"/>
                <a:ea typeface="Courier New" pitchFamily="34" charset="-122"/>
                <a:cs typeface="Courier New" pitchFamily="34" charset="-120"/>
              </a:rPr>
              <a:t>was_loud = False</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18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19  </a:t>
            </a:r>
            <a:pPr indent="0" marL="0">
              <a:buNone/>
            </a:pPr>
            <a:r>
              <a:rPr lang="en-US" sz="1000" dirty="0">
                <a:solidFill>
                  <a:srgbClr val="E6F2EC"/>
                </a:solidFill>
                <a:latin typeface="Courier New" pitchFamily="34" charset="0"/>
                <a:ea typeface="Courier New" pitchFamily="34" charset="-122"/>
                <a:cs typeface="Courier New" pitchFamily="34" charset="-120"/>
              </a:rPr>
              <a:t>for value in readings:</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20  </a:t>
            </a:r>
            <a:pPr indent="0" marL="0">
              <a:buNone/>
            </a:pPr>
            <a:r>
              <a:rPr lang="en-US" sz="1000" dirty="0">
                <a:solidFill>
                  <a:srgbClr val="E6F2EC"/>
                </a:solidFill>
                <a:latin typeface="Courier New" pitchFamily="34" charset="0"/>
                <a:ea typeface="Courier New" pitchFamily="34" charset="-122"/>
                <a:cs typeface="Courier New" pitchFamily="34" charset="-120"/>
              </a:rPr>
              <a:t>    count = 0</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21  </a:t>
            </a:r>
            <a:pPr indent="0" marL="0">
              <a:buNone/>
            </a:pPr>
            <a:r>
              <a:rPr lang="en-US" sz="1000" dirty="0">
                <a:solidFill>
                  <a:srgbClr val="E6F2EC"/>
                </a:solidFill>
                <a:latin typeface="Courier New" pitchFamily="34" charset="0"/>
                <a:ea typeface="Courier New" pitchFamily="34" charset="-122"/>
                <a:cs typeface="Courier New" pitchFamily="34" charset="-120"/>
              </a:rPr>
              <a:t>    is_loud = value &gt; LOUD</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22  </a:t>
            </a:r>
            <a:pPr indent="0" marL="0">
              <a:buNone/>
            </a:pPr>
            <a:r>
              <a:rPr lang="en-US" sz="1000" dirty="0">
                <a:solidFill>
                  <a:srgbClr val="E6F2EC"/>
                </a:solidFill>
                <a:latin typeface="Courier New" pitchFamily="34" charset="0"/>
                <a:ea typeface="Courier New" pitchFamily="34" charset="-122"/>
                <a:cs typeface="Courier New" pitchFamily="34" charset="-120"/>
              </a:rPr>
              <a:t>    if is_loud and not was_loud:</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23  </a:t>
            </a:r>
            <a:pPr indent="0" marL="0">
              <a:buNone/>
            </a:pPr>
            <a:r>
              <a:rPr lang="en-US" sz="1000" dirty="0">
                <a:solidFill>
                  <a:srgbClr val="E6F2EC"/>
                </a:solidFill>
                <a:latin typeface="Courier New" pitchFamily="34" charset="0"/>
                <a:ea typeface="Courier New" pitchFamily="34" charset="-122"/>
                <a:cs typeface="Courier New" pitchFamily="34" charset="-120"/>
              </a:rPr>
              <a:t>        count = count + 1</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24  </a:t>
            </a:r>
            <a:pPr indent="0" marL="0">
              <a:buNone/>
            </a:pPr>
            <a:r>
              <a:rPr lang="en-US" sz="1000" dirty="0">
                <a:solidFill>
                  <a:srgbClr val="E6F2EC"/>
                </a:solidFill>
                <a:latin typeface="Courier New" pitchFamily="34" charset="0"/>
                <a:ea typeface="Courier New" pitchFamily="34" charset="-122"/>
                <a:cs typeface="Courier New" pitchFamily="34" charset="-120"/>
              </a:rPr>
              <a:t>    was_loud = is_loud</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25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26  </a:t>
            </a:r>
            <a:pPr indent="0" marL="0">
              <a:buNone/>
            </a:pPr>
            <a:r>
              <a:rPr lang="en-US" sz="1000" dirty="0">
                <a:solidFill>
                  <a:srgbClr val="E6F2EC"/>
                </a:solidFill>
                <a:latin typeface="Courier New" pitchFamily="34" charset="0"/>
                <a:ea typeface="Courier New" pitchFamily="34" charset="-122"/>
                <a:cs typeface="Courier New" pitchFamily="34" charset="-120"/>
              </a:rPr>
              <a:t>print("Loud moments:", count)</a:t>
            </a:r>
            <a:endParaRPr lang="en-US" sz="1000" dirty="0"/>
          </a:p>
        </p:txBody>
      </p:sp>
      <p:sp>
        <p:nvSpPr>
          <p:cNvPr id="10" name="Text 8"/>
          <p:cNvSpPr txBox="1"/>
          <p:nvPr/>
        </p:nvSpPr>
        <p:spPr>
          <a:xfrm>
            <a:off x="457200" y="3657600"/>
            <a:ext cx="4937760" cy="457200"/>
          </a:xfrm>
          <a:prstGeom prst="rect">
            <a:avLst/>
          </a:prstGeom>
          <a:noFill/>
          <a:ln/>
        </p:spPr>
        <p:txBody>
          <a:bodyPr wrap="square" lIns="0" tIns="0" rIns="0" bIns="0" rtlCol="0" anchor="ctr"/>
          <a:lstStyle/>
          <a:p>
            <a:pPr indent="0" marL="0">
              <a:buNone/>
            </a:pPr>
            <a:r>
              <a:rPr lang="en-US" sz="1500" b="1" dirty="0">
                <a:solidFill>
                  <a:srgbClr val="0B3D2E"/>
                </a:solidFill>
              </a:rPr>
              <a:t>It prints 0. The right answer is 3. One line is in the wrong place.</a:t>
            </a:r>
            <a:endParaRPr lang="en-US" sz="1500" dirty="0"/>
          </a:p>
        </p:txBody>
      </p:sp>
      <p:sp>
        <p:nvSpPr>
          <p:cNvPr id="11" name="Shape 9"/>
          <p:cNvSpPr/>
          <p:nvPr/>
        </p:nvSpPr>
        <p:spPr>
          <a:xfrm>
            <a:off x="5669280" y="1069848"/>
            <a:ext cx="329184" cy="329184"/>
          </a:xfrm>
          <a:prstGeom prst="ellipse">
            <a:avLst/>
          </a:prstGeom>
          <a:solidFill>
            <a:srgbClr val="F2A900"/>
          </a:solidFill>
          <a:ln w="12700">
            <a:solidFill>
              <a:srgbClr val="C98C00"/>
            </a:solidFill>
            <a:prstDash val="solid"/>
          </a:ln>
        </p:spPr>
      </p:sp>
      <p:sp>
        <p:nvSpPr>
          <p:cNvPr id="12" name="Text 10"/>
          <p:cNvSpPr txBox="1"/>
          <p:nvPr/>
        </p:nvSpPr>
        <p:spPr>
          <a:xfrm>
            <a:off x="5669280" y="106984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1</a:t>
            </a:r>
            <a:endParaRPr lang="en-US" sz="1300" dirty="0"/>
          </a:p>
        </p:txBody>
      </p:sp>
      <p:sp>
        <p:nvSpPr>
          <p:cNvPr id="13" name="Text 11"/>
          <p:cNvSpPr txBox="1"/>
          <p:nvPr/>
        </p:nvSpPr>
        <p:spPr>
          <a:xfrm>
            <a:off x="6126480" y="1051560"/>
            <a:ext cx="2560320" cy="384048"/>
          </a:xfrm>
          <a:prstGeom prst="rect">
            <a:avLst/>
          </a:prstGeom>
          <a:noFill/>
          <a:ln/>
        </p:spPr>
        <p:txBody>
          <a:bodyPr wrap="square" lIns="0" tIns="0" rIns="0" bIns="0" rtlCol="0" anchor="ctr"/>
          <a:lstStyle/>
          <a:p>
            <a:pPr indent="0" marL="0">
              <a:buNone/>
            </a:pPr>
            <a:r>
              <a:rPr lang="en-US" sz="1500" dirty="0">
                <a:solidFill>
                  <a:srgbClr val="1B1B1B"/>
                </a:solidFill>
              </a:rPr>
              <a:t>Run it. What does it print?</a:t>
            </a:r>
            <a:endParaRPr lang="en-US" sz="1500" dirty="0"/>
          </a:p>
        </p:txBody>
      </p:sp>
      <p:sp>
        <p:nvSpPr>
          <p:cNvPr id="14" name="Shape 12"/>
          <p:cNvSpPr/>
          <p:nvPr/>
        </p:nvSpPr>
        <p:spPr>
          <a:xfrm>
            <a:off x="5669280" y="1691640"/>
            <a:ext cx="329184" cy="329184"/>
          </a:xfrm>
          <a:prstGeom prst="ellipse">
            <a:avLst/>
          </a:prstGeom>
          <a:solidFill>
            <a:srgbClr val="F2A900"/>
          </a:solidFill>
          <a:ln w="12700">
            <a:solidFill>
              <a:srgbClr val="C98C00"/>
            </a:solidFill>
            <a:prstDash val="solid"/>
          </a:ln>
        </p:spPr>
      </p:sp>
      <p:sp>
        <p:nvSpPr>
          <p:cNvPr id="15" name="Text 13"/>
          <p:cNvSpPr txBox="1"/>
          <p:nvPr/>
        </p:nvSpPr>
        <p:spPr>
          <a:xfrm>
            <a:off x="5669280" y="1691640"/>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2</a:t>
            </a:r>
            <a:endParaRPr lang="en-US" sz="1300" dirty="0"/>
          </a:p>
        </p:txBody>
      </p:sp>
      <p:sp>
        <p:nvSpPr>
          <p:cNvPr id="16" name="Text 14"/>
          <p:cNvSpPr txBox="1"/>
          <p:nvPr/>
        </p:nvSpPr>
        <p:spPr>
          <a:xfrm>
            <a:off x="6126480" y="1673352"/>
            <a:ext cx="2560320" cy="384048"/>
          </a:xfrm>
          <a:prstGeom prst="rect">
            <a:avLst/>
          </a:prstGeom>
          <a:noFill/>
          <a:ln/>
        </p:spPr>
        <p:txBody>
          <a:bodyPr wrap="square" lIns="0" tIns="0" rIns="0" bIns="0" rtlCol="0" anchor="ctr"/>
          <a:lstStyle/>
          <a:p>
            <a:pPr indent="0" marL="0">
              <a:buNone/>
            </a:pPr>
            <a:r>
              <a:rPr lang="en-US" sz="1500" dirty="0">
                <a:solidFill>
                  <a:srgbClr val="1B1B1B"/>
                </a:solidFill>
              </a:rPr>
              <a:t>Add a print() inside the loop</a:t>
            </a:r>
            <a:endParaRPr lang="en-US" sz="1500" dirty="0"/>
          </a:p>
        </p:txBody>
      </p:sp>
      <p:sp>
        <p:nvSpPr>
          <p:cNvPr id="17" name="Shape 15"/>
          <p:cNvSpPr/>
          <p:nvPr/>
        </p:nvSpPr>
        <p:spPr>
          <a:xfrm>
            <a:off x="5669280" y="2313432"/>
            <a:ext cx="329184" cy="329184"/>
          </a:xfrm>
          <a:prstGeom prst="ellipse">
            <a:avLst/>
          </a:prstGeom>
          <a:solidFill>
            <a:srgbClr val="F2A900"/>
          </a:solidFill>
          <a:ln w="12700">
            <a:solidFill>
              <a:srgbClr val="C98C00"/>
            </a:solidFill>
            <a:prstDash val="solid"/>
          </a:ln>
        </p:spPr>
      </p:sp>
      <p:sp>
        <p:nvSpPr>
          <p:cNvPr id="18" name="Text 16"/>
          <p:cNvSpPr txBox="1"/>
          <p:nvPr/>
        </p:nvSpPr>
        <p:spPr>
          <a:xfrm>
            <a:off x="5669280" y="2313432"/>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3</a:t>
            </a:r>
            <a:endParaRPr lang="en-US" sz="1300" dirty="0"/>
          </a:p>
        </p:txBody>
      </p:sp>
      <p:sp>
        <p:nvSpPr>
          <p:cNvPr id="19" name="Text 17"/>
          <p:cNvSpPr txBox="1"/>
          <p:nvPr/>
        </p:nvSpPr>
        <p:spPr>
          <a:xfrm>
            <a:off x="6126480" y="2295144"/>
            <a:ext cx="2560320" cy="384048"/>
          </a:xfrm>
          <a:prstGeom prst="rect">
            <a:avLst/>
          </a:prstGeom>
          <a:noFill/>
          <a:ln/>
        </p:spPr>
        <p:txBody>
          <a:bodyPr wrap="square" lIns="0" tIns="0" rIns="0" bIns="0" rtlCol="0" anchor="ctr"/>
          <a:lstStyle/>
          <a:p>
            <a:pPr indent="0" marL="0">
              <a:buNone/>
            </a:pPr>
            <a:r>
              <a:rPr lang="en-US" sz="1500" dirty="0">
                <a:solidFill>
                  <a:srgbClr val="1B1B1B"/>
                </a:solidFill>
              </a:rPr>
              <a:t>Which line throws away what it knew?</a:t>
            </a:r>
            <a:endParaRPr lang="en-US" sz="1500" dirty="0"/>
          </a:p>
        </p:txBody>
      </p:sp>
      <p:sp>
        <p:nvSpPr>
          <p:cNvPr id="20" name="Shape 18"/>
          <p:cNvSpPr/>
          <p:nvPr/>
        </p:nvSpPr>
        <p:spPr>
          <a:xfrm>
            <a:off x="5669280" y="2935224"/>
            <a:ext cx="329184" cy="329184"/>
          </a:xfrm>
          <a:prstGeom prst="ellipse">
            <a:avLst/>
          </a:prstGeom>
          <a:solidFill>
            <a:srgbClr val="F2A900"/>
          </a:solidFill>
          <a:ln w="12700">
            <a:solidFill>
              <a:srgbClr val="C98C00"/>
            </a:solidFill>
            <a:prstDash val="solid"/>
          </a:ln>
        </p:spPr>
      </p:sp>
      <p:sp>
        <p:nvSpPr>
          <p:cNvPr id="21" name="Text 19"/>
          <p:cNvSpPr txBox="1"/>
          <p:nvPr/>
        </p:nvSpPr>
        <p:spPr>
          <a:xfrm>
            <a:off x="5669280" y="2935224"/>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4</a:t>
            </a:r>
            <a:endParaRPr lang="en-US" sz="1300" dirty="0"/>
          </a:p>
        </p:txBody>
      </p:sp>
      <p:sp>
        <p:nvSpPr>
          <p:cNvPr id="22" name="Text 20"/>
          <p:cNvSpPr txBox="1"/>
          <p:nvPr/>
        </p:nvSpPr>
        <p:spPr>
          <a:xfrm>
            <a:off x="6126480" y="2916936"/>
            <a:ext cx="2560320" cy="384048"/>
          </a:xfrm>
          <a:prstGeom prst="rect">
            <a:avLst/>
          </a:prstGeom>
          <a:noFill/>
          <a:ln/>
        </p:spPr>
        <p:txBody>
          <a:bodyPr wrap="square" lIns="0" tIns="0" rIns="0" bIns="0" rtlCol="0" anchor="ctr"/>
          <a:lstStyle/>
          <a:p>
            <a:pPr indent="0" marL="0">
              <a:buNone/>
            </a:pPr>
            <a:r>
              <a:rPr lang="en-US" sz="1500" dirty="0">
                <a:solidFill>
                  <a:srgbClr val="1B1B1B"/>
                </a:solidFill>
              </a:rPr>
              <a:t>Change ONE line. Run again</a:t>
            </a:r>
            <a:endParaRPr lang="en-US" sz="1500" dirty="0"/>
          </a:p>
        </p:txBody>
      </p:sp>
      <p:sp>
        <p:nvSpPr>
          <p:cNvPr id="23" name="Shape 21"/>
          <p:cNvSpPr/>
          <p:nvPr/>
        </p:nvSpPr>
        <p:spPr>
          <a:xfrm>
            <a:off x="5669280" y="3657600"/>
            <a:ext cx="3017520" cy="457200"/>
          </a:xfrm>
          <a:prstGeom prst="roundRect">
            <a:avLst>
              <a:gd name="adj" fmla="val 16000"/>
            </a:avLst>
          </a:prstGeom>
          <a:solidFill>
            <a:srgbClr val="FFF4D6"/>
          </a:solidFill>
          <a:ln w="12700">
            <a:solidFill>
              <a:srgbClr val="E0A800"/>
            </a:solidFill>
            <a:prstDash val="solid"/>
          </a:ln>
        </p:spPr>
      </p:sp>
      <p:sp>
        <p:nvSpPr>
          <p:cNvPr id="24" name="Text 22"/>
          <p:cNvSpPr txBox="1"/>
          <p:nvPr/>
        </p:nvSpPr>
        <p:spPr>
          <a:xfrm>
            <a:off x="5806440" y="3657600"/>
            <a:ext cx="2743200" cy="45720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Do not rewrite the file. Find the line.</a:t>
            </a:r>
            <a:endParaRPr lang="en-US" sz="1400" dirty="0"/>
          </a:p>
        </p:txBody>
      </p:sp>
      <p:sp>
        <p:nvSpPr>
          <p:cNvPr id="25" name="Text 23"/>
          <p:cNvSpPr txBox="1"/>
          <p:nvPr/>
        </p:nvSpPr>
        <p:spPr>
          <a:xfrm>
            <a:off x="457200" y="4206240"/>
            <a:ext cx="4937760" cy="365760"/>
          </a:xfrm>
          <a:prstGeom prst="rect">
            <a:avLst/>
          </a:prstGeom>
          <a:noFill/>
          <a:ln/>
        </p:spPr>
        <p:txBody>
          <a:bodyPr wrap="square" lIns="0" tIns="0" rIns="0" bIns="0" rtlCol="0" anchor="ctr"/>
          <a:lstStyle/>
          <a:p>
            <a:pPr indent="0" marL="0">
              <a:buNone/>
            </a:pPr>
            <a:r>
              <a:rPr lang="en-US" sz="1400" i="1" dirty="0">
                <a:solidFill>
                  <a:srgbClr val="6B7280"/>
                </a:solidFill>
              </a:rPr>
              <a:t>Five minutes, in pairs.</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Self-check: state</a:t>
            </a:r>
            <a:endParaRPr lang="en-US" sz="3000" dirty="0"/>
          </a:p>
        </p:txBody>
      </p:sp>
      <p:sp>
        <p:nvSpPr>
          <p:cNvPr id="3" name="Shape 1"/>
          <p:cNvSpPr/>
          <p:nvPr/>
        </p:nvSpPr>
        <p:spPr>
          <a:xfrm>
            <a:off x="457200" y="1143000"/>
            <a:ext cx="411480" cy="411480"/>
          </a:xfrm>
          <a:prstGeom prst="roundRect">
            <a:avLst>
              <a:gd name="adj" fmla="val 13333"/>
            </a:avLst>
          </a:prstGeom>
          <a:solidFill>
            <a:srgbClr val="FFFFFF"/>
          </a:solidFill>
          <a:ln w="19050">
            <a:solidFill>
              <a:srgbClr val="8E44AD"/>
            </a:solidFill>
            <a:prstDash val="solid"/>
          </a:ln>
        </p:spPr>
      </p:sp>
      <p:sp>
        <p:nvSpPr>
          <p:cNvPr id="4" name="Text 2"/>
          <p:cNvSpPr txBox="1"/>
          <p:nvPr/>
        </p:nvSpPr>
        <p:spPr>
          <a:xfrm>
            <a:off x="1005840" y="1124712"/>
            <a:ext cx="5120640" cy="457200"/>
          </a:xfrm>
          <a:prstGeom prst="rect">
            <a:avLst/>
          </a:prstGeom>
          <a:noFill/>
          <a:ln/>
        </p:spPr>
        <p:txBody>
          <a:bodyPr wrap="square" lIns="0" tIns="0" rIns="0" bIns="0" rtlCol="0" anchor="ctr"/>
          <a:lstStyle/>
          <a:p>
            <a:pPr indent="0" marL="0">
              <a:buNone/>
            </a:pPr>
            <a:r>
              <a:rPr lang="en-US" sz="1500" dirty="0">
                <a:solidFill>
                  <a:srgbClr val="1B1B1B"/>
                </a:solidFill>
              </a:rPr>
              <a:t>I can say what a program forgets each time round a loop</a:t>
            </a:r>
            <a:endParaRPr lang="en-US" sz="1500" dirty="0"/>
          </a:p>
        </p:txBody>
      </p:sp>
      <p:sp>
        <p:nvSpPr>
          <p:cNvPr id="5" name="Text 3"/>
          <p:cNvSpPr txBox="1"/>
          <p:nvPr/>
        </p:nvSpPr>
        <p:spPr>
          <a:xfrm>
            <a:off x="6217920" y="1124712"/>
            <a:ext cx="2468880" cy="457200"/>
          </a:xfrm>
          <a:prstGeom prst="rect">
            <a:avLst/>
          </a:prstGeom>
          <a:noFill/>
          <a:ln/>
        </p:spPr>
        <p:txBody>
          <a:bodyPr wrap="square" lIns="0" tIns="0" rIns="0" bIns="0" rtlCol="0" anchor="ctr"/>
          <a:lstStyle/>
          <a:p>
            <a:pPr indent="0" marL="0">
              <a:buNone/>
            </a:pPr>
            <a:r>
              <a:rPr lang="en-US" sz="1200" i="1" dirty="0">
                <a:solidFill>
                  <a:srgbClr val="6B7280"/>
                </a:solidFill>
              </a:rPr>
              <a:t>slide: a loop forgets</a:t>
            </a:r>
            <a:endParaRPr lang="en-US" sz="1200" dirty="0"/>
          </a:p>
        </p:txBody>
      </p:sp>
      <p:sp>
        <p:nvSpPr>
          <p:cNvPr id="6" name="Shape 4"/>
          <p:cNvSpPr/>
          <p:nvPr/>
        </p:nvSpPr>
        <p:spPr>
          <a:xfrm>
            <a:off x="457200" y="1892808"/>
            <a:ext cx="411480" cy="411480"/>
          </a:xfrm>
          <a:prstGeom prst="roundRect">
            <a:avLst>
              <a:gd name="adj" fmla="val 13333"/>
            </a:avLst>
          </a:prstGeom>
          <a:solidFill>
            <a:srgbClr val="FFFFFF"/>
          </a:solidFill>
          <a:ln w="19050">
            <a:solidFill>
              <a:srgbClr val="8E44AD"/>
            </a:solidFill>
            <a:prstDash val="solid"/>
          </a:ln>
        </p:spPr>
      </p:sp>
      <p:sp>
        <p:nvSpPr>
          <p:cNvPr id="7" name="Text 5"/>
          <p:cNvSpPr txBox="1"/>
          <p:nvPr/>
        </p:nvSpPr>
        <p:spPr>
          <a:xfrm>
            <a:off x="1005840" y="1874520"/>
            <a:ext cx="5120640" cy="457200"/>
          </a:xfrm>
          <a:prstGeom prst="rect">
            <a:avLst/>
          </a:prstGeom>
          <a:noFill/>
          <a:ln/>
        </p:spPr>
        <p:txBody>
          <a:bodyPr wrap="square" lIns="0" tIns="0" rIns="0" bIns="0" rtlCol="0" anchor="ctr"/>
          <a:lstStyle/>
          <a:p>
            <a:pPr indent="0" marL="0">
              <a:buNone/>
            </a:pPr>
            <a:r>
              <a:rPr lang="en-US" sz="1500" dirty="0">
                <a:solidFill>
                  <a:srgbClr val="1B1B1B"/>
                </a:solidFill>
              </a:rPr>
              <a:t>I can say why count = 0 must sit outside the loop</a:t>
            </a:r>
            <a:endParaRPr lang="en-US" sz="1500" dirty="0"/>
          </a:p>
        </p:txBody>
      </p:sp>
      <p:sp>
        <p:nvSpPr>
          <p:cNvPr id="8" name="Text 6"/>
          <p:cNvSpPr txBox="1"/>
          <p:nvPr/>
        </p:nvSpPr>
        <p:spPr>
          <a:xfrm>
            <a:off x="6217920" y="1874520"/>
            <a:ext cx="2468880" cy="457200"/>
          </a:xfrm>
          <a:prstGeom prst="rect">
            <a:avLst/>
          </a:prstGeom>
          <a:noFill/>
          <a:ln/>
        </p:spPr>
        <p:txBody>
          <a:bodyPr wrap="square" lIns="0" tIns="0" rIns="0" bIns="0" rtlCol="0" anchor="ctr"/>
          <a:lstStyle/>
          <a:p>
            <a:pPr indent="0" marL="0">
              <a:buNone/>
            </a:pPr>
            <a:r>
              <a:rPr lang="en-US" sz="1200" i="1" dirty="0">
                <a:solidFill>
                  <a:srgbClr val="6B7280"/>
                </a:solidFill>
              </a:rPr>
              <a:t>Step 2, the two Shells</a:t>
            </a:r>
            <a:endParaRPr lang="en-US" sz="1200" dirty="0"/>
          </a:p>
        </p:txBody>
      </p:sp>
      <p:sp>
        <p:nvSpPr>
          <p:cNvPr id="9" name="Shape 7"/>
          <p:cNvSpPr/>
          <p:nvPr/>
        </p:nvSpPr>
        <p:spPr>
          <a:xfrm>
            <a:off x="457200" y="2642616"/>
            <a:ext cx="411480" cy="411480"/>
          </a:xfrm>
          <a:prstGeom prst="roundRect">
            <a:avLst>
              <a:gd name="adj" fmla="val 13333"/>
            </a:avLst>
          </a:prstGeom>
          <a:solidFill>
            <a:srgbClr val="FFFFFF"/>
          </a:solidFill>
          <a:ln w="19050">
            <a:solidFill>
              <a:srgbClr val="8E44AD"/>
            </a:solidFill>
            <a:prstDash val="solid"/>
          </a:ln>
        </p:spPr>
      </p:sp>
      <p:sp>
        <p:nvSpPr>
          <p:cNvPr id="10" name="Text 8"/>
          <p:cNvSpPr txBox="1"/>
          <p:nvPr/>
        </p:nvSpPr>
        <p:spPr>
          <a:xfrm>
            <a:off x="1005840" y="2624328"/>
            <a:ext cx="5120640" cy="457200"/>
          </a:xfrm>
          <a:prstGeom prst="rect">
            <a:avLst/>
          </a:prstGeom>
          <a:noFill/>
          <a:ln/>
        </p:spPr>
        <p:txBody>
          <a:bodyPr wrap="square" lIns="0" tIns="0" rIns="0" bIns="0" rtlCol="0" anchor="ctr"/>
          <a:lstStyle/>
          <a:p>
            <a:pPr indent="0" marL="0">
              <a:buNone/>
            </a:pPr>
            <a:r>
              <a:rPr lang="en-US" sz="1500" dirty="0">
                <a:solidFill>
                  <a:srgbClr val="1B1B1B"/>
                </a:solidFill>
              </a:rPr>
              <a:t>I can say why was_loud is needed to count moments</a:t>
            </a:r>
            <a:endParaRPr lang="en-US" sz="1500" dirty="0"/>
          </a:p>
        </p:txBody>
      </p:sp>
      <p:sp>
        <p:nvSpPr>
          <p:cNvPr id="11" name="Text 9"/>
          <p:cNvSpPr txBox="1"/>
          <p:nvPr/>
        </p:nvSpPr>
        <p:spPr>
          <a:xfrm>
            <a:off x="6217920" y="2624328"/>
            <a:ext cx="2468880" cy="457200"/>
          </a:xfrm>
          <a:prstGeom prst="rect">
            <a:avLst/>
          </a:prstGeom>
          <a:noFill/>
          <a:ln/>
        </p:spPr>
        <p:txBody>
          <a:bodyPr wrap="square" lIns="0" tIns="0" rIns="0" bIns="0" rtlCol="0" anchor="ctr"/>
          <a:lstStyle/>
          <a:p>
            <a:pPr indent="0" marL="0">
              <a:buNone/>
            </a:pPr>
            <a:r>
              <a:rPr lang="en-US" sz="1200" i="1" dirty="0">
                <a:solidFill>
                  <a:srgbClr val="6B7280"/>
                </a:solidFill>
              </a:rPr>
              <a:t>slide: remembering the last one</a:t>
            </a:r>
            <a:endParaRPr lang="en-US" sz="1200" dirty="0"/>
          </a:p>
        </p:txBody>
      </p:sp>
      <p:sp>
        <p:nvSpPr>
          <p:cNvPr id="12" name="Shape 10"/>
          <p:cNvSpPr/>
          <p:nvPr/>
        </p:nvSpPr>
        <p:spPr>
          <a:xfrm>
            <a:off x="457200" y="3392424"/>
            <a:ext cx="411480" cy="411480"/>
          </a:xfrm>
          <a:prstGeom prst="roundRect">
            <a:avLst>
              <a:gd name="adj" fmla="val 13333"/>
            </a:avLst>
          </a:prstGeom>
          <a:solidFill>
            <a:srgbClr val="FFFFFF"/>
          </a:solidFill>
          <a:ln w="19050">
            <a:solidFill>
              <a:srgbClr val="8E44AD"/>
            </a:solidFill>
            <a:prstDash val="solid"/>
          </a:ln>
        </p:spPr>
      </p:sp>
      <p:sp>
        <p:nvSpPr>
          <p:cNvPr id="13" name="Text 11"/>
          <p:cNvSpPr txBox="1"/>
          <p:nvPr/>
        </p:nvSpPr>
        <p:spPr>
          <a:xfrm>
            <a:off x="1005840" y="3374136"/>
            <a:ext cx="5120640" cy="457200"/>
          </a:xfrm>
          <a:prstGeom prst="rect">
            <a:avLst/>
          </a:prstGeom>
          <a:noFill/>
          <a:ln/>
        </p:spPr>
        <p:txBody>
          <a:bodyPr wrap="square" lIns="0" tIns="0" rIns="0" bIns="0" rtlCol="0" anchor="ctr"/>
          <a:lstStyle/>
          <a:p>
            <a:pPr indent="0" marL="0">
              <a:buNone/>
            </a:pPr>
            <a:r>
              <a:rPr lang="en-US" sz="1500" dirty="0">
                <a:solidFill>
                  <a:srgbClr val="1B1B1B"/>
                </a:solidFill>
              </a:rPr>
              <a:t>I can find a bug like that in someone else's code</a:t>
            </a:r>
            <a:endParaRPr lang="en-US" sz="1500" dirty="0"/>
          </a:p>
        </p:txBody>
      </p:sp>
      <p:sp>
        <p:nvSpPr>
          <p:cNvPr id="14" name="Text 12"/>
          <p:cNvSpPr txBox="1"/>
          <p:nvPr/>
        </p:nvSpPr>
        <p:spPr>
          <a:xfrm>
            <a:off x="6217920" y="3374136"/>
            <a:ext cx="2468880" cy="457200"/>
          </a:xfrm>
          <a:prstGeom prst="rect">
            <a:avLst/>
          </a:prstGeom>
          <a:noFill/>
          <a:ln/>
        </p:spPr>
        <p:txBody>
          <a:bodyPr wrap="square" lIns="0" tIns="0" rIns="0" bIns="0" rtlCol="0" anchor="ctr"/>
          <a:lstStyle/>
          <a:p>
            <a:pPr indent="0" marL="0">
              <a:buNone/>
            </a:pPr>
            <a:r>
              <a:rPr lang="en-US" sz="1200" i="1" dirty="0">
                <a:solidFill>
                  <a:srgbClr val="6B7280"/>
                </a:solidFill>
              </a:rPr>
              <a:t>Step 2b</a:t>
            </a:r>
            <a:endParaRPr lang="en-US" sz="1200" dirty="0"/>
          </a:p>
        </p:txBody>
      </p:sp>
      <p:sp>
        <p:nvSpPr>
          <p:cNvPr id="15" name="Shape 13"/>
          <p:cNvSpPr/>
          <p:nvPr/>
        </p:nvSpPr>
        <p:spPr>
          <a:xfrm>
            <a:off x="457200" y="4160520"/>
            <a:ext cx="8229600" cy="548640"/>
          </a:xfrm>
          <a:prstGeom prst="roundRect">
            <a:avLst>
              <a:gd name="adj" fmla="val 13333"/>
            </a:avLst>
          </a:prstGeom>
          <a:solidFill>
            <a:srgbClr val="8E44AD"/>
          </a:solidFill>
          <a:ln w="12700">
            <a:solidFill>
              <a:srgbClr val="8E44AD"/>
            </a:solidFill>
            <a:prstDash val="solid"/>
          </a:ln>
        </p:spPr>
      </p:sp>
      <p:sp>
        <p:nvSpPr>
          <p:cNvPr id="16" name="Text 14"/>
          <p:cNvSpPr txBox="1"/>
          <p:nvPr/>
        </p:nvSpPr>
        <p:spPr>
          <a:xfrm>
            <a:off x="685800" y="4160520"/>
            <a:ext cx="7772400" cy="548640"/>
          </a:xfrm>
          <a:prstGeom prst="rect">
            <a:avLst/>
          </a:prstGeom>
          <a:noFill/>
          <a:ln/>
        </p:spPr>
        <p:txBody>
          <a:bodyPr wrap="square" lIns="0" tIns="0" rIns="0" bIns="0" rtlCol="0" anchor="ctr"/>
          <a:lstStyle/>
          <a:p>
            <a:pPr indent="0" marL="0">
              <a:buNone/>
            </a:pPr>
            <a:r>
              <a:rPr lang="en-US" sz="1500" b="1" dirty="0">
                <a:solidFill>
                  <a:srgbClr val="FFFFFF"/>
                </a:solidFill>
              </a:rPr>
              <a:t>Step 3 is unwriteable without these four. Say now if one is missing.</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When it does not work</a:t>
            </a:r>
            <a:endParaRPr lang="en-US" sz="3000" dirty="0"/>
          </a:p>
        </p:txBody>
      </p:sp>
      <p:sp>
        <p:nvSpPr>
          <p:cNvPr id="3" name="Shape 1"/>
          <p:cNvSpPr/>
          <p:nvPr/>
        </p:nvSpPr>
        <p:spPr>
          <a:xfrm>
            <a:off x="457200" y="1078992"/>
            <a:ext cx="384048" cy="384048"/>
          </a:xfrm>
          <a:prstGeom prst="ellipse">
            <a:avLst/>
          </a:prstGeom>
          <a:solidFill>
            <a:srgbClr val="F2A900"/>
          </a:solidFill>
          <a:ln w="12700">
            <a:solidFill>
              <a:srgbClr val="C98C00"/>
            </a:solidFill>
            <a:prstDash val="solid"/>
          </a:ln>
        </p:spPr>
      </p:sp>
      <p:sp>
        <p:nvSpPr>
          <p:cNvPr id="4" name="Text 2"/>
          <p:cNvSpPr txBox="1"/>
          <p:nvPr/>
        </p:nvSpPr>
        <p:spPr>
          <a:xfrm>
            <a:off x="457200" y="1078992"/>
            <a:ext cx="384048" cy="384048"/>
          </a:xfrm>
          <a:prstGeom prst="rect">
            <a:avLst/>
          </a:prstGeom>
          <a:noFill/>
          <a:ln/>
        </p:spPr>
        <p:txBody>
          <a:bodyPr wrap="square" lIns="0" tIns="0" rIns="0" bIns="0" rtlCol="0" anchor="ctr"/>
          <a:lstStyle/>
          <a:p>
            <a:pPr algn="ctr" indent="0" marL="0">
              <a:buNone/>
            </a:pPr>
            <a:r>
              <a:rPr lang="en-US" sz="1400" b="1" dirty="0">
                <a:solidFill>
                  <a:srgbClr val="0B3D2E"/>
                </a:solidFill>
              </a:rPr>
              <a:t>1</a:t>
            </a:r>
            <a:endParaRPr lang="en-US" sz="1400" dirty="0"/>
          </a:p>
        </p:txBody>
      </p:sp>
      <p:sp>
        <p:nvSpPr>
          <p:cNvPr id="5" name="Text 3"/>
          <p:cNvSpPr txBox="1"/>
          <p:nvPr/>
        </p:nvSpPr>
        <p:spPr>
          <a:xfrm>
            <a:off x="960120" y="1005840"/>
            <a:ext cx="3200400" cy="411480"/>
          </a:xfrm>
          <a:prstGeom prst="rect">
            <a:avLst/>
          </a:prstGeom>
          <a:noFill/>
          <a:ln/>
        </p:spPr>
        <p:txBody>
          <a:bodyPr wrap="square" lIns="0" tIns="0" rIns="0" bIns="0" rtlCol="0" anchor="ctr"/>
          <a:lstStyle/>
          <a:p>
            <a:pPr indent="0" marL="0">
              <a:buNone/>
            </a:pPr>
            <a:r>
              <a:rPr lang="en-US" sz="1500" b="1" dirty="0">
                <a:solidFill>
                  <a:srgbClr val="0B3D2E"/>
                </a:solidFill>
              </a:rPr>
              <a:t>Does it run at all?</a:t>
            </a:r>
            <a:endParaRPr lang="en-US" sz="1500" dirty="0"/>
          </a:p>
        </p:txBody>
      </p:sp>
      <p:sp>
        <p:nvSpPr>
          <p:cNvPr id="6" name="Text 4"/>
          <p:cNvSpPr txBox="1"/>
          <p:nvPr/>
        </p:nvSpPr>
        <p:spPr>
          <a:xfrm>
            <a:off x="4206240" y="1005840"/>
            <a:ext cx="4480560" cy="457200"/>
          </a:xfrm>
          <a:prstGeom prst="rect">
            <a:avLst/>
          </a:prstGeom>
          <a:noFill/>
          <a:ln/>
        </p:spPr>
        <p:txBody>
          <a:bodyPr wrap="square" lIns="0" tIns="0" rIns="0" bIns="0" rtlCol="0" anchor="ctr"/>
          <a:lstStyle/>
          <a:p>
            <a:pPr indent="0" marL="0">
              <a:buNone/>
            </a:pPr>
            <a:r>
              <a:rPr lang="en-US" sz="1300" dirty="0">
                <a:solidFill>
                  <a:srgbClr val="1B1B1B"/>
                </a:solidFill>
              </a:rPr>
              <a:t>Red text names a line number. Open that line first.</a:t>
            </a:r>
            <a:endParaRPr lang="en-US" sz="1300" dirty="0"/>
          </a:p>
        </p:txBody>
      </p:sp>
      <p:sp>
        <p:nvSpPr>
          <p:cNvPr id="7" name="Shape 5"/>
          <p:cNvSpPr/>
          <p:nvPr/>
        </p:nvSpPr>
        <p:spPr>
          <a:xfrm>
            <a:off x="457200" y="1719072"/>
            <a:ext cx="384048" cy="384048"/>
          </a:xfrm>
          <a:prstGeom prst="ellipse">
            <a:avLst/>
          </a:prstGeom>
          <a:solidFill>
            <a:srgbClr val="F2A900"/>
          </a:solidFill>
          <a:ln w="12700">
            <a:solidFill>
              <a:srgbClr val="C98C00"/>
            </a:solidFill>
            <a:prstDash val="solid"/>
          </a:ln>
        </p:spPr>
      </p:sp>
      <p:sp>
        <p:nvSpPr>
          <p:cNvPr id="8" name="Text 6"/>
          <p:cNvSpPr txBox="1"/>
          <p:nvPr/>
        </p:nvSpPr>
        <p:spPr>
          <a:xfrm>
            <a:off x="457200" y="1719072"/>
            <a:ext cx="384048" cy="384048"/>
          </a:xfrm>
          <a:prstGeom prst="rect">
            <a:avLst/>
          </a:prstGeom>
          <a:noFill/>
          <a:ln/>
        </p:spPr>
        <p:txBody>
          <a:bodyPr wrap="square" lIns="0" tIns="0" rIns="0" bIns="0" rtlCol="0" anchor="ctr"/>
          <a:lstStyle/>
          <a:p>
            <a:pPr algn="ctr" indent="0" marL="0">
              <a:buNone/>
            </a:pPr>
            <a:r>
              <a:rPr lang="en-US" sz="1400" b="1" dirty="0">
                <a:solidFill>
                  <a:srgbClr val="0B3D2E"/>
                </a:solidFill>
              </a:rPr>
              <a:t>2</a:t>
            </a:r>
            <a:endParaRPr lang="en-US" sz="1400" dirty="0"/>
          </a:p>
        </p:txBody>
      </p:sp>
      <p:sp>
        <p:nvSpPr>
          <p:cNvPr id="9" name="Text 7"/>
          <p:cNvSpPr txBox="1"/>
          <p:nvPr/>
        </p:nvSpPr>
        <p:spPr>
          <a:xfrm>
            <a:off x="960120" y="1645920"/>
            <a:ext cx="3200400" cy="411480"/>
          </a:xfrm>
          <a:prstGeom prst="rect">
            <a:avLst/>
          </a:prstGeom>
          <a:noFill/>
          <a:ln/>
        </p:spPr>
        <p:txBody>
          <a:bodyPr wrap="square" lIns="0" tIns="0" rIns="0" bIns="0" rtlCol="0" anchor="ctr"/>
          <a:lstStyle/>
          <a:p>
            <a:pPr indent="0" marL="0">
              <a:buNone/>
            </a:pPr>
            <a:r>
              <a:rPr lang="en-US" sz="1500" b="1" dirty="0">
                <a:solidFill>
                  <a:srgbClr val="0B3D2E"/>
                </a:solidFill>
              </a:rPr>
              <a:t>Go back to the last version that worked</a:t>
            </a:r>
            <a:endParaRPr lang="en-US" sz="1500" dirty="0"/>
          </a:p>
        </p:txBody>
      </p:sp>
      <p:sp>
        <p:nvSpPr>
          <p:cNvPr id="10" name="Text 8"/>
          <p:cNvSpPr txBox="1"/>
          <p:nvPr/>
        </p:nvSpPr>
        <p:spPr>
          <a:xfrm>
            <a:off x="4206240" y="1645920"/>
            <a:ext cx="4480560" cy="457200"/>
          </a:xfrm>
          <a:prstGeom prst="rect">
            <a:avLst/>
          </a:prstGeom>
          <a:noFill/>
          <a:ln/>
        </p:spPr>
        <p:txBody>
          <a:bodyPr wrap="square" lIns="0" tIns="0" rIns="0" bIns="0" rtlCol="0" anchor="ctr"/>
          <a:lstStyle/>
          <a:p>
            <a:pPr indent="0" marL="0">
              <a:buNone/>
            </a:pPr>
            <a:r>
              <a:rPr lang="en-US" sz="1300" dirty="0">
                <a:solidFill>
                  <a:srgbClr val="1B1B1B"/>
                </a:solidFill>
              </a:rPr>
              <a:t>Step 2 ran, Step 3 does not? The bug is in what you changed.</a:t>
            </a:r>
            <a:endParaRPr lang="en-US" sz="1300" dirty="0"/>
          </a:p>
        </p:txBody>
      </p:sp>
      <p:sp>
        <p:nvSpPr>
          <p:cNvPr id="11" name="Shape 9"/>
          <p:cNvSpPr/>
          <p:nvPr/>
        </p:nvSpPr>
        <p:spPr>
          <a:xfrm>
            <a:off x="457200" y="2359152"/>
            <a:ext cx="384048" cy="384048"/>
          </a:xfrm>
          <a:prstGeom prst="ellipse">
            <a:avLst/>
          </a:prstGeom>
          <a:solidFill>
            <a:srgbClr val="F2A900"/>
          </a:solidFill>
          <a:ln w="12700">
            <a:solidFill>
              <a:srgbClr val="C98C00"/>
            </a:solidFill>
            <a:prstDash val="solid"/>
          </a:ln>
        </p:spPr>
      </p:sp>
      <p:sp>
        <p:nvSpPr>
          <p:cNvPr id="12" name="Text 10"/>
          <p:cNvSpPr txBox="1"/>
          <p:nvPr/>
        </p:nvSpPr>
        <p:spPr>
          <a:xfrm>
            <a:off x="457200" y="2359152"/>
            <a:ext cx="384048" cy="384048"/>
          </a:xfrm>
          <a:prstGeom prst="rect">
            <a:avLst/>
          </a:prstGeom>
          <a:noFill/>
          <a:ln/>
        </p:spPr>
        <p:txBody>
          <a:bodyPr wrap="square" lIns="0" tIns="0" rIns="0" bIns="0" rtlCol="0" anchor="ctr"/>
          <a:lstStyle/>
          <a:p>
            <a:pPr algn="ctr" indent="0" marL="0">
              <a:buNone/>
            </a:pPr>
            <a:r>
              <a:rPr lang="en-US" sz="1400" b="1" dirty="0">
                <a:solidFill>
                  <a:srgbClr val="0B3D2E"/>
                </a:solidFill>
              </a:rPr>
              <a:t>3</a:t>
            </a:r>
            <a:endParaRPr lang="en-US" sz="1400" dirty="0"/>
          </a:p>
        </p:txBody>
      </p:sp>
      <p:sp>
        <p:nvSpPr>
          <p:cNvPr id="13" name="Text 11"/>
          <p:cNvSpPr txBox="1"/>
          <p:nvPr/>
        </p:nvSpPr>
        <p:spPr>
          <a:xfrm>
            <a:off x="960120" y="2286000"/>
            <a:ext cx="3200400" cy="411480"/>
          </a:xfrm>
          <a:prstGeom prst="rect">
            <a:avLst/>
          </a:prstGeom>
          <a:noFill/>
          <a:ln/>
        </p:spPr>
        <p:txBody>
          <a:bodyPr wrap="square" lIns="0" tIns="0" rIns="0" bIns="0" rtlCol="0" anchor="ctr"/>
          <a:lstStyle/>
          <a:p>
            <a:pPr indent="0" marL="0">
              <a:buNone/>
            </a:pPr>
            <a:r>
              <a:rPr lang="en-US" sz="1500" b="1" dirty="0">
                <a:solidFill>
                  <a:srgbClr val="0B3D2E"/>
                </a:solidFill>
              </a:rPr>
              <a:t>Change one thing. Then run</a:t>
            </a:r>
            <a:endParaRPr lang="en-US" sz="1500" dirty="0"/>
          </a:p>
        </p:txBody>
      </p:sp>
      <p:sp>
        <p:nvSpPr>
          <p:cNvPr id="14" name="Text 12"/>
          <p:cNvSpPr txBox="1"/>
          <p:nvPr/>
        </p:nvSpPr>
        <p:spPr>
          <a:xfrm>
            <a:off x="4206240" y="2286000"/>
            <a:ext cx="4480560" cy="457200"/>
          </a:xfrm>
          <a:prstGeom prst="rect">
            <a:avLst/>
          </a:prstGeom>
          <a:noFill/>
          <a:ln/>
        </p:spPr>
        <p:txBody>
          <a:bodyPr wrap="square" lIns="0" tIns="0" rIns="0" bIns="0" rtlCol="0" anchor="ctr"/>
          <a:lstStyle/>
          <a:p>
            <a:pPr indent="0" marL="0">
              <a:buNone/>
            </a:pPr>
            <a:r>
              <a:rPr lang="en-US" sz="1300" dirty="0">
                <a:solidFill>
                  <a:srgbClr val="1B1B1B"/>
                </a:solidFill>
              </a:rPr>
              <a:t>Two changes at once and the result teaches you nothing.</a:t>
            </a:r>
            <a:endParaRPr lang="en-US" sz="1300" dirty="0"/>
          </a:p>
        </p:txBody>
      </p:sp>
      <p:sp>
        <p:nvSpPr>
          <p:cNvPr id="15" name="Shape 13"/>
          <p:cNvSpPr/>
          <p:nvPr/>
        </p:nvSpPr>
        <p:spPr>
          <a:xfrm>
            <a:off x="457200" y="2999232"/>
            <a:ext cx="384048" cy="384048"/>
          </a:xfrm>
          <a:prstGeom prst="ellipse">
            <a:avLst/>
          </a:prstGeom>
          <a:solidFill>
            <a:srgbClr val="F2A900"/>
          </a:solidFill>
          <a:ln w="12700">
            <a:solidFill>
              <a:srgbClr val="C98C00"/>
            </a:solidFill>
            <a:prstDash val="solid"/>
          </a:ln>
        </p:spPr>
      </p:sp>
      <p:sp>
        <p:nvSpPr>
          <p:cNvPr id="16" name="Text 14"/>
          <p:cNvSpPr txBox="1"/>
          <p:nvPr/>
        </p:nvSpPr>
        <p:spPr>
          <a:xfrm>
            <a:off x="457200" y="2999232"/>
            <a:ext cx="384048" cy="384048"/>
          </a:xfrm>
          <a:prstGeom prst="rect">
            <a:avLst/>
          </a:prstGeom>
          <a:noFill/>
          <a:ln/>
        </p:spPr>
        <p:txBody>
          <a:bodyPr wrap="square" lIns="0" tIns="0" rIns="0" bIns="0" rtlCol="0" anchor="ctr"/>
          <a:lstStyle/>
          <a:p>
            <a:pPr algn="ctr" indent="0" marL="0">
              <a:buNone/>
            </a:pPr>
            <a:r>
              <a:rPr lang="en-US" sz="1400" b="1" dirty="0">
                <a:solidFill>
                  <a:srgbClr val="0B3D2E"/>
                </a:solidFill>
              </a:rPr>
              <a:t>4</a:t>
            </a:r>
            <a:endParaRPr lang="en-US" sz="1400" dirty="0"/>
          </a:p>
        </p:txBody>
      </p:sp>
      <p:sp>
        <p:nvSpPr>
          <p:cNvPr id="17" name="Text 15"/>
          <p:cNvSpPr txBox="1"/>
          <p:nvPr/>
        </p:nvSpPr>
        <p:spPr>
          <a:xfrm>
            <a:off x="960120" y="2926080"/>
            <a:ext cx="3200400" cy="411480"/>
          </a:xfrm>
          <a:prstGeom prst="rect">
            <a:avLst/>
          </a:prstGeom>
          <a:noFill/>
          <a:ln/>
        </p:spPr>
        <p:txBody>
          <a:bodyPr wrap="square" lIns="0" tIns="0" rIns="0" bIns="0" rtlCol="0" anchor="ctr"/>
          <a:lstStyle/>
          <a:p>
            <a:pPr indent="0" marL="0">
              <a:buNone/>
            </a:pPr>
            <a:r>
              <a:rPr lang="en-US" sz="1500" b="1" dirty="0">
                <a:solidFill>
                  <a:srgbClr val="0B3D2E"/>
                </a:solidFill>
              </a:rPr>
              <a:t>Cut the program in half</a:t>
            </a:r>
            <a:endParaRPr lang="en-US" sz="1500" dirty="0"/>
          </a:p>
        </p:txBody>
      </p:sp>
      <p:sp>
        <p:nvSpPr>
          <p:cNvPr id="18" name="Text 16"/>
          <p:cNvSpPr txBox="1"/>
          <p:nvPr/>
        </p:nvSpPr>
        <p:spPr>
          <a:xfrm>
            <a:off x="4206240" y="2926080"/>
            <a:ext cx="4480560" cy="457200"/>
          </a:xfrm>
          <a:prstGeom prst="rect">
            <a:avLst/>
          </a:prstGeom>
          <a:noFill/>
          <a:ln/>
        </p:spPr>
        <p:txBody>
          <a:bodyPr wrap="square" lIns="0" tIns="0" rIns="0" bIns="0" rtlCol="0" anchor="ctr"/>
          <a:lstStyle/>
          <a:p>
            <a:pPr indent="0" marL="0">
              <a:buNone/>
            </a:pPr>
            <a:r>
              <a:rPr lang="en-US" sz="1300" dirty="0">
                <a:solidFill>
                  <a:srgbClr val="1B1B1B"/>
                </a:solidFill>
              </a:rPr>
              <a:t>Input, decision, or output? Test each one alone.</a:t>
            </a:r>
            <a:endParaRPr lang="en-US" sz="1300" dirty="0"/>
          </a:p>
        </p:txBody>
      </p:sp>
      <p:sp>
        <p:nvSpPr>
          <p:cNvPr id="19" name="Shape 17"/>
          <p:cNvSpPr/>
          <p:nvPr/>
        </p:nvSpPr>
        <p:spPr>
          <a:xfrm>
            <a:off x="457200" y="3639312"/>
            <a:ext cx="384048" cy="384048"/>
          </a:xfrm>
          <a:prstGeom prst="ellipse">
            <a:avLst/>
          </a:prstGeom>
          <a:solidFill>
            <a:srgbClr val="F2A900"/>
          </a:solidFill>
          <a:ln w="12700">
            <a:solidFill>
              <a:srgbClr val="C98C00"/>
            </a:solidFill>
            <a:prstDash val="solid"/>
          </a:ln>
        </p:spPr>
      </p:sp>
      <p:sp>
        <p:nvSpPr>
          <p:cNvPr id="20" name="Text 18"/>
          <p:cNvSpPr txBox="1"/>
          <p:nvPr/>
        </p:nvSpPr>
        <p:spPr>
          <a:xfrm>
            <a:off x="457200" y="3639312"/>
            <a:ext cx="384048" cy="384048"/>
          </a:xfrm>
          <a:prstGeom prst="rect">
            <a:avLst/>
          </a:prstGeom>
          <a:noFill/>
          <a:ln/>
        </p:spPr>
        <p:txBody>
          <a:bodyPr wrap="square" lIns="0" tIns="0" rIns="0" bIns="0" rtlCol="0" anchor="ctr"/>
          <a:lstStyle/>
          <a:p>
            <a:pPr algn="ctr" indent="0" marL="0">
              <a:buNone/>
            </a:pPr>
            <a:r>
              <a:rPr lang="en-US" sz="1400" b="1" dirty="0">
                <a:solidFill>
                  <a:srgbClr val="0B3D2E"/>
                </a:solidFill>
              </a:rPr>
              <a:t>5</a:t>
            </a:r>
            <a:endParaRPr lang="en-US" sz="1400" dirty="0"/>
          </a:p>
        </p:txBody>
      </p:sp>
      <p:sp>
        <p:nvSpPr>
          <p:cNvPr id="21" name="Text 19"/>
          <p:cNvSpPr txBox="1"/>
          <p:nvPr/>
        </p:nvSpPr>
        <p:spPr>
          <a:xfrm>
            <a:off x="960120" y="3566160"/>
            <a:ext cx="3200400" cy="411480"/>
          </a:xfrm>
          <a:prstGeom prst="rect">
            <a:avLst/>
          </a:prstGeom>
          <a:noFill/>
          <a:ln/>
        </p:spPr>
        <p:txBody>
          <a:bodyPr wrap="square" lIns="0" tIns="0" rIns="0" bIns="0" rtlCol="0" anchor="ctr"/>
          <a:lstStyle/>
          <a:p>
            <a:pPr indent="0" marL="0">
              <a:buNone/>
            </a:pPr>
            <a:r>
              <a:rPr lang="en-US" sz="1500" b="1" dirty="0">
                <a:solidFill>
                  <a:srgbClr val="0B3D2E"/>
                </a:solidFill>
              </a:rPr>
              <a:t>Make the invisible visible</a:t>
            </a:r>
            <a:endParaRPr lang="en-US" sz="1500" dirty="0"/>
          </a:p>
        </p:txBody>
      </p:sp>
      <p:sp>
        <p:nvSpPr>
          <p:cNvPr id="22" name="Text 20"/>
          <p:cNvSpPr txBox="1"/>
          <p:nvPr/>
        </p:nvSpPr>
        <p:spPr>
          <a:xfrm>
            <a:off x="4206240" y="3566160"/>
            <a:ext cx="4480560" cy="457200"/>
          </a:xfrm>
          <a:prstGeom prst="rect">
            <a:avLst/>
          </a:prstGeom>
          <a:noFill/>
          <a:ln/>
        </p:spPr>
        <p:txBody>
          <a:bodyPr wrap="square" lIns="0" tIns="0" rIns="0" bIns="0" rtlCol="0" anchor="ctr"/>
          <a:lstStyle/>
          <a:p>
            <a:pPr indent="0" marL="0">
              <a:buNone/>
            </a:pPr>
            <a:r>
              <a:rPr lang="en-US" sz="1300" dirty="0">
                <a:solidFill>
                  <a:srgbClr val="1B1B1B"/>
                </a:solidFill>
              </a:rPr>
              <a:t>print() the value you are guessing about.</a:t>
            </a:r>
            <a:endParaRPr lang="en-US" sz="1300" dirty="0"/>
          </a:p>
        </p:txBody>
      </p:sp>
      <p:sp>
        <p:nvSpPr>
          <p:cNvPr id="23" name="Shape 21"/>
          <p:cNvSpPr/>
          <p:nvPr/>
        </p:nvSpPr>
        <p:spPr>
          <a:xfrm>
            <a:off x="457200" y="4224528"/>
            <a:ext cx="8229600" cy="457200"/>
          </a:xfrm>
          <a:prstGeom prst="roundRect">
            <a:avLst>
              <a:gd name="adj" fmla="val 12000"/>
            </a:avLst>
          </a:prstGeom>
          <a:solidFill>
            <a:srgbClr val="FDECEC"/>
          </a:solidFill>
          <a:ln w="15875">
            <a:solidFill>
              <a:srgbClr val="D64545"/>
            </a:solidFill>
            <a:prstDash val="solid"/>
          </a:ln>
        </p:spPr>
      </p:sp>
      <p:sp>
        <p:nvSpPr>
          <p:cNvPr id="24" name="Text 22"/>
          <p:cNvSpPr txBox="1"/>
          <p:nvPr/>
        </p:nvSpPr>
        <p:spPr>
          <a:xfrm>
            <a:off x="685800" y="4224528"/>
            <a:ext cx="7772400" cy="457200"/>
          </a:xfrm>
          <a:prstGeom prst="rect">
            <a:avLst/>
          </a:prstGeom>
          <a:noFill/>
          <a:ln/>
        </p:spPr>
        <p:txBody>
          <a:bodyPr wrap="square" lIns="0" tIns="0" rIns="0" bIns="0" rtlCol="0" anchor="ctr"/>
          <a:lstStyle/>
          <a:p>
            <a:pPr indent="0" marL="0">
              <a:buNone/>
            </a:pPr>
            <a:r>
              <a:rPr lang="en-US" sz="1400" b="1" dirty="0">
                <a:solidFill>
                  <a:srgbClr val="D64545"/>
                </a:solidFill>
              </a:rPr>
              <a:t>Starting over is not number 6. It throws away the working half as well.</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Where exactly is it wrong?</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017520"/>
                <a:gridCol w="2651760"/>
                <a:gridCol w="2560320"/>
              </a:tblGrid>
              <a:tr h="566928">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The count races up while somebody talks</a:t>
                      </a:r>
                      <a:endParaRPr lang="en-US" sz="13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200" b="1" dirty="0">
                          <a:solidFill>
                            <a:srgbClr val="1B1B1B"/>
                          </a:solidFill>
                          <a:latin typeface="Courier New" pitchFamily="34" charset="0"/>
                          <a:ea typeface="Courier New" pitchFamily="34" charset="-122"/>
                          <a:cs typeface="Courier New" pitchFamily="34" charset="-120"/>
                        </a:rPr>
                        <a:t>not was_loud is missing</a:t>
                      </a:r>
                      <a:endParaRPr lang="en-US" sz="1200" dirty="0">
                        <a:latin typeface="Courier New" charset="0"/>
                        <a:ea typeface="Courier New" charset="0"/>
                        <a:cs typeface="Courier New"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you are counting readings, not moments</a:t>
                      </a:r>
                      <a:endParaRPr lang="en-US" sz="13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The count never moves at all</a:t>
                      </a:r>
                      <a:endParaRPr lang="en-US" sz="13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200" b="1" dirty="0">
                          <a:solidFill>
                            <a:srgbClr val="1B1B1B"/>
                          </a:solidFill>
                          <a:latin typeface="Courier New" pitchFamily="34" charset="0"/>
                          <a:ea typeface="Courier New" pitchFamily="34" charset="-122"/>
                          <a:cs typeface="Courier New" pitchFamily="34" charset="-120"/>
                        </a:rPr>
                        <a:t>was_loud = is_loud is missing</a:t>
                      </a:r>
                      <a:endParaRPr lang="en-US" sz="1200" dirty="0">
                        <a:latin typeface="Courier New" charset="0"/>
                        <a:ea typeface="Courier New" charset="0"/>
                        <a:cs typeface="Courier New"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the memory never updates</a:t>
                      </a:r>
                      <a:endParaRPr lang="en-US" sz="13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r>
              <a:tr h="566928">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The count is stuck at 1</a:t>
                      </a:r>
                      <a:endParaRPr lang="en-US" sz="13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200" b="1" dirty="0">
                          <a:solidFill>
                            <a:srgbClr val="1B1B1B"/>
                          </a:solidFill>
                          <a:latin typeface="Courier New" pitchFamily="34" charset="0"/>
                          <a:ea typeface="Courier New" pitchFamily="34" charset="-122"/>
                          <a:cs typeface="Courier New" pitchFamily="34" charset="-120"/>
                        </a:rPr>
                        <a:t>loud_count = 0 is inside the loop</a:t>
                      </a:r>
                      <a:endParaRPr lang="en-US" sz="1200" dirty="0">
                        <a:latin typeface="Courier New" charset="0"/>
                        <a:ea typeface="Courier New" charset="0"/>
                        <a:cs typeface="Courier New"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it is made again every round</a:t>
                      </a:r>
                      <a:endParaRPr lang="en-US" sz="13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The count climbs in a silent room</a:t>
                      </a:r>
                      <a:endParaRPr lang="en-US" sz="13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200" b="1" dirty="0">
                          <a:solidFill>
                            <a:srgbClr val="1B1B1B"/>
                          </a:solidFill>
                          <a:latin typeface="Courier New" pitchFamily="34" charset="0"/>
                          <a:ea typeface="Courier New" pitchFamily="34" charset="-122"/>
                          <a:cs typeface="Courier New" pitchFamily="34" charset="-120"/>
                        </a:rPr>
                        <a:t>QUIET is too low for this room</a:t>
                      </a:r>
                      <a:endParaRPr lang="en-US" sz="1200" dirty="0">
                        <a:latin typeface="Courier New" charset="0"/>
                        <a:ea typeface="Courier New" charset="0"/>
                        <a:cs typeface="Courier New"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not a bug. Measure your room</a:t>
                      </a:r>
                      <a:endParaRPr lang="en-US" sz="13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r>
            </a:tbl>
          </a:graphicData>
        </a:graphic>
      </p:graphicFrame>
      <p:sp>
        <p:nvSpPr>
          <p:cNvPr id="4" name="Text 1"/>
          <p:cNvSpPr txBox="1"/>
          <p:nvPr/>
        </p:nvSpPr>
        <p:spPr>
          <a:xfrm>
            <a:off x="548640" y="914400"/>
            <a:ext cx="2926080" cy="256032"/>
          </a:xfrm>
          <a:prstGeom prst="rect">
            <a:avLst/>
          </a:prstGeom>
          <a:noFill/>
          <a:ln/>
        </p:spPr>
        <p:txBody>
          <a:bodyPr wrap="square" lIns="0" tIns="0" rIns="0" bIns="0" rtlCol="0" anchor="ctr"/>
          <a:lstStyle/>
          <a:p>
            <a:pPr indent="0" marL="0">
              <a:buNone/>
            </a:pPr>
            <a:r>
              <a:rPr lang="en-US" sz="1200" b="1" dirty="0">
                <a:solidFill>
                  <a:srgbClr val="6B7280"/>
                </a:solidFill>
              </a:rPr>
              <a:t>What you see</a:t>
            </a:r>
            <a:endParaRPr lang="en-US" sz="1200" dirty="0"/>
          </a:p>
        </p:txBody>
      </p:sp>
      <p:sp>
        <p:nvSpPr>
          <p:cNvPr id="5" name="Text 2"/>
          <p:cNvSpPr txBox="1"/>
          <p:nvPr/>
        </p:nvSpPr>
        <p:spPr>
          <a:xfrm>
            <a:off x="3566160" y="914400"/>
            <a:ext cx="2560320" cy="256032"/>
          </a:xfrm>
          <a:prstGeom prst="rect">
            <a:avLst/>
          </a:prstGeom>
          <a:noFill/>
          <a:ln/>
        </p:spPr>
        <p:txBody>
          <a:bodyPr wrap="square" lIns="0" tIns="0" rIns="0" bIns="0" rtlCol="0" anchor="ctr"/>
          <a:lstStyle/>
          <a:p>
            <a:pPr indent="0" marL="0">
              <a:buNone/>
            </a:pPr>
            <a:r>
              <a:rPr lang="en-US" sz="1200" b="1" dirty="0">
                <a:solidFill>
                  <a:srgbClr val="6B7280"/>
                </a:solidFill>
              </a:rPr>
              <a:t>The usual cause</a:t>
            </a:r>
            <a:endParaRPr lang="en-US" sz="1200" dirty="0"/>
          </a:p>
        </p:txBody>
      </p:sp>
      <p:sp>
        <p:nvSpPr>
          <p:cNvPr id="6" name="Text 3"/>
          <p:cNvSpPr txBox="1"/>
          <p:nvPr/>
        </p:nvSpPr>
        <p:spPr>
          <a:xfrm>
            <a:off x="6217920" y="914400"/>
            <a:ext cx="2468880" cy="256032"/>
          </a:xfrm>
          <a:prstGeom prst="rect">
            <a:avLst/>
          </a:prstGeom>
          <a:noFill/>
          <a:ln/>
        </p:spPr>
        <p:txBody>
          <a:bodyPr wrap="square" lIns="0" tIns="0" rIns="0" bIns="0" rtlCol="0" anchor="ctr"/>
          <a:lstStyle/>
          <a:p>
            <a:pPr indent="0" marL="0">
              <a:buNone/>
            </a:pPr>
            <a:r>
              <a:rPr lang="en-US" sz="1200" b="1" dirty="0">
                <a:solidFill>
                  <a:srgbClr val="6B7280"/>
                </a:solidFill>
              </a:rPr>
              <a:t>Why</a:t>
            </a:r>
            <a:endParaRPr lang="en-US" sz="1200" dirty="0"/>
          </a:p>
        </p:txBody>
      </p:sp>
      <p:sp>
        <p:nvSpPr>
          <p:cNvPr id="7" name="Text 4"/>
          <p:cNvSpPr txBox="1"/>
          <p:nvPr/>
        </p:nvSpPr>
        <p:spPr>
          <a:xfrm>
            <a:off x="457200" y="3931920"/>
            <a:ext cx="8229600" cy="365760"/>
          </a:xfrm>
          <a:prstGeom prst="rect">
            <a:avLst/>
          </a:prstGeom>
          <a:noFill/>
          <a:ln/>
        </p:spPr>
        <p:txBody>
          <a:bodyPr wrap="square" lIns="0" tIns="0" rIns="0" bIns="0" rtlCol="0" anchor="ctr"/>
          <a:lstStyle/>
          <a:p>
            <a:pPr indent="0" marL="0">
              <a:buNone/>
            </a:pPr>
            <a:r>
              <a:rPr lang="en-US" sz="1400" i="1" dirty="0">
                <a:solidFill>
                  <a:srgbClr val="0B3D2E"/>
                </a:solidFill>
              </a:rPr>
              <a:t>Symptoms, not solutions. Match what you see, then go and look at that line yourself.</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Step 3: write the counter</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3</a:t>
            </a:r>
            <a:endParaRPr lang="en-US" sz="2000" dirty="0"/>
          </a:p>
        </p:txBody>
      </p:sp>
      <p:sp>
        <p:nvSpPr>
          <p:cNvPr id="6" name="Shape 4"/>
          <p:cNvSpPr/>
          <p:nvPr/>
        </p:nvSpPr>
        <p:spPr>
          <a:xfrm>
            <a:off x="457200" y="1005840"/>
            <a:ext cx="4937760" cy="2514600"/>
          </a:xfrm>
          <a:prstGeom prst="roundRect">
            <a:avLst>
              <a:gd name="adj" fmla="val 2909"/>
            </a:avLst>
          </a:prstGeom>
          <a:solidFill>
            <a:srgbClr val="14261F"/>
          </a:solidFill>
          <a:ln w="12700">
            <a:solidFill>
              <a:srgbClr val="14261F"/>
            </a:solidFill>
            <a:prstDash val="solid"/>
          </a:ln>
        </p:spPr>
      </p:sp>
      <p:sp>
        <p:nvSpPr>
          <p:cNvPr id="7" name="Text 5"/>
          <p:cNvSpPr txBox="1"/>
          <p:nvPr/>
        </p:nvSpPr>
        <p:spPr>
          <a:xfrm>
            <a:off x="594360" y="1069848"/>
            <a:ext cx="4663440" cy="219456"/>
          </a:xfrm>
          <a:prstGeom prst="rect">
            <a:avLst/>
          </a:prstGeom>
          <a:noFill/>
          <a:ln/>
        </p:spPr>
        <p:txBody>
          <a:bodyPr wrap="square" lIns="0" tIns="0" rIns="0" bIns="0" rtlCol="0" anchor="ctr"/>
          <a:lstStyle/>
          <a:p>
            <a:pPr indent="0" marL="0">
              <a:buNone/>
            </a:pPr>
            <a:r>
              <a:rPr lang="en-US" sz="1100" b="1" dirty="0">
                <a:solidFill>
                  <a:srgbClr val="F2A900"/>
                </a:solidFill>
              </a:rPr>
              <a:t>step3_noise_counter.py</a:t>
            </a:r>
            <a:pPr indent="0" marL="0">
              <a:buNone/>
            </a:pPr>
            <a:r>
              <a:rPr lang="en-US" sz="1100" dirty="0">
                <a:solidFill>
                  <a:srgbClr val="9FB8AD"/>
                </a:solidFill>
              </a:rPr>
              <a:t>  ·  lines 84–97</a:t>
            </a:r>
            <a:endParaRPr lang="en-US" sz="1100" dirty="0"/>
          </a:p>
        </p:txBody>
      </p:sp>
      <p:sp>
        <p:nvSpPr>
          <p:cNvPr id="8" name="Shape 6"/>
          <p:cNvSpPr/>
          <p:nvPr/>
        </p:nvSpPr>
        <p:spPr>
          <a:xfrm>
            <a:off x="566928" y="1325880"/>
            <a:ext cx="4718304" cy="0"/>
          </a:xfrm>
          <a:prstGeom prst="line">
            <a:avLst/>
          </a:prstGeom>
          <a:noFill/>
          <a:ln w="12700">
            <a:solidFill>
              <a:srgbClr val="2F4A3F"/>
            </a:solidFill>
            <a:prstDash val="solid"/>
          </a:ln>
        </p:spPr>
      </p:sp>
      <p:sp>
        <p:nvSpPr>
          <p:cNvPr id="9" name="Text 7"/>
          <p:cNvSpPr txBox="1"/>
          <p:nvPr/>
        </p:nvSpPr>
        <p:spPr>
          <a:xfrm>
            <a:off x="548640" y="1389888"/>
            <a:ext cx="4754880" cy="2057400"/>
          </a:xfrm>
          <a:prstGeom prst="rect">
            <a:avLst/>
          </a:prstGeom>
          <a:noFill/>
          <a:ln/>
        </p:spPr>
        <p:txBody>
          <a:bodyPr wrap="square" lIns="0" tIns="0" rIns="0" bIns="0" rtlCol="0" anchor="t"/>
          <a:lstStyle/>
          <a:p>
            <a:pPr indent="0" marL="0">
              <a:buNone/>
            </a:pPr>
            <a:r>
              <a:rPr lang="en-US" sz="1000" dirty="0">
                <a:solidFill>
                  <a:srgbClr val="6F8A7F"/>
                </a:solidFill>
                <a:latin typeface="Courier New" pitchFamily="34" charset="0"/>
                <a:ea typeface="Courier New" pitchFamily="34" charset="-122"/>
                <a:cs typeface="Courier New" pitchFamily="34" charset="-120"/>
              </a:rPr>
              <a:t> 84  </a:t>
            </a:r>
            <a:pPr indent="0" marL="0">
              <a:buNone/>
            </a:pPr>
            <a:r>
              <a:rPr lang="en-US" sz="1000" dirty="0">
                <a:solidFill>
                  <a:srgbClr val="E6F2EC"/>
                </a:solidFill>
                <a:latin typeface="Courier New" pitchFamily="34" charset="0"/>
                <a:ea typeface="Courier New" pitchFamily="34" charset="-122"/>
                <a:cs typeface="Courier New" pitchFamily="34" charset="-120"/>
              </a:rPr>
              <a:t>is_loud = level &gt;= TOO_LOUD_LEVEL</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85  </a:t>
            </a:r>
            <a:pPr indent="0" marL="0">
              <a:buNone/>
            </a:pPr>
            <a:r>
              <a:rPr lang="en-US" sz="1000" dirty="0">
                <a:solidFill>
                  <a:srgbClr val="E6F2EC"/>
                </a:solidFill>
                <a:latin typeface="Courier New" pitchFamily="34" charset="0"/>
                <a:ea typeface="Courier New" pitchFamily="34" charset="-122"/>
                <a:cs typeface="Courier New" pitchFamily="34" charset="-120"/>
              </a:rPr>
              <a:t>now = time.time()</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86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87  </a:t>
            </a:r>
            <a:pPr indent="0" marL="0">
              <a:buNone/>
            </a:pPr>
            <a:r>
              <a:rPr lang="en-US" sz="1000" dirty="0">
                <a:solidFill>
                  <a:srgbClr val="9FB8AD"/>
                </a:solidFill>
                <a:latin typeface="Courier New" pitchFamily="34" charset="0"/>
                <a:ea typeface="Courier New" pitchFamily="34" charset="-122"/>
                <a:cs typeface="Courier New" pitchFamily="34" charset="-120"/>
              </a:rPr>
              <a:t># &gt;&gt;&gt;&gt;&gt; YOUR CODE STARTS HERE &gt;&gt;&gt;&gt;&gt;</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88  </a:t>
            </a:r>
            <a:pPr indent="0" marL="0">
              <a:buNone/>
            </a:pPr>
            <a:r>
              <a:rPr lang="en-US" sz="1000" dirty="0">
                <a:solidFill>
                  <a:srgbClr val="9FB8AD"/>
                </a:solidFill>
                <a:latin typeface="Courier New" pitchFamily="34" charset="0"/>
                <a:ea typeface="Courier New" pitchFamily="34" charset="-122"/>
                <a:cs typeface="Courier New" pitchFamily="34" charset="-120"/>
              </a:rPr>
              <a:t># Line 1: count a new loud moment. Only if the room</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89  </a:t>
            </a:r>
            <a:pPr indent="0" marL="0">
              <a:buNone/>
            </a:pPr>
            <a:r>
              <a:rPr lang="en-US" sz="1000" dirty="0">
                <a:solidFill>
                  <a:srgbClr val="9FB8AD"/>
                </a:solidFill>
                <a:latin typeface="Courier New" pitchFamily="34" charset="0"/>
                <a:ea typeface="Courier New" pitchFamily="34" charset="-122"/>
                <a:cs typeface="Courier New" pitchFamily="34" charset="-120"/>
              </a:rPr>
              <a:t># was quiet before, and only if COOLDOWN seconds</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90  </a:t>
            </a:r>
            <a:pPr indent="0" marL="0">
              <a:buNone/>
            </a:pPr>
            <a:r>
              <a:rPr lang="en-US" sz="1000" dirty="0">
                <a:solidFill>
                  <a:srgbClr val="9FB8AD"/>
                </a:solidFill>
                <a:latin typeface="Courier New" pitchFamily="34" charset="0"/>
                <a:ea typeface="Courier New" pitchFamily="34" charset="-122"/>
                <a:cs typeface="Courier New" pitchFamily="34" charset="-120"/>
              </a:rPr>
              <a:t># passed since the last one. Add 1 to loud_count,</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91  </a:t>
            </a:r>
            <a:pPr indent="0" marL="0">
              <a:buNone/>
            </a:pPr>
            <a:r>
              <a:rPr lang="en-US" sz="1000" dirty="0">
                <a:solidFill>
                  <a:srgbClr val="9FB8AD"/>
                </a:solidFill>
                <a:latin typeface="Courier New" pitchFamily="34" charset="0"/>
                <a:ea typeface="Courier New" pitchFamily="34" charset="-122"/>
                <a:cs typeface="Courier New" pitchFamily="34" charset="-120"/>
              </a:rPr>
              <a:t># then set last_count_time = now.</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92  </a:t>
            </a:r>
            <a:pPr indent="0" marL="0">
              <a:buNone/>
            </a:pPr>
            <a:r>
              <a:rPr lang="en-US" sz="1000" dirty="0">
                <a:solidFill>
                  <a:srgbClr val="E6F2EC"/>
                </a:solidFill>
                <a:latin typeface="Courier New" pitchFamily="34" charset="0"/>
                <a:ea typeface="Courier New" pitchFamily="34" charset="-122"/>
                <a:cs typeface="Courier New" pitchFamily="34" charset="-120"/>
              </a:rPr>
              <a:t>if False:</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93  </a:t>
            </a:r>
            <a:pPr indent="0" marL="0">
              <a:buNone/>
            </a:pPr>
            <a:r>
              <a:rPr lang="en-US" sz="1000" dirty="0">
                <a:solidFill>
                  <a:srgbClr val="E6F2EC"/>
                </a:solidFill>
                <a:latin typeface="Courier New" pitchFamily="34" charset="0"/>
                <a:ea typeface="Courier New" pitchFamily="34" charset="-122"/>
                <a:cs typeface="Courier New" pitchFamily="34" charset="-120"/>
              </a:rPr>
              <a:t>    pass</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94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95  </a:t>
            </a:r>
            <a:pPr indent="0" marL="0">
              <a:buNone/>
            </a:pPr>
            <a:r>
              <a:rPr lang="en-US" sz="1000" dirty="0">
                <a:solidFill>
                  <a:srgbClr val="9FB8AD"/>
                </a:solidFill>
                <a:latin typeface="Courier New" pitchFamily="34" charset="0"/>
                <a:ea typeface="Courier New" pitchFamily="34" charset="-122"/>
                <a:cs typeface="Courier New" pitchFamily="34" charset="-120"/>
              </a:rPr>
              <a:t># Line 2: remember is_loud for next time round.</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96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97  </a:t>
            </a:r>
            <a:pPr indent="0" marL="0">
              <a:buNone/>
            </a:pPr>
            <a:r>
              <a:rPr lang="en-US" sz="1000" dirty="0">
                <a:solidFill>
                  <a:srgbClr val="9FB8AD"/>
                </a:solidFill>
                <a:latin typeface="Courier New" pitchFamily="34" charset="0"/>
                <a:ea typeface="Courier New" pitchFamily="34" charset="-122"/>
                <a:cs typeface="Courier New" pitchFamily="34" charset="-120"/>
              </a:rPr>
              <a:t># &lt;&lt;&lt;&lt;&lt; YOUR CODE ENDS HERE &lt;&lt;&lt;&lt;&lt;</a:t>
            </a:r>
            <a:endParaRPr lang="en-US" sz="1000" dirty="0"/>
          </a:p>
        </p:txBody>
      </p:sp>
      <p:sp>
        <p:nvSpPr>
          <p:cNvPr id="10" name="Text 8"/>
          <p:cNvSpPr txBox="1"/>
          <p:nvPr/>
        </p:nvSpPr>
        <p:spPr>
          <a:xfrm>
            <a:off x="457200" y="3611880"/>
            <a:ext cx="4937760" cy="457200"/>
          </a:xfrm>
          <a:prstGeom prst="rect">
            <a:avLst/>
          </a:prstGeom>
          <a:noFill/>
          <a:ln/>
        </p:spPr>
        <p:txBody>
          <a:bodyPr wrap="square" lIns="0" tIns="0" rIns="0" bIns="0" rtlCol="0" anchor="ctr"/>
          <a:lstStyle/>
          <a:p>
            <a:pPr indent="0" marL="0">
              <a:buNone/>
            </a:pPr>
            <a:r>
              <a:rPr lang="en-US" sz="1300" dirty="0">
                <a:solidFill>
                  <a:srgbClr val="0B3D2E"/>
                </a:solidFill>
              </a:rPr>
              <a:t>Two lines. The hard part is already decided: count a moment only where quiet turns into loud.</a:t>
            </a:r>
            <a:endParaRPr lang="en-US" sz="1300" dirty="0"/>
          </a:p>
        </p:txBody>
      </p:sp>
      <p:sp>
        <p:nvSpPr>
          <p:cNvPr id="11" name="Shape 9"/>
          <p:cNvSpPr/>
          <p:nvPr/>
        </p:nvSpPr>
        <p:spPr>
          <a:xfrm>
            <a:off x="5577840" y="1051560"/>
            <a:ext cx="868680" cy="292608"/>
          </a:xfrm>
          <a:prstGeom prst="roundRect">
            <a:avLst>
              <a:gd name="adj" fmla="val 18750"/>
            </a:avLst>
          </a:prstGeom>
          <a:solidFill>
            <a:srgbClr val="FFF1C2"/>
          </a:solidFill>
          <a:ln w="9525">
            <a:solidFill>
              <a:srgbClr val="E0A800"/>
            </a:solidFill>
            <a:prstDash val="solid"/>
          </a:ln>
        </p:spPr>
      </p:sp>
      <p:sp>
        <p:nvSpPr>
          <p:cNvPr id="12" name="Text 10"/>
          <p:cNvSpPr txBox="1"/>
          <p:nvPr/>
        </p:nvSpPr>
        <p:spPr>
          <a:xfrm>
            <a:off x="5577840" y="105156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now</a:t>
            </a:r>
            <a:endParaRPr lang="en-US" sz="1100" dirty="0"/>
          </a:p>
        </p:txBody>
      </p:sp>
      <p:sp>
        <p:nvSpPr>
          <p:cNvPr id="13" name="Text 11"/>
          <p:cNvSpPr txBox="1"/>
          <p:nvPr/>
        </p:nvSpPr>
        <p:spPr>
          <a:xfrm>
            <a:off x="6583680" y="1014984"/>
            <a:ext cx="2103120" cy="740664"/>
          </a:xfrm>
          <a:prstGeom prst="rect">
            <a:avLst/>
          </a:prstGeom>
          <a:noFill/>
          <a:ln/>
        </p:spPr>
        <p:txBody>
          <a:bodyPr wrap="square" lIns="0" tIns="0" rIns="0" bIns="0" rtlCol="0" anchor="t"/>
          <a:lstStyle/>
          <a:p>
            <a:pPr indent="0" marL="0">
              <a:buNone/>
            </a:pPr>
            <a:r>
              <a:rPr lang="en-US" sz="1400" dirty="0">
                <a:solidFill>
                  <a:srgbClr val="1B1B1B"/>
                </a:solidFill>
              </a:rPr>
              <a:t>time.time() gives seconds</a:t>
            </a:r>
            <a:endParaRPr lang="en-US" sz="1400" dirty="0"/>
          </a:p>
        </p:txBody>
      </p:sp>
      <p:sp>
        <p:nvSpPr>
          <p:cNvPr id="14" name="Shape 12"/>
          <p:cNvSpPr/>
          <p:nvPr/>
        </p:nvSpPr>
        <p:spPr>
          <a:xfrm>
            <a:off x="5577840" y="1828800"/>
            <a:ext cx="868680" cy="292608"/>
          </a:xfrm>
          <a:prstGeom prst="roundRect">
            <a:avLst>
              <a:gd name="adj" fmla="val 18750"/>
            </a:avLst>
          </a:prstGeom>
          <a:solidFill>
            <a:srgbClr val="FFF1C2"/>
          </a:solidFill>
          <a:ln w="9525">
            <a:solidFill>
              <a:srgbClr val="E0A800"/>
            </a:solidFill>
            <a:prstDash val="solid"/>
          </a:ln>
        </p:spPr>
      </p:sp>
      <p:sp>
        <p:nvSpPr>
          <p:cNvPr id="15" name="Text 13"/>
          <p:cNvSpPr txBox="1"/>
          <p:nvPr/>
        </p:nvSpPr>
        <p:spPr>
          <a:xfrm>
            <a:off x="5577840" y="182880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COOLDOWN</a:t>
            </a:r>
            <a:endParaRPr lang="en-US" sz="1100" dirty="0"/>
          </a:p>
        </p:txBody>
      </p:sp>
      <p:sp>
        <p:nvSpPr>
          <p:cNvPr id="16" name="Text 14"/>
          <p:cNvSpPr txBox="1"/>
          <p:nvPr/>
        </p:nvSpPr>
        <p:spPr>
          <a:xfrm>
            <a:off x="6583680" y="1792224"/>
            <a:ext cx="2103120" cy="740664"/>
          </a:xfrm>
          <a:prstGeom prst="rect">
            <a:avLst/>
          </a:prstGeom>
          <a:noFill/>
          <a:ln/>
        </p:spPr>
        <p:txBody>
          <a:bodyPr wrap="square" lIns="0" tIns="0" rIns="0" bIns="0" rtlCol="0" anchor="t"/>
          <a:lstStyle/>
          <a:p>
            <a:pPr indent="0" marL="0">
              <a:buNone/>
            </a:pPr>
            <a:r>
              <a:rPr lang="en-US" sz="1400" dirty="0">
                <a:solidFill>
                  <a:srgbClr val="1B1B1B"/>
                </a:solidFill>
              </a:rPr>
              <a:t>2 seconds before a new moment can count</a:t>
            </a:r>
            <a:endParaRPr lang="en-US" sz="1400" dirty="0"/>
          </a:p>
        </p:txBody>
      </p:sp>
      <p:sp>
        <p:nvSpPr>
          <p:cNvPr id="17" name="Shape 15"/>
          <p:cNvSpPr/>
          <p:nvPr/>
        </p:nvSpPr>
        <p:spPr>
          <a:xfrm>
            <a:off x="5577840" y="2606040"/>
            <a:ext cx="868680" cy="292608"/>
          </a:xfrm>
          <a:prstGeom prst="roundRect">
            <a:avLst>
              <a:gd name="adj" fmla="val 18750"/>
            </a:avLst>
          </a:prstGeom>
          <a:solidFill>
            <a:srgbClr val="FFF1C2"/>
          </a:solidFill>
          <a:ln w="9525">
            <a:solidFill>
              <a:srgbClr val="E0A800"/>
            </a:solidFill>
            <a:prstDash val="solid"/>
          </a:ln>
        </p:spPr>
      </p:sp>
      <p:sp>
        <p:nvSpPr>
          <p:cNvPr id="18" name="Text 16"/>
          <p:cNvSpPr txBox="1"/>
          <p:nvPr/>
        </p:nvSpPr>
        <p:spPr>
          <a:xfrm>
            <a:off x="5577840" y="260604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then</a:t>
            </a:r>
            <a:endParaRPr lang="en-US" sz="1100" dirty="0"/>
          </a:p>
        </p:txBody>
      </p:sp>
      <p:sp>
        <p:nvSpPr>
          <p:cNvPr id="19" name="Text 17"/>
          <p:cNvSpPr txBox="1"/>
          <p:nvPr/>
        </p:nvSpPr>
        <p:spPr>
          <a:xfrm>
            <a:off x="6583680" y="2569464"/>
            <a:ext cx="2103120" cy="740664"/>
          </a:xfrm>
          <a:prstGeom prst="rect">
            <a:avLst/>
          </a:prstGeom>
          <a:noFill/>
          <a:ln/>
        </p:spPr>
        <p:txBody>
          <a:bodyPr wrap="square" lIns="0" tIns="0" rIns="0" bIns="0" rtlCol="0" anchor="t"/>
          <a:lstStyle/>
          <a:p>
            <a:pPr indent="0" marL="0">
              <a:buNone/>
            </a:pPr>
            <a:r>
              <a:rPr lang="en-US" sz="1400" dirty="0">
                <a:solidFill>
                  <a:srgbClr val="1B1B1B"/>
                </a:solidFill>
              </a:rPr>
              <a:t>remember today's answer for next round</a:t>
            </a:r>
            <a:endParaRPr lang="en-US" sz="1400" dirty="0"/>
          </a:p>
        </p:txBody>
      </p:sp>
      <p:sp>
        <p:nvSpPr>
          <p:cNvPr id="20" name="Shape 18"/>
          <p:cNvSpPr/>
          <p:nvPr/>
        </p:nvSpPr>
        <p:spPr>
          <a:xfrm>
            <a:off x="5577840" y="3474720"/>
            <a:ext cx="3108960" cy="457200"/>
          </a:xfrm>
          <a:prstGeom prst="roundRect">
            <a:avLst>
              <a:gd name="adj" fmla="val 16000"/>
            </a:avLst>
          </a:prstGeom>
          <a:solidFill>
            <a:srgbClr val="DDF3E9"/>
          </a:solidFill>
          <a:ln w="15875">
            <a:solidFill>
              <a:srgbClr val="1F8A70"/>
            </a:solidFill>
            <a:prstDash val="solid"/>
          </a:ln>
        </p:spPr>
      </p:sp>
      <p:sp>
        <p:nvSpPr>
          <p:cNvPr id="21" name="Text 19"/>
          <p:cNvSpPr txBox="1"/>
          <p:nvPr/>
        </p:nvSpPr>
        <p:spPr>
          <a:xfrm>
            <a:off x="5715000" y="3474720"/>
            <a:ext cx="2834640" cy="45720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One clap adds exactly 1.</a:t>
            </a:r>
            <a:endParaRPr lang="en-US" sz="1400" dirty="0"/>
          </a:p>
        </p:txBody>
      </p:sp>
      <p:sp>
        <p:nvSpPr>
          <p:cNvPr id="22" name="Shape 20"/>
          <p:cNvSpPr/>
          <p:nvPr/>
        </p:nvSpPr>
        <p:spPr>
          <a:xfrm>
            <a:off x="5577840" y="4023360"/>
            <a:ext cx="3108960" cy="457200"/>
          </a:xfrm>
          <a:prstGeom prst="roundRect">
            <a:avLst>
              <a:gd name="adj" fmla="val 16000"/>
            </a:avLst>
          </a:prstGeom>
          <a:solidFill>
            <a:srgbClr val="FFF4D6"/>
          </a:solidFill>
          <a:ln w="12700">
            <a:solidFill>
              <a:srgbClr val="E0A800"/>
            </a:solidFill>
            <a:prstDash val="solid"/>
          </a:ln>
        </p:spPr>
      </p:sp>
      <p:sp>
        <p:nvSpPr>
          <p:cNvPr id="23" name="Text 21"/>
          <p:cNvSpPr txBox="1"/>
          <p:nvPr/>
        </p:nvSpPr>
        <p:spPr>
          <a:xfrm>
            <a:off x="5715000" y="4023360"/>
            <a:ext cx="2834640" cy="45720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Count racing? was_loud is missing.</a:t>
            </a:r>
            <a:endParaRPr lang="en-US" sz="1400" dirty="0"/>
          </a:p>
        </p:txBody>
      </p:sp>
      <p:sp>
        <p:nvSpPr>
          <p:cNvPr id="24" name="Text 22"/>
          <p:cNvSpPr txBox="1"/>
          <p:nvPr/>
        </p:nvSpPr>
        <p:spPr>
          <a:xfrm>
            <a:off x="457200" y="4160520"/>
            <a:ext cx="4937760" cy="365760"/>
          </a:xfrm>
          <a:prstGeom prst="rect">
            <a:avLst/>
          </a:prstGeom>
          <a:noFill/>
          <a:ln/>
        </p:spPr>
        <p:txBody>
          <a:bodyPr wrap="square" lIns="0" tIns="0" rIns="0" bIns="0" rtlCol="0" anchor="ctr"/>
          <a:lstStyle/>
          <a:p>
            <a:pPr indent="0" marL="0">
              <a:buNone/>
            </a:pPr>
            <a:r>
              <a:rPr lang="en-US" sz="1400" b="1" i="1" dirty="0">
                <a:solidFill>
                  <a:srgbClr val="1F8A70"/>
                </a:solidFill>
              </a:rPr>
              <a:t>Shout for five seconds. Still 1? Correct.</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What the meter remembers</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3</a:t>
            </a:r>
            <a:endParaRPr lang="en-US" sz="2000" dirty="0"/>
          </a:p>
        </p:txBody>
      </p:sp>
      <p:sp>
        <p:nvSpPr>
          <p:cNvPr id="6" name="Shape 4"/>
          <p:cNvSpPr/>
          <p:nvPr/>
        </p:nvSpPr>
        <p:spPr>
          <a:xfrm>
            <a:off x="457200" y="1005840"/>
            <a:ext cx="4937760" cy="1371600"/>
          </a:xfrm>
          <a:prstGeom prst="roundRect">
            <a:avLst>
              <a:gd name="adj" fmla="val 5333"/>
            </a:avLst>
          </a:prstGeom>
          <a:solidFill>
            <a:srgbClr val="14261F"/>
          </a:solidFill>
          <a:ln w="12700">
            <a:solidFill>
              <a:srgbClr val="14261F"/>
            </a:solidFill>
            <a:prstDash val="solid"/>
          </a:ln>
        </p:spPr>
      </p:sp>
      <p:sp>
        <p:nvSpPr>
          <p:cNvPr id="7" name="Text 5"/>
          <p:cNvSpPr txBox="1"/>
          <p:nvPr/>
        </p:nvSpPr>
        <p:spPr>
          <a:xfrm>
            <a:off x="594360" y="1069848"/>
            <a:ext cx="4663440" cy="219456"/>
          </a:xfrm>
          <a:prstGeom prst="rect">
            <a:avLst/>
          </a:prstGeom>
          <a:noFill/>
          <a:ln/>
        </p:spPr>
        <p:txBody>
          <a:bodyPr wrap="square" lIns="0" tIns="0" rIns="0" bIns="0" rtlCol="0" anchor="ctr"/>
          <a:lstStyle/>
          <a:p>
            <a:pPr indent="0" marL="0">
              <a:buNone/>
            </a:pPr>
            <a:r>
              <a:rPr lang="en-US" sz="1100" b="1" dirty="0">
                <a:solidFill>
                  <a:srgbClr val="F2A900"/>
                </a:solidFill>
              </a:rPr>
              <a:t>step3_noise_counter.py</a:t>
            </a:r>
            <a:pPr indent="0" marL="0">
              <a:buNone/>
            </a:pPr>
            <a:r>
              <a:rPr lang="en-US" sz="1100" dirty="0">
                <a:solidFill>
                  <a:srgbClr val="9FB8AD"/>
                </a:solidFill>
              </a:rPr>
              <a:t>  ·  lines 70–75</a:t>
            </a:r>
            <a:endParaRPr lang="en-US" sz="1100" dirty="0"/>
          </a:p>
        </p:txBody>
      </p:sp>
      <p:sp>
        <p:nvSpPr>
          <p:cNvPr id="8" name="Shape 6"/>
          <p:cNvSpPr/>
          <p:nvPr/>
        </p:nvSpPr>
        <p:spPr>
          <a:xfrm>
            <a:off x="566928" y="1325880"/>
            <a:ext cx="4718304" cy="0"/>
          </a:xfrm>
          <a:prstGeom prst="line">
            <a:avLst/>
          </a:prstGeom>
          <a:noFill/>
          <a:ln w="12700">
            <a:solidFill>
              <a:srgbClr val="2F4A3F"/>
            </a:solidFill>
            <a:prstDash val="solid"/>
          </a:ln>
        </p:spPr>
      </p:sp>
      <p:sp>
        <p:nvSpPr>
          <p:cNvPr id="9" name="Text 7"/>
          <p:cNvSpPr txBox="1"/>
          <p:nvPr/>
        </p:nvSpPr>
        <p:spPr>
          <a:xfrm>
            <a:off x="548640" y="1389888"/>
            <a:ext cx="4754880" cy="914400"/>
          </a:xfrm>
          <a:prstGeom prst="rect">
            <a:avLst/>
          </a:prstGeom>
          <a:noFill/>
          <a:ln/>
        </p:spPr>
        <p:txBody>
          <a:bodyPr wrap="square" lIns="0" tIns="0" rIns="0" bIns="0" rtlCol="0" anchor="t"/>
          <a:lstStyle/>
          <a:p>
            <a:pPr indent="0" marL="0">
              <a:buNone/>
            </a:pPr>
            <a:r>
              <a:rPr lang="en-US" sz="1000" dirty="0">
                <a:solidFill>
                  <a:srgbClr val="6F8A7F"/>
                </a:solidFill>
                <a:latin typeface="Courier New" pitchFamily="34" charset="0"/>
                <a:ea typeface="Courier New" pitchFamily="34" charset="-122"/>
                <a:cs typeface="Courier New" pitchFamily="34" charset="-120"/>
              </a:rPr>
              <a:t> 70  </a:t>
            </a:r>
            <a:pPr indent="0" marL="0">
              <a:buNone/>
            </a:pPr>
            <a:r>
              <a:rPr lang="en-US" sz="1000" dirty="0">
                <a:solidFill>
                  <a:srgbClr val="9FB8AD"/>
                </a:solidFill>
                <a:latin typeface="Courier New" pitchFamily="34" charset="0"/>
                <a:ea typeface="Courier New" pitchFamily="34" charset="-122"/>
                <a:cs typeface="Courier New" pitchFamily="34" charset="-120"/>
              </a:rPr>
              <a:t># ===== 4. THE MEMORY: made once, before the loop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71  </a:t>
            </a:r>
            <a:pPr indent="0" marL="0">
              <a:buNone/>
            </a:pPr>
            <a:r>
              <a:rPr lang="en-US" sz="1000" dirty="0">
                <a:solidFill>
                  <a:srgbClr val="9FB8AD"/>
                </a:solidFill>
                <a:latin typeface="Courier New" pitchFamily="34" charset="0"/>
                <a:ea typeface="Courier New" pitchFamily="34" charset="-122"/>
                <a:cs typeface="Courier New" pitchFamily="34" charset="-120"/>
              </a:rPr>
              <a:t># The program's memory. Made ONCE, before the loop.</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72  </a:t>
            </a:r>
            <a:pPr indent="0" marL="0">
              <a:buNone/>
            </a:pPr>
            <a:r>
              <a:rPr lang="en-US" sz="1000" dirty="0">
                <a:solidFill>
                  <a:srgbClr val="E6F2EC"/>
                </a:solidFill>
                <a:latin typeface="Courier New" pitchFamily="34" charset="0"/>
                <a:ea typeface="Courier New" pitchFamily="34" charset="-122"/>
                <a:cs typeface="Courier New" pitchFamily="34" charset="-120"/>
              </a:rPr>
              <a:t>loud_count = 0</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73  </a:t>
            </a:r>
            <a:pPr indent="0" marL="0">
              <a:buNone/>
            </a:pPr>
            <a:r>
              <a:rPr lang="en-US" sz="1000" dirty="0">
                <a:solidFill>
                  <a:srgbClr val="E6F2EC"/>
                </a:solidFill>
                <a:latin typeface="Courier New" pitchFamily="34" charset="0"/>
                <a:ea typeface="Courier New" pitchFamily="34" charset="-122"/>
                <a:cs typeface="Courier New" pitchFamily="34" charset="-120"/>
              </a:rPr>
              <a:t>was_loud = False</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74  </a:t>
            </a:r>
            <a:pPr indent="0" marL="0">
              <a:buNone/>
            </a:pPr>
            <a:r>
              <a:rPr lang="en-US" sz="1000" dirty="0">
                <a:solidFill>
                  <a:srgbClr val="E6F2EC"/>
                </a:solidFill>
                <a:latin typeface="Courier New" pitchFamily="34" charset="0"/>
                <a:ea typeface="Courier New" pitchFamily="34" charset="-122"/>
                <a:cs typeface="Courier New" pitchFamily="34" charset="-120"/>
              </a:rPr>
              <a:t>last_count_time = 0</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75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p:txBody>
      </p:sp>
      <p:sp>
        <p:nvSpPr>
          <p:cNvPr id="10" name="Shape 8"/>
          <p:cNvSpPr/>
          <p:nvPr/>
        </p:nvSpPr>
        <p:spPr>
          <a:xfrm>
            <a:off x="457200" y="2606040"/>
            <a:ext cx="1737360" cy="457200"/>
          </a:xfrm>
          <a:prstGeom prst="roundRect">
            <a:avLst>
              <a:gd name="adj" fmla="val 12000"/>
            </a:avLst>
          </a:prstGeom>
          <a:solidFill>
            <a:srgbClr val="FFFFFF"/>
          </a:solidFill>
          <a:ln w="19050">
            <a:solidFill>
              <a:srgbClr val="1F8A70"/>
            </a:solidFill>
            <a:prstDash val="solid"/>
          </a:ln>
        </p:spPr>
      </p:sp>
      <p:sp>
        <p:nvSpPr>
          <p:cNvPr id="11" name="Text 9"/>
          <p:cNvSpPr txBox="1"/>
          <p:nvPr/>
        </p:nvSpPr>
        <p:spPr>
          <a:xfrm>
            <a:off x="457200" y="2606040"/>
            <a:ext cx="1737360" cy="457200"/>
          </a:xfrm>
          <a:prstGeom prst="rect">
            <a:avLst/>
          </a:prstGeom>
          <a:noFill/>
          <a:ln/>
        </p:spPr>
        <p:txBody>
          <a:bodyPr wrap="square" lIns="0" tIns="0" rIns="0" bIns="0" rtlCol="0" anchor="ctr"/>
          <a:lstStyle/>
          <a:p>
            <a:pPr algn="ctr" indent="0" marL="0">
              <a:buNone/>
            </a:pPr>
            <a:r>
              <a:rPr lang="en-US" sz="1100" b="1" dirty="0">
                <a:solidFill>
                  <a:srgbClr val="1F8A70"/>
                </a:solidFill>
                <a:latin typeface="Courier New" pitchFamily="34" charset="0"/>
                <a:ea typeface="Courier New" pitchFamily="34" charset="-122"/>
                <a:cs typeface="Courier New" pitchFamily="34" charset="-120"/>
              </a:rPr>
              <a:t>loud_count</a:t>
            </a:r>
            <a:endParaRPr lang="en-US" sz="1100" dirty="0"/>
          </a:p>
        </p:txBody>
      </p:sp>
      <p:sp>
        <p:nvSpPr>
          <p:cNvPr id="12" name="Text 10"/>
          <p:cNvSpPr txBox="1"/>
          <p:nvPr/>
        </p:nvSpPr>
        <p:spPr>
          <a:xfrm>
            <a:off x="2331720" y="2606040"/>
            <a:ext cx="3108960" cy="457200"/>
          </a:xfrm>
          <a:prstGeom prst="rect">
            <a:avLst/>
          </a:prstGeom>
          <a:noFill/>
          <a:ln/>
        </p:spPr>
        <p:txBody>
          <a:bodyPr wrap="square" lIns="0" tIns="0" rIns="0" bIns="0" rtlCol="0" anchor="ctr"/>
          <a:lstStyle/>
          <a:p>
            <a:pPr indent="0" marL="0">
              <a:buNone/>
            </a:pPr>
            <a:r>
              <a:rPr lang="en-US" sz="1300" dirty="0">
                <a:solidFill>
                  <a:srgbClr val="1B1B1B"/>
                </a:solidFill>
              </a:rPr>
              <a:t>how many loud moments so far</a:t>
            </a:r>
            <a:endParaRPr lang="en-US" sz="1300" dirty="0"/>
          </a:p>
        </p:txBody>
      </p:sp>
      <p:sp>
        <p:nvSpPr>
          <p:cNvPr id="13" name="Shape 11"/>
          <p:cNvSpPr/>
          <p:nvPr/>
        </p:nvSpPr>
        <p:spPr>
          <a:xfrm>
            <a:off x="457200" y="3227832"/>
            <a:ext cx="1737360" cy="457200"/>
          </a:xfrm>
          <a:prstGeom prst="roundRect">
            <a:avLst>
              <a:gd name="adj" fmla="val 12000"/>
            </a:avLst>
          </a:prstGeom>
          <a:solidFill>
            <a:srgbClr val="FFFFFF"/>
          </a:solidFill>
          <a:ln w="19050">
            <a:solidFill>
              <a:srgbClr val="8E44AD"/>
            </a:solidFill>
            <a:prstDash val="solid"/>
          </a:ln>
        </p:spPr>
      </p:sp>
      <p:sp>
        <p:nvSpPr>
          <p:cNvPr id="14" name="Text 12"/>
          <p:cNvSpPr txBox="1"/>
          <p:nvPr/>
        </p:nvSpPr>
        <p:spPr>
          <a:xfrm>
            <a:off x="457200" y="3227832"/>
            <a:ext cx="1737360" cy="457200"/>
          </a:xfrm>
          <a:prstGeom prst="rect">
            <a:avLst/>
          </a:prstGeom>
          <a:noFill/>
          <a:ln/>
        </p:spPr>
        <p:txBody>
          <a:bodyPr wrap="square" lIns="0" tIns="0" rIns="0" bIns="0" rtlCol="0" anchor="ctr"/>
          <a:lstStyle/>
          <a:p>
            <a:pPr algn="ctr" indent="0" marL="0">
              <a:buNone/>
            </a:pPr>
            <a:r>
              <a:rPr lang="en-US" sz="1100" b="1" dirty="0">
                <a:solidFill>
                  <a:srgbClr val="8E44AD"/>
                </a:solidFill>
                <a:latin typeface="Courier New" pitchFamily="34" charset="0"/>
                <a:ea typeface="Courier New" pitchFamily="34" charset="-122"/>
                <a:cs typeface="Courier New" pitchFamily="34" charset="-120"/>
              </a:rPr>
              <a:t>was_loud</a:t>
            </a:r>
            <a:endParaRPr lang="en-US" sz="1100" dirty="0"/>
          </a:p>
        </p:txBody>
      </p:sp>
      <p:sp>
        <p:nvSpPr>
          <p:cNvPr id="15" name="Text 13"/>
          <p:cNvSpPr txBox="1"/>
          <p:nvPr/>
        </p:nvSpPr>
        <p:spPr>
          <a:xfrm>
            <a:off x="2331720" y="3227832"/>
            <a:ext cx="3108960" cy="457200"/>
          </a:xfrm>
          <a:prstGeom prst="rect">
            <a:avLst/>
          </a:prstGeom>
          <a:noFill/>
          <a:ln/>
        </p:spPr>
        <p:txBody>
          <a:bodyPr wrap="square" lIns="0" tIns="0" rIns="0" bIns="0" rtlCol="0" anchor="ctr"/>
          <a:lstStyle/>
          <a:p>
            <a:pPr indent="0" marL="0">
              <a:buNone/>
            </a:pPr>
            <a:r>
              <a:rPr lang="en-US" sz="1300" dirty="0">
                <a:solidFill>
                  <a:srgbClr val="1B1B1B"/>
                </a:solidFill>
              </a:rPr>
              <a:t>was it loud LAST round?</a:t>
            </a:r>
            <a:endParaRPr lang="en-US" sz="1300" dirty="0"/>
          </a:p>
        </p:txBody>
      </p:sp>
      <p:sp>
        <p:nvSpPr>
          <p:cNvPr id="16" name="Shape 14"/>
          <p:cNvSpPr/>
          <p:nvPr/>
        </p:nvSpPr>
        <p:spPr>
          <a:xfrm>
            <a:off x="457200" y="3849624"/>
            <a:ext cx="1737360" cy="457200"/>
          </a:xfrm>
          <a:prstGeom prst="roundRect">
            <a:avLst>
              <a:gd name="adj" fmla="val 12000"/>
            </a:avLst>
          </a:prstGeom>
          <a:solidFill>
            <a:srgbClr val="FFFFFF"/>
          </a:solidFill>
          <a:ln w="19050">
            <a:solidFill>
              <a:srgbClr val="2B6CB0"/>
            </a:solidFill>
            <a:prstDash val="solid"/>
          </a:ln>
        </p:spPr>
      </p:sp>
      <p:sp>
        <p:nvSpPr>
          <p:cNvPr id="17" name="Text 15"/>
          <p:cNvSpPr txBox="1"/>
          <p:nvPr/>
        </p:nvSpPr>
        <p:spPr>
          <a:xfrm>
            <a:off x="457200" y="3849624"/>
            <a:ext cx="1737360" cy="457200"/>
          </a:xfrm>
          <a:prstGeom prst="rect">
            <a:avLst/>
          </a:prstGeom>
          <a:noFill/>
          <a:ln/>
        </p:spPr>
        <p:txBody>
          <a:bodyPr wrap="square" lIns="0" tIns="0" rIns="0" bIns="0" rtlCol="0" anchor="ctr"/>
          <a:lstStyle/>
          <a:p>
            <a:pPr algn="ctr" indent="0" marL="0">
              <a:buNone/>
            </a:pPr>
            <a:r>
              <a:rPr lang="en-US" sz="1100" b="1" dirty="0">
                <a:solidFill>
                  <a:srgbClr val="2B6CB0"/>
                </a:solidFill>
                <a:latin typeface="Courier New" pitchFamily="34" charset="0"/>
                <a:ea typeface="Courier New" pitchFamily="34" charset="-122"/>
                <a:cs typeface="Courier New" pitchFamily="34" charset="-120"/>
              </a:rPr>
              <a:t>last_count_time</a:t>
            </a:r>
            <a:endParaRPr lang="en-US" sz="1100" dirty="0"/>
          </a:p>
        </p:txBody>
      </p:sp>
      <p:sp>
        <p:nvSpPr>
          <p:cNvPr id="18" name="Text 16"/>
          <p:cNvSpPr txBox="1"/>
          <p:nvPr/>
        </p:nvSpPr>
        <p:spPr>
          <a:xfrm>
            <a:off x="2331720" y="3849624"/>
            <a:ext cx="3108960" cy="457200"/>
          </a:xfrm>
          <a:prstGeom prst="rect">
            <a:avLst/>
          </a:prstGeom>
          <a:noFill/>
          <a:ln/>
        </p:spPr>
        <p:txBody>
          <a:bodyPr wrap="square" lIns="0" tIns="0" rIns="0" bIns="0" rtlCol="0" anchor="ctr"/>
          <a:lstStyle/>
          <a:p>
            <a:pPr indent="0" marL="0">
              <a:buNone/>
            </a:pPr>
            <a:r>
              <a:rPr lang="en-US" sz="1300" dirty="0">
                <a:solidFill>
                  <a:srgbClr val="1B1B1B"/>
                </a:solidFill>
              </a:rPr>
              <a:t>when the last moment was counted</a:t>
            </a:r>
            <a:endParaRPr lang="en-US" sz="1300" dirty="0"/>
          </a:p>
        </p:txBody>
      </p:sp>
      <p:sp>
        <p:nvSpPr>
          <p:cNvPr id="19" name="Shape 17"/>
          <p:cNvSpPr/>
          <p:nvPr/>
        </p:nvSpPr>
        <p:spPr>
          <a:xfrm>
            <a:off x="5577840" y="1051560"/>
            <a:ext cx="3108960" cy="1737360"/>
          </a:xfrm>
          <a:prstGeom prst="roundRect">
            <a:avLst>
              <a:gd name="adj" fmla="val 5263"/>
            </a:avLst>
          </a:prstGeom>
          <a:solidFill>
            <a:srgbClr val="EDE4F5"/>
          </a:solidFill>
          <a:ln w="19050">
            <a:solidFill>
              <a:srgbClr val="8E44AD"/>
            </a:solidFill>
            <a:prstDash val="solid"/>
          </a:ln>
        </p:spPr>
      </p:sp>
      <p:sp>
        <p:nvSpPr>
          <p:cNvPr id="20" name="Text 18"/>
          <p:cNvSpPr txBox="1"/>
          <p:nvPr/>
        </p:nvSpPr>
        <p:spPr>
          <a:xfrm>
            <a:off x="5760720" y="1143000"/>
            <a:ext cx="2743200" cy="320040"/>
          </a:xfrm>
          <a:prstGeom prst="rect">
            <a:avLst/>
          </a:prstGeom>
          <a:noFill/>
          <a:ln/>
        </p:spPr>
        <p:txBody>
          <a:bodyPr wrap="square" lIns="0" tIns="0" rIns="0" bIns="0" rtlCol="0" anchor="ctr"/>
          <a:lstStyle/>
          <a:p>
            <a:pPr indent="0" marL="0">
              <a:buNone/>
            </a:pPr>
            <a:r>
              <a:rPr lang="en-US" sz="1500" b="1" dirty="0">
                <a:solidFill>
                  <a:srgbClr val="8E44AD"/>
                </a:solidFill>
              </a:rPr>
              <a:t>Three boxes, made once</a:t>
            </a:r>
            <a:endParaRPr lang="en-US" sz="1500" dirty="0"/>
          </a:p>
        </p:txBody>
      </p:sp>
      <p:sp>
        <p:nvSpPr>
          <p:cNvPr id="21" name="Text 19"/>
          <p:cNvSpPr txBox="1"/>
          <p:nvPr/>
        </p:nvSpPr>
        <p:spPr>
          <a:xfrm>
            <a:off x="5760720" y="1481328"/>
            <a:ext cx="2743200" cy="1188720"/>
          </a:xfrm>
          <a:prstGeom prst="rect">
            <a:avLst/>
          </a:prstGeom>
          <a:noFill/>
          <a:ln/>
        </p:spPr>
        <p:txBody>
          <a:bodyPr wrap="square" lIns="0" tIns="0" rIns="0" bIns="0" rtlCol="0" anchor="t"/>
          <a:lstStyle/>
          <a:p>
            <a:pPr indent="0" marL="0">
              <a:buNone/>
            </a:pPr>
            <a:r>
              <a:rPr lang="en-US" sz="1300" dirty="0">
                <a:solidFill>
                  <a:srgbClr val="1B1B1B"/>
                </a:solidFill>
              </a:rPr>
              <a:t>Everything else in the program is worked out fresh each round. These three are the only things that survive from one round to the next.</a:t>
            </a:r>
            <a:endParaRPr lang="en-US" sz="1300" dirty="0"/>
          </a:p>
        </p:txBody>
      </p:sp>
      <p:sp>
        <p:nvSpPr>
          <p:cNvPr id="22" name="Text 20"/>
          <p:cNvSpPr txBox="1"/>
          <p:nvPr/>
        </p:nvSpPr>
        <p:spPr>
          <a:xfrm>
            <a:off x="5577840" y="2926080"/>
            <a:ext cx="3108960" cy="640080"/>
          </a:xfrm>
          <a:prstGeom prst="rect">
            <a:avLst/>
          </a:prstGeom>
          <a:noFill/>
          <a:ln/>
        </p:spPr>
        <p:txBody>
          <a:bodyPr wrap="square" lIns="0" tIns="0" rIns="0" bIns="0" rtlCol="0" anchor="ctr"/>
          <a:lstStyle/>
          <a:p>
            <a:pPr indent="0" marL="0">
              <a:buNone/>
            </a:pPr>
            <a:r>
              <a:rPr lang="en-US" sz="1400" b="1" dirty="0">
                <a:solidFill>
                  <a:srgbClr val="0B3D2E"/>
                </a:solidFill>
              </a:rPr>
              <a:t>Predict first: if you delete the COOLDOWN check, what does one clap do?</a:t>
            </a:r>
            <a:endParaRPr lang="en-US" sz="1400" dirty="0"/>
          </a:p>
        </p:txBody>
      </p:sp>
      <p:sp>
        <p:nvSpPr>
          <p:cNvPr id="23" name="Text 21"/>
          <p:cNvSpPr txBox="1"/>
          <p:nvPr/>
        </p:nvSpPr>
        <p:spPr>
          <a:xfrm>
            <a:off x="5577840" y="3566160"/>
            <a:ext cx="3108960" cy="1005840"/>
          </a:xfrm>
          <a:prstGeom prst="rect">
            <a:avLst/>
          </a:prstGeom>
          <a:noFill/>
          <a:ln/>
        </p:spPr>
        <p:txBody>
          <a:bodyPr wrap="square" lIns="0" tIns="0" rIns="0" bIns="0" rtlCol="0" anchor="t"/>
          <a:lstStyle/>
          <a:p>
            <a:pPr indent="0" marL="0">
              <a:buNone/>
            </a:pPr>
            <a:r>
              <a:rPr lang="en-US" sz="1200" i="1" dirty="0">
                <a:solidFill>
                  <a:srgbClr val="6B7280"/>
                </a:solidFill>
              </a:rPr>
              <a:t>A clap is not one smooth sound. The level dips in the middle of it, so the room goes loud, quiet, loud, and the count goes up twice. COOLDOWN is what stops that.</a:t>
            </a:r>
            <a:endParaRPr lang="en-US" sz="12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Step 4: run it with the LCD</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4</a:t>
            </a:r>
            <a:endParaRPr lang="en-US" sz="2000" dirty="0"/>
          </a:p>
        </p:txBody>
      </p:sp>
      <p:sp>
        <p:nvSpPr>
          <p:cNvPr id="6" name="Shape 4"/>
          <p:cNvSpPr/>
          <p:nvPr/>
        </p:nvSpPr>
        <p:spPr>
          <a:xfrm>
            <a:off x="457200" y="1005840"/>
            <a:ext cx="4846320" cy="1691640"/>
          </a:xfrm>
          <a:prstGeom prst="roundRect">
            <a:avLst>
              <a:gd name="adj" fmla="val 4324"/>
            </a:avLst>
          </a:prstGeom>
          <a:solidFill>
            <a:srgbClr val="14261F"/>
          </a:solidFill>
          <a:ln w="12700">
            <a:solidFill>
              <a:srgbClr val="14261F"/>
            </a:solidFill>
            <a:prstDash val="solid"/>
          </a:ln>
        </p:spPr>
      </p:sp>
      <p:sp>
        <p:nvSpPr>
          <p:cNvPr id="7" name="Text 5"/>
          <p:cNvSpPr txBox="1"/>
          <p:nvPr/>
        </p:nvSpPr>
        <p:spPr>
          <a:xfrm>
            <a:off x="594360" y="1069848"/>
            <a:ext cx="4572000" cy="219456"/>
          </a:xfrm>
          <a:prstGeom prst="rect">
            <a:avLst/>
          </a:prstGeom>
          <a:noFill/>
          <a:ln/>
        </p:spPr>
        <p:txBody>
          <a:bodyPr wrap="square" lIns="0" tIns="0" rIns="0" bIns="0" rtlCol="0" anchor="ctr"/>
          <a:lstStyle/>
          <a:p>
            <a:pPr indent="0" marL="0">
              <a:buNone/>
            </a:pPr>
            <a:r>
              <a:rPr lang="en-US" sz="1100" b="1" dirty="0">
                <a:solidFill>
                  <a:srgbClr val="F2A900"/>
                </a:solidFill>
              </a:rPr>
              <a:t>step4_lcd_report.py</a:t>
            </a:r>
            <a:pPr indent="0" marL="0">
              <a:buNone/>
            </a:pPr>
            <a:r>
              <a:rPr lang="en-US" sz="1100" dirty="0">
                <a:solidFill>
                  <a:srgbClr val="9FB8AD"/>
                </a:solidFill>
              </a:rPr>
              <a:t>  ·  lines 62–70</a:t>
            </a:r>
            <a:endParaRPr lang="en-US" sz="1100" dirty="0"/>
          </a:p>
        </p:txBody>
      </p:sp>
      <p:sp>
        <p:nvSpPr>
          <p:cNvPr id="8" name="Shape 6"/>
          <p:cNvSpPr/>
          <p:nvPr/>
        </p:nvSpPr>
        <p:spPr>
          <a:xfrm>
            <a:off x="566928" y="1325880"/>
            <a:ext cx="4626864" cy="0"/>
          </a:xfrm>
          <a:prstGeom prst="line">
            <a:avLst/>
          </a:prstGeom>
          <a:noFill/>
          <a:ln w="12700">
            <a:solidFill>
              <a:srgbClr val="2F4A3F"/>
            </a:solidFill>
            <a:prstDash val="solid"/>
          </a:ln>
        </p:spPr>
      </p:sp>
      <p:sp>
        <p:nvSpPr>
          <p:cNvPr id="9" name="Text 7"/>
          <p:cNvSpPr txBox="1"/>
          <p:nvPr/>
        </p:nvSpPr>
        <p:spPr>
          <a:xfrm>
            <a:off x="548640" y="1389888"/>
            <a:ext cx="4663440" cy="1234440"/>
          </a:xfrm>
          <a:prstGeom prst="rect">
            <a:avLst/>
          </a:prstGeom>
          <a:noFill/>
          <a:ln/>
        </p:spPr>
        <p:txBody>
          <a:bodyPr wrap="square" lIns="0" tIns="0" rIns="0" bIns="0" rtlCol="0" anchor="t"/>
          <a:lstStyle/>
          <a:p>
            <a:pPr indent="0" marL="0">
              <a:buNone/>
            </a:pPr>
            <a:r>
              <a:rPr lang="en-US" sz="1000" dirty="0">
                <a:solidFill>
                  <a:srgbClr val="6F8A7F"/>
                </a:solidFill>
                <a:latin typeface="Courier New" pitchFamily="34" charset="0"/>
                <a:ea typeface="Courier New" pitchFamily="34" charset="-122"/>
                <a:cs typeface="Courier New" pitchFamily="34" charset="-120"/>
              </a:rPr>
              <a:t> 62  </a:t>
            </a:r>
            <a:pPr indent="0" marL="0">
              <a:buNone/>
            </a:pPr>
            <a:r>
              <a:rPr lang="en-US" sz="1000" dirty="0">
                <a:solidFill>
                  <a:srgbClr val="E6F2EC"/>
                </a:solidFill>
                <a:latin typeface="Courier New" pitchFamily="34" charset="0"/>
                <a:ea typeface="Courier New" pitchFamily="34" charset="-122"/>
                <a:cs typeface="Courier New" pitchFamily="34" charset="-120"/>
              </a:rPr>
              <a:t>def show(level):</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63  </a:t>
            </a:r>
            <a:pPr indent="0" marL="0">
              <a:buNone/>
            </a:pPr>
            <a:r>
              <a:rPr lang="en-US" sz="1000" dirty="0">
                <a:solidFill>
                  <a:srgbClr val="E6F2EC"/>
                </a:solidFill>
                <a:latin typeface="Courier New" pitchFamily="34" charset="0"/>
                <a:ea typeface="Courier New" pitchFamily="34" charset="-122"/>
                <a:cs typeface="Courier New" pitchFamily="34" charset="-120"/>
              </a:rPr>
              <a:t>    for i in range(5):</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64  </a:t>
            </a:r>
            <a:pPr indent="0" marL="0">
              <a:buNone/>
            </a:pPr>
            <a:r>
              <a:rPr lang="en-US" sz="1000" dirty="0">
                <a:solidFill>
                  <a:srgbClr val="E6F2EC"/>
                </a:solidFill>
                <a:latin typeface="Courier New" pitchFamily="34" charset="0"/>
                <a:ea typeface="Courier New" pitchFamily="34" charset="-122"/>
                <a:cs typeface="Courier New" pitchFamily="34" charset="-120"/>
              </a:rPr>
              <a:t>        leds[i].value(1 if i &lt; level else 0)</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65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66  </a:t>
            </a:r>
            <a:pPr indent="0" marL="0">
              <a:buNone/>
            </a:pPr>
            <a:r>
              <a:rPr lang="en-US" sz="1000" dirty="0">
                <a:solidFill>
                  <a:srgbClr val="E6F2EC"/>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67  </a:t>
            </a:r>
            <a:pPr indent="0" marL="0">
              <a:buNone/>
            </a:pPr>
            <a:r>
              <a:rPr lang="en-US" sz="1000" dirty="0">
                <a:solidFill>
                  <a:srgbClr val="E6F2EC"/>
                </a:solidFill>
                <a:latin typeface="Courier New" pitchFamily="34" charset="0"/>
                <a:ea typeface="Courier New" pitchFamily="34" charset="-122"/>
                <a:cs typeface="Courier New" pitchFamily="34" charset="-120"/>
              </a:rPr>
              <a:t>def draw(level, count):</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68  </a:t>
            </a:r>
            <a:pPr indent="0" marL="0">
              <a:buNone/>
            </a:pPr>
            <a:r>
              <a:rPr lang="en-US" sz="1000" dirty="0">
                <a:solidFill>
                  <a:srgbClr val="E6F2EC"/>
                </a:solidFill>
                <a:latin typeface="Courier New" pitchFamily="34" charset="0"/>
                <a:ea typeface="Courier New" pitchFamily="34" charset="-122"/>
                <a:cs typeface="Courier New" pitchFamily="34" charset="-120"/>
              </a:rPr>
              <a:t>    """Redraw the LCD. 4 rows, 18 characters each."""</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69  </a:t>
            </a:r>
            <a:pPr indent="0" marL="0">
              <a:buNone/>
            </a:pPr>
            <a:r>
              <a:rPr lang="en-US" sz="1000" dirty="0">
                <a:solidFill>
                  <a:srgbClr val="E6F2EC"/>
                </a:solidFill>
                <a:latin typeface="Courier New" pitchFamily="34" charset="0"/>
                <a:ea typeface="Courier New" pitchFamily="34" charset="-122"/>
                <a:cs typeface="Courier New" pitchFamily="34" charset="-120"/>
              </a:rPr>
              <a:t>    lcd.Clear()</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70  </a:t>
            </a:r>
            <a:pPr indent="0" marL="0">
              <a:buNone/>
            </a:pPr>
            <a:r>
              <a:rPr lang="en-US" sz="1000" dirty="0">
                <a:solidFill>
                  <a:srgbClr val="E6F2EC"/>
                </a:solidFill>
                <a:latin typeface="Courier New" pitchFamily="34" charset="0"/>
                <a:ea typeface="Courier New" pitchFamily="34" charset="-122"/>
                <a:cs typeface="Courier New" pitchFamily="34" charset="-120"/>
              </a:rPr>
              <a:t>    lcd.Cursor(0, 0)</a:t>
            </a:r>
            <a:endParaRPr lang="en-US" sz="1000" dirty="0"/>
          </a:p>
        </p:txBody>
      </p:sp>
      <p:sp>
        <p:nvSpPr>
          <p:cNvPr id="10" name="Shape 8"/>
          <p:cNvSpPr/>
          <p:nvPr/>
        </p:nvSpPr>
        <p:spPr>
          <a:xfrm>
            <a:off x="457200" y="2852928"/>
            <a:ext cx="329184" cy="329184"/>
          </a:xfrm>
          <a:prstGeom prst="ellipse">
            <a:avLst/>
          </a:prstGeom>
          <a:solidFill>
            <a:srgbClr val="F2A900"/>
          </a:solidFill>
          <a:ln w="12700">
            <a:solidFill>
              <a:srgbClr val="C98C00"/>
            </a:solidFill>
            <a:prstDash val="solid"/>
          </a:ln>
        </p:spPr>
      </p:sp>
      <p:sp>
        <p:nvSpPr>
          <p:cNvPr id="11" name="Text 9"/>
          <p:cNvSpPr txBox="1"/>
          <p:nvPr/>
        </p:nvSpPr>
        <p:spPr>
          <a:xfrm>
            <a:off x="457200" y="285292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1</a:t>
            </a:r>
            <a:endParaRPr lang="en-US" sz="1300" dirty="0"/>
          </a:p>
        </p:txBody>
      </p:sp>
      <p:sp>
        <p:nvSpPr>
          <p:cNvPr id="12" name="Text 10"/>
          <p:cNvSpPr txBox="1"/>
          <p:nvPr/>
        </p:nvSpPr>
        <p:spPr>
          <a:xfrm>
            <a:off x="914400" y="2834640"/>
            <a:ext cx="4389120" cy="384048"/>
          </a:xfrm>
          <a:prstGeom prst="rect">
            <a:avLst/>
          </a:prstGeom>
          <a:noFill/>
          <a:ln/>
        </p:spPr>
        <p:txBody>
          <a:bodyPr wrap="square" lIns="0" tIns="0" rIns="0" bIns="0" rtlCol="0" anchor="ctr"/>
          <a:lstStyle/>
          <a:p>
            <a:pPr indent="0" marL="0">
              <a:buNone/>
            </a:pPr>
            <a:r>
              <a:rPr lang="en-US" sz="1500" dirty="0">
                <a:solidFill>
                  <a:srgbClr val="1B1B1B"/>
                </a:solidFill>
              </a:rPr>
              <a:t>Upload </a:t>
            </a:r>
            <a:pPr indent="0" marL="0">
              <a:buNone/>
            </a:pPr>
            <a:r>
              <a:rPr lang="en-US" sz="1500" b="1" dirty="0">
                <a:solidFill>
                  <a:srgbClr val="1B1B1B"/>
                </a:solidFill>
              </a:rPr>
              <a:t>lcd128_32.py</a:t>
            </a:r>
            <a:pPr indent="0" marL="0">
              <a:buNone/>
            </a:pPr>
            <a:r>
              <a:rPr lang="en-US" sz="1500" dirty="0">
                <a:solidFill>
                  <a:srgbClr val="1B1B1B"/>
                </a:solidFill>
              </a:rPr>
              <a:t> and the fonts file too</a:t>
            </a:r>
            <a:endParaRPr lang="en-US" sz="1500" dirty="0"/>
          </a:p>
        </p:txBody>
      </p:sp>
      <p:sp>
        <p:nvSpPr>
          <p:cNvPr id="13" name="Shape 11"/>
          <p:cNvSpPr/>
          <p:nvPr/>
        </p:nvSpPr>
        <p:spPr>
          <a:xfrm>
            <a:off x="457200" y="3355848"/>
            <a:ext cx="329184" cy="329184"/>
          </a:xfrm>
          <a:prstGeom prst="ellipse">
            <a:avLst/>
          </a:prstGeom>
          <a:solidFill>
            <a:srgbClr val="F2A900"/>
          </a:solidFill>
          <a:ln w="12700">
            <a:solidFill>
              <a:srgbClr val="C98C00"/>
            </a:solidFill>
            <a:prstDash val="solid"/>
          </a:ln>
        </p:spPr>
      </p:sp>
      <p:sp>
        <p:nvSpPr>
          <p:cNvPr id="14" name="Text 12"/>
          <p:cNvSpPr txBox="1"/>
          <p:nvPr/>
        </p:nvSpPr>
        <p:spPr>
          <a:xfrm>
            <a:off x="457200" y="335584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2</a:t>
            </a:r>
            <a:endParaRPr lang="en-US" sz="1300" dirty="0"/>
          </a:p>
        </p:txBody>
      </p:sp>
      <p:sp>
        <p:nvSpPr>
          <p:cNvPr id="15" name="Text 13"/>
          <p:cNvSpPr txBox="1"/>
          <p:nvPr/>
        </p:nvSpPr>
        <p:spPr>
          <a:xfrm>
            <a:off x="914400" y="3337560"/>
            <a:ext cx="4389120" cy="384048"/>
          </a:xfrm>
          <a:prstGeom prst="rect">
            <a:avLst/>
          </a:prstGeom>
          <a:noFill/>
          <a:ln/>
        </p:spPr>
        <p:txBody>
          <a:bodyPr wrap="square" lIns="0" tIns="0" rIns="0" bIns="0" rtlCol="0" anchor="ctr"/>
          <a:lstStyle/>
          <a:p>
            <a:pPr indent="0" marL="0">
              <a:buNone/>
            </a:pPr>
            <a:r>
              <a:rPr lang="en-US" sz="1500" dirty="0">
                <a:solidFill>
                  <a:srgbClr val="1B1B1B"/>
                </a:solidFill>
              </a:rPr>
              <a:t>LCD: SDA to GPIO21, SCL to GPIO22</a:t>
            </a:r>
            <a:endParaRPr lang="en-US" sz="1500" dirty="0"/>
          </a:p>
        </p:txBody>
      </p:sp>
      <p:sp>
        <p:nvSpPr>
          <p:cNvPr id="16" name="Shape 14"/>
          <p:cNvSpPr/>
          <p:nvPr/>
        </p:nvSpPr>
        <p:spPr>
          <a:xfrm>
            <a:off x="457200" y="3858768"/>
            <a:ext cx="329184" cy="329184"/>
          </a:xfrm>
          <a:prstGeom prst="ellipse">
            <a:avLst/>
          </a:prstGeom>
          <a:solidFill>
            <a:srgbClr val="F2A900"/>
          </a:solidFill>
          <a:ln w="12700">
            <a:solidFill>
              <a:srgbClr val="C98C00"/>
            </a:solidFill>
            <a:prstDash val="solid"/>
          </a:ln>
        </p:spPr>
      </p:sp>
      <p:sp>
        <p:nvSpPr>
          <p:cNvPr id="17" name="Text 15"/>
          <p:cNvSpPr txBox="1"/>
          <p:nvPr/>
        </p:nvSpPr>
        <p:spPr>
          <a:xfrm>
            <a:off x="457200" y="38587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3</a:t>
            </a:r>
            <a:endParaRPr lang="en-US" sz="1300" dirty="0"/>
          </a:p>
        </p:txBody>
      </p:sp>
      <p:sp>
        <p:nvSpPr>
          <p:cNvPr id="18" name="Text 16"/>
          <p:cNvSpPr txBox="1"/>
          <p:nvPr/>
        </p:nvSpPr>
        <p:spPr>
          <a:xfrm>
            <a:off x="914400" y="3840480"/>
            <a:ext cx="4389120" cy="384048"/>
          </a:xfrm>
          <a:prstGeom prst="rect">
            <a:avLst/>
          </a:prstGeom>
          <a:noFill/>
          <a:ln/>
        </p:spPr>
        <p:txBody>
          <a:bodyPr wrap="square" lIns="0" tIns="0" rIns="0" bIns="0" rtlCol="0" anchor="ctr"/>
          <a:lstStyle/>
          <a:p>
            <a:pPr indent="0" marL="0">
              <a:buNone/>
            </a:pPr>
            <a:r>
              <a:rPr lang="en-US" sz="1500" dirty="0">
                <a:solidFill>
                  <a:srgbClr val="1B1B1B"/>
                </a:solidFill>
              </a:rPr>
              <a:t>Run it. The screen shows level and count</a:t>
            </a:r>
            <a:endParaRPr lang="en-US" sz="1500" dirty="0"/>
          </a:p>
        </p:txBody>
      </p:sp>
      <p:sp>
        <p:nvSpPr>
          <p:cNvPr id="19" name="Shape 17"/>
          <p:cNvSpPr/>
          <p:nvPr/>
        </p:nvSpPr>
        <p:spPr>
          <a:xfrm>
            <a:off x="457200" y="4206240"/>
            <a:ext cx="4846320" cy="411480"/>
          </a:xfrm>
          <a:prstGeom prst="roundRect">
            <a:avLst>
              <a:gd name="adj" fmla="val 17778"/>
            </a:avLst>
          </a:prstGeom>
          <a:solidFill>
            <a:srgbClr val="DDF3E9"/>
          </a:solidFill>
          <a:ln w="15875">
            <a:solidFill>
              <a:srgbClr val="1F8A70"/>
            </a:solidFill>
            <a:prstDash val="solid"/>
          </a:ln>
        </p:spPr>
      </p:sp>
      <p:sp>
        <p:nvSpPr>
          <p:cNvPr id="20" name="Text 18"/>
          <p:cNvSpPr txBox="1"/>
          <p:nvPr/>
        </p:nvSpPr>
        <p:spPr>
          <a:xfrm>
            <a:off x="594360" y="4206240"/>
            <a:ext cx="4572000" cy="41148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The bar on screen matches the LEDs.</a:t>
            </a:r>
            <a:endParaRPr lang="en-US" sz="1400" dirty="0"/>
          </a:p>
        </p:txBody>
      </p:sp>
      <p:sp>
        <p:nvSpPr>
          <p:cNvPr id="21" name="Shape 19"/>
          <p:cNvSpPr/>
          <p:nvPr/>
        </p:nvSpPr>
        <p:spPr>
          <a:xfrm>
            <a:off x="5577840" y="1188720"/>
            <a:ext cx="3108960" cy="1371600"/>
          </a:xfrm>
          <a:prstGeom prst="roundRect">
            <a:avLst>
              <a:gd name="adj" fmla="val 5333"/>
            </a:avLst>
          </a:prstGeom>
          <a:solidFill>
            <a:srgbClr val="1E1E1E"/>
          </a:solidFill>
          <a:ln w="12700">
            <a:solidFill>
              <a:srgbClr val="3A3A3A"/>
            </a:solidFill>
            <a:prstDash val="solid"/>
          </a:ln>
        </p:spPr>
      </p:sp>
      <p:sp>
        <p:nvSpPr>
          <p:cNvPr id="22" name="Text 20"/>
          <p:cNvSpPr txBox="1"/>
          <p:nvPr/>
        </p:nvSpPr>
        <p:spPr>
          <a:xfrm>
            <a:off x="5760720" y="1325880"/>
            <a:ext cx="2743200" cy="1097280"/>
          </a:xfrm>
          <a:prstGeom prst="rect">
            <a:avLst/>
          </a:prstGeom>
          <a:noFill/>
          <a:ln/>
        </p:spPr>
        <p:txBody>
          <a:bodyPr wrap="square" lIns="0" tIns="0" rIns="0" bIns="0" rtlCol="0" anchor="t"/>
          <a:lstStyle/>
          <a:p>
            <a:pPr indent="0" marL="0">
              <a:buNone/>
            </a:pPr>
            <a:r>
              <a:rPr lang="en-US" sz="1400" dirty="0">
                <a:solidFill>
                  <a:srgbClr val="B9C7BF"/>
                </a:solidFill>
                <a:latin typeface="Courier New" pitchFamily="34" charset="0"/>
                <a:ea typeface="Courier New" pitchFamily="34" charset="-122"/>
                <a:cs typeface="Courier New" pitchFamily="34" charset="-120"/>
              </a:rPr>
              <a:t>Noise level: 3</a:t>
            </a:r>
            <a:endParaRPr lang="en-US" sz="1400" dirty="0"/>
          </a:p>
          <a:p>
            <a:pPr indent="0" marL="0">
              <a:buNone/>
            </a:pPr>
            <a:r>
              <a:rPr lang="en-US" sz="1400" dirty="0">
                <a:solidFill>
                  <a:srgbClr val="B9C7B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B9C7BF"/>
                </a:solidFill>
                <a:latin typeface="Courier New" pitchFamily="34" charset="0"/>
                <a:ea typeface="Courier New" pitchFamily="34" charset="-122"/>
                <a:cs typeface="Courier New" pitchFamily="34" charset="-120"/>
              </a:rPr>
              <a:t>Too loud: 7</a:t>
            </a:r>
            <a:endParaRPr lang="en-US" sz="1400" dirty="0"/>
          </a:p>
        </p:txBody>
      </p:sp>
      <p:sp>
        <p:nvSpPr>
          <p:cNvPr id="23" name="Text 21"/>
          <p:cNvSpPr txBox="1"/>
          <p:nvPr/>
        </p:nvSpPr>
        <p:spPr>
          <a:xfrm>
            <a:off x="5577840" y="2697480"/>
            <a:ext cx="3108960" cy="457200"/>
          </a:xfrm>
          <a:prstGeom prst="rect">
            <a:avLst/>
          </a:prstGeom>
          <a:noFill/>
          <a:ln/>
        </p:spPr>
        <p:txBody>
          <a:bodyPr wrap="square" lIns="0" tIns="0" rIns="0" bIns="0" rtlCol="0" anchor="ctr"/>
          <a:lstStyle/>
          <a:p>
            <a:pPr indent="0" marL="0">
              <a:buNone/>
            </a:pPr>
            <a:r>
              <a:rPr lang="en-US" sz="1300" i="1" dirty="0">
                <a:solidFill>
                  <a:srgbClr val="6B7280"/>
                </a:solidFill>
              </a:rPr>
              <a:t>The LCD from Lesson 1, doing a real job this time.</a:t>
            </a:r>
            <a:endParaRPr lang="en-US" sz="1300" dirty="0"/>
          </a:p>
        </p:txBody>
      </p:sp>
      <p:sp>
        <p:nvSpPr>
          <p:cNvPr id="24" name="Shape 22"/>
          <p:cNvSpPr/>
          <p:nvPr/>
        </p:nvSpPr>
        <p:spPr>
          <a:xfrm>
            <a:off x="5577840" y="3246120"/>
            <a:ext cx="3108960" cy="1234440"/>
          </a:xfrm>
          <a:prstGeom prst="roundRect">
            <a:avLst>
              <a:gd name="adj" fmla="val 5926"/>
            </a:avLst>
          </a:prstGeom>
          <a:solidFill>
            <a:srgbClr val="FFF4D6"/>
          </a:solidFill>
          <a:ln w="15875">
            <a:solidFill>
              <a:srgbClr val="E0A800"/>
            </a:solidFill>
            <a:prstDash val="solid"/>
          </a:ln>
        </p:spPr>
      </p:sp>
      <p:sp>
        <p:nvSpPr>
          <p:cNvPr id="25" name="Text 23"/>
          <p:cNvSpPr txBox="1"/>
          <p:nvPr/>
        </p:nvSpPr>
        <p:spPr>
          <a:xfrm>
            <a:off x="5760720" y="3246120"/>
            <a:ext cx="2743200" cy="1234440"/>
          </a:xfrm>
          <a:prstGeom prst="rect">
            <a:avLst/>
          </a:prstGeom>
          <a:noFill/>
          <a:ln/>
        </p:spPr>
        <p:txBody>
          <a:bodyPr wrap="square" lIns="0" tIns="0" rIns="0" bIns="0" rtlCol="0" anchor="ctr"/>
          <a:lstStyle/>
          <a:p>
            <a:pPr indent="0" marL="0">
              <a:buNone/>
            </a:pPr>
            <a:r>
              <a:rPr lang="en-US" sz="1300" b="1" dirty="0">
                <a:solidFill>
                  <a:srgbClr val="9A6B00"/>
                </a:solidFill>
              </a:rPr>
              <a:t>Only redraw when it changed.
</a:t>
            </a:r>
            <a:pPr indent="0" marL="0">
              <a:buNone/>
            </a:pPr>
            <a:r>
              <a:rPr lang="en-US" sz="1300" dirty="0">
                <a:solidFill>
                  <a:srgbClr val="1B1B1B"/>
                </a:solidFill>
              </a:rPr>
              <a:t>Clearing the screen ten times a second makes it flicker and slows the whole loop.</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Say level, not decibels</a:t>
            </a:r>
            <a:endParaRPr lang="en-US" sz="3000" dirty="0"/>
          </a:p>
        </p:txBody>
      </p:sp>
      <p:sp>
        <p:nvSpPr>
          <p:cNvPr id="3" name="Shape 1"/>
          <p:cNvSpPr/>
          <p:nvPr/>
        </p:nvSpPr>
        <p:spPr>
          <a:xfrm>
            <a:off x="457200" y="1097280"/>
            <a:ext cx="3931920" cy="1600200"/>
          </a:xfrm>
          <a:prstGeom prst="roundRect">
            <a:avLst>
              <a:gd name="adj" fmla="val 5714"/>
            </a:avLst>
          </a:prstGeom>
          <a:solidFill>
            <a:srgbClr val="DDF3E9"/>
          </a:solidFill>
          <a:ln w="19050">
            <a:solidFill>
              <a:srgbClr val="1F8A70"/>
            </a:solidFill>
            <a:prstDash val="solid"/>
          </a:ln>
        </p:spPr>
      </p:sp>
      <p:sp>
        <p:nvSpPr>
          <p:cNvPr id="4" name="Text 2"/>
          <p:cNvSpPr txBox="1"/>
          <p:nvPr/>
        </p:nvSpPr>
        <p:spPr>
          <a:xfrm>
            <a:off x="640080" y="1188720"/>
            <a:ext cx="3566160" cy="320040"/>
          </a:xfrm>
          <a:prstGeom prst="rect">
            <a:avLst/>
          </a:prstGeom>
          <a:noFill/>
          <a:ln/>
        </p:spPr>
        <p:txBody>
          <a:bodyPr wrap="square" lIns="0" tIns="0" rIns="0" bIns="0" rtlCol="0" anchor="ctr"/>
          <a:lstStyle/>
          <a:p>
            <a:pPr indent="0" marL="0">
              <a:buNone/>
            </a:pPr>
            <a:r>
              <a:rPr lang="en-US" sz="1600" b="1" dirty="0">
                <a:solidFill>
                  <a:srgbClr val="1F8A70"/>
                </a:solidFill>
              </a:rPr>
              <a:t>Honest</a:t>
            </a:r>
            <a:endParaRPr lang="en-US" sz="1600" dirty="0"/>
          </a:p>
        </p:txBody>
      </p:sp>
      <p:sp>
        <p:nvSpPr>
          <p:cNvPr id="5" name="Text 3"/>
          <p:cNvSpPr txBox="1"/>
          <p:nvPr/>
        </p:nvSpPr>
        <p:spPr>
          <a:xfrm>
            <a:off x="640080" y="1554480"/>
            <a:ext cx="3566160" cy="1005840"/>
          </a:xfrm>
          <a:prstGeom prst="rect">
            <a:avLst/>
          </a:prstGeom>
          <a:noFill/>
          <a:ln/>
        </p:spPr>
        <p:txBody>
          <a:bodyPr wrap="square" lIns="0" tIns="0" rIns="0" bIns="0" rtlCol="0" anchor="t"/>
          <a:lstStyle/>
          <a:p>
            <a:pPr indent="0" marL="0">
              <a:buNone/>
            </a:pPr>
            <a:r>
              <a:rPr lang="en-US" sz="1500" dirty="0">
                <a:solidFill>
                  <a:srgbClr val="1B1B1B"/>
                </a:solidFill>
              </a:rPr>
              <a:t>"The room reached level 4 eleven times in this lesson."</a:t>
            </a:r>
            <a:endParaRPr lang="en-US" sz="1500" dirty="0"/>
          </a:p>
        </p:txBody>
      </p:sp>
      <p:sp>
        <p:nvSpPr>
          <p:cNvPr id="6" name="Shape 4"/>
          <p:cNvSpPr/>
          <p:nvPr/>
        </p:nvSpPr>
        <p:spPr>
          <a:xfrm>
            <a:off x="4754880" y="1097280"/>
            <a:ext cx="3931920" cy="1600200"/>
          </a:xfrm>
          <a:prstGeom prst="roundRect">
            <a:avLst>
              <a:gd name="adj" fmla="val 5714"/>
            </a:avLst>
          </a:prstGeom>
          <a:solidFill>
            <a:srgbClr val="FDECEC"/>
          </a:solidFill>
          <a:ln w="19050">
            <a:solidFill>
              <a:srgbClr val="D64545"/>
            </a:solidFill>
            <a:prstDash val="solid"/>
          </a:ln>
        </p:spPr>
      </p:sp>
      <p:sp>
        <p:nvSpPr>
          <p:cNvPr id="7" name="Text 5"/>
          <p:cNvSpPr txBox="1"/>
          <p:nvPr/>
        </p:nvSpPr>
        <p:spPr>
          <a:xfrm>
            <a:off x="4937760" y="1188720"/>
            <a:ext cx="3566160" cy="320040"/>
          </a:xfrm>
          <a:prstGeom prst="rect">
            <a:avLst/>
          </a:prstGeom>
          <a:noFill/>
          <a:ln/>
        </p:spPr>
        <p:txBody>
          <a:bodyPr wrap="square" lIns="0" tIns="0" rIns="0" bIns="0" rtlCol="0" anchor="ctr"/>
          <a:lstStyle/>
          <a:p>
            <a:pPr indent="0" marL="0">
              <a:buNone/>
            </a:pPr>
            <a:r>
              <a:rPr lang="en-US" sz="1600" b="1" dirty="0">
                <a:solidFill>
                  <a:srgbClr val="D64545"/>
                </a:solidFill>
              </a:rPr>
              <a:t>Not honest</a:t>
            </a:r>
            <a:endParaRPr lang="en-US" sz="1600" dirty="0"/>
          </a:p>
        </p:txBody>
      </p:sp>
      <p:sp>
        <p:nvSpPr>
          <p:cNvPr id="8" name="Text 6"/>
          <p:cNvSpPr txBox="1"/>
          <p:nvPr/>
        </p:nvSpPr>
        <p:spPr>
          <a:xfrm>
            <a:off x="4937760" y="1554480"/>
            <a:ext cx="3566160" cy="457200"/>
          </a:xfrm>
          <a:prstGeom prst="rect">
            <a:avLst/>
          </a:prstGeom>
          <a:noFill/>
          <a:ln/>
        </p:spPr>
        <p:txBody>
          <a:bodyPr wrap="square" lIns="0" tIns="0" rIns="0" bIns="0" rtlCol="0" anchor="t"/>
          <a:lstStyle/>
          <a:p>
            <a:pPr indent="0" marL="0">
              <a:buNone/>
            </a:pPr>
            <a:r>
              <a:rPr lang="en-US" sz="1500" dirty="0">
                <a:solidFill>
                  <a:srgbClr val="1B1B1B"/>
                </a:solidFill>
              </a:rPr>
              <a:t>"The room was 85 decibels."</a:t>
            </a:r>
            <a:endParaRPr lang="en-US" sz="1500" dirty="0"/>
          </a:p>
        </p:txBody>
      </p:sp>
      <p:sp>
        <p:nvSpPr>
          <p:cNvPr id="9" name="Text 7"/>
          <p:cNvSpPr txBox="1"/>
          <p:nvPr/>
        </p:nvSpPr>
        <p:spPr>
          <a:xfrm>
            <a:off x="4937760" y="2057400"/>
            <a:ext cx="3566160" cy="548640"/>
          </a:xfrm>
          <a:prstGeom prst="rect">
            <a:avLst/>
          </a:prstGeom>
          <a:noFill/>
          <a:ln/>
        </p:spPr>
        <p:txBody>
          <a:bodyPr wrap="square" lIns="0" tIns="0" rIns="0" bIns="0" rtlCol="0" anchor="t"/>
          <a:lstStyle/>
          <a:p>
            <a:pPr indent="0" marL="0">
              <a:buNone/>
            </a:pPr>
            <a:r>
              <a:rPr lang="en-US" sz="1300" i="1" dirty="0">
                <a:solidFill>
                  <a:srgbClr val="6B7280"/>
                </a:solidFill>
              </a:rPr>
              <a:t>A phone app will disagree with you, and the phone will be right.</a:t>
            </a:r>
            <a:endParaRPr lang="en-US" sz="1300" dirty="0"/>
          </a:p>
        </p:txBody>
      </p:sp>
      <p:sp>
        <p:nvSpPr>
          <p:cNvPr id="10" name="Text 8"/>
          <p:cNvSpPr txBox="1"/>
          <p:nvPr/>
        </p:nvSpPr>
        <p:spPr>
          <a:xfrm>
            <a:off x="457200" y="2880360"/>
            <a:ext cx="8229600" cy="731520"/>
          </a:xfrm>
          <a:prstGeom prst="rect">
            <a:avLst/>
          </a:prstGeom>
          <a:noFill/>
          <a:ln/>
        </p:spPr>
        <p:txBody>
          <a:bodyPr wrap="square" lIns="0" tIns="0" rIns="0" bIns="0" rtlCol="0" anchor="t"/>
          <a:lstStyle/>
          <a:p>
            <a:pPr indent="0" marL="0">
              <a:buNone/>
            </a:pPr>
            <a:r>
              <a:rPr lang="en-US" sz="1500" dirty="0">
                <a:solidFill>
                  <a:srgbClr val="1B1B1B"/>
                </a:solidFill>
              </a:rPr>
              <a:t>Nobody calibrated this sensor against a known sound. It measures a gap that follows loudness. That is enough to compare one lesson with another, and not enough to put a unit on.</a:t>
            </a:r>
            <a:endParaRPr lang="en-US" sz="1500" dirty="0"/>
          </a:p>
        </p:txBody>
      </p:sp>
      <p:sp>
        <p:nvSpPr>
          <p:cNvPr id="11" name="Shape 9"/>
          <p:cNvSpPr/>
          <p:nvPr/>
        </p:nvSpPr>
        <p:spPr>
          <a:xfrm>
            <a:off x="457200" y="3749040"/>
            <a:ext cx="8229600" cy="731520"/>
          </a:xfrm>
          <a:prstGeom prst="roundRect">
            <a:avLst>
              <a:gd name="adj" fmla="val 10000"/>
            </a:avLst>
          </a:prstGeom>
          <a:solidFill>
            <a:srgbClr val="0B3D2E"/>
          </a:solidFill>
          <a:ln w="12700">
            <a:solidFill>
              <a:srgbClr val="0B3D2E"/>
            </a:solidFill>
            <a:prstDash val="solid"/>
          </a:ln>
        </p:spPr>
      </p:sp>
      <p:sp>
        <p:nvSpPr>
          <p:cNvPr id="12" name="Text 10"/>
          <p:cNvSpPr txBox="1"/>
          <p:nvPr/>
        </p:nvSpPr>
        <p:spPr>
          <a:xfrm>
            <a:off x="685800" y="3749040"/>
            <a:ext cx="7772400" cy="731520"/>
          </a:xfrm>
          <a:prstGeom prst="rect">
            <a:avLst/>
          </a:prstGeom>
          <a:noFill/>
          <a:ln/>
        </p:spPr>
        <p:txBody>
          <a:bodyPr wrap="square" lIns="0" tIns="0" rIns="0" bIns="0" rtlCol="0" anchor="ctr"/>
          <a:lstStyle/>
          <a:p>
            <a:pPr indent="0" marL="0">
              <a:buNone/>
            </a:pPr>
            <a:r>
              <a:rPr lang="en-US" sz="1500" b="1" dirty="0">
                <a:solidFill>
                  <a:srgbClr val="FFFFFF"/>
                </a:solidFill>
              </a:rPr>
              <a:t>Measuring something is easy. Saying exactly what you measured is the hard part, and it is the part people believe.</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Ten real minutes</a:t>
            </a:r>
            <a:endParaRPr lang="en-US" sz="3000" dirty="0"/>
          </a:p>
        </p:txBody>
      </p:sp>
      <p:sp>
        <p:nvSpPr>
          <p:cNvPr id="3" name="Shape 1"/>
          <p:cNvSpPr/>
          <p:nvPr/>
        </p:nvSpPr>
        <p:spPr>
          <a:xfrm>
            <a:off x="457200" y="1115568"/>
            <a:ext cx="329184" cy="329184"/>
          </a:xfrm>
          <a:prstGeom prst="ellipse">
            <a:avLst/>
          </a:prstGeom>
          <a:solidFill>
            <a:srgbClr val="F2A900"/>
          </a:solidFill>
          <a:ln w="12700">
            <a:solidFill>
              <a:srgbClr val="C98C00"/>
            </a:solidFill>
            <a:prstDash val="solid"/>
          </a:ln>
        </p:spPr>
      </p:sp>
      <p:sp>
        <p:nvSpPr>
          <p:cNvPr id="4" name="Text 2"/>
          <p:cNvSpPr txBox="1"/>
          <p:nvPr/>
        </p:nvSpPr>
        <p:spPr>
          <a:xfrm>
            <a:off x="457200" y="11155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1</a:t>
            </a:r>
            <a:endParaRPr lang="en-US" sz="1300" dirty="0"/>
          </a:p>
        </p:txBody>
      </p:sp>
      <p:sp>
        <p:nvSpPr>
          <p:cNvPr id="5" name="Text 3"/>
          <p:cNvSpPr txBox="1"/>
          <p:nvPr/>
        </p:nvSpPr>
        <p:spPr>
          <a:xfrm>
            <a:off x="914400" y="1097280"/>
            <a:ext cx="3749040" cy="384048"/>
          </a:xfrm>
          <a:prstGeom prst="rect">
            <a:avLst/>
          </a:prstGeom>
          <a:noFill/>
          <a:ln/>
        </p:spPr>
        <p:txBody>
          <a:bodyPr wrap="square" lIns="0" tIns="0" rIns="0" bIns="0" rtlCol="0" anchor="ctr"/>
          <a:lstStyle/>
          <a:p>
            <a:pPr indent="0" marL="0">
              <a:buNone/>
            </a:pPr>
            <a:r>
              <a:rPr lang="en-US" sz="1500" dirty="0">
                <a:solidFill>
                  <a:srgbClr val="1B1B1B"/>
                </a:solidFill>
              </a:rPr>
              <a:t>Run the meter for the last ten minutes of this lesson</a:t>
            </a:r>
            <a:endParaRPr lang="en-US" sz="1500" dirty="0"/>
          </a:p>
        </p:txBody>
      </p:sp>
      <p:sp>
        <p:nvSpPr>
          <p:cNvPr id="6" name="Shape 4"/>
          <p:cNvSpPr/>
          <p:nvPr/>
        </p:nvSpPr>
        <p:spPr>
          <a:xfrm>
            <a:off x="457200" y="1773936"/>
            <a:ext cx="329184" cy="329184"/>
          </a:xfrm>
          <a:prstGeom prst="ellipse">
            <a:avLst/>
          </a:prstGeom>
          <a:solidFill>
            <a:srgbClr val="F2A900"/>
          </a:solidFill>
          <a:ln w="12700">
            <a:solidFill>
              <a:srgbClr val="C98C00"/>
            </a:solidFill>
            <a:prstDash val="solid"/>
          </a:ln>
        </p:spPr>
      </p:sp>
      <p:sp>
        <p:nvSpPr>
          <p:cNvPr id="7" name="Text 5"/>
          <p:cNvSpPr txBox="1"/>
          <p:nvPr/>
        </p:nvSpPr>
        <p:spPr>
          <a:xfrm>
            <a:off x="457200" y="1773936"/>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2</a:t>
            </a:r>
            <a:endParaRPr lang="en-US" sz="1300" dirty="0"/>
          </a:p>
        </p:txBody>
      </p:sp>
      <p:sp>
        <p:nvSpPr>
          <p:cNvPr id="8" name="Text 6"/>
          <p:cNvSpPr txBox="1"/>
          <p:nvPr/>
        </p:nvSpPr>
        <p:spPr>
          <a:xfrm>
            <a:off x="914400" y="1755648"/>
            <a:ext cx="3749040" cy="384048"/>
          </a:xfrm>
          <a:prstGeom prst="rect">
            <a:avLst/>
          </a:prstGeom>
          <a:noFill/>
          <a:ln/>
        </p:spPr>
        <p:txBody>
          <a:bodyPr wrap="square" lIns="0" tIns="0" rIns="0" bIns="0" rtlCol="0" anchor="ctr"/>
          <a:lstStyle/>
          <a:p>
            <a:pPr indent="0" marL="0">
              <a:buNone/>
            </a:pPr>
            <a:r>
              <a:rPr lang="en-US" sz="1500" dirty="0">
                <a:solidFill>
                  <a:srgbClr val="1B1B1B"/>
                </a:solidFill>
              </a:rPr>
              <a:t>Do not tell the class it is running</a:t>
            </a:r>
            <a:endParaRPr lang="en-US" sz="1500" dirty="0"/>
          </a:p>
        </p:txBody>
      </p:sp>
      <p:sp>
        <p:nvSpPr>
          <p:cNvPr id="9" name="Shape 7"/>
          <p:cNvSpPr/>
          <p:nvPr/>
        </p:nvSpPr>
        <p:spPr>
          <a:xfrm>
            <a:off x="457200" y="2432304"/>
            <a:ext cx="329184" cy="329184"/>
          </a:xfrm>
          <a:prstGeom prst="ellipse">
            <a:avLst/>
          </a:prstGeom>
          <a:solidFill>
            <a:srgbClr val="F2A900"/>
          </a:solidFill>
          <a:ln w="12700">
            <a:solidFill>
              <a:srgbClr val="C98C00"/>
            </a:solidFill>
            <a:prstDash val="solid"/>
          </a:ln>
        </p:spPr>
      </p:sp>
      <p:sp>
        <p:nvSpPr>
          <p:cNvPr id="10" name="Text 8"/>
          <p:cNvSpPr txBox="1"/>
          <p:nvPr/>
        </p:nvSpPr>
        <p:spPr>
          <a:xfrm>
            <a:off x="457200" y="2432304"/>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3</a:t>
            </a:r>
            <a:endParaRPr lang="en-US" sz="1300" dirty="0"/>
          </a:p>
        </p:txBody>
      </p:sp>
      <p:sp>
        <p:nvSpPr>
          <p:cNvPr id="11" name="Text 9"/>
          <p:cNvSpPr txBox="1"/>
          <p:nvPr/>
        </p:nvSpPr>
        <p:spPr>
          <a:xfrm>
            <a:off x="914400" y="2414016"/>
            <a:ext cx="3749040" cy="384048"/>
          </a:xfrm>
          <a:prstGeom prst="rect">
            <a:avLst/>
          </a:prstGeom>
          <a:noFill/>
          <a:ln/>
        </p:spPr>
        <p:txBody>
          <a:bodyPr wrap="square" lIns="0" tIns="0" rIns="0" bIns="0" rtlCol="0" anchor="ctr"/>
          <a:lstStyle/>
          <a:p>
            <a:pPr indent="0" marL="0">
              <a:buNone/>
            </a:pPr>
            <a:r>
              <a:rPr lang="en-US" sz="1500" dirty="0">
                <a:solidFill>
                  <a:srgbClr val="1B1B1B"/>
                </a:solidFill>
              </a:rPr>
              <a:t>Write the count on the board at the end</a:t>
            </a:r>
            <a:endParaRPr lang="en-US" sz="1500" dirty="0"/>
          </a:p>
        </p:txBody>
      </p:sp>
      <p:sp>
        <p:nvSpPr>
          <p:cNvPr id="12" name="Shape 10"/>
          <p:cNvSpPr/>
          <p:nvPr/>
        </p:nvSpPr>
        <p:spPr>
          <a:xfrm>
            <a:off x="457200" y="3090672"/>
            <a:ext cx="329184" cy="329184"/>
          </a:xfrm>
          <a:prstGeom prst="ellipse">
            <a:avLst/>
          </a:prstGeom>
          <a:solidFill>
            <a:srgbClr val="F2A900"/>
          </a:solidFill>
          <a:ln w="12700">
            <a:solidFill>
              <a:srgbClr val="C98C00"/>
            </a:solidFill>
            <a:prstDash val="solid"/>
          </a:ln>
        </p:spPr>
      </p:sp>
      <p:sp>
        <p:nvSpPr>
          <p:cNvPr id="13" name="Text 11"/>
          <p:cNvSpPr txBox="1"/>
          <p:nvPr/>
        </p:nvSpPr>
        <p:spPr>
          <a:xfrm>
            <a:off x="457200" y="3090672"/>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4</a:t>
            </a:r>
            <a:endParaRPr lang="en-US" sz="1300" dirty="0"/>
          </a:p>
        </p:txBody>
      </p:sp>
      <p:sp>
        <p:nvSpPr>
          <p:cNvPr id="14" name="Text 12"/>
          <p:cNvSpPr txBox="1"/>
          <p:nvPr/>
        </p:nvSpPr>
        <p:spPr>
          <a:xfrm>
            <a:off x="914400" y="3072384"/>
            <a:ext cx="3749040" cy="384048"/>
          </a:xfrm>
          <a:prstGeom prst="rect">
            <a:avLst/>
          </a:prstGeom>
          <a:noFill/>
          <a:ln/>
        </p:spPr>
        <p:txBody>
          <a:bodyPr wrap="square" lIns="0" tIns="0" rIns="0" bIns="0" rtlCol="0" anchor="ctr"/>
          <a:lstStyle/>
          <a:p>
            <a:pPr indent="0" marL="0">
              <a:buNone/>
            </a:pPr>
            <a:r>
              <a:rPr lang="en-US" sz="1500" dirty="0">
                <a:solidFill>
                  <a:srgbClr val="1B1B1B"/>
                </a:solidFill>
              </a:rPr>
              <a:t>Write it down. You will need it on 4 November</a:t>
            </a:r>
            <a:endParaRPr lang="en-US" sz="1500" dirty="0"/>
          </a:p>
        </p:txBody>
      </p:sp>
      <p:sp>
        <p:nvSpPr>
          <p:cNvPr id="15" name="Shape 13"/>
          <p:cNvSpPr/>
          <p:nvPr/>
        </p:nvSpPr>
        <p:spPr>
          <a:xfrm>
            <a:off x="4937760" y="1051560"/>
            <a:ext cx="3749040" cy="3108960"/>
          </a:xfrm>
          <a:prstGeom prst="roundRect">
            <a:avLst>
              <a:gd name="adj" fmla="val 2941"/>
            </a:avLst>
          </a:prstGeom>
          <a:solidFill>
            <a:srgbClr val="EEF5F1"/>
          </a:solidFill>
          <a:ln w="15875">
            <a:solidFill>
              <a:srgbClr val="D3E4DB"/>
            </a:solidFill>
            <a:prstDash val="solid"/>
          </a:ln>
        </p:spPr>
      </p:sp>
      <p:sp>
        <p:nvSpPr>
          <p:cNvPr id="16" name="Text 14"/>
          <p:cNvSpPr txBox="1"/>
          <p:nvPr/>
        </p:nvSpPr>
        <p:spPr>
          <a:xfrm>
            <a:off x="5120640" y="1170432"/>
            <a:ext cx="3383280" cy="320040"/>
          </a:xfrm>
          <a:prstGeom prst="rect">
            <a:avLst/>
          </a:prstGeom>
          <a:noFill/>
          <a:ln/>
        </p:spPr>
        <p:txBody>
          <a:bodyPr wrap="square" lIns="0" tIns="0" rIns="0" bIns="0" rtlCol="0" anchor="ctr"/>
          <a:lstStyle/>
          <a:p>
            <a:pPr indent="0" marL="0">
              <a:buNone/>
            </a:pPr>
            <a:r>
              <a:rPr lang="en-US" sz="1500" b="1" dirty="0">
                <a:solidFill>
                  <a:srgbClr val="0B3D2E"/>
                </a:solidFill>
              </a:rPr>
              <a:t>Talk to the person next to you</a:t>
            </a:r>
            <a:endParaRPr lang="en-US" sz="1500" dirty="0"/>
          </a:p>
        </p:txBody>
      </p:sp>
      <p:sp>
        <p:nvSpPr>
          <p:cNvPr id="17" name="Text 15"/>
          <p:cNvSpPr txBox="1"/>
          <p:nvPr/>
        </p:nvSpPr>
        <p:spPr>
          <a:xfrm>
            <a:off x="5120640" y="1572768"/>
            <a:ext cx="3383280" cy="24688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B1B1B"/>
                </a:solidFill>
              </a:rPr>
              <a:t>Who decides what too loud means? You set TOO_LOUD_LEVEL yourself.</a:t>
            </a:r>
            <a:endParaRPr lang="en-US" sz="1400" dirty="0"/>
          </a:p>
          <a:p>
            <a:pPr marL="342900" indent="-342900">
              <a:spcAft>
                <a:spcPts val="1000"/>
              </a:spcAft>
              <a:buSzPct val="100000"/>
              <a:buChar char="•"/>
            </a:pPr>
            <a:r>
              <a:rPr lang="en-US" sz="1400" dirty="0">
                <a:solidFill>
                  <a:srgbClr val="1B1B1B"/>
                </a:solidFill>
              </a:rPr>
              <a:t>A meter that beeps when the room is loud: quieter room, or louder?</a:t>
            </a:r>
            <a:endParaRPr lang="en-US" sz="1400" dirty="0"/>
          </a:p>
          <a:p>
            <a:pPr marL="342900" indent="-342900">
              <a:spcAft>
                <a:spcPts val="1000"/>
              </a:spcAft>
              <a:buSzPct val="100000"/>
              <a:buChar char="•"/>
            </a:pPr>
            <a:r>
              <a:rPr lang="en-US" sz="1400" dirty="0">
                <a:solidFill>
                  <a:srgbClr val="1B1B1B"/>
                </a:solidFill>
              </a:rPr>
              <a:t>Who in this school would actually use this? Name a person or a room.</a:t>
            </a:r>
            <a:endParaRPr lang="en-US" sz="1400" dirty="0"/>
          </a:p>
          <a:p>
            <a:pPr marL="342900" indent="-342900">
              <a:spcAft>
                <a:spcPts val="1000"/>
              </a:spcAft>
              <a:buSzPct val="100000"/>
              <a:buChar char="•"/>
            </a:pPr>
            <a:r>
              <a:rPr lang="en-US" sz="1400" dirty="0">
                <a:solidFill>
                  <a:srgbClr val="1B1B1B"/>
                </a:solidFill>
              </a:rPr>
              <a:t>What would make somebody trust your number?</a:t>
            </a:r>
            <a:endParaRPr lang="en-US" sz="1400" dirty="0"/>
          </a:p>
        </p:txBody>
      </p:sp>
      <p:sp>
        <p:nvSpPr>
          <p:cNvPr id="18" name="Text 16"/>
          <p:cNvSpPr txBox="1"/>
          <p:nvPr/>
        </p:nvSpPr>
        <p:spPr>
          <a:xfrm>
            <a:off x="457200" y="3840480"/>
            <a:ext cx="4206240" cy="822960"/>
          </a:xfrm>
          <a:prstGeom prst="rect">
            <a:avLst/>
          </a:prstGeom>
          <a:noFill/>
          <a:ln/>
        </p:spPr>
        <p:txBody>
          <a:bodyPr wrap="square" lIns="0" tIns="0" rIns="0" bIns="0" rtlCol="0" anchor="t"/>
          <a:lstStyle/>
          <a:p>
            <a:pPr indent="0" marL="0">
              <a:buNone/>
            </a:pPr>
            <a:r>
              <a:rPr lang="en-US" sz="1400" b="1" dirty="0">
                <a:solidFill>
                  <a:srgbClr val="1F8A70"/>
                </a:solidFill>
              </a:rPr>
              <a:t>The number on the board is evidence. On 4 November you pick the problem you will build for, and evidence beats opinions.</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rgbClr val="0B3D2E"/>
                </a:solidFill>
              </a:rPr>
              <a:t>What did you reach today?</a:t>
            </a:r>
            <a:endParaRPr lang="en-US" sz="3000" dirty="0"/>
          </a:p>
        </p:txBody>
      </p:sp>
      <p:sp>
        <p:nvSpPr>
          <p:cNvPr id="3" name="Shape 1"/>
          <p:cNvSpPr/>
          <p:nvPr/>
        </p:nvSpPr>
        <p:spPr>
          <a:xfrm>
            <a:off x="411480" y="1234440"/>
            <a:ext cx="777240" cy="777240"/>
          </a:xfrm>
          <a:prstGeom prst="ellipse">
            <a:avLst/>
          </a:prstGeom>
          <a:solidFill>
            <a:srgbClr val="F2A900"/>
          </a:solidFill>
          <a:ln w="19050">
            <a:solidFill>
              <a:srgbClr val="C98C00"/>
            </a:solidFill>
            <a:prstDash val="solid"/>
          </a:ln>
        </p:spPr>
      </p:sp>
      <p:sp>
        <p:nvSpPr>
          <p:cNvPr id="4" name="Text 2"/>
          <p:cNvSpPr txBox="1"/>
          <p:nvPr/>
        </p:nvSpPr>
        <p:spPr>
          <a:xfrm>
            <a:off x="411480" y="1234440"/>
            <a:ext cx="777240" cy="777240"/>
          </a:xfrm>
          <a:prstGeom prst="rect">
            <a:avLst/>
          </a:prstGeom>
          <a:noFill/>
          <a:ln/>
        </p:spPr>
        <p:txBody>
          <a:bodyPr wrap="square" lIns="0" tIns="0" rIns="0" bIns="0" rtlCol="0" anchor="ctr"/>
          <a:lstStyle/>
          <a:p>
            <a:pPr algn="ctr" indent="0" marL="0">
              <a:buNone/>
            </a:pPr>
            <a:r>
              <a:rPr lang="en-US" sz="1700" b="1" dirty="0">
                <a:solidFill>
                  <a:srgbClr val="0B3D2E"/>
                </a:solidFill>
              </a:rPr>
              <a:t>0</a:t>
            </a:r>
            <a:endParaRPr lang="en-US" sz="1700" dirty="0"/>
          </a:p>
        </p:txBody>
      </p:sp>
      <p:sp>
        <p:nvSpPr>
          <p:cNvPr id="5" name="Shape 3"/>
          <p:cNvSpPr/>
          <p:nvPr/>
        </p:nvSpPr>
        <p:spPr>
          <a:xfrm>
            <a:off x="1216152" y="1618488"/>
            <a:ext cx="566928" cy="0"/>
          </a:xfrm>
          <a:prstGeom prst="line">
            <a:avLst/>
          </a:prstGeom>
          <a:noFill/>
          <a:ln w="25400">
            <a:solidFill>
              <a:srgbClr val="C98C00"/>
            </a:solidFill>
            <a:prstDash val="solid"/>
          </a:ln>
        </p:spPr>
      </p:sp>
      <p:sp>
        <p:nvSpPr>
          <p:cNvPr id="6" name="Text 4"/>
          <p:cNvSpPr txBox="1"/>
          <p:nvPr/>
        </p:nvSpPr>
        <p:spPr>
          <a:xfrm>
            <a:off x="228600" y="2103120"/>
            <a:ext cx="1188720" cy="548640"/>
          </a:xfrm>
          <a:prstGeom prst="rect">
            <a:avLst/>
          </a:prstGeom>
          <a:noFill/>
          <a:ln/>
        </p:spPr>
        <p:txBody>
          <a:bodyPr wrap="square" lIns="0" tIns="0" rIns="0" bIns="0" rtlCol="0" anchor="ctr"/>
          <a:lstStyle/>
          <a:p>
            <a:pPr algn="ctr" indent="0" marL="0">
              <a:buNone/>
            </a:pPr>
            <a:r>
              <a:rPr lang="en-US" sz="1200" b="1" dirty="0">
                <a:solidFill>
                  <a:srgbClr val="0B3D2E"/>
                </a:solidFill>
              </a:rPr>
              <a:t>Heard the room</a:t>
            </a:r>
            <a:endParaRPr lang="en-US" sz="1200" dirty="0"/>
          </a:p>
        </p:txBody>
      </p:sp>
      <p:sp>
        <p:nvSpPr>
          <p:cNvPr id="7" name="Shape 5"/>
          <p:cNvSpPr/>
          <p:nvPr/>
        </p:nvSpPr>
        <p:spPr>
          <a:xfrm>
            <a:off x="1810512" y="1234440"/>
            <a:ext cx="777240" cy="777240"/>
          </a:xfrm>
          <a:prstGeom prst="ellipse">
            <a:avLst/>
          </a:prstGeom>
          <a:solidFill>
            <a:srgbClr val="F2A900"/>
          </a:solidFill>
          <a:ln w="19050">
            <a:solidFill>
              <a:srgbClr val="C98C00"/>
            </a:solidFill>
            <a:prstDash val="solid"/>
          </a:ln>
        </p:spPr>
      </p:sp>
      <p:sp>
        <p:nvSpPr>
          <p:cNvPr id="8" name="Text 6"/>
          <p:cNvSpPr txBox="1"/>
          <p:nvPr/>
        </p:nvSpPr>
        <p:spPr>
          <a:xfrm>
            <a:off x="1810512" y="1234440"/>
            <a:ext cx="777240" cy="777240"/>
          </a:xfrm>
          <a:prstGeom prst="rect">
            <a:avLst/>
          </a:prstGeom>
          <a:noFill/>
          <a:ln/>
        </p:spPr>
        <p:txBody>
          <a:bodyPr wrap="square" lIns="0" tIns="0" rIns="0" bIns="0" rtlCol="0" anchor="ctr"/>
          <a:lstStyle/>
          <a:p>
            <a:pPr algn="ctr" indent="0" marL="0">
              <a:buNone/>
            </a:pPr>
            <a:r>
              <a:rPr lang="en-US" sz="1700" b="1" dirty="0">
                <a:solidFill>
                  <a:srgbClr val="0B3D2E"/>
                </a:solidFill>
              </a:rPr>
              <a:t>0b</a:t>
            </a:r>
            <a:endParaRPr lang="en-US" sz="1700" dirty="0"/>
          </a:p>
        </p:txBody>
      </p:sp>
      <p:sp>
        <p:nvSpPr>
          <p:cNvPr id="9" name="Shape 7"/>
          <p:cNvSpPr/>
          <p:nvPr/>
        </p:nvSpPr>
        <p:spPr>
          <a:xfrm>
            <a:off x="2615184" y="1618488"/>
            <a:ext cx="566928" cy="0"/>
          </a:xfrm>
          <a:prstGeom prst="line">
            <a:avLst/>
          </a:prstGeom>
          <a:noFill/>
          <a:ln w="25400">
            <a:solidFill>
              <a:srgbClr val="C98C00"/>
            </a:solidFill>
            <a:prstDash val="solid"/>
          </a:ln>
        </p:spPr>
      </p:sp>
      <p:sp>
        <p:nvSpPr>
          <p:cNvPr id="10" name="Text 8"/>
          <p:cNvSpPr txBox="1"/>
          <p:nvPr/>
        </p:nvSpPr>
        <p:spPr>
          <a:xfrm>
            <a:off x="1627632" y="2103120"/>
            <a:ext cx="1188720" cy="548640"/>
          </a:xfrm>
          <a:prstGeom prst="rect">
            <a:avLst/>
          </a:prstGeom>
          <a:noFill/>
          <a:ln/>
        </p:spPr>
        <p:txBody>
          <a:bodyPr wrap="square" lIns="0" tIns="0" rIns="0" bIns="0" rtlCol="0" anchor="ctr"/>
          <a:lstStyle/>
          <a:p>
            <a:pPr algn="ctr" indent="0" marL="0">
              <a:buNone/>
            </a:pPr>
            <a:r>
              <a:rPr lang="en-US" sz="1200" b="1" dirty="0">
                <a:solidFill>
                  <a:srgbClr val="0B3D2E"/>
                </a:solidFill>
              </a:rPr>
              <a:t>Tested the parts</a:t>
            </a:r>
            <a:endParaRPr lang="en-US" sz="1200" dirty="0"/>
          </a:p>
        </p:txBody>
      </p:sp>
      <p:sp>
        <p:nvSpPr>
          <p:cNvPr id="11" name="Shape 9"/>
          <p:cNvSpPr/>
          <p:nvPr/>
        </p:nvSpPr>
        <p:spPr>
          <a:xfrm>
            <a:off x="3209544" y="1234440"/>
            <a:ext cx="777240" cy="777240"/>
          </a:xfrm>
          <a:prstGeom prst="ellipse">
            <a:avLst/>
          </a:prstGeom>
          <a:solidFill>
            <a:srgbClr val="F2A900"/>
          </a:solidFill>
          <a:ln w="19050">
            <a:solidFill>
              <a:srgbClr val="C98C00"/>
            </a:solidFill>
            <a:prstDash val="solid"/>
          </a:ln>
        </p:spPr>
      </p:sp>
      <p:sp>
        <p:nvSpPr>
          <p:cNvPr id="12" name="Text 10"/>
          <p:cNvSpPr txBox="1"/>
          <p:nvPr/>
        </p:nvSpPr>
        <p:spPr>
          <a:xfrm>
            <a:off x="3209544" y="1234440"/>
            <a:ext cx="777240" cy="777240"/>
          </a:xfrm>
          <a:prstGeom prst="rect">
            <a:avLst/>
          </a:prstGeom>
          <a:noFill/>
          <a:ln/>
        </p:spPr>
        <p:txBody>
          <a:bodyPr wrap="square" lIns="0" tIns="0" rIns="0" bIns="0" rtlCol="0" anchor="ctr"/>
          <a:lstStyle/>
          <a:p>
            <a:pPr algn="ctr" indent="0" marL="0">
              <a:buNone/>
            </a:pPr>
            <a:r>
              <a:rPr lang="en-US" sz="1700" b="1" dirty="0">
                <a:solidFill>
                  <a:srgbClr val="0B3D2E"/>
                </a:solidFill>
              </a:rPr>
              <a:t>1</a:t>
            </a:r>
            <a:endParaRPr lang="en-US" sz="1700" dirty="0"/>
          </a:p>
        </p:txBody>
      </p:sp>
      <p:sp>
        <p:nvSpPr>
          <p:cNvPr id="13" name="Shape 11"/>
          <p:cNvSpPr/>
          <p:nvPr/>
        </p:nvSpPr>
        <p:spPr>
          <a:xfrm>
            <a:off x="4014216" y="1618488"/>
            <a:ext cx="566928" cy="0"/>
          </a:xfrm>
          <a:prstGeom prst="line">
            <a:avLst/>
          </a:prstGeom>
          <a:noFill/>
          <a:ln w="25400">
            <a:solidFill>
              <a:srgbClr val="C98C00"/>
            </a:solidFill>
            <a:prstDash val="solid"/>
          </a:ln>
        </p:spPr>
      </p:sp>
      <p:sp>
        <p:nvSpPr>
          <p:cNvPr id="14" name="Text 12"/>
          <p:cNvSpPr txBox="1"/>
          <p:nvPr/>
        </p:nvSpPr>
        <p:spPr>
          <a:xfrm>
            <a:off x="3026664" y="2103120"/>
            <a:ext cx="1188720" cy="548640"/>
          </a:xfrm>
          <a:prstGeom prst="rect">
            <a:avLst/>
          </a:prstGeom>
          <a:noFill/>
          <a:ln/>
        </p:spPr>
        <p:txBody>
          <a:bodyPr wrap="square" lIns="0" tIns="0" rIns="0" bIns="0" rtlCol="0" anchor="ctr"/>
          <a:lstStyle/>
          <a:p>
            <a:pPr algn="ctr" indent="0" marL="0">
              <a:buNone/>
            </a:pPr>
            <a:r>
              <a:rPr lang="en-US" sz="1200" b="1" dirty="0">
                <a:solidFill>
                  <a:srgbClr val="0B3D2E"/>
                </a:solidFill>
              </a:rPr>
              <a:t>level_for()</a:t>
            </a:r>
            <a:endParaRPr lang="en-US" sz="1200" dirty="0"/>
          </a:p>
        </p:txBody>
      </p:sp>
      <p:sp>
        <p:nvSpPr>
          <p:cNvPr id="15" name="Shape 13"/>
          <p:cNvSpPr/>
          <p:nvPr/>
        </p:nvSpPr>
        <p:spPr>
          <a:xfrm>
            <a:off x="4608576" y="1234440"/>
            <a:ext cx="777240" cy="777240"/>
          </a:xfrm>
          <a:prstGeom prst="ellipse">
            <a:avLst/>
          </a:prstGeom>
          <a:solidFill>
            <a:srgbClr val="F2A900"/>
          </a:solidFill>
          <a:ln w="19050">
            <a:solidFill>
              <a:srgbClr val="C98C00"/>
            </a:solidFill>
            <a:prstDash val="solid"/>
          </a:ln>
        </p:spPr>
      </p:sp>
      <p:sp>
        <p:nvSpPr>
          <p:cNvPr id="16" name="Text 14"/>
          <p:cNvSpPr txBox="1"/>
          <p:nvPr/>
        </p:nvSpPr>
        <p:spPr>
          <a:xfrm>
            <a:off x="4608576" y="1234440"/>
            <a:ext cx="777240" cy="777240"/>
          </a:xfrm>
          <a:prstGeom prst="rect">
            <a:avLst/>
          </a:prstGeom>
          <a:noFill/>
          <a:ln/>
        </p:spPr>
        <p:txBody>
          <a:bodyPr wrap="square" lIns="0" tIns="0" rIns="0" bIns="0" rtlCol="0" anchor="ctr"/>
          <a:lstStyle/>
          <a:p>
            <a:pPr algn="ctr" indent="0" marL="0">
              <a:buNone/>
            </a:pPr>
            <a:r>
              <a:rPr lang="en-US" sz="1700" b="1" dirty="0">
                <a:solidFill>
                  <a:srgbClr val="0B3D2E"/>
                </a:solidFill>
              </a:rPr>
              <a:t>2</a:t>
            </a:r>
            <a:endParaRPr lang="en-US" sz="1700" dirty="0"/>
          </a:p>
        </p:txBody>
      </p:sp>
      <p:sp>
        <p:nvSpPr>
          <p:cNvPr id="17" name="Shape 15"/>
          <p:cNvSpPr/>
          <p:nvPr/>
        </p:nvSpPr>
        <p:spPr>
          <a:xfrm>
            <a:off x="5413248" y="1618488"/>
            <a:ext cx="566928" cy="0"/>
          </a:xfrm>
          <a:prstGeom prst="line">
            <a:avLst/>
          </a:prstGeom>
          <a:noFill/>
          <a:ln w="25400">
            <a:solidFill>
              <a:srgbClr val="C98C00"/>
            </a:solidFill>
            <a:prstDash val="solid"/>
          </a:ln>
        </p:spPr>
      </p:sp>
      <p:sp>
        <p:nvSpPr>
          <p:cNvPr id="18" name="Text 16"/>
          <p:cNvSpPr txBox="1"/>
          <p:nvPr/>
        </p:nvSpPr>
        <p:spPr>
          <a:xfrm>
            <a:off x="4425696" y="2103120"/>
            <a:ext cx="1188720" cy="548640"/>
          </a:xfrm>
          <a:prstGeom prst="rect">
            <a:avLst/>
          </a:prstGeom>
          <a:noFill/>
          <a:ln/>
        </p:spPr>
        <p:txBody>
          <a:bodyPr wrap="square" lIns="0" tIns="0" rIns="0" bIns="0" rtlCol="0" anchor="ctr"/>
          <a:lstStyle/>
          <a:p>
            <a:pPr algn="ctr" indent="0" marL="0">
              <a:buNone/>
            </a:pPr>
            <a:r>
              <a:rPr lang="en-US" sz="1200" b="1" dirty="0">
                <a:solidFill>
                  <a:srgbClr val="0B3D2E"/>
                </a:solidFill>
              </a:rPr>
              <a:t>A program that remembers</a:t>
            </a:r>
            <a:endParaRPr lang="en-US" sz="1200" dirty="0"/>
          </a:p>
        </p:txBody>
      </p:sp>
      <p:sp>
        <p:nvSpPr>
          <p:cNvPr id="19" name="Shape 17"/>
          <p:cNvSpPr/>
          <p:nvPr/>
        </p:nvSpPr>
        <p:spPr>
          <a:xfrm>
            <a:off x="6007608" y="1234440"/>
            <a:ext cx="777240" cy="777240"/>
          </a:xfrm>
          <a:prstGeom prst="ellipse">
            <a:avLst/>
          </a:prstGeom>
          <a:solidFill>
            <a:srgbClr val="F2A900"/>
          </a:solidFill>
          <a:ln w="19050">
            <a:solidFill>
              <a:srgbClr val="C98C00"/>
            </a:solidFill>
            <a:prstDash val="solid"/>
          </a:ln>
        </p:spPr>
      </p:sp>
      <p:sp>
        <p:nvSpPr>
          <p:cNvPr id="20" name="Text 18"/>
          <p:cNvSpPr txBox="1"/>
          <p:nvPr/>
        </p:nvSpPr>
        <p:spPr>
          <a:xfrm>
            <a:off x="6007608" y="1234440"/>
            <a:ext cx="777240" cy="777240"/>
          </a:xfrm>
          <a:prstGeom prst="rect">
            <a:avLst/>
          </a:prstGeom>
          <a:noFill/>
          <a:ln/>
        </p:spPr>
        <p:txBody>
          <a:bodyPr wrap="square" lIns="0" tIns="0" rIns="0" bIns="0" rtlCol="0" anchor="ctr"/>
          <a:lstStyle/>
          <a:p>
            <a:pPr algn="ctr" indent="0" marL="0">
              <a:buNone/>
            </a:pPr>
            <a:r>
              <a:rPr lang="en-US" sz="1700" b="1" dirty="0">
                <a:solidFill>
                  <a:srgbClr val="0B3D2E"/>
                </a:solidFill>
              </a:rPr>
              <a:t>3</a:t>
            </a:r>
            <a:endParaRPr lang="en-US" sz="1700" dirty="0"/>
          </a:p>
        </p:txBody>
      </p:sp>
      <p:sp>
        <p:nvSpPr>
          <p:cNvPr id="21" name="Shape 19"/>
          <p:cNvSpPr/>
          <p:nvPr/>
        </p:nvSpPr>
        <p:spPr>
          <a:xfrm>
            <a:off x="6812280" y="1618488"/>
            <a:ext cx="566928" cy="0"/>
          </a:xfrm>
          <a:prstGeom prst="line">
            <a:avLst/>
          </a:prstGeom>
          <a:noFill/>
          <a:ln w="25400">
            <a:solidFill>
              <a:srgbClr val="C98C00"/>
            </a:solidFill>
            <a:prstDash val="solid"/>
          </a:ln>
        </p:spPr>
      </p:sp>
      <p:sp>
        <p:nvSpPr>
          <p:cNvPr id="22" name="Text 20"/>
          <p:cNvSpPr txBox="1"/>
          <p:nvPr/>
        </p:nvSpPr>
        <p:spPr>
          <a:xfrm>
            <a:off x="5824728" y="2103120"/>
            <a:ext cx="1188720" cy="548640"/>
          </a:xfrm>
          <a:prstGeom prst="rect">
            <a:avLst/>
          </a:prstGeom>
          <a:noFill/>
          <a:ln/>
        </p:spPr>
        <p:txBody>
          <a:bodyPr wrap="square" lIns="0" tIns="0" rIns="0" bIns="0" rtlCol="0" anchor="ctr"/>
          <a:lstStyle/>
          <a:p>
            <a:pPr algn="ctr" indent="0" marL="0">
              <a:buNone/>
            </a:pPr>
            <a:r>
              <a:rPr lang="en-US" sz="1200" b="1" dirty="0">
                <a:solidFill>
                  <a:srgbClr val="0B3D2E"/>
                </a:solidFill>
              </a:rPr>
              <a:t>Counted the moments</a:t>
            </a:r>
            <a:endParaRPr lang="en-US" sz="1200" dirty="0"/>
          </a:p>
        </p:txBody>
      </p:sp>
      <p:sp>
        <p:nvSpPr>
          <p:cNvPr id="23" name="Shape 21"/>
          <p:cNvSpPr/>
          <p:nvPr/>
        </p:nvSpPr>
        <p:spPr>
          <a:xfrm>
            <a:off x="7406640" y="1234440"/>
            <a:ext cx="777240" cy="777240"/>
          </a:xfrm>
          <a:prstGeom prst="ellipse">
            <a:avLst/>
          </a:prstGeom>
          <a:solidFill>
            <a:srgbClr val="F2A900"/>
          </a:solidFill>
          <a:ln w="19050">
            <a:solidFill>
              <a:srgbClr val="C98C00"/>
            </a:solidFill>
            <a:prstDash val="solid"/>
          </a:ln>
        </p:spPr>
      </p:sp>
      <p:sp>
        <p:nvSpPr>
          <p:cNvPr id="24" name="Text 22"/>
          <p:cNvSpPr txBox="1"/>
          <p:nvPr/>
        </p:nvSpPr>
        <p:spPr>
          <a:xfrm>
            <a:off x="7406640" y="1234440"/>
            <a:ext cx="777240" cy="777240"/>
          </a:xfrm>
          <a:prstGeom prst="rect">
            <a:avLst/>
          </a:prstGeom>
          <a:noFill/>
          <a:ln/>
        </p:spPr>
        <p:txBody>
          <a:bodyPr wrap="square" lIns="0" tIns="0" rIns="0" bIns="0" rtlCol="0" anchor="ctr"/>
          <a:lstStyle/>
          <a:p>
            <a:pPr algn="ctr" indent="0" marL="0">
              <a:buNone/>
            </a:pPr>
            <a:r>
              <a:rPr lang="en-US" sz="1700" b="1" dirty="0">
                <a:solidFill>
                  <a:srgbClr val="0B3D2E"/>
                </a:solidFill>
              </a:rPr>
              <a:t>4</a:t>
            </a:r>
            <a:endParaRPr lang="en-US" sz="1700" dirty="0"/>
          </a:p>
        </p:txBody>
      </p:sp>
      <p:sp>
        <p:nvSpPr>
          <p:cNvPr id="25" name="Text 23"/>
          <p:cNvSpPr txBox="1"/>
          <p:nvPr/>
        </p:nvSpPr>
        <p:spPr>
          <a:xfrm>
            <a:off x="7223760" y="2103120"/>
            <a:ext cx="1188720" cy="548640"/>
          </a:xfrm>
          <a:prstGeom prst="rect">
            <a:avLst/>
          </a:prstGeom>
          <a:noFill/>
          <a:ln/>
        </p:spPr>
        <p:txBody>
          <a:bodyPr wrap="square" lIns="0" tIns="0" rIns="0" bIns="0" rtlCol="0" anchor="ctr"/>
          <a:lstStyle/>
          <a:p>
            <a:pPr algn="ctr" indent="0" marL="0">
              <a:buNone/>
            </a:pPr>
            <a:r>
              <a:rPr lang="en-US" sz="1200" b="1" dirty="0">
                <a:solidFill>
                  <a:srgbClr val="0B3D2E"/>
                </a:solidFill>
              </a:rPr>
              <a:t>On the screen</a:t>
            </a:r>
            <a:endParaRPr lang="en-US" sz="1200" dirty="0"/>
          </a:p>
        </p:txBody>
      </p:sp>
      <p:sp>
        <p:nvSpPr>
          <p:cNvPr id="26" name="Text 24"/>
          <p:cNvSpPr txBox="1"/>
          <p:nvPr/>
        </p:nvSpPr>
        <p:spPr>
          <a:xfrm>
            <a:off x="548640" y="2834640"/>
            <a:ext cx="813816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1B1B"/>
                </a:solidFill>
              </a:rPr>
              <a:t>One reading lies. Fifty readings, loudest minus quietest, tell the truth.</a:t>
            </a:r>
            <a:endParaRPr lang="en-US" sz="1500" dirty="0"/>
          </a:p>
          <a:p>
            <a:pPr marL="342900" indent="-342900">
              <a:spcAft>
                <a:spcPts val="800"/>
              </a:spcAft>
              <a:buSzPct val="100000"/>
              <a:buChar char="•"/>
            </a:pPr>
            <a:r>
              <a:rPr lang="en-US" sz="1500" dirty="0">
                <a:solidFill>
                  <a:srgbClr val="1B1B1B"/>
                </a:solidFill>
              </a:rPr>
              <a:t>State is what the program knows because of what happened before. Made once, outside the loop.</a:t>
            </a:r>
            <a:endParaRPr lang="en-US" sz="1500" dirty="0"/>
          </a:p>
          <a:p>
            <a:pPr marL="342900" indent="-342900">
              <a:spcAft>
                <a:spcPts val="800"/>
              </a:spcAft>
              <a:buSzPct val="100000"/>
              <a:buChar char="•"/>
            </a:pPr>
            <a:r>
              <a:rPr lang="en-US" sz="1500" dirty="0">
                <a:solidFill>
                  <a:srgbClr val="1B1B1B"/>
                </a:solidFill>
              </a:rPr>
              <a:t>A broken whole is three parts. Test each one alone and the bug has nowhere to hide.</a:t>
            </a:r>
            <a:endParaRPr lang="en-US" sz="1500" dirty="0"/>
          </a:p>
        </p:txBody>
      </p:sp>
      <p:sp>
        <p:nvSpPr>
          <p:cNvPr id="27" name="Text 25"/>
          <p:cNvSpPr txBox="1"/>
          <p:nvPr/>
        </p:nvSpPr>
        <p:spPr>
          <a:xfrm>
            <a:off x="548640" y="4114800"/>
            <a:ext cx="8138160" cy="320040"/>
          </a:xfrm>
          <a:prstGeom prst="rect">
            <a:avLst/>
          </a:prstGeom>
          <a:noFill/>
          <a:ln/>
        </p:spPr>
        <p:txBody>
          <a:bodyPr wrap="square" lIns="0" tIns="0" rIns="0" bIns="0" rtlCol="0" anchor="ctr"/>
          <a:lstStyle/>
          <a:p>
            <a:pPr indent="0" marL="0">
              <a:buNone/>
            </a:pPr>
            <a:r>
              <a:rPr lang="en-US" sz="1600" b="1" dirty="0">
                <a:solidFill>
                  <a:srgbClr val="1F8A70"/>
                </a:solidFill>
              </a:rPr>
              <a:t>Next, 4 November: pick the problem, and bring the number you measured today.</a:t>
            </a:r>
            <a:endParaRPr lang="en-US" sz="16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6 - How loud is this room?</dc:title>
  <dc:subject>PptxGenJS Presentation</dc:subject>
  <dc:creator>Jacky HUI</dc:creator>
  <cp:lastModifiedBy>Jacky HUI</cp:lastModifiedBy>
  <cp:revision>1</cp:revision>
  <dcterms:created xsi:type="dcterms:W3CDTF">2026-10-30T06:30:41Z</dcterms:created>
  <dcterms:modified xsi:type="dcterms:W3CDTF">2026-10-30T06:30:41Z</dcterms:modified>
</cp:coreProperties>
</file>